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2.xml" ContentType="application/vnd.openxmlformats-officedocument.theme+xml"/>
  <Override PartName="/ppt/tags/tag5.xml" ContentType="application/vnd.openxmlformats-officedocument.presentationml.tags+xml"/>
  <Override PartName="/ppt/tags/tag6.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68" r:id="rId2"/>
    <p:sldId id="2147471041" r:id="rId3"/>
    <p:sldId id="2147471057" r:id="rId4"/>
    <p:sldId id="2147471058" r:id="rId5"/>
    <p:sldId id="2147471076" r:id="rId6"/>
    <p:sldId id="2147471077" r:id="rId7"/>
    <p:sldId id="260" r:id="rId8"/>
    <p:sldId id="261" r:id="rId9"/>
    <p:sldId id="2147471059" r:id="rId10"/>
    <p:sldId id="2147471056" r:id="rId11"/>
    <p:sldId id="2147471054" r:id="rId12"/>
  </p:sldIdLst>
  <p:sldSz cx="12192000" cy="6858000"/>
  <p:notesSz cx="6858000" cy="9144000"/>
  <p:custDataLst>
    <p:tags r:id="rId1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3F7556"/>
    <a:srgbClr val="2D5A42"/>
    <a:srgbClr val="1F302F"/>
    <a:srgbClr val="B8935F"/>
    <a:srgbClr val="E6B788"/>
    <a:srgbClr val="D4A574"/>
    <a:srgbClr val="120B10"/>
    <a:srgbClr val="77B991"/>
    <a:srgbClr val="5A9572"/>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373" autoAdjust="0"/>
    <p:restoredTop sz="96946"/>
  </p:normalViewPr>
  <p:slideViewPr>
    <p:cSldViewPr snapToGrid="0">
      <p:cViewPr varScale="1">
        <p:scale>
          <a:sx n="128" d="100"/>
          <a:sy n="128" d="100"/>
        </p:scale>
        <p:origin x="240" y="176"/>
      </p:cViewPr>
      <p:guideLst/>
    </p:cSldViewPr>
  </p:slideViewPr>
  <p:notesTextViewPr>
    <p:cViewPr>
      <p:scale>
        <a:sx n="1" d="1"/>
        <a:sy n="1" d="1"/>
      </p:scale>
      <p:origin x="0" y="0"/>
    </p:cViewPr>
  </p:notesTextViewPr>
  <p:sorterViewPr>
    <p:cViewPr>
      <p:scale>
        <a:sx n="65" d="100"/>
        <a:sy n="65" d="100"/>
      </p:scale>
      <p:origin x="0" y="0"/>
    </p:cViewPr>
  </p:sorterViewPr>
  <p:notesViewPr>
    <p:cSldViewPr snapToGrid="0" showGuides="1">
      <p:cViewPr varScale="1">
        <p:scale>
          <a:sx n="54" d="100"/>
          <a:sy n="54" d="100"/>
        </p:scale>
        <p:origin x="2564"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AFC9E3-96D9-6441-B695-7D785BEC125E}" type="datetimeFigureOut">
              <a:rPr lang="en-AU" smtClean="0"/>
              <a:t>9/3/2026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6E9FA3-4DF7-7341-B0BB-21C1509A63FE}" type="slidenum">
              <a:rPr lang="en-AU" smtClean="0"/>
              <a:t>‹#›</a:t>
            </a:fld>
            <a:endParaRPr lang="en-AU"/>
          </a:p>
        </p:txBody>
      </p:sp>
    </p:spTree>
    <p:extLst>
      <p:ext uri="{BB962C8B-B14F-4D97-AF65-F5344CB8AC3E}">
        <p14:creationId xmlns:p14="http://schemas.microsoft.com/office/powerpoint/2010/main" val="17415084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4"/>
        <p:cNvGrpSpPr/>
        <p:nvPr/>
      </p:nvGrpSpPr>
      <p:grpSpPr>
        <a:xfrm>
          <a:off x="0" y="0"/>
          <a:ext cx="0" cy="0"/>
          <a:chOff x="0" y="0"/>
          <a:chExt cx="0" cy="0"/>
        </a:xfrm>
      </p:grpSpPr>
      <p:sp>
        <p:nvSpPr>
          <p:cNvPr id="475" name="Google Shape;475;p5:notes"/>
          <p:cNvSpPr txBox="1">
            <a:spLocks noGrp="1"/>
          </p:cNvSpPr>
          <p:nvPr>
            <p:ph type="body" idx="1"/>
          </p:nvPr>
        </p:nvSpPr>
        <p:spPr>
          <a:xfrm>
            <a:off x="673577" y="4748163"/>
            <a:ext cx="5388610" cy="388486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6" name="Google Shape;476;p5:notes"/>
          <p:cNvSpPr>
            <a:spLocks noGrp="1" noRot="1" noChangeAspect="1"/>
          </p:cNvSpPr>
          <p:nvPr>
            <p:ph type="sldImg" idx="2"/>
          </p:nvPr>
        </p:nvSpPr>
        <p:spPr>
          <a:xfrm>
            <a:off x="409575" y="1233488"/>
            <a:ext cx="5916613" cy="33289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4"/>
        <p:cNvGrpSpPr/>
        <p:nvPr/>
      </p:nvGrpSpPr>
      <p:grpSpPr>
        <a:xfrm>
          <a:off x="0" y="0"/>
          <a:ext cx="0" cy="0"/>
          <a:chOff x="0" y="0"/>
          <a:chExt cx="0" cy="0"/>
        </a:xfrm>
      </p:grpSpPr>
      <p:sp>
        <p:nvSpPr>
          <p:cNvPr id="505" name="Google Shape;505;p6:notes"/>
          <p:cNvSpPr txBox="1">
            <a:spLocks noGrp="1"/>
          </p:cNvSpPr>
          <p:nvPr>
            <p:ph type="body" idx="1"/>
          </p:nvPr>
        </p:nvSpPr>
        <p:spPr>
          <a:xfrm>
            <a:off x="673577" y="4748163"/>
            <a:ext cx="5388610" cy="388486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6" name="Google Shape;506;p6:notes"/>
          <p:cNvSpPr>
            <a:spLocks noGrp="1" noRot="1" noChangeAspect="1"/>
          </p:cNvSpPr>
          <p:nvPr>
            <p:ph type="sldImg" idx="2"/>
          </p:nvPr>
        </p:nvSpPr>
        <p:spPr>
          <a:xfrm>
            <a:off x="409575" y="1233488"/>
            <a:ext cx="5916613" cy="33289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3.xml"/><Relationship Id="rId6" Type="http://schemas.openxmlformats.org/officeDocument/2006/relationships/image" Target="../media/image5.png"/><Relationship Id="rId5" Type="http://schemas.openxmlformats.org/officeDocument/2006/relationships/image" Target="../media/image4.emf"/><Relationship Id="rId4" Type="http://schemas.openxmlformats.org/officeDocument/2006/relationships/oleObject" Target="../embeddings/oleObject2.bin"/></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6.emf"/></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表紙（シンプル）">
    <p:spTree>
      <p:nvGrpSpPr>
        <p:cNvPr id="1" name=""/>
        <p:cNvGrpSpPr/>
        <p:nvPr/>
      </p:nvGrpSpPr>
      <p:grpSpPr>
        <a:xfrm>
          <a:off x="0" y="0"/>
          <a:ext cx="0" cy="0"/>
          <a:chOff x="0" y="0"/>
          <a:chExt cx="0" cy="0"/>
        </a:xfrm>
      </p:grpSpPr>
      <p:pic>
        <p:nvPicPr>
          <p:cNvPr id="2" name="図 1" descr="ロゴ&#10;&#10;AI によって生成されたコンテンツは間違っている可能性があります。">
            <a:extLst>
              <a:ext uri="{FF2B5EF4-FFF2-40B4-BE49-F238E27FC236}">
                <a16:creationId xmlns:a16="http://schemas.microsoft.com/office/drawing/2014/main" id="{3B568656-F914-6CE9-9C8A-9BCE79EF32C2}"/>
              </a:ext>
            </a:extLst>
          </p:cNvPr>
          <p:cNvPicPr>
            <a:picLocks noChangeAspect="1"/>
          </p:cNvPicPr>
          <p:nvPr userDrawn="1"/>
        </p:nvPicPr>
        <p:blipFill>
          <a:blip r:embed="rId2"/>
          <a:stretch>
            <a:fillRect/>
          </a:stretch>
        </p:blipFill>
        <p:spPr>
          <a:xfrm>
            <a:off x="711591" y="549275"/>
            <a:ext cx="1288887" cy="967812"/>
          </a:xfrm>
          <a:prstGeom prst="rect">
            <a:avLst/>
          </a:prstGeom>
        </p:spPr>
      </p:pic>
      <p:cxnSp>
        <p:nvCxnSpPr>
          <p:cNvPr id="16" name="直線コネクタ 15">
            <a:extLst>
              <a:ext uri="{FF2B5EF4-FFF2-40B4-BE49-F238E27FC236}">
                <a16:creationId xmlns:a16="http://schemas.microsoft.com/office/drawing/2014/main" id="{C82B2505-C0FD-D886-C735-43FAF7637A83}"/>
              </a:ext>
            </a:extLst>
          </p:cNvPr>
          <p:cNvCxnSpPr>
            <a:cxnSpLocks/>
          </p:cNvCxnSpPr>
          <p:nvPr userDrawn="1"/>
        </p:nvCxnSpPr>
        <p:spPr>
          <a:xfrm>
            <a:off x="810067" y="3944351"/>
            <a:ext cx="512297" cy="0"/>
          </a:xfrm>
          <a:prstGeom prst="line">
            <a:avLst/>
          </a:prstGeom>
          <a:ln w="57150">
            <a:solidFill>
              <a:srgbClr val="7E8C8D"/>
            </a:solidFill>
          </a:ln>
        </p:spPr>
        <p:style>
          <a:lnRef idx="2">
            <a:schemeClr val="accent1"/>
          </a:lnRef>
          <a:fillRef idx="0">
            <a:schemeClr val="accent1"/>
          </a:fillRef>
          <a:effectRef idx="1">
            <a:schemeClr val="accent1"/>
          </a:effectRef>
          <a:fontRef idx="minor">
            <a:schemeClr val="tx1"/>
          </a:fontRef>
        </p:style>
      </p:cxnSp>
      <p:grpSp>
        <p:nvGrpSpPr>
          <p:cNvPr id="11" name="グループ化 10">
            <a:extLst>
              <a:ext uri="{FF2B5EF4-FFF2-40B4-BE49-F238E27FC236}">
                <a16:creationId xmlns:a16="http://schemas.microsoft.com/office/drawing/2014/main" id="{2F6B72CA-3EE2-860B-CD36-7CC63F037BF2}"/>
              </a:ext>
            </a:extLst>
          </p:cNvPr>
          <p:cNvGrpSpPr/>
          <p:nvPr userDrawn="1"/>
        </p:nvGrpSpPr>
        <p:grpSpPr>
          <a:xfrm>
            <a:off x="-790684" y="2588774"/>
            <a:ext cx="616229" cy="1587897"/>
            <a:chOff x="-790684" y="26356"/>
            <a:chExt cx="616229" cy="1587897"/>
          </a:xfrm>
        </p:grpSpPr>
        <p:sp>
          <p:nvSpPr>
            <p:cNvPr id="12" name="正方形/長方形 11">
              <a:extLst>
                <a:ext uri="{FF2B5EF4-FFF2-40B4-BE49-F238E27FC236}">
                  <a16:creationId xmlns:a16="http://schemas.microsoft.com/office/drawing/2014/main" id="{BEFAE69D-9EB3-304E-89E2-52359AFFEE9A}"/>
                </a:ext>
              </a:extLst>
            </p:cNvPr>
            <p:cNvSpPr/>
            <p:nvPr/>
          </p:nvSpPr>
          <p:spPr>
            <a:xfrm>
              <a:off x="-420676" y="27573"/>
              <a:ext cx="246221" cy="246221"/>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43E5CD46-0D2D-23CC-520C-DB0891B4FC99}"/>
                </a:ext>
              </a:extLst>
            </p:cNvPr>
            <p:cNvSpPr/>
            <p:nvPr/>
          </p:nvSpPr>
          <p:spPr>
            <a:xfrm>
              <a:off x="-420677" y="272577"/>
              <a:ext cx="246221" cy="246221"/>
            </a:xfrm>
            <a:prstGeom prst="rect">
              <a:avLst/>
            </a:prstGeom>
            <a:solidFill>
              <a:srgbClr val="1F302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03B710E8-D026-FEE0-2C9A-2D4DAB07553D}"/>
                </a:ext>
              </a:extLst>
            </p:cNvPr>
            <p:cNvSpPr/>
            <p:nvPr/>
          </p:nvSpPr>
          <p:spPr>
            <a:xfrm>
              <a:off x="-422027" y="740515"/>
              <a:ext cx="246221" cy="246221"/>
            </a:xfrm>
            <a:prstGeom prst="rect">
              <a:avLst/>
            </a:prstGeom>
            <a:solidFill>
              <a:srgbClr val="3F755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正方形/長方形 14">
              <a:extLst>
                <a:ext uri="{FF2B5EF4-FFF2-40B4-BE49-F238E27FC236}">
                  <a16:creationId xmlns:a16="http://schemas.microsoft.com/office/drawing/2014/main" id="{C43A92BF-6A20-57A4-A349-AA9ABB420366}"/>
                </a:ext>
              </a:extLst>
            </p:cNvPr>
            <p:cNvSpPr/>
            <p:nvPr/>
          </p:nvSpPr>
          <p:spPr>
            <a:xfrm>
              <a:off x="-422027" y="984911"/>
              <a:ext cx="246221" cy="246221"/>
            </a:xfrm>
            <a:prstGeom prst="rect">
              <a:avLst/>
            </a:prstGeom>
            <a:solidFill>
              <a:srgbClr val="5A957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2243BBE6-70AA-8F19-FAFC-8BC2C2B593E4}"/>
                </a:ext>
              </a:extLst>
            </p:cNvPr>
            <p:cNvSpPr/>
            <p:nvPr/>
          </p:nvSpPr>
          <p:spPr>
            <a:xfrm>
              <a:off x="-790009" y="26356"/>
              <a:ext cx="246221" cy="246221"/>
            </a:xfrm>
            <a:prstGeom prst="rect">
              <a:avLst/>
            </a:prstGeom>
            <a:solidFill>
              <a:srgbClr val="B8935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8" name="正方形/長方形 17">
              <a:extLst>
                <a:ext uri="{FF2B5EF4-FFF2-40B4-BE49-F238E27FC236}">
                  <a16:creationId xmlns:a16="http://schemas.microsoft.com/office/drawing/2014/main" id="{EEB5DBE9-3C2A-03EC-39AF-FC12A600B8DC}"/>
                </a:ext>
              </a:extLst>
            </p:cNvPr>
            <p:cNvSpPr/>
            <p:nvPr/>
          </p:nvSpPr>
          <p:spPr>
            <a:xfrm>
              <a:off x="-790009" y="248073"/>
              <a:ext cx="246221" cy="246221"/>
            </a:xfrm>
            <a:prstGeom prst="rect">
              <a:avLst/>
            </a:prstGeom>
            <a:solidFill>
              <a:srgbClr val="D4A57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正方形/長方形 18">
              <a:extLst>
                <a:ext uri="{FF2B5EF4-FFF2-40B4-BE49-F238E27FC236}">
                  <a16:creationId xmlns:a16="http://schemas.microsoft.com/office/drawing/2014/main" id="{925428AA-BAD4-ED29-E406-49E517B93022}"/>
                </a:ext>
              </a:extLst>
            </p:cNvPr>
            <p:cNvSpPr/>
            <p:nvPr/>
          </p:nvSpPr>
          <p:spPr>
            <a:xfrm>
              <a:off x="-790684" y="494294"/>
              <a:ext cx="246221" cy="246221"/>
            </a:xfrm>
            <a:prstGeom prst="rect">
              <a:avLst/>
            </a:prstGeom>
            <a:solidFill>
              <a:srgbClr val="E6B78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7DBDC69D-B14B-ACF2-C0DC-5AB7C2D0A48C}"/>
                </a:ext>
              </a:extLst>
            </p:cNvPr>
            <p:cNvSpPr/>
            <p:nvPr/>
          </p:nvSpPr>
          <p:spPr>
            <a:xfrm>
              <a:off x="-420678" y="518190"/>
              <a:ext cx="246221" cy="246221"/>
            </a:xfrm>
            <a:prstGeom prst="rect">
              <a:avLst/>
            </a:prstGeom>
            <a:solidFill>
              <a:srgbClr val="2D5A4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正方形/長方形 20">
              <a:extLst>
                <a:ext uri="{FF2B5EF4-FFF2-40B4-BE49-F238E27FC236}">
                  <a16:creationId xmlns:a16="http://schemas.microsoft.com/office/drawing/2014/main" id="{9301F06C-3998-A8C5-5F6E-21046CAD213F}"/>
                </a:ext>
              </a:extLst>
            </p:cNvPr>
            <p:cNvSpPr/>
            <p:nvPr/>
          </p:nvSpPr>
          <p:spPr>
            <a:xfrm>
              <a:off x="-422027" y="1223588"/>
              <a:ext cx="246221" cy="246221"/>
            </a:xfrm>
            <a:prstGeom prst="rect">
              <a:avLst/>
            </a:prstGeom>
            <a:solidFill>
              <a:srgbClr val="77B991"/>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正方形/長方形 21">
              <a:extLst>
                <a:ext uri="{FF2B5EF4-FFF2-40B4-BE49-F238E27FC236}">
                  <a16:creationId xmlns:a16="http://schemas.microsoft.com/office/drawing/2014/main" id="{5FD43ACD-F916-40B2-8BA4-64831774B948}"/>
                </a:ext>
              </a:extLst>
            </p:cNvPr>
            <p:cNvSpPr/>
            <p:nvPr/>
          </p:nvSpPr>
          <p:spPr>
            <a:xfrm>
              <a:off x="-790009" y="900094"/>
              <a:ext cx="246221" cy="246221"/>
            </a:xfrm>
            <a:prstGeom prst="rect">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3" name="正方形/長方形 22">
              <a:extLst>
                <a:ext uri="{FF2B5EF4-FFF2-40B4-BE49-F238E27FC236}">
                  <a16:creationId xmlns:a16="http://schemas.microsoft.com/office/drawing/2014/main" id="{9E084702-E14F-2712-9238-E61A90B2EE43}"/>
                </a:ext>
              </a:extLst>
            </p:cNvPr>
            <p:cNvSpPr/>
            <p:nvPr/>
          </p:nvSpPr>
          <p:spPr>
            <a:xfrm>
              <a:off x="-790009" y="1121811"/>
              <a:ext cx="246221" cy="246221"/>
            </a:xfrm>
            <a:prstGeom prst="rect">
              <a:avLst/>
            </a:prstGeom>
            <a:solidFill>
              <a:schemeClr val="bg1">
                <a:lumMod val="7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正方形/長方形 23">
              <a:extLst>
                <a:ext uri="{FF2B5EF4-FFF2-40B4-BE49-F238E27FC236}">
                  <a16:creationId xmlns:a16="http://schemas.microsoft.com/office/drawing/2014/main" id="{48E5B64D-A52B-2792-2C80-F822101A5950}"/>
                </a:ext>
              </a:extLst>
            </p:cNvPr>
            <p:cNvSpPr/>
            <p:nvPr/>
          </p:nvSpPr>
          <p:spPr>
            <a:xfrm>
              <a:off x="-790684" y="1368032"/>
              <a:ext cx="246221" cy="246221"/>
            </a:xfrm>
            <a:prstGeom prst="rect">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Tree>
    <p:extLst>
      <p:ext uri="{BB962C8B-B14F-4D97-AF65-F5344CB8AC3E}">
        <p14:creationId xmlns:p14="http://schemas.microsoft.com/office/powerpoint/2010/main" val="794616727"/>
      </p:ext>
    </p:extLst>
  </p:cSld>
  <p:clrMapOvr>
    <a:masterClrMapping/>
  </p:clrMapOvr>
  <p:extLst>
    <p:ext uri="{DCECCB84-F9BA-43D5-87BE-67443E8EF086}">
      <p15:sldGuideLst xmlns:p15="http://schemas.microsoft.com/office/powerpoint/2012/main">
        <p15:guide id="1" orient="horz" pos="2160">
          <p15:clr>
            <a:srgbClr val="FBAE40"/>
          </p15:clr>
        </p15:guide>
        <p15:guide id="2" pos="438">
          <p15:clr>
            <a:srgbClr val="FBAE40"/>
          </p15:clr>
        </p15:guide>
        <p15:guide id="3" pos="7242">
          <p15:clr>
            <a:srgbClr val="FBAE40"/>
          </p15:clr>
        </p15:guide>
        <p15:guide id="4" orient="horz" pos="346">
          <p15:clr>
            <a:srgbClr val="FBAE40"/>
          </p15:clr>
        </p15:guide>
        <p15:guide id="5" orient="horz" pos="397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5_Title Slide">
    <p:bg>
      <p:bgPr>
        <a:solidFill>
          <a:schemeClr val="accent1"/>
        </a:solidFill>
        <a:effectLst/>
      </p:bgPr>
    </p:bg>
    <p:spTree>
      <p:nvGrpSpPr>
        <p:cNvPr id="1" name=""/>
        <p:cNvGrpSpPr/>
        <p:nvPr/>
      </p:nvGrpSpPr>
      <p:grpSpPr>
        <a:xfrm>
          <a:off x="0" y="0"/>
          <a:ext cx="0" cy="0"/>
          <a:chOff x="0" y="0"/>
          <a:chExt cx="0" cy="0"/>
        </a:xfrm>
      </p:grpSpPr>
      <p:pic>
        <p:nvPicPr>
          <p:cNvPr id="4" name="図 3" descr="グラフィカル ユーザー インターフェイス, アプリケーション&#10;&#10;AI 生成コンテンツは誤りを含む可能性があります。">
            <a:extLst>
              <a:ext uri="{FF2B5EF4-FFF2-40B4-BE49-F238E27FC236}">
                <a16:creationId xmlns:a16="http://schemas.microsoft.com/office/drawing/2014/main" id="{035024A9-CCCC-E2CD-A46F-633AA0BB3EB3}"/>
              </a:ext>
            </a:extLst>
          </p:cNvPr>
          <p:cNvPicPr>
            <a:picLocks noChangeAspect="1"/>
          </p:cNvPicPr>
          <p:nvPr userDrawn="1"/>
        </p:nvPicPr>
        <p:blipFill>
          <a:blip r:embed="rId3"/>
          <a:stretch>
            <a:fillRect/>
          </a:stretch>
        </p:blipFill>
        <p:spPr>
          <a:xfrm>
            <a:off x="0" y="0"/>
            <a:ext cx="12217340" cy="6858000"/>
          </a:xfrm>
          <a:prstGeom prst="rect">
            <a:avLst/>
          </a:prstGeom>
        </p:spPr>
      </p:pic>
      <p:graphicFrame>
        <p:nvGraphicFramePr>
          <p:cNvPr id="11" name="think-cell data - do not delete" hidden="1">
            <a:extLst>
              <a:ext uri="{FF2B5EF4-FFF2-40B4-BE49-F238E27FC236}">
                <a16:creationId xmlns:a16="http://schemas.microsoft.com/office/drawing/2014/main" id="{D1454B03-F5D1-4A45-4582-E583F045D877}"/>
              </a:ext>
            </a:extLst>
          </p:cNvPr>
          <p:cNvGraphicFramePr>
            <a:graphicFrameLocks/>
          </p:cNvGraphicFramePr>
          <p:nvPr userDrawn="1">
            <p:custDataLst>
              <p:tags r:id="rId1"/>
            </p:custDataLst>
            <p:extLst>
              <p:ext uri="{D42A27DB-BD31-4B8C-83A1-F6EECF244321}">
                <p14:modId xmlns:p14="http://schemas.microsoft.com/office/powerpoint/2010/main" val="100136978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スライド" r:id="rId4" imgW="7772400" imgH="10058400" progId="TCLayout.ActiveDocument.1">
                  <p:embed/>
                </p:oleObj>
              </mc:Choice>
              <mc:Fallback>
                <p:oleObj name="think-cellスライド" r:id="rId4" imgW="7772400" imgH="10058400" progId="TCLayout.ActiveDocument.1">
                  <p:embed/>
                  <p:pic>
                    <p:nvPicPr>
                      <p:cNvPr id="11" name="think-cell data - do not delete" hidden="1">
                        <a:extLst>
                          <a:ext uri="{FF2B5EF4-FFF2-40B4-BE49-F238E27FC236}">
                            <a16:creationId xmlns:a16="http://schemas.microsoft.com/office/drawing/2014/main" id="{D1454B03-F5D1-4A45-4582-E583F045D87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FCA79D51-549C-6393-7572-894BC0EB9070}"/>
              </a:ext>
            </a:extLst>
          </p:cNvPr>
          <p:cNvSpPr>
            <a:spLocks noGrp="1"/>
          </p:cNvSpPr>
          <p:nvPr>
            <p:ph type="ctrTitle" hasCustomPrompt="1"/>
          </p:nvPr>
        </p:nvSpPr>
        <p:spPr>
          <a:xfrm>
            <a:off x="416380" y="1698572"/>
            <a:ext cx="7801789" cy="1800000"/>
          </a:xfrm>
        </p:spPr>
        <p:txBody>
          <a:bodyPr vert="horz" anchor="b">
            <a:normAutofit/>
          </a:bodyPr>
          <a:lstStyle>
            <a:lvl1pPr algn="l">
              <a:defRPr sz="4000" b="1">
                <a:latin typeface="+mn-ea"/>
                <a:ea typeface="+mn-ea"/>
              </a:defRPr>
            </a:lvl1pPr>
          </a:lstStyle>
          <a:p>
            <a:r>
              <a:rPr lang="en-GB" dirty="0"/>
              <a:t>Click to edit Master title style</a:t>
            </a:r>
            <a:endParaRPr lang="en-US" dirty="0"/>
          </a:p>
        </p:txBody>
      </p:sp>
      <p:sp>
        <p:nvSpPr>
          <p:cNvPr id="3" name="Subtitle 2">
            <a:extLst>
              <a:ext uri="{FF2B5EF4-FFF2-40B4-BE49-F238E27FC236}">
                <a16:creationId xmlns:a16="http://schemas.microsoft.com/office/drawing/2014/main" id="{8048B0BA-F35D-5176-C6AE-6669B2C15A70}"/>
              </a:ext>
            </a:extLst>
          </p:cNvPr>
          <p:cNvSpPr>
            <a:spLocks noGrp="1"/>
          </p:cNvSpPr>
          <p:nvPr>
            <p:ph type="subTitle" idx="1" hasCustomPrompt="1"/>
          </p:nvPr>
        </p:nvSpPr>
        <p:spPr>
          <a:xfrm>
            <a:off x="416381" y="3671607"/>
            <a:ext cx="7801789" cy="1800000"/>
          </a:xfrm>
        </p:spPr>
        <p:txBody>
          <a:bodyPr/>
          <a:lstStyle>
            <a:lvl1pPr marL="0" indent="0" algn="l">
              <a:buNone/>
              <a:defRPr sz="2400">
                <a:latin typeface="+mn-ea"/>
                <a:ea typeface="+mn-ea"/>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sp>
        <p:nvSpPr>
          <p:cNvPr id="5" name="正方形/長方形 4">
            <a:extLst>
              <a:ext uri="{FF2B5EF4-FFF2-40B4-BE49-F238E27FC236}">
                <a16:creationId xmlns:a16="http://schemas.microsoft.com/office/drawing/2014/main" id="{342777B7-53F1-C8C7-9373-36B90445DD71}"/>
              </a:ext>
            </a:extLst>
          </p:cNvPr>
          <p:cNvSpPr/>
          <p:nvPr userDrawn="1"/>
        </p:nvSpPr>
        <p:spPr>
          <a:xfrm>
            <a:off x="8316686" y="0"/>
            <a:ext cx="3900654" cy="6858000"/>
          </a:xfrm>
          <a:prstGeom prst="rect">
            <a:avLst/>
          </a:prstGeom>
          <a:solidFill>
            <a:srgbClr val="2D5A42"/>
          </a:solidFill>
          <a:ln>
            <a:solidFill>
              <a:srgbClr val="2D5A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6" name="図 5" descr="テキスト&#10;&#10;AI 生成コンテンツは誤りを含む可能性があります。">
            <a:extLst>
              <a:ext uri="{FF2B5EF4-FFF2-40B4-BE49-F238E27FC236}">
                <a16:creationId xmlns:a16="http://schemas.microsoft.com/office/drawing/2014/main" id="{60568F41-C9F2-72A4-011F-24636F712401}"/>
              </a:ext>
            </a:extLst>
          </p:cNvPr>
          <p:cNvPicPr>
            <a:picLocks noChangeAspect="1"/>
          </p:cNvPicPr>
          <p:nvPr userDrawn="1"/>
        </p:nvPicPr>
        <p:blipFill>
          <a:blip r:embed="rId6"/>
          <a:stretch>
            <a:fillRect/>
          </a:stretch>
        </p:blipFill>
        <p:spPr>
          <a:xfrm>
            <a:off x="7937470" y="1099457"/>
            <a:ext cx="4659086" cy="4659086"/>
          </a:xfrm>
          <a:prstGeom prst="rect">
            <a:avLst/>
          </a:prstGeom>
          <a:ln>
            <a:noFill/>
          </a:ln>
        </p:spPr>
      </p:pic>
      <p:grpSp>
        <p:nvGrpSpPr>
          <p:cNvPr id="7" name="グループ化 6">
            <a:extLst>
              <a:ext uri="{FF2B5EF4-FFF2-40B4-BE49-F238E27FC236}">
                <a16:creationId xmlns:a16="http://schemas.microsoft.com/office/drawing/2014/main" id="{86412136-85D5-CF81-3AE5-BAED78D185F1}"/>
              </a:ext>
            </a:extLst>
          </p:cNvPr>
          <p:cNvGrpSpPr/>
          <p:nvPr userDrawn="1"/>
        </p:nvGrpSpPr>
        <p:grpSpPr>
          <a:xfrm>
            <a:off x="-790684" y="2588774"/>
            <a:ext cx="616229" cy="1587897"/>
            <a:chOff x="-790684" y="26356"/>
            <a:chExt cx="616229" cy="1587897"/>
          </a:xfrm>
        </p:grpSpPr>
        <p:sp>
          <p:nvSpPr>
            <p:cNvPr id="8" name="正方形/長方形 7">
              <a:extLst>
                <a:ext uri="{FF2B5EF4-FFF2-40B4-BE49-F238E27FC236}">
                  <a16:creationId xmlns:a16="http://schemas.microsoft.com/office/drawing/2014/main" id="{439F9D38-350F-67D9-933A-B99AB9AB0B68}"/>
                </a:ext>
              </a:extLst>
            </p:cNvPr>
            <p:cNvSpPr/>
            <p:nvPr/>
          </p:nvSpPr>
          <p:spPr>
            <a:xfrm>
              <a:off x="-420676" y="27573"/>
              <a:ext cx="246221" cy="246221"/>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a:extLst>
                <a:ext uri="{FF2B5EF4-FFF2-40B4-BE49-F238E27FC236}">
                  <a16:creationId xmlns:a16="http://schemas.microsoft.com/office/drawing/2014/main" id="{58411B78-019B-7C33-616E-5AFC1BF6F29B}"/>
                </a:ext>
              </a:extLst>
            </p:cNvPr>
            <p:cNvSpPr/>
            <p:nvPr/>
          </p:nvSpPr>
          <p:spPr>
            <a:xfrm>
              <a:off x="-420677" y="272577"/>
              <a:ext cx="246221" cy="246221"/>
            </a:xfrm>
            <a:prstGeom prst="rect">
              <a:avLst/>
            </a:prstGeom>
            <a:solidFill>
              <a:srgbClr val="1F302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a:extLst>
                <a:ext uri="{FF2B5EF4-FFF2-40B4-BE49-F238E27FC236}">
                  <a16:creationId xmlns:a16="http://schemas.microsoft.com/office/drawing/2014/main" id="{151C99F8-DD18-08E8-7A8F-E8251F2E5388}"/>
                </a:ext>
              </a:extLst>
            </p:cNvPr>
            <p:cNvSpPr/>
            <p:nvPr/>
          </p:nvSpPr>
          <p:spPr>
            <a:xfrm>
              <a:off x="-422027" y="740515"/>
              <a:ext cx="246221" cy="246221"/>
            </a:xfrm>
            <a:prstGeom prst="rect">
              <a:avLst/>
            </a:prstGeom>
            <a:solidFill>
              <a:srgbClr val="3F755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a:extLst>
                <a:ext uri="{FF2B5EF4-FFF2-40B4-BE49-F238E27FC236}">
                  <a16:creationId xmlns:a16="http://schemas.microsoft.com/office/drawing/2014/main" id="{CA2B1A71-3DAC-BECC-96CC-D067AA770051}"/>
                </a:ext>
              </a:extLst>
            </p:cNvPr>
            <p:cNvSpPr/>
            <p:nvPr/>
          </p:nvSpPr>
          <p:spPr>
            <a:xfrm>
              <a:off x="-422027" y="984911"/>
              <a:ext cx="246221" cy="246221"/>
            </a:xfrm>
            <a:prstGeom prst="rect">
              <a:avLst/>
            </a:prstGeom>
            <a:solidFill>
              <a:srgbClr val="5A957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D5818EBE-9A8D-4F50-F671-1D23C9601F07}"/>
                </a:ext>
              </a:extLst>
            </p:cNvPr>
            <p:cNvSpPr/>
            <p:nvPr/>
          </p:nvSpPr>
          <p:spPr>
            <a:xfrm>
              <a:off x="-790009" y="26356"/>
              <a:ext cx="246221" cy="246221"/>
            </a:xfrm>
            <a:prstGeom prst="rect">
              <a:avLst/>
            </a:prstGeom>
            <a:solidFill>
              <a:srgbClr val="B8935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4" name="正方形/長方形 13">
              <a:extLst>
                <a:ext uri="{FF2B5EF4-FFF2-40B4-BE49-F238E27FC236}">
                  <a16:creationId xmlns:a16="http://schemas.microsoft.com/office/drawing/2014/main" id="{BE524F3B-B2D2-8565-0F1C-767A2C179F07}"/>
                </a:ext>
              </a:extLst>
            </p:cNvPr>
            <p:cNvSpPr/>
            <p:nvPr/>
          </p:nvSpPr>
          <p:spPr>
            <a:xfrm>
              <a:off x="-790009" y="248073"/>
              <a:ext cx="246221" cy="246221"/>
            </a:xfrm>
            <a:prstGeom prst="rect">
              <a:avLst/>
            </a:prstGeom>
            <a:solidFill>
              <a:srgbClr val="D4A57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正方形/長方形 14">
              <a:extLst>
                <a:ext uri="{FF2B5EF4-FFF2-40B4-BE49-F238E27FC236}">
                  <a16:creationId xmlns:a16="http://schemas.microsoft.com/office/drawing/2014/main" id="{EC14562E-ED8C-791A-89E1-EE1562CFF3A2}"/>
                </a:ext>
              </a:extLst>
            </p:cNvPr>
            <p:cNvSpPr/>
            <p:nvPr/>
          </p:nvSpPr>
          <p:spPr>
            <a:xfrm>
              <a:off x="-790684" y="494294"/>
              <a:ext cx="246221" cy="246221"/>
            </a:xfrm>
            <a:prstGeom prst="rect">
              <a:avLst/>
            </a:prstGeom>
            <a:solidFill>
              <a:srgbClr val="E6B78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正方形/長方形 15">
              <a:extLst>
                <a:ext uri="{FF2B5EF4-FFF2-40B4-BE49-F238E27FC236}">
                  <a16:creationId xmlns:a16="http://schemas.microsoft.com/office/drawing/2014/main" id="{295A5539-F7B4-C01F-3976-D4A9CC8C5240}"/>
                </a:ext>
              </a:extLst>
            </p:cNvPr>
            <p:cNvSpPr/>
            <p:nvPr/>
          </p:nvSpPr>
          <p:spPr>
            <a:xfrm>
              <a:off x="-420678" y="518190"/>
              <a:ext cx="246221" cy="246221"/>
            </a:xfrm>
            <a:prstGeom prst="rect">
              <a:avLst/>
            </a:prstGeom>
            <a:solidFill>
              <a:srgbClr val="2D5A4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B27E76E9-D0DE-354D-586A-5809C86368F5}"/>
                </a:ext>
              </a:extLst>
            </p:cNvPr>
            <p:cNvSpPr/>
            <p:nvPr/>
          </p:nvSpPr>
          <p:spPr>
            <a:xfrm>
              <a:off x="-422027" y="1223588"/>
              <a:ext cx="246221" cy="246221"/>
            </a:xfrm>
            <a:prstGeom prst="rect">
              <a:avLst/>
            </a:prstGeom>
            <a:solidFill>
              <a:srgbClr val="77B991"/>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正方形/長方形 17">
              <a:extLst>
                <a:ext uri="{FF2B5EF4-FFF2-40B4-BE49-F238E27FC236}">
                  <a16:creationId xmlns:a16="http://schemas.microsoft.com/office/drawing/2014/main" id="{A0D002E1-1D4A-69FF-CC0B-407B1A7850AD}"/>
                </a:ext>
              </a:extLst>
            </p:cNvPr>
            <p:cNvSpPr/>
            <p:nvPr/>
          </p:nvSpPr>
          <p:spPr>
            <a:xfrm>
              <a:off x="-790009" y="900094"/>
              <a:ext cx="246221" cy="246221"/>
            </a:xfrm>
            <a:prstGeom prst="rect">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9" name="正方形/長方形 18">
              <a:extLst>
                <a:ext uri="{FF2B5EF4-FFF2-40B4-BE49-F238E27FC236}">
                  <a16:creationId xmlns:a16="http://schemas.microsoft.com/office/drawing/2014/main" id="{1F86F08F-41F4-2C8E-3F03-3326010FC589}"/>
                </a:ext>
              </a:extLst>
            </p:cNvPr>
            <p:cNvSpPr/>
            <p:nvPr/>
          </p:nvSpPr>
          <p:spPr>
            <a:xfrm>
              <a:off x="-790009" y="1121811"/>
              <a:ext cx="246221" cy="246221"/>
            </a:xfrm>
            <a:prstGeom prst="rect">
              <a:avLst/>
            </a:prstGeom>
            <a:solidFill>
              <a:schemeClr val="bg1">
                <a:lumMod val="7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AD058665-4BE6-FF37-1CC4-E72BFD14A381}"/>
                </a:ext>
              </a:extLst>
            </p:cNvPr>
            <p:cNvSpPr/>
            <p:nvPr/>
          </p:nvSpPr>
          <p:spPr>
            <a:xfrm>
              <a:off x="-790684" y="1368032"/>
              <a:ext cx="246221" cy="246221"/>
            </a:xfrm>
            <a:prstGeom prst="rect">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Tree>
    <p:extLst>
      <p:ext uri="{BB962C8B-B14F-4D97-AF65-F5344CB8AC3E}">
        <p14:creationId xmlns:p14="http://schemas.microsoft.com/office/powerpoint/2010/main" val="91004080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表紙（ゴールド）">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34AB7BFA-2D9C-B971-DFD7-A410190BA221}"/>
              </a:ext>
            </a:extLst>
          </p:cNvPr>
          <p:cNvSpPr/>
          <p:nvPr userDrawn="1"/>
        </p:nvSpPr>
        <p:spPr>
          <a:xfrm>
            <a:off x="8265694" y="-1"/>
            <a:ext cx="3926305" cy="6858001"/>
          </a:xfrm>
          <a:prstGeom prst="rect">
            <a:avLst/>
          </a:prstGeom>
          <a:solidFill>
            <a:srgbClr val="B7925F"/>
          </a:solidFill>
          <a:ln>
            <a:solidFill>
              <a:srgbClr val="B7925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pic>
        <p:nvPicPr>
          <p:cNvPr id="3" name="図 2" descr="ロゴ&#10;&#10;AI によって生成されたコンテンツは間違っている可能性があります。">
            <a:extLst>
              <a:ext uri="{FF2B5EF4-FFF2-40B4-BE49-F238E27FC236}">
                <a16:creationId xmlns:a16="http://schemas.microsoft.com/office/drawing/2014/main" id="{F17D1277-6C33-2F18-56B8-A1E9D25DB61A}"/>
              </a:ext>
            </a:extLst>
          </p:cNvPr>
          <p:cNvPicPr>
            <a:picLocks noChangeAspect="1"/>
          </p:cNvPicPr>
          <p:nvPr userDrawn="1"/>
        </p:nvPicPr>
        <p:blipFill>
          <a:blip r:embed="rId2">
            <a:lum bright="70000" contrast="-70000"/>
          </a:blip>
          <a:stretch>
            <a:fillRect/>
          </a:stretch>
        </p:blipFill>
        <p:spPr>
          <a:xfrm>
            <a:off x="9121492" y="2590857"/>
            <a:ext cx="2214709" cy="1663002"/>
          </a:xfrm>
          <a:prstGeom prst="rect">
            <a:avLst/>
          </a:prstGeom>
        </p:spPr>
      </p:pic>
      <p:sp>
        <p:nvSpPr>
          <p:cNvPr id="12" name="Title 1">
            <a:extLst>
              <a:ext uri="{FF2B5EF4-FFF2-40B4-BE49-F238E27FC236}">
                <a16:creationId xmlns:a16="http://schemas.microsoft.com/office/drawing/2014/main" id="{DD9F96B5-7603-19A9-5651-41D0B7E0F877}"/>
              </a:ext>
            </a:extLst>
          </p:cNvPr>
          <p:cNvSpPr>
            <a:spLocks noGrp="1"/>
          </p:cNvSpPr>
          <p:nvPr>
            <p:ph type="ctrTitle" hasCustomPrompt="1"/>
          </p:nvPr>
        </p:nvSpPr>
        <p:spPr>
          <a:xfrm>
            <a:off x="416380" y="1698572"/>
            <a:ext cx="7801789" cy="1800000"/>
          </a:xfrm>
        </p:spPr>
        <p:txBody>
          <a:bodyPr vert="horz" anchor="b">
            <a:normAutofit/>
          </a:bodyPr>
          <a:lstStyle>
            <a:lvl1pPr algn="l">
              <a:defRPr sz="4000" b="1">
                <a:latin typeface="+mn-ea"/>
                <a:ea typeface="+mn-ea"/>
              </a:defRPr>
            </a:lvl1pPr>
          </a:lstStyle>
          <a:p>
            <a:r>
              <a:rPr lang="en-GB" dirty="0"/>
              <a:t>Click to edit Master title style</a:t>
            </a:r>
            <a:endParaRPr lang="en-US" dirty="0"/>
          </a:p>
        </p:txBody>
      </p:sp>
      <p:sp>
        <p:nvSpPr>
          <p:cNvPr id="13" name="Subtitle 2">
            <a:extLst>
              <a:ext uri="{FF2B5EF4-FFF2-40B4-BE49-F238E27FC236}">
                <a16:creationId xmlns:a16="http://schemas.microsoft.com/office/drawing/2014/main" id="{4B0365E4-C432-C772-884D-59E714920804}"/>
              </a:ext>
            </a:extLst>
          </p:cNvPr>
          <p:cNvSpPr>
            <a:spLocks noGrp="1"/>
          </p:cNvSpPr>
          <p:nvPr>
            <p:ph type="subTitle" idx="1" hasCustomPrompt="1"/>
          </p:nvPr>
        </p:nvSpPr>
        <p:spPr>
          <a:xfrm>
            <a:off x="416381" y="3671607"/>
            <a:ext cx="7801789" cy="1800000"/>
          </a:xfrm>
        </p:spPr>
        <p:txBody>
          <a:bodyPr/>
          <a:lstStyle>
            <a:lvl1pPr marL="0" indent="0" algn="l">
              <a:buNone/>
              <a:defRPr sz="2400">
                <a:latin typeface="+mn-ea"/>
                <a:ea typeface="+mn-ea"/>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grpSp>
        <p:nvGrpSpPr>
          <p:cNvPr id="14" name="グループ化 13">
            <a:extLst>
              <a:ext uri="{FF2B5EF4-FFF2-40B4-BE49-F238E27FC236}">
                <a16:creationId xmlns:a16="http://schemas.microsoft.com/office/drawing/2014/main" id="{358B02DE-DF1D-1471-7D9A-FCBBDA9965B1}"/>
              </a:ext>
            </a:extLst>
          </p:cNvPr>
          <p:cNvGrpSpPr/>
          <p:nvPr userDrawn="1"/>
        </p:nvGrpSpPr>
        <p:grpSpPr>
          <a:xfrm>
            <a:off x="-790684" y="2588774"/>
            <a:ext cx="616229" cy="1587897"/>
            <a:chOff x="-790684" y="26356"/>
            <a:chExt cx="616229" cy="1587897"/>
          </a:xfrm>
        </p:grpSpPr>
        <p:sp>
          <p:nvSpPr>
            <p:cNvPr id="15" name="正方形/長方形 14">
              <a:extLst>
                <a:ext uri="{FF2B5EF4-FFF2-40B4-BE49-F238E27FC236}">
                  <a16:creationId xmlns:a16="http://schemas.microsoft.com/office/drawing/2014/main" id="{FEB05FF0-5654-B27C-D162-1DD0EB35303F}"/>
                </a:ext>
              </a:extLst>
            </p:cNvPr>
            <p:cNvSpPr/>
            <p:nvPr/>
          </p:nvSpPr>
          <p:spPr>
            <a:xfrm>
              <a:off x="-420676" y="27573"/>
              <a:ext cx="246221" cy="246221"/>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正方形/長方形 15">
              <a:extLst>
                <a:ext uri="{FF2B5EF4-FFF2-40B4-BE49-F238E27FC236}">
                  <a16:creationId xmlns:a16="http://schemas.microsoft.com/office/drawing/2014/main" id="{1720DEB7-8EEA-2CBF-5111-800C0F4D0463}"/>
                </a:ext>
              </a:extLst>
            </p:cNvPr>
            <p:cNvSpPr/>
            <p:nvPr/>
          </p:nvSpPr>
          <p:spPr>
            <a:xfrm>
              <a:off x="-420677" y="272577"/>
              <a:ext cx="246221" cy="246221"/>
            </a:xfrm>
            <a:prstGeom prst="rect">
              <a:avLst/>
            </a:prstGeom>
            <a:solidFill>
              <a:srgbClr val="1F302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32EC9F12-27ED-9189-8F99-A3537B6115C6}"/>
                </a:ext>
              </a:extLst>
            </p:cNvPr>
            <p:cNvSpPr/>
            <p:nvPr/>
          </p:nvSpPr>
          <p:spPr>
            <a:xfrm>
              <a:off x="-422027" y="740515"/>
              <a:ext cx="246221" cy="246221"/>
            </a:xfrm>
            <a:prstGeom prst="rect">
              <a:avLst/>
            </a:prstGeom>
            <a:solidFill>
              <a:srgbClr val="3F755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正方形/長方形 17">
              <a:extLst>
                <a:ext uri="{FF2B5EF4-FFF2-40B4-BE49-F238E27FC236}">
                  <a16:creationId xmlns:a16="http://schemas.microsoft.com/office/drawing/2014/main" id="{E5FFD1AB-77D7-65BD-6C35-4D1BD7391CD8}"/>
                </a:ext>
              </a:extLst>
            </p:cNvPr>
            <p:cNvSpPr/>
            <p:nvPr/>
          </p:nvSpPr>
          <p:spPr>
            <a:xfrm>
              <a:off x="-422027" y="984911"/>
              <a:ext cx="246221" cy="246221"/>
            </a:xfrm>
            <a:prstGeom prst="rect">
              <a:avLst/>
            </a:prstGeom>
            <a:solidFill>
              <a:srgbClr val="5A957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正方形/長方形 18">
              <a:extLst>
                <a:ext uri="{FF2B5EF4-FFF2-40B4-BE49-F238E27FC236}">
                  <a16:creationId xmlns:a16="http://schemas.microsoft.com/office/drawing/2014/main" id="{5ED073F0-502B-7DB0-F675-661132D54191}"/>
                </a:ext>
              </a:extLst>
            </p:cNvPr>
            <p:cNvSpPr/>
            <p:nvPr/>
          </p:nvSpPr>
          <p:spPr>
            <a:xfrm>
              <a:off x="-790009" y="26356"/>
              <a:ext cx="246221" cy="246221"/>
            </a:xfrm>
            <a:prstGeom prst="rect">
              <a:avLst/>
            </a:prstGeom>
            <a:solidFill>
              <a:srgbClr val="B8935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0" name="正方形/長方形 19">
              <a:extLst>
                <a:ext uri="{FF2B5EF4-FFF2-40B4-BE49-F238E27FC236}">
                  <a16:creationId xmlns:a16="http://schemas.microsoft.com/office/drawing/2014/main" id="{31FFB41F-C260-334A-807C-3E7A010EF5CD}"/>
                </a:ext>
              </a:extLst>
            </p:cNvPr>
            <p:cNvSpPr/>
            <p:nvPr/>
          </p:nvSpPr>
          <p:spPr>
            <a:xfrm>
              <a:off x="-790009" y="248073"/>
              <a:ext cx="246221" cy="246221"/>
            </a:xfrm>
            <a:prstGeom prst="rect">
              <a:avLst/>
            </a:prstGeom>
            <a:solidFill>
              <a:srgbClr val="D4A57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正方形/長方形 20">
              <a:extLst>
                <a:ext uri="{FF2B5EF4-FFF2-40B4-BE49-F238E27FC236}">
                  <a16:creationId xmlns:a16="http://schemas.microsoft.com/office/drawing/2014/main" id="{3F90572C-912E-C6A3-A34F-2A7D6E016829}"/>
                </a:ext>
              </a:extLst>
            </p:cNvPr>
            <p:cNvSpPr/>
            <p:nvPr/>
          </p:nvSpPr>
          <p:spPr>
            <a:xfrm>
              <a:off x="-790684" y="494294"/>
              <a:ext cx="246221" cy="246221"/>
            </a:xfrm>
            <a:prstGeom prst="rect">
              <a:avLst/>
            </a:prstGeom>
            <a:solidFill>
              <a:srgbClr val="E6B78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正方形/長方形 21">
              <a:extLst>
                <a:ext uri="{FF2B5EF4-FFF2-40B4-BE49-F238E27FC236}">
                  <a16:creationId xmlns:a16="http://schemas.microsoft.com/office/drawing/2014/main" id="{D7881A61-DD4E-F140-97EB-775398A18930}"/>
                </a:ext>
              </a:extLst>
            </p:cNvPr>
            <p:cNvSpPr/>
            <p:nvPr/>
          </p:nvSpPr>
          <p:spPr>
            <a:xfrm>
              <a:off x="-420678" y="518190"/>
              <a:ext cx="246221" cy="246221"/>
            </a:xfrm>
            <a:prstGeom prst="rect">
              <a:avLst/>
            </a:prstGeom>
            <a:solidFill>
              <a:srgbClr val="2D5A4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a:extLst>
                <a:ext uri="{FF2B5EF4-FFF2-40B4-BE49-F238E27FC236}">
                  <a16:creationId xmlns:a16="http://schemas.microsoft.com/office/drawing/2014/main" id="{3392BFCD-8E13-7389-E401-B1607D9F04B4}"/>
                </a:ext>
              </a:extLst>
            </p:cNvPr>
            <p:cNvSpPr/>
            <p:nvPr/>
          </p:nvSpPr>
          <p:spPr>
            <a:xfrm>
              <a:off x="-422027" y="1223588"/>
              <a:ext cx="246221" cy="246221"/>
            </a:xfrm>
            <a:prstGeom prst="rect">
              <a:avLst/>
            </a:prstGeom>
            <a:solidFill>
              <a:srgbClr val="77B991"/>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正方形/長方形 23">
              <a:extLst>
                <a:ext uri="{FF2B5EF4-FFF2-40B4-BE49-F238E27FC236}">
                  <a16:creationId xmlns:a16="http://schemas.microsoft.com/office/drawing/2014/main" id="{EBEE2A76-B6D0-9CC4-8ABF-EECCFA5ECCA3}"/>
                </a:ext>
              </a:extLst>
            </p:cNvPr>
            <p:cNvSpPr/>
            <p:nvPr/>
          </p:nvSpPr>
          <p:spPr>
            <a:xfrm>
              <a:off x="-790009" y="900094"/>
              <a:ext cx="246221" cy="246221"/>
            </a:xfrm>
            <a:prstGeom prst="rect">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5" name="正方形/長方形 24">
              <a:extLst>
                <a:ext uri="{FF2B5EF4-FFF2-40B4-BE49-F238E27FC236}">
                  <a16:creationId xmlns:a16="http://schemas.microsoft.com/office/drawing/2014/main" id="{002D0689-E01F-0782-93EF-86719DC1270C}"/>
                </a:ext>
              </a:extLst>
            </p:cNvPr>
            <p:cNvSpPr/>
            <p:nvPr/>
          </p:nvSpPr>
          <p:spPr>
            <a:xfrm>
              <a:off x="-790009" y="1121811"/>
              <a:ext cx="246221" cy="246221"/>
            </a:xfrm>
            <a:prstGeom prst="rect">
              <a:avLst/>
            </a:prstGeom>
            <a:solidFill>
              <a:schemeClr val="bg1">
                <a:lumMod val="7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正方形/長方形 25">
              <a:extLst>
                <a:ext uri="{FF2B5EF4-FFF2-40B4-BE49-F238E27FC236}">
                  <a16:creationId xmlns:a16="http://schemas.microsoft.com/office/drawing/2014/main" id="{23BAAF1E-51D0-3924-5426-ECEEADEB95EE}"/>
                </a:ext>
              </a:extLst>
            </p:cNvPr>
            <p:cNvSpPr/>
            <p:nvPr/>
          </p:nvSpPr>
          <p:spPr>
            <a:xfrm>
              <a:off x="-790684" y="1368032"/>
              <a:ext cx="246221" cy="246221"/>
            </a:xfrm>
            <a:prstGeom prst="rect">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Tree>
    <p:extLst>
      <p:ext uri="{BB962C8B-B14F-4D97-AF65-F5344CB8AC3E}">
        <p14:creationId xmlns:p14="http://schemas.microsoft.com/office/powerpoint/2010/main" val="3465792633"/>
      </p:ext>
    </p:extLst>
  </p:cSld>
  <p:clrMapOvr>
    <a:masterClrMapping/>
  </p:clrMapOvr>
  <p:extLst>
    <p:ext uri="{DCECCB84-F9BA-43D5-87BE-67443E8EF086}">
      <p15:sldGuideLst xmlns:p15="http://schemas.microsoft.com/office/powerpoint/2012/main">
        <p15:guide id="1" orient="horz" pos="2160">
          <p15:clr>
            <a:srgbClr val="FBAE40"/>
          </p15:clr>
        </p15:guide>
        <p15:guide id="2" pos="438">
          <p15:clr>
            <a:srgbClr val="FBAE40"/>
          </p15:clr>
        </p15:guide>
        <p15:guide id="3" pos="7242">
          <p15:clr>
            <a:srgbClr val="FBAE40"/>
          </p15:clr>
        </p15:guide>
        <p15:guide id="4" orient="horz" pos="346">
          <p15:clr>
            <a:srgbClr val="FBAE40"/>
          </p15:clr>
        </p15:guide>
        <p15:guide id="5" orient="horz" pos="3974">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目次（グリーン01）">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3CD89F18-DEA5-CFAE-AFF3-C458A8F6F6B6}"/>
              </a:ext>
            </a:extLst>
          </p:cNvPr>
          <p:cNvSpPr/>
          <p:nvPr userDrawn="1"/>
        </p:nvSpPr>
        <p:spPr>
          <a:xfrm>
            <a:off x="1" y="-1"/>
            <a:ext cx="2525486" cy="6858001"/>
          </a:xfrm>
          <a:prstGeom prst="rect">
            <a:avLst/>
          </a:prstGeom>
          <a:solidFill>
            <a:srgbClr val="1F302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bg1"/>
              </a:solidFill>
            </a:endParaRPr>
          </a:p>
        </p:txBody>
      </p:sp>
      <p:sp>
        <p:nvSpPr>
          <p:cNvPr id="11" name="テキスト ボックス 10">
            <a:extLst>
              <a:ext uri="{FF2B5EF4-FFF2-40B4-BE49-F238E27FC236}">
                <a16:creationId xmlns:a16="http://schemas.microsoft.com/office/drawing/2014/main" id="{144EC2DC-CD04-37D4-5C5F-A02A4F51E271}"/>
              </a:ext>
            </a:extLst>
          </p:cNvPr>
          <p:cNvSpPr txBox="1"/>
          <p:nvPr userDrawn="1"/>
        </p:nvSpPr>
        <p:spPr>
          <a:xfrm>
            <a:off x="9717722" y="136525"/>
            <a:ext cx="2154555" cy="246221"/>
          </a:xfrm>
          <a:prstGeom prst="rect">
            <a:avLst/>
          </a:prstGeom>
          <a:noFill/>
          <a:ln>
            <a:noFill/>
          </a:ln>
        </p:spPr>
        <p:txBody>
          <a:bodyPr wrap="square">
            <a:spAutoFit/>
          </a:bodyPr>
          <a:lstStyle/>
          <a:p>
            <a:pPr algn="r"/>
            <a:r>
              <a:rPr lang="ja-JP" altLang="en-US" sz="1000">
                <a:solidFill>
                  <a:schemeClr val="bg1">
                    <a:lumMod val="75000"/>
                  </a:schemeClr>
                </a:solidFill>
              </a:rPr>
              <a:t>Strictly confidential</a:t>
            </a:r>
            <a:endParaRPr lang="en-US" altLang="ja-JP" sz="1000" dirty="0">
              <a:solidFill>
                <a:schemeClr val="bg1">
                  <a:lumMod val="75000"/>
                </a:schemeClr>
              </a:solidFill>
            </a:endParaRPr>
          </a:p>
        </p:txBody>
      </p:sp>
      <p:sp>
        <p:nvSpPr>
          <p:cNvPr id="16" name="正方形/長方形 15">
            <a:extLst>
              <a:ext uri="{FF2B5EF4-FFF2-40B4-BE49-F238E27FC236}">
                <a16:creationId xmlns:a16="http://schemas.microsoft.com/office/drawing/2014/main" id="{64B7C196-FD95-7F9B-B9B9-39DAD2FB1827}"/>
              </a:ext>
            </a:extLst>
          </p:cNvPr>
          <p:cNvSpPr/>
          <p:nvPr userDrawn="1"/>
        </p:nvSpPr>
        <p:spPr>
          <a:xfrm>
            <a:off x="12115800" y="231265"/>
            <a:ext cx="76200" cy="60693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E53763EF-3DFA-67F8-AE8A-78BA7C98CF5B}"/>
              </a:ext>
            </a:extLst>
          </p:cNvPr>
          <p:cNvSpPr/>
          <p:nvPr userDrawn="1"/>
        </p:nvSpPr>
        <p:spPr>
          <a:xfrm>
            <a:off x="12115800" y="838201"/>
            <a:ext cx="76200" cy="302563"/>
          </a:xfrm>
          <a:prstGeom prst="rect">
            <a:avLst/>
          </a:prstGeom>
          <a:solidFill>
            <a:srgbClr val="ECDFBE"/>
          </a:solidFill>
          <a:ln>
            <a:solidFill>
              <a:srgbClr val="ECDFBE"/>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grpSp>
        <p:nvGrpSpPr>
          <p:cNvPr id="2" name="グループ化 1">
            <a:extLst>
              <a:ext uri="{FF2B5EF4-FFF2-40B4-BE49-F238E27FC236}">
                <a16:creationId xmlns:a16="http://schemas.microsoft.com/office/drawing/2014/main" id="{37A7538E-8D44-DB02-AF00-6E5BB43ECE00}"/>
              </a:ext>
            </a:extLst>
          </p:cNvPr>
          <p:cNvGrpSpPr/>
          <p:nvPr userDrawn="1"/>
        </p:nvGrpSpPr>
        <p:grpSpPr>
          <a:xfrm>
            <a:off x="-790684" y="2588774"/>
            <a:ext cx="616229" cy="1587897"/>
            <a:chOff x="-790684" y="26356"/>
            <a:chExt cx="616229" cy="1587897"/>
          </a:xfrm>
        </p:grpSpPr>
        <p:sp>
          <p:nvSpPr>
            <p:cNvPr id="3" name="正方形/長方形 2">
              <a:extLst>
                <a:ext uri="{FF2B5EF4-FFF2-40B4-BE49-F238E27FC236}">
                  <a16:creationId xmlns:a16="http://schemas.microsoft.com/office/drawing/2014/main" id="{CDD377C3-4ACA-6B4C-A613-35A006A0B6ED}"/>
                </a:ext>
              </a:extLst>
            </p:cNvPr>
            <p:cNvSpPr/>
            <p:nvPr/>
          </p:nvSpPr>
          <p:spPr>
            <a:xfrm>
              <a:off x="-420676" y="27573"/>
              <a:ext cx="246221" cy="246221"/>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正方形/長方形 3">
              <a:extLst>
                <a:ext uri="{FF2B5EF4-FFF2-40B4-BE49-F238E27FC236}">
                  <a16:creationId xmlns:a16="http://schemas.microsoft.com/office/drawing/2014/main" id="{88FB55F4-F4F2-3F18-D684-FC5A1B7676FA}"/>
                </a:ext>
              </a:extLst>
            </p:cNvPr>
            <p:cNvSpPr/>
            <p:nvPr/>
          </p:nvSpPr>
          <p:spPr>
            <a:xfrm>
              <a:off x="-420677" y="272577"/>
              <a:ext cx="246221" cy="246221"/>
            </a:xfrm>
            <a:prstGeom prst="rect">
              <a:avLst/>
            </a:prstGeom>
            <a:solidFill>
              <a:srgbClr val="1F302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正方形/長方形 4">
              <a:extLst>
                <a:ext uri="{FF2B5EF4-FFF2-40B4-BE49-F238E27FC236}">
                  <a16:creationId xmlns:a16="http://schemas.microsoft.com/office/drawing/2014/main" id="{1D1C9FAC-ED14-25DA-A575-52D5CA9B4484}"/>
                </a:ext>
              </a:extLst>
            </p:cNvPr>
            <p:cNvSpPr/>
            <p:nvPr/>
          </p:nvSpPr>
          <p:spPr>
            <a:xfrm>
              <a:off x="-422027" y="740515"/>
              <a:ext cx="246221" cy="246221"/>
            </a:xfrm>
            <a:prstGeom prst="rect">
              <a:avLst/>
            </a:prstGeom>
            <a:solidFill>
              <a:srgbClr val="3F755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E19967CE-2BE3-8CC9-1487-35F02C338F2B}"/>
                </a:ext>
              </a:extLst>
            </p:cNvPr>
            <p:cNvSpPr/>
            <p:nvPr/>
          </p:nvSpPr>
          <p:spPr>
            <a:xfrm>
              <a:off x="-422027" y="984911"/>
              <a:ext cx="246221" cy="246221"/>
            </a:xfrm>
            <a:prstGeom prst="rect">
              <a:avLst/>
            </a:prstGeom>
            <a:solidFill>
              <a:srgbClr val="5A957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a:extLst>
                <a:ext uri="{FF2B5EF4-FFF2-40B4-BE49-F238E27FC236}">
                  <a16:creationId xmlns:a16="http://schemas.microsoft.com/office/drawing/2014/main" id="{0838A74F-B5F7-DCE6-F9C7-0ADC95BA62AD}"/>
                </a:ext>
              </a:extLst>
            </p:cNvPr>
            <p:cNvSpPr/>
            <p:nvPr/>
          </p:nvSpPr>
          <p:spPr>
            <a:xfrm>
              <a:off x="-790009" y="26356"/>
              <a:ext cx="246221" cy="246221"/>
            </a:xfrm>
            <a:prstGeom prst="rect">
              <a:avLst/>
            </a:prstGeom>
            <a:solidFill>
              <a:srgbClr val="B8935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0" name="正方形/長方形 9">
              <a:extLst>
                <a:ext uri="{FF2B5EF4-FFF2-40B4-BE49-F238E27FC236}">
                  <a16:creationId xmlns:a16="http://schemas.microsoft.com/office/drawing/2014/main" id="{29865CF5-B975-BF66-96B2-D79633A3A123}"/>
                </a:ext>
              </a:extLst>
            </p:cNvPr>
            <p:cNvSpPr/>
            <p:nvPr/>
          </p:nvSpPr>
          <p:spPr>
            <a:xfrm>
              <a:off x="-790009" y="248073"/>
              <a:ext cx="246221" cy="246221"/>
            </a:xfrm>
            <a:prstGeom prst="rect">
              <a:avLst/>
            </a:prstGeom>
            <a:solidFill>
              <a:srgbClr val="D4A57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a:extLst>
                <a:ext uri="{FF2B5EF4-FFF2-40B4-BE49-F238E27FC236}">
                  <a16:creationId xmlns:a16="http://schemas.microsoft.com/office/drawing/2014/main" id="{AC5A376F-6C04-9AEC-6F7B-55E65DADE70C}"/>
                </a:ext>
              </a:extLst>
            </p:cNvPr>
            <p:cNvSpPr/>
            <p:nvPr/>
          </p:nvSpPr>
          <p:spPr>
            <a:xfrm>
              <a:off x="-790684" y="494294"/>
              <a:ext cx="246221" cy="246221"/>
            </a:xfrm>
            <a:prstGeom prst="rect">
              <a:avLst/>
            </a:prstGeom>
            <a:solidFill>
              <a:srgbClr val="E6B78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FB23181B-430D-3DDD-AB94-EB8E5A76BCF3}"/>
                </a:ext>
              </a:extLst>
            </p:cNvPr>
            <p:cNvSpPr/>
            <p:nvPr/>
          </p:nvSpPr>
          <p:spPr>
            <a:xfrm>
              <a:off x="-420678" y="518190"/>
              <a:ext cx="246221" cy="246221"/>
            </a:xfrm>
            <a:prstGeom prst="rect">
              <a:avLst/>
            </a:prstGeom>
            <a:solidFill>
              <a:srgbClr val="2D5A4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正方形/長方形 14">
              <a:extLst>
                <a:ext uri="{FF2B5EF4-FFF2-40B4-BE49-F238E27FC236}">
                  <a16:creationId xmlns:a16="http://schemas.microsoft.com/office/drawing/2014/main" id="{F8A8F73F-CBD7-59B7-08C3-53387FE2F063}"/>
                </a:ext>
              </a:extLst>
            </p:cNvPr>
            <p:cNvSpPr/>
            <p:nvPr/>
          </p:nvSpPr>
          <p:spPr>
            <a:xfrm>
              <a:off x="-422027" y="1223588"/>
              <a:ext cx="246221" cy="246221"/>
            </a:xfrm>
            <a:prstGeom prst="rect">
              <a:avLst/>
            </a:prstGeom>
            <a:solidFill>
              <a:srgbClr val="77B991"/>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正方形/長方形 17">
              <a:extLst>
                <a:ext uri="{FF2B5EF4-FFF2-40B4-BE49-F238E27FC236}">
                  <a16:creationId xmlns:a16="http://schemas.microsoft.com/office/drawing/2014/main" id="{9FDFBA5D-FF9C-62B1-FD83-AEBF8253E56B}"/>
                </a:ext>
              </a:extLst>
            </p:cNvPr>
            <p:cNvSpPr/>
            <p:nvPr/>
          </p:nvSpPr>
          <p:spPr>
            <a:xfrm>
              <a:off x="-790009" y="900094"/>
              <a:ext cx="246221" cy="246221"/>
            </a:xfrm>
            <a:prstGeom prst="rect">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9" name="正方形/長方形 18">
              <a:extLst>
                <a:ext uri="{FF2B5EF4-FFF2-40B4-BE49-F238E27FC236}">
                  <a16:creationId xmlns:a16="http://schemas.microsoft.com/office/drawing/2014/main" id="{F8F43F2C-5F76-9C7E-C33F-D388C2F7CB24}"/>
                </a:ext>
              </a:extLst>
            </p:cNvPr>
            <p:cNvSpPr/>
            <p:nvPr/>
          </p:nvSpPr>
          <p:spPr>
            <a:xfrm>
              <a:off x="-790009" y="1121811"/>
              <a:ext cx="246221" cy="246221"/>
            </a:xfrm>
            <a:prstGeom prst="rect">
              <a:avLst/>
            </a:prstGeom>
            <a:solidFill>
              <a:schemeClr val="bg1">
                <a:lumMod val="7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正方形/長方形 20">
              <a:extLst>
                <a:ext uri="{FF2B5EF4-FFF2-40B4-BE49-F238E27FC236}">
                  <a16:creationId xmlns:a16="http://schemas.microsoft.com/office/drawing/2014/main" id="{4338796F-176A-206E-BBB5-3D214D9B10CF}"/>
                </a:ext>
              </a:extLst>
            </p:cNvPr>
            <p:cNvSpPr/>
            <p:nvPr/>
          </p:nvSpPr>
          <p:spPr>
            <a:xfrm>
              <a:off x="-790684" y="1368032"/>
              <a:ext cx="246221" cy="246221"/>
            </a:xfrm>
            <a:prstGeom prst="rect">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4" name="TextBox 41">
            <a:extLst>
              <a:ext uri="{FF2B5EF4-FFF2-40B4-BE49-F238E27FC236}">
                <a16:creationId xmlns:a16="http://schemas.microsoft.com/office/drawing/2014/main" id="{DFDD0045-FF86-909F-CF20-481E431B26E0}"/>
              </a:ext>
            </a:extLst>
          </p:cNvPr>
          <p:cNvSpPr txBox="1"/>
          <p:nvPr userDrawn="1"/>
        </p:nvSpPr>
        <p:spPr>
          <a:xfrm>
            <a:off x="11105812" y="6514831"/>
            <a:ext cx="983573" cy="216000"/>
          </a:xfrm>
          <a:prstGeom prst="rect">
            <a:avLst/>
          </a:prstGeom>
          <a:noFill/>
        </p:spPr>
        <p:txBody>
          <a:bodyPr wrap="square" rtlCol="0" anchor="ctr">
            <a:noAutofit/>
          </a:bodyPr>
          <a:lstStyle/>
          <a:p>
            <a:pPr algn="r"/>
            <a:fld id="{345173B5-5526-C040-8550-97FCE61EEC3A}" type="slidenum">
              <a:rPr lang="en-AU" sz="1200" smtClean="0">
                <a:solidFill>
                  <a:schemeClr val="accent6">
                    <a:lumMod val="50000"/>
                  </a:schemeClr>
                </a:solidFill>
                <a:latin typeface="+mn-lt"/>
                <a:cs typeface="Arial" panose="020B0604020202020204" pitchFamily="34" charset="0"/>
              </a:rPr>
              <a:pPr algn="r"/>
              <a:t>‹#›</a:t>
            </a:fld>
            <a:endParaRPr lang="en-AU" sz="1200" dirty="0">
              <a:solidFill>
                <a:schemeClr val="accent6">
                  <a:lumMod val="50000"/>
                </a:schemeClr>
              </a:solidFill>
              <a:latin typeface="+mn-lt"/>
              <a:cs typeface="Arial" panose="020B0604020202020204" pitchFamily="34" charset="0"/>
            </a:endParaRPr>
          </a:p>
        </p:txBody>
      </p:sp>
      <p:sp>
        <p:nvSpPr>
          <p:cNvPr id="25" name="フッター プレースホルダー 13">
            <a:extLst>
              <a:ext uri="{FF2B5EF4-FFF2-40B4-BE49-F238E27FC236}">
                <a16:creationId xmlns:a16="http://schemas.microsoft.com/office/drawing/2014/main" id="{2104882E-0366-BE09-552D-B078DCD1AE3B}"/>
              </a:ext>
            </a:extLst>
          </p:cNvPr>
          <p:cNvSpPr>
            <a:spLocks noGrp="1"/>
          </p:cNvSpPr>
          <p:nvPr>
            <p:ph type="ftr" sz="quarter" idx="11"/>
          </p:nvPr>
        </p:nvSpPr>
        <p:spPr>
          <a:xfrm>
            <a:off x="9877808" y="6514831"/>
            <a:ext cx="1919585" cy="216000"/>
          </a:xfrm>
        </p:spPr>
        <p:txBody>
          <a:bodyPr/>
          <a:lstStyle>
            <a:lvl1pPr algn="l">
              <a:defRPr sz="1000">
                <a:latin typeface="+mn-lt"/>
                <a:ea typeface="+mn-ea"/>
              </a:defRPr>
            </a:lvl1pPr>
          </a:lstStyle>
          <a:p>
            <a:pPr>
              <a:defRPr/>
            </a:pPr>
            <a:r>
              <a:rPr kumimoji="1" lang="en-US" altLang="ja-JP" dirty="0">
                <a:solidFill>
                  <a:srgbClr val="FFFFFF">
                    <a:lumMod val="75000"/>
                  </a:srgbClr>
                </a:solidFill>
              </a:rPr>
              <a:t>©️ 2026 </a:t>
            </a:r>
            <a:r>
              <a:rPr kumimoji="1" lang="en-US" altLang="ja-JP" dirty="0" err="1">
                <a:solidFill>
                  <a:srgbClr val="FFFFFF">
                    <a:lumMod val="75000"/>
                  </a:srgbClr>
                </a:solidFill>
              </a:rPr>
              <a:t>boostconsulting</a:t>
            </a:r>
            <a:r>
              <a:rPr kumimoji="1" lang="en-US" altLang="ja-JP" dirty="0">
                <a:solidFill>
                  <a:srgbClr val="FFFFFF">
                    <a:lumMod val="75000"/>
                  </a:srgbClr>
                </a:solidFill>
              </a:rPr>
              <a:t> Inc.</a:t>
            </a:r>
            <a:endParaRPr kumimoji="1" lang="ja-JP" altLang="en-US" dirty="0">
              <a:solidFill>
                <a:srgbClr val="FFFFFF">
                  <a:lumMod val="75000"/>
                </a:srgbClr>
              </a:solidFill>
              <a:latin typeface="+mn-lt"/>
            </a:endParaRPr>
          </a:p>
        </p:txBody>
      </p:sp>
      <p:sp>
        <p:nvSpPr>
          <p:cNvPr id="28" name="テキスト ボックス 27">
            <a:extLst>
              <a:ext uri="{FF2B5EF4-FFF2-40B4-BE49-F238E27FC236}">
                <a16:creationId xmlns:a16="http://schemas.microsoft.com/office/drawing/2014/main" id="{97278520-9DA2-593D-6467-A9F9A8DD90C8}"/>
              </a:ext>
            </a:extLst>
          </p:cNvPr>
          <p:cNvSpPr txBox="1"/>
          <p:nvPr userDrawn="1"/>
        </p:nvSpPr>
        <p:spPr>
          <a:xfrm>
            <a:off x="913930" y="3228945"/>
            <a:ext cx="697627" cy="400110"/>
          </a:xfrm>
          <a:prstGeom prst="rect">
            <a:avLst/>
          </a:prstGeom>
          <a:noFill/>
        </p:spPr>
        <p:txBody>
          <a:bodyPr wrap="none" rtlCol="0">
            <a:spAutoFit/>
          </a:bodyPr>
          <a:lstStyle/>
          <a:p>
            <a:r>
              <a:rPr kumimoji="1" lang="ja-JP" altLang="en-US" sz="2000" b="1" dirty="0">
                <a:solidFill>
                  <a:schemeClr val="bg1"/>
                </a:solidFill>
              </a:rPr>
              <a:t>目次</a:t>
            </a:r>
          </a:p>
        </p:txBody>
      </p:sp>
    </p:spTree>
    <p:extLst>
      <p:ext uri="{BB962C8B-B14F-4D97-AF65-F5344CB8AC3E}">
        <p14:creationId xmlns:p14="http://schemas.microsoft.com/office/powerpoint/2010/main" val="17371393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415">
          <p15:clr>
            <a:srgbClr val="FBAE40"/>
          </p15:clr>
        </p15:guide>
        <p15:guide id="4" pos="7265">
          <p15:clr>
            <a:srgbClr val="FBAE40"/>
          </p15:clr>
        </p15:guide>
        <p15:guide id="5" orient="horz" pos="3974">
          <p15:clr>
            <a:srgbClr val="FBAE40"/>
          </p15:clr>
        </p15:guide>
        <p15:guide id="6" orient="horz" pos="346">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目次（グリーン02）">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3CD89F18-DEA5-CFAE-AFF3-C458A8F6F6B6}"/>
              </a:ext>
            </a:extLst>
          </p:cNvPr>
          <p:cNvSpPr/>
          <p:nvPr userDrawn="1"/>
        </p:nvSpPr>
        <p:spPr>
          <a:xfrm>
            <a:off x="1" y="-1"/>
            <a:ext cx="2525486" cy="6858001"/>
          </a:xfrm>
          <a:prstGeom prst="rect">
            <a:avLst/>
          </a:prstGeom>
          <a:solidFill>
            <a:srgbClr val="2D5A42"/>
          </a:solidFill>
          <a:ln>
            <a:solidFill>
              <a:srgbClr val="2D5A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bg1"/>
              </a:solidFill>
            </a:endParaRPr>
          </a:p>
        </p:txBody>
      </p:sp>
      <p:sp>
        <p:nvSpPr>
          <p:cNvPr id="6" name="テキスト ボックス 5">
            <a:extLst>
              <a:ext uri="{FF2B5EF4-FFF2-40B4-BE49-F238E27FC236}">
                <a16:creationId xmlns:a16="http://schemas.microsoft.com/office/drawing/2014/main" id="{41A21F22-C5F9-B70F-E2A3-1B032AA9052B}"/>
              </a:ext>
            </a:extLst>
          </p:cNvPr>
          <p:cNvSpPr txBox="1"/>
          <p:nvPr userDrawn="1"/>
        </p:nvSpPr>
        <p:spPr>
          <a:xfrm>
            <a:off x="913930" y="3228945"/>
            <a:ext cx="697627" cy="400110"/>
          </a:xfrm>
          <a:prstGeom prst="rect">
            <a:avLst/>
          </a:prstGeom>
          <a:noFill/>
        </p:spPr>
        <p:txBody>
          <a:bodyPr wrap="none" rtlCol="0">
            <a:spAutoFit/>
          </a:bodyPr>
          <a:lstStyle/>
          <a:p>
            <a:r>
              <a:rPr kumimoji="1" lang="ja-JP" altLang="en-US" sz="2000" b="1" dirty="0">
                <a:solidFill>
                  <a:schemeClr val="bg1"/>
                </a:solidFill>
              </a:rPr>
              <a:t>目次</a:t>
            </a:r>
          </a:p>
        </p:txBody>
      </p:sp>
      <p:sp>
        <p:nvSpPr>
          <p:cNvPr id="11" name="テキスト ボックス 10">
            <a:extLst>
              <a:ext uri="{FF2B5EF4-FFF2-40B4-BE49-F238E27FC236}">
                <a16:creationId xmlns:a16="http://schemas.microsoft.com/office/drawing/2014/main" id="{144EC2DC-CD04-37D4-5C5F-A02A4F51E271}"/>
              </a:ext>
            </a:extLst>
          </p:cNvPr>
          <p:cNvSpPr txBox="1"/>
          <p:nvPr userDrawn="1"/>
        </p:nvSpPr>
        <p:spPr>
          <a:xfrm>
            <a:off x="9717722" y="136525"/>
            <a:ext cx="2154555" cy="246221"/>
          </a:xfrm>
          <a:prstGeom prst="rect">
            <a:avLst/>
          </a:prstGeom>
          <a:noFill/>
          <a:ln>
            <a:noFill/>
          </a:ln>
        </p:spPr>
        <p:txBody>
          <a:bodyPr wrap="square">
            <a:spAutoFit/>
          </a:bodyPr>
          <a:lstStyle/>
          <a:p>
            <a:pPr algn="r"/>
            <a:r>
              <a:rPr lang="ja-JP" altLang="en-US" sz="1000">
                <a:solidFill>
                  <a:schemeClr val="bg1">
                    <a:lumMod val="75000"/>
                  </a:schemeClr>
                </a:solidFill>
              </a:rPr>
              <a:t>Strictly confidential</a:t>
            </a:r>
            <a:endParaRPr lang="en-US" altLang="ja-JP" sz="1000" dirty="0">
              <a:solidFill>
                <a:schemeClr val="bg1">
                  <a:lumMod val="75000"/>
                </a:schemeClr>
              </a:solidFill>
            </a:endParaRPr>
          </a:p>
        </p:txBody>
      </p:sp>
      <p:sp>
        <p:nvSpPr>
          <p:cNvPr id="16" name="正方形/長方形 15">
            <a:extLst>
              <a:ext uri="{FF2B5EF4-FFF2-40B4-BE49-F238E27FC236}">
                <a16:creationId xmlns:a16="http://schemas.microsoft.com/office/drawing/2014/main" id="{64B7C196-FD95-7F9B-B9B9-39DAD2FB1827}"/>
              </a:ext>
            </a:extLst>
          </p:cNvPr>
          <p:cNvSpPr/>
          <p:nvPr userDrawn="1"/>
        </p:nvSpPr>
        <p:spPr>
          <a:xfrm>
            <a:off x="12115800" y="231265"/>
            <a:ext cx="76200" cy="60693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E53763EF-3DFA-67F8-AE8A-78BA7C98CF5B}"/>
              </a:ext>
            </a:extLst>
          </p:cNvPr>
          <p:cNvSpPr/>
          <p:nvPr userDrawn="1"/>
        </p:nvSpPr>
        <p:spPr>
          <a:xfrm>
            <a:off x="12115800" y="838201"/>
            <a:ext cx="76200" cy="302563"/>
          </a:xfrm>
          <a:prstGeom prst="rect">
            <a:avLst/>
          </a:prstGeom>
          <a:solidFill>
            <a:srgbClr val="ECDFBE"/>
          </a:solidFill>
          <a:ln>
            <a:solidFill>
              <a:srgbClr val="ECDFBE"/>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grpSp>
        <p:nvGrpSpPr>
          <p:cNvPr id="2" name="グループ化 1">
            <a:extLst>
              <a:ext uri="{FF2B5EF4-FFF2-40B4-BE49-F238E27FC236}">
                <a16:creationId xmlns:a16="http://schemas.microsoft.com/office/drawing/2014/main" id="{37A7538E-8D44-DB02-AF00-6E5BB43ECE00}"/>
              </a:ext>
            </a:extLst>
          </p:cNvPr>
          <p:cNvGrpSpPr/>
          <p:nvPr userDrawn="1"/>
        </p:nvGrpSpPr>
        <p:grpSpPr>
          <a:xfrm>
            <a:off x="-790684" y="2588774"/>
            <a:ext cx="616229" cy="1587897"/>
            <a:chOff x="-790684" y="26356"/>
            <a:chExt cx="616229" cy="1587897"/>
          </a:xfrm>
        </p:grpSpPr>
        <p:sp>
          <p:nvSpPr>
            <p:cNvPr id="3" name="正方形/長方形 2">
              <a:extLst>
                <a:ext uri="{FF2B5EF4-FFF2-40B4-BE49-F238E27FC236}">
                  <a16:creationId xmlns:a16="http://schemas.microsoft.com/office/drawing/2014/main" id="{CDD377C3-4ACA-6B4C-A613-35A006A0B6ED}"/>
                </a:ext>
              </a:extLst>
            </p:cNvPr>
            <p:cNvSpPr/>
            <p:nvPr/>
          </p:nvSpPr>
          <p:spPr>
            <a:xfrm>
              <a:off x="-420676" y="27573"/>
              <a:ext cx="246221" cy="246221"/>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正方形/長方形 3">
              <a:extLst>
                <a:ext uri="{FF2B5EF4-FFF2-40B4-BE49-F238E27FC236}">
                  <a16:creationId xmlns:a16="http://schemas.microsoft.com/office/drawing/2014/main" id="{88FB55F4-F4F2-3F18-D684-FC5A1B7676FA}"/>
                </a:ext>
              </a:extLst>
            </p:cNvPr>
            <p:cNvSpPr/>
            <p:nvPr/>
          </p:nvSpPr>
          <p:spPr>
            <a:xfrm>
              <a:off x="-420677" y="272577"/>
              <a:ext cx="246221" cy="246221"/>
            </a:xfrm>
            <a:prstGeom prst="rect">
              <a:avLst/>
            </a:prstGeom>
            <a:solidFill>
              <a:srgbClr val="1F302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正方形/長方形 4">
              <a:extLst>
                <a:ext uri="{FF2B5EF4-FFF2-40B4-BE49-F238E27FC236}">
                  <a16:creationId xmlns:a16="http://schemas.microsoft.com/office/drawing/2014/main" id="{1D1C9FAC-ED14-25DA-A575-52D5CA9B4484}"/>
                </a:ext>
              </a:extLst>
            </p:cNvPr>
            <p:cNvSpPr/>
            <p:nvPr/>
          </p:nvSpPr>
          <p:spPr>
            <a:xfrm>
              <a:off x="-422027" y="740515"/>
              <a:ext cx="246221" cy="246221"/>
            </a:xfrm>
            <a:prstGeom prst="rect">
              <a:avLst/>
            </a:prstGeom>
            <a:solidFill>
              <a:srgbClr val="3F755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E19967CE-2BE3-8CC9-1487-35F02C338F2B}"/>
                </a:ext>
              </a:extLst>
            </p:cNvPr>
            <p:cNvSpPr/>
            <p:nvPr/>
          </p:nvSpPr>
          <p:spPr>
            <a:xfrm>
              <a:off x="-422027" y="984911"/>
              <a:ext cx="246221" cy="246221"/>
            </a:xfrm>
            <a:prstGeom prst="rect">
              <a:avLst/>
            </a:prstGeom>
            <a:solidFill>
              <a:srgbClr val="5A957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a:extLst>
                <a:ext uri="{FF2B5EF4-FFF2-40B4-BE49-F238E27FC236}">
                  <a16:creationId xmlns:a16="http://schemas.microsoft.com/office/drawing/2014/main" id="{0838A74F-B5F7-DCE6-F9C7-0ADC95BA62AD}"/>
                </a:ext>
              </a:extLst>
            </p:cNvPr>
            <p:cNvSpPr/>
            <p:nvPr/>
          </p:nvSpPr>
          <p:spPr>
            <a:xfrm>
              <a:off x="-790009" y="26356"/>
              <a:ext cx="246221" cy="246221"/>
            </a:xfrm>
            <a:prstGeom prst="rect">
              <a:avLst/>
            </a:prstGeom>
            <a:solidFill>
              <a:srgbClr val="B8935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0" name="正方形/長方形 9">
              <a:extLst>
                <a:ext uri="{FF2B5EF4-FFF2-40B4-BE49-F238E27FC236}">
                  <a16:creationId xmlns:a16="http://schemas.microsoft.com/office/drawing/2014/main" id="{29865CF5-B975-BF66-96B2-D79633A3A123}"/>
                </a:ext>
              </a:extLst>
            </p:cNvPr>
            <p:cNvSpPr/>
            <p:nvPr/>
          </p:nvSpPr>
          <p:spPr>
            <a:xfrm>
              <a:off x="-790009" y="248073"/>
              <a:ext cx="246221" cy="246221"/>
            </a:xfrm>
            <a:prstGeom prst="rect">
              <a:avLst/>
            </a:prstGeom>
            <a:solidFill>
              <a:srgbClr val="D4A57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a:extLst>
                <a:ext uri="{FF2B5EF4-FFF2-40B4-BE49-F238E27FC236}">
                  <a16:creationId xmlns:a16="http://schemas.microsoft.com/office/drawing/2014/main" id="{AC5A376F-6C04-9AEC-6F7B-55E65DADE70C}"/>
                </a:ext>
              </a:extLst>
            </p:cNvPr>
            <p:cNvSpPr/>
            <p:nvPr/>
          </p:nvSpPr>
          <p:spPr>
            <a:xfrm>
              <a:off x="-790684" y="494294"/>
              <a:ext cx="246221" cy="246221"/>
            </a:xfrm>
            <a:prstGeom prst="rect">
              <a:avLst/>
            </a:prstGeom>
            <a:solidFill>
              <a:srgbClr val="E6B78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FB23181B-430D-3DDD-AB94-EB8E5A76BCF3}"/>
                </a:ext>
              </a:extLst>
            </p:cNvPr>
            <p:cNvSpPr/>
            <p:nvPr/>
          </p:nvSpPr>
          <p:spPr>
            <a:xfrm>
              <a:off x="-420678" y="518190"/>
              <a:ext cx="246221" cy="246221"/>
            </a:xfrm>
            <a:prstGeom prst="rect">
              <a:avLst/>
            </a:prstGeom>
            <a:solidFill>
              <a:srgbClr val="2D5A4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正方形/長方形 14">
              <a:extLst>
                <a:ext uri="{FF2B5EF4-FFF2-40B4-BE49-F238E27FC236}">
                  <a16:creationId xmlns:a16="http://schemas.microsoft.com/office/drawing/2014/main" id="{F8A8F73F-CBD7-59B7-08C3-53387FE2F063}"/>
                </a:ext>
              </a:extLst>
            </p:cNvPr>
            <p:cNvSpPr/>
            <p:nvPr/>
          </p:nvSpPr>
          <p:spPr>
            <a:xfrm>
              <a:off x="-422027" y="1223588"/>
              <a:ext cx="246221" cy="246221"/>
            </a:xfrm>
            <a:prstGeom prst="rect">
              <a:avLst/>
            </a:prstGeom>
            <a:solidFill>
              <a:srgbClr val="77B991"/>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正方形/長方形 17">
              <a:extLst>
                <a:ext uri="{FF2B5EF4-FFF2-40B4-BE49-F238E27FC236}">
                  <a16:creationId xmlns:a16="http://schemas.microsoft.com/office/drawing/2014/main" id="{9FDFBA5D-FF9C-62B1-FD83-AEBF8253E56B}"/>
                </a:ext>
              </a:extLst>
            </p:cNvPr>
            <p:cNvSpPr/>
            <p:nvPr/>
          </p:nvSpPr>
          <p:spPr>
            <a:xfrm>
              <a:off x="-790009" y="900094"/>
              <a:ext cx="246221" cy="246221"/>
            </a:xfrm>
            <a:prstGeom prst="rect">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9" name="正方形/長方形 18">
              <a:extLst>
                <a:ext uri="{FF2B5EF4-FFF2-40B4-BE49-F238E27FC236}">
                  <a16:creationId xmlns:a16="http://schemas.microsoft.com/office/drawing/2014/main" id="{F8F43F2C-5F76-9C7E-C33F-D388C2F7CB24}"/>
                </a:ext>
              </a:extLst>
            </p:cNvPr>
            <p:cNvSpPr/>
            <p:nvPr/>
          </p:nvSpPr>
          <p:spPr>
            <a:xfrm>
              <a:off x="-790009" y="1121811"/>
              <a:ext cx="246221" cy="246221"/>
            </a:xfrm>
            <a:prstGeom prst="rect">
              <a:avLst/>
            </a:prstGeom>
            <a:solidFill>
              <a:schemeClr val="bg1">
                <a:lumMod val="7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正方形/長方形 20">
              <a:extLst>
                <a:ext uri="{FF2B5EF4-FFF2-40B4-BE49-F238E27FC236}">
                  <a16:creationId xmlns:a16="http://schemas.microsoft.com/office/drawing/2014/main" id="{4338796F-176A-206E-BBB5-3D214D9B10CF}"/>
                </a:ext>
              </a:extLst>
            </p:cNvPr>
            <p:cNvSpPr/>
            <p:nvPr/>
          </p:nvSpPr>
          <p:spPr>
            <a:xfrm>
              <a:off x="-790684" y="1368032"/>
              <a:ext cx="246221" cy="246221"/>
            </a:xfrm>
            <a:prstGeom prst="rect">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4" name="TextBox 41">
            <a:extLst>
              <a:ext uri="{FF2B5EF4-FFF2-40B4-BE49-F238E27FC236}">
                <a16:creationId xmlns:a16="http://schemas.microsoft.com/office/drawing/2014/main" id="{DFDD0045-FF86-909F-CF20-481E431B26E0}"/>
              </a:ext>
            </a:extLst>
          </p:cNvPr>
          <p:cNvSpPr txBox="1"/>
          <p:nvPr userDrawn="1"/>
        </p:nvSpPr>
        <p:spPr>
          <a:xfrm>
            <a:off x="11105812" y="6514831"/>
            <a:ext cx="983573" cy="216000"/>
          </a:xfrm>
          <a:prstGeom prst="rect">
            <a:avLst/>
          </a:prstGeom>
          <a:noFill/>
        </p:spPr>
        <p:txBody>
          <a:bodyPr wrap="square" rtlCol="0" anchor="ctr">
            <a:noAutofit/>
          </a:bodyPr>
          <a:lstStyle/>
          <a:p>
            <a:pPr algn="r"/>
            <a:fld id="{345173B5-5526-C040-8550-97FCE61EEC3A}" type="slidenum">
              <a:rPr lang="en-AU" sz="1200" smtClean="0">
                <a:solidFill>
                  <a:schemeClr val="accent6">
                    <a:lumMod val="50000"/>
                  </a:schemeClr>
                </a:solidFill>
                <a:latin typeface="+mn-lt"/>
                <a:cs typeface="Arial" panose="020B0604020202020204" pitchFamily="34" charset="0"/>
              </a:rPr>
              <a:pPr algn="r"/>
              <a:t>‹#›</a:t>
            </a:fld>
            <a:endParaRPr lang="en-AU" sz="1200" dirty="0">
              <a:solidFill>
                <a:schemeClr val="accent6">
                  <a:lumMod val="50000"/>
                </a:schemeClr>
              </a:solidFill>
              <a:latin typeface="+mn-lt"/>
              <a:cs typeface="Arial" panose="020B0604020202020204" pitchFamily="34" charset="0"/>
            </a:endParaRPr>
          </a:p>
        </p:txBody>
      </p:sp>
      <p:sp>
        <p:nvSpPr>
          <p:cNvPr id="25" name="フッター プレースホルダー 13">
            <a:extLst>
              <a:ext uri="{FF2B5EF4-FFF2-40B4-BE49-F238E27FC236}">
                <a16:creationId xmlns:a16="http://schemas.microsoft.com/office/drawing/2014/main" id="{2104882E-0366-BE09-552D-B078DCD1AE3B}"/>
              </a:ext>
            </a:extLst>
          </p:cNvPr>
          <p:cNvSpPr>
            <a:spLocks noGrp="1"/>
          </p:cNvSpPr>
          <p:nvPr>
            <p:ph type="ftr" sz="quarter" idx="11"/>
          </p:nvPr>
        </p:nvSpPr>
        <p:spPr>
          <a:xfrm>
            <a:off x="9877808" y="6514831"/>
            <a:ext cx="1919585" cy="216000"/>
          </a:xfrm>
        </p:spPr>
        <p:txBody>
          <a:bodyPr/>
          <a:lstStyle>
            <a:lvl1pPr algn="l">
              <a:defRPr sz="1000">
                <a:latin typeface="+mn-lt"/>
                <a:ea typeface="+mn-ea"/>
              </a:defRPr>
            </a:lvl1pPr>
          </a:lstStyle>
          <a:p>
            <a:pPr>
              <a:defRPr/>
            </a:pPr>
            <a:r>
              <a:rPr kumimoji="1" lang="en-US" altLang="ja-JP" dirty="0">
                <a:solidFill>
                  <a:srgbClr val="FFFFFF">
                    <a:lumMod val="75000"/>
                  </a:srgbClr>
                </a:solidFill>
              </a:rPr>
              <a:t>©️ 2026 </a:t>
            </a:r>
            <a:r>
              <a:rPr kumimoji="1" lang="en-US" altLang="ja-JP" dirty="0" err="1">
                <a:solidFill>
                  <a:srgbClr val="FFFFFF">
                    <a:lumMod val="75000"/>
                  </a:srgbClr>
                </a:solidFill>
              </a:rPr>
              <a:t>boostconsulting</a:t>
            </a:r>
            <a:r>
              <a:rPr kumimoji="1" lang="en-US" altLang="ja-JP" dirty="0">
                <a:solidFill>
                  <a:srgbClr val="FFFFFF">
                    <a:lumMod val="75000"/>
                  </a:srgbClr>
                </a:solidFill>
              </a:rPr>
              <a:t> Inc.</a:t>
            </a:r>
            <a:endParaRPr kumimoji="1" lang="ja-JP" altLang="en-US" dirty="0">
              <a:solidFill>
                <a:srgbClr val="FFFFFF">
                  <a:lumMod val="75000"/>
                </a:srgbClr>
              </a:solidFill>
              <a:latin typeface="+mn-lt"/>
            </a:endParaRPr>
          </a:p>
        </p:txBody>
      </p:sp>
    </p:spTree>
    <p:extLst>
      <p:ext uri="{BB962C8B-B14F-4D97-AF65-F5344CB8AC3E}">
        <p14:creationId xmlns:p14="http://schemas.microsoft.com/office/powerpoint/2010/main" val="2653240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415">
          <p15:clr>
            <a:srgbClr val="FBAE40"/>
          </p15:clr>
        </p15:guide>
        <p15:guide id="4" pos="7265">
          <p15:clr>
            <a:srgbClr val="FBAE40"/>
          </p15:clr>
        </p15:guide>
        <p15:guide id="5" orient="horz" pos="3974">
          <p15:clr>
            <a:srgbClr val="FBAE40"/>
          </p15:clr>
        </p15:guide>
        <p15:guide id="6" orient="horz" pos="346">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中表紙（ゴールド01）">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3CD89F18-DEA5-CFAE-AFF3-C458A8F6F6B6}"/>
              </a:ext>
            </a:extLst>
          </p:cNvPr>
          <p:cNvSpPr/>
          <p:nvPr userDrawn="1"/>
        </p:nvSpPr>
        <p:spPr>
          <a:xfrm>
            <a:off x="1" y="-1"/>
            <a:ext cx="2525486" cy="6858001"/>
          </a:xfrm>
          <a:prstGeom prst="rect">
            <a:avLst/>
          </a:prstGeom>
          <a:solidFill>
            <a:srgbClr val="B8935F"/>
          </a:solidFill>
          <a:ln>
            <a:solidFill>
              <a:srgbClr val="B8935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bg1"/>
              </a:solidFill>
            </a:endParaRPr>
          </a:p>
        </p:txBody>
      </p:sp>
      <p:sp>
        <p:nvSpPr>
          <p:cNvPr id="6" name="テキスト ボックス 5">
            <a:extLst>
              <a:ext uri="{FF2B5EF4-FFF2-40B4-BE49-F238E27FC236}">
                <a16:creationId xmlns:a16="http://schemas.microsoft.com/office/drawing/2014/main" id="{41A21F22-C5F9-B70F-E2A3-1B032AA9052B}"/>
              </a:ext>
            </a:extLst>
          </p:cNvPr>
          <p:cNvSpPr txBox="1"/>
          <p:nvPr userDrawn="1"/>
        </p:nvSpPr>
        <p:spPr>
          <a:xfrm>
            <a:off x="913930" y="3228945"/>
            <a:ext cx="697627" cy="400110"/>
          </a:xfrm>
          <a:prstGeom prst="rect">
            <a:avLst/>
          </a:prstGeom>
          <a:noFill/>
        </p:spPr>
        <p:txBody>
          <a:bodyPr wrap="none" rtlCol="0">
            <a:spAutoFit/>
          </a:bodyPr>
          <a:lstStyle/>
          <a:p>
            <a:r>
              <a:rPr kumimoji="1" lang="ja-JP" altLang="en-US" sz="2000" b="1">
                <a:solidFill>
                  <a:schemeClr val="bg1"/>
                </a:solidFill>
              </a:rPr>
              <a:t>目次</a:t>
            </a:r>
          </a:p>
        </p:txBody>
      </p:sp>
      <p:sp>
        <p:nvSpPr>
          <p:cNvPr id="11" name="テキスト ボックス 10">
            <a:extLst>
              <a:ext uri="{FF2B5EF4-FFF2-40B4-BE49-F238E27FC236}">
                <a16:creationId xmlns:a16="http://schemas.microsoft.com/office/drawing/2014/main" id="{144EC2DC-CD04-37D4-5C5F-A02A4F51E271}"/>
              </a:ext>
            </a:extLst>
          </p:cNvPr>
          <p:cNvSpPr txBox="1"/>
          <p:nvPr userDrawn="1"/>
        </p:nvSpPr>
        <p:spPr>
          <a:xfrm>
            <a:off x="9717722" y="136525"/>
            <a:ext cx="2154555" cy="246221"/>
          </a:xfrm>
          <a:prstGeom prst="rect">
            <a:avLst/>
          </a:prstGeom>
          <a:noFill/>
          <a:ln>
            <a:noFill/>
          </a:ln>
        </p:spPr>
        <p:txBody>
          <a:bodyPr wrap="square">
            <a:spAutoFit/>
          </a:bodyPr>
          <a:lstStyle/>
          <a:p>
            <a:pPr algn="r"/>
            <a:r>
              <a:rPr lang="ja-JP" altLang="en-US" sz="1000">
                <a:solidFill>
                  <a:schemeClr val="bg1">
                    <a:lumMod val="75000"/>
                  </a:schemeClr>
                </a:solidFill>
              </a:rPr>
              <a:t>Strictly confidential</a:t>
            </a:r>
            <a:endParaRPr lang="en-US" altLang="ja-JP" sz="1000" dirty="0">
              <a:solidFill>
                <a:schemeClr val="bg1">
                  <a:lumMod val="75000"/>
                </a:schemeClr>
              </a:solidFill>
            </a:endParaRPr>
          </a:p>
        </p:txBody>
      </p:sp>
      <p:sp>
        <p:nvSpPr>
          <p:cNvPr id="16" name="正方形/長方形 15">
            <a:extLst>
              <a:ext uri="{FF2B5EF4-FFF2-40B4-BE49-F238E27FC236}">
                <a16:creationId xmlns:a16="http://schemas.microsoft.com/office/drawing/2014/main" id="{64B7C196-FD95-7F9B-B9B9-39DAD2FB1827}"/>
              </a:ext>
            </a:extLst>
          </p:cNvPr>
          <p:cNvSpPr/>
          <p:nvPr userDrawn="1"/>
        </p:nvSpPr>
        <p:spPr>
          <a:xfrm>
            <a:off x="12115800" y="231265"/>
            <a:ext cx="76200" cy="60693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E53763EF-3DFA-67F8-AE8A-78BA7C98CF5B}"/>
              </a:ext>
            </a:extLst>
          </p:cNvPr>
          <p:cNvSpPr/>
          <p:nvPr userDrawn="1"/>
        </p:nvSpPr>
        <p:spPr>
          <a:xfrm>
            <a:off x="12115800" y="838201"/>
            <a:ext cx="76200" cy="302563"/>
          </a:xfrm>
          <a:prstGeom prst="rect">
            <a:avLst/>
          </a:prstGeom>
          <a:solidFill>
            <a:srgbClr val="ECDFBE"/>
          </a:solidFill>
          <a:ln>
            <a:solidFill>
              <a:srgbClr val="ECDFBE"/>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grpSp>
        <p:nvGrpSpPr>
          <p:cNvPr id="2" name="グループ化 1">
            <a:extLst>
              <a:ext uri="{FF2B5EF4-FFF2-40B4-BE49-F238E27FC236}">
                <a16:creationId xmlns:a16="http://schemas.microsoft.com/office/drawing/2014/main" id="{37A7538E-8D44-DB02-AF00-6E5BB43ECE00}"/>
              </a:ext>
            </a:extLst>
          </p:cNvPr>
          <p:cNvGrpSpPr/>
          <p:nvPr userDrawn="1"/>
        </p:nvGrpSpPr>
        <p:grpSpPr>
          <a:xfrm>
            <a:off x="-790684" y="2588774"/>
            <a:ext cx="616229" cy="1587897"/>
            <a:chOff x="-790684" y="26356"/>
            <a:chExt cx="616229" cy="1587897"/>
          </a:xfrm>
        </p:grpSpPr>
        <p:sp>
          <p:nvSpPr>
            <p:cNvPr id="3" name="正方形/長方形 2">
              <a:extLst>
                <a:ext uri="{FF2B5EF4-FFF2-40B4-BE49-F238E27FC236}">
                  <a16:creationId xmlns:a16="http://schemas.microsoft.com/office/drawing/2014/main" id="{CDD377C3-4ACA-6B4C-A613-35A006A0B6ED}"/>
                </a:ext>
              </a:extLst>
            </p:cNvPr>
            <p:cNvSpPr/>
            <p:nvPr/>
          </p:nvSpPr>
          <p:spPr>
            <a:xfrm>
              <a:off x="-420676" y="27573"/>
              <a:ext cx="246221" cy="246221"/>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正方形/長方形 3">
              <a:extLst>
                <a:ext uri="{FF2B5EF4-FFF2-40B4-BE49-F238E27FC236}">
                  <a16:creationId xmlns:a16="http://schemas.microsoft.com/office/drawing/2014/main" id="{88FB55F4-F4F2-3F18-D684-FC5A1B7676FA}"/>
                </a:ext>
              </a:extLst>
            </p:cNvPr>
            <p:cNvSpPr/>
            <p:nvPr/>
          </p:nvSpPr>
          <p:spPr>
            <a:xfrm>
              <a:off x="-420677" y="272577"/>
              <a:ext cx="246221" cy="246221"/>
            </a:xfrm>
            <a:prstGeom prst="rect">
              <a:avLst/>
            </a:prstGeom>
            <a:solidFill>
              <a:srgbClr val="1F302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正方形/長方形 4">
              <a:extLst>
                <a:ext uri="{FF2B5EF4-FFF2-40B4-BE49-F238E27FC236}">
                  <a16:creationId xmlns:a16="http://schemas.microsoft.com/office/drawing/2014/main" id="{1D1C9FAC-ED14-25DA-A575-52D5CA9B4484}"/>
                </a:ext>
              </a:extLst>
            </p:cNvPr>
            <p:cNvSpPr/>
            <p:nvPr/>
          </p:nvSpPr>
          <p:spPr>
            <a:xfrm>
              <a:off x="-422027" y="740515"/>
              <a:ext cx="246221" cy="246221"/>
            </a:xfrm>
            <a:prstGeom prst="rect">
              <a:avLst/>
            </a:prstGeom>
            <a:solidFill>
              <a:srgbClr val="3F755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E19967CE-2BE3-8CC9-1487-35F02C338F2B}"/>
                </a:ext>
              </a:extLst>
            </p:cNvPr>
            <p:cNvSpPr/>
            <p:nvPr/>
          </p:nvSpPr>
          <p:spPr>
            <a:xfrm>
              <a:off x="-422027" y="984911"/>
              <a:ext cx="246221" cy="246221"/>
            </a:xfrm>
            <a:prstGeom prst="rect">
              <a:avLst/>
            </a:prstGeom>
            <a:solidFill>
              <a:srgbClr val="5A957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a:extLst>
                <a:ext uri="{FF2B5EF4-FFF2-40B4-BE49-F238E27FC236}">
                  <a16:creationId xmlns:a16="http://schemas.microsoft.com/office/drawing/2014/main" id="{0838A74F-B5F7-DCE6-F9C7-0ADC95BA62AD}"/>
                </a:ext>
              </a:extLst>
            </p:cNvPr>
            <p:cNvSpPr/>
            <p:nvPr/>
          </p:nvSpPr>
          <p:spPr>
            <a:xfrm>
              <a:off x="-790009" y="26356"/>
              <a:ext cx="246221" cy="246221"/>
            </a:xfrm>
            <a:prstGeom prst="rect">
              <a:avLst/>
            </a:prstGeom>
            <a:solidFill>
              <a:srgbClr val="B8935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0" name="正方形/長方形 9">
              <a:extLst>
                <a:ext uri="{FF2B5EF4-FFF2-40B4-BE49-F238E27FC236}">
                  <a16:creationId xmlns:a16="http://schemas.microsoft.com/office/drawing/2014/main" id="{29865CF5-B975-BF66-96B2-D79633A3A123}"/>
                </a:ext>
              </a:extLst>
            </p:cNvPr>
            <p:cNvSpPr/>
            <p:nvPr/>
          </p:nvSpPr>
          <p:spPr>
            <a:xfrm>
              <a:off x="-790009" y="248073"/>
              <a:ext cx="246221" cy="246221"/>
            </a:xfrm>
            <a:prstGeom prst="rect">
              <a:avLst/>
            </a:prstGeom>
            <a:solidFill>
              <a:srgbClr val="D4A57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a:extLst>
                <a:ext uri="{FF2B5EF4-FFF2-40B4-BE49-F238E27FC236}">
                  <a16:creationId xmlns:a16="http://schemas.microsoft.com/office/drawing/2014/main" id="{AC5A376F-6C04-9AEC-6F7B-55E65DADE70C}"/>
                </a:ext>
              </a:extLst>
            </p:cNvPr>
            <p:cNvSpPr/>
            <p:nvPr/>
          </p:nvSpPr>
          <p:spPr>
            <a:xfrm>
              <a:off x="-790684" y="494294"/>
              <a:ext cx="246221" cy="246221"/>
            </a:xfrm>
            <a:prstGeom prst="rect">
              <a:avLst/>
            </a:prstGeom>
            <a:solidFill>
              <a:srgbClr val="E6B78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FB23181B-430D-3DDD-AB94-EB8E5A76BCF3}"/>
                </a:ext>
              </a:extLst>
            </p:cNvPr>
            <p:cNvSpPr/>
            <p:nvPr/>
          </p:nvSpPr>
          <p:spPr>
            <a:xfrm>
              <a:off x="-420678" y="518190"/>
              <a:ext cx="246221" cy="246221"/>
            </a:xfrm>
            <a:prstGeom prst="rect">
              <a:avLst/>
            </a:prstGeom>
            <a:solidFill>
              <a:srgbClr val="2D5A4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正方形/長方形 14">
              <a:extLst>
                <a:ext uri="{FF2B5EF4-FFF2-40B4-BE49-F238E27FC236}">
                  <a16:creationId xmlns:a16="http://schemas.microsoft.com/office/drawing/2014/main" id="{F8A8F73F-CBD7-59B7-08C3-53387FE2F063}"/>
                </a:ext>
              </a:extLst>
            </p:cNvPr>
            <p:cNvSpPr/>
            <p:nvPr/>
          </p:nvSpPr>
          <p:spPr>
            <a:xfrm>
              <a:off x="-422027" y="1223588"/>
              <a:ext cx="246221" cy="246221"/>
            </a:xfrm>
            <a:prstGeom prst="rect">
              <a:avLst/>
            </a:prstGeom>
            <a:solidFill>
              <a:srgbClr val="77B991"/>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正方形/長方形 17">
              <a:extLst>
                <a:ext uri="{FF2B5EF4-FFF2-40B4-BE49-F238E27FC236}">
                  <a16:creationId xmlns:a16="http://schemas.microsoft.com/office/drawing/2014/main" id="{9FDFBA5D-FF9C-62B1-FD83-AEBF8253E56B}"/>
                </a:ext>
              </a:extLst>
            </p:cNvPr>
            <p:cNvSpPr/>
            <p:nvPr/>
          </p:nvSpPr>
          <p:spPr>
            <a:xfrm>
              <a:off x="-790009" y="900094"/>
              <a:ext cx="246221" cy="246221"/>
            </a:xfrm>
            <a:prstGeom prst="rect">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9" name="正方形/長方形 18">
              <a:extLst>
                <a:ext uri="{FF2B5EF4-FFF2-40B4-BE49-F238E27FC236}">
                  <a16:creationId xmlns:a16="http://schemas.microsoft.com/office/drawing/2014/main" id="{F8F43F2C-5F76-9C7E-C33F-D388C2F7CB24}"/>
                </a:ext>
              </a:extLst>
            </p:cNvPr>
            <p:cNvSpPr/>
            <p:nvPr/>
          </p:nvSpPr>
          <p:spPr>
            <a:xfrm>
              <a:off x="-790009" y="1121811"/>
              <a:ext cx="246221" cy="246221"/>
            </a:xfrm>
            <a:prstGeom prst="rect">
              <a:avLst/>
            </a:prstGeom>
            <a:solidFill>
              <a:schemeClr val="bg1">
                <a:lumMod val="7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正方形/長方形 20">
              <a:extLst>
                <a:ext uri="{FF2B5EF4-FFF2-40B4-BE49-F238E27FC236}">
                  <a16:creationId xmlns:a16="http://schemas.microsoft.com/office/drawing/2014/main" id="{4338796F-176A-206E-BBB5-3D214D9B10CF}"/>
                </a:ext>
              </a:extLst>
            </p:cNvPr>
            <p:cNvSpPr/>
            <p:nvPr/>
          </p:nvSpPr>
          <p:spPr>
            <a:xfrm>
              <a:off x="-790684" y="1368032"/>
              <a:ext cx="246221" cy="246221"/>
            </a:xfrm>
            <a:prstGeom prst="rect">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4" name="TextBox 41">
            <a:extLst>
              <a:ext uri="{FF2B5EF4-FFF2-40B4-BE49-F238E27FC236}">
                <a16:creationId xmlns:a16="http://schemas.microsoft.com/office/drawing/2014/main" id="{DFDD0045-FF86-909F-CF20-481E431B26E0}"/>
              </a:ext>
            </a:extLst>
          </p:cNvPr>
          <p:cNvSpPr txBox="1"/>
          <p:nvPr userDrawn="1"/>
        </p:nvSpPr>
        <p:spPr>
          <a:xfrm>
            <a:off x="11105812" y="6514831"/>
            <a:ext cx="983573" cy="216000"/>
          </a:xfrm>
          <a:prstGeom prst="rect">
            <a:avLst/>
          </a:prstGeom>
          <a:noFill/>
        </p:spPr>
        <p:txBody>
          <a:bodyPr wrap="square" rtlCol="0" anchor="ctr">
            <a:noAutofit/>
          </a:bodyPr>
          <a:lstStyle/>
          <a:p>
            <a:pPr algn="r"/>
            <a:fld id="{345173B5-5526-C040-8550-97FCE61EEC3A}" type="slidenum">
              <a:rPr lang="en-AU" sz="1200" smtClean="0">
                <a:solidFill>
                  <a:schemeClr val="accent6">
                    <a:lumMod val="50000"/>
                  </a:schemeClr>
                </a:solidFill>
                <a:latin typeface="+mn-lt"/>
                <a:cs typeface="Arial" panose="020B0604020202020204" pitchFamily="34" charset="0"/>
              </a:rPr>
              <a:pPr algn="r"/>
              <a:t>‹#›</a:t>
            </a:fld>
            <a:endParaRPr lang="en-AU" sz="1200" dirty="0">
              <a:solidFill>
                <a:schemeClr val="accent6">
                  <a:lumMod val="50000"/>
                </a:schemeClr>
              </a:solidFill>
              <a:latin typeface="+mn-lt"/>
              <a:cs typeface="Arial" panose="020B0604020202020204" pitchFamily="34" charset="0"/>
            </a:endParaRPr>
          </a:p>
        </p:txBody>
      </p:sp>
      <p:sp>
        <p:nvSpPr>
          <p:cNvPr id="14" name="フッター プレースホルダー 13">
            <a:extLst>
              <a:ext uri="{FF2B5EF4-FFF2-40B4-BE49-F238E27FC236}">
                <a16:creationId xmlns:a16="http://schemas.microsoft.com/office/drawing/2014/main" id="{6CF235BE-0447-D9AC-B742-1A25E93262EB}"/>
              </a:ext>
            </a:extLst>
          </p:cNvPr>
          <p:cNvSpPr>
            <a:spLocks noGrp="1"/>
          </p:cNvSpPr>
          <p:nvPr>
            <p:ph type="ftr" sz="quarter" idx="11"/>
          </p:nvPr>
        </p:nvSpPr>
        <p:spPr>
          <a:xfrm>
            <a:off x="9877808" y="6514831"/>
            <a:ext cx="1919585" cy="216000"/>
          </a:xfrm>
        </p:spPr>
        <p:txBody>
          <a:bodyPr/>
          <a:lstStyle>
            <a:lvl1pPr algn="l">
              <a:defRPr sz="1000">
                <a:latin typeface="+mn-lt"/>
                <a:ea typeface="+mn-ea"/>
              </a:defRPr>
            </a:lvl1pPr>
          </a:lstStyle>
          <a:p>
            <a:pPr>
              <a:defRPr/>
            </a:pPr>
            <a:r>
              <a:rPr kumimoji="1" lang="en-US" altLang="ja-JP" dirty="0">
                <a:solidFill>
                  <a:srgbClr val="FFFFFF">
                    <a:lumMod val="75000"/>
                  </a:srgbClr>
                </a:solidFill>
              </a:rPr>
              <a:t>©️ 2026 Boost Consulting, Inc.</a:t>
            </a:r>
            <a:endParaRPr kumimoji="1" lang="ja-JP" altLang="en-US" dirty="0">
              <a:solidFill>
                <a:srgbClr val="FFFFFF">
                  <a:lumMod val="75000"/>
                </a:srgbClr>
              </a:solidFill>
              <a:latin typeface="+mn-lt"/>
            </a:endParaRPr>
          </a:p>
        </p:txBody>
      </p:sp>
    </p:spTree>
    <p:extLst>
      <p:ext uri="{BB962C8B-B14F-4D97-AF65-F5344CB8AC3E}">
        <p14:creationId xmlns:p14="http://schemas.microsoft.com/office/powerpoint/2010/main" val="178348564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415">
          <p15:clr>
            <a:srgbClr val="FBAE40"/>
          </p15:clr>
        </p15:guide>
        <p15:guide id="4" pos="7265">
          <p15:clr>
            <a:srgbClr val="FBAE40"/>
          </p15:clr>
        </p15:guide>
        <p15:guide id="5" orient="horz" pos="3974">
          <p15:clr>
            <a:srgbClr val="FBAE40"/>
          </p15:clr>
        </p15:guide>
        <p15:guide id="6" orient="horz" pos="346">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基本スライド">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7DF83123-36BC-1C61-A329-96A9244857C7}"/>
              </a:ext>
            </a:extLst>
          </p:cNvPr>
          <p:cNvGraphicFramePr>
            <a:graphicFrameLocks/>
          </p:cNvGraphicFramePr>
          <p:nvPr userDrawn="1">
            <p:custDataLst>
              <p:tags r:id="rId1"/>
            </p:custDataLst>
            <p:extLst>
              <p:ext uri="{D42A27DB-BD31-4B8C-83A1-F6EECF244321}">
                <p14:modId xmlns:p14="http://schemas.microsoft.com/office/powerpoint/2010/main" val="368571631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スライド" r:id="rId3" imgW="7772400" imgH="10058400" progId="TCLayout.ActiveDocument.1">
                  <p:embed/>
                </p:oleObj>
              </mc:Choice>
              <mc:Fallback>
                <p:oleObj name="think-cellスライド" r:id="rId3" imgW="7772400" imgH="10058400" progId="TCLayout.ActiveDocument.1">
                  <p:embed/>
                  <p:pic>
                    <p:nvPicPr>
                      <p:cNvPr id="0" name=""/>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9DF80C98-7B3F-C583-158F-6747F216A46F}"/>
              </a:ext>
            </a:extLst>
          </p:cNvPr>
          <p:cNvSpPr>
            <a:spLocks noGrp="1"/>
          </p:cNvSpPr>
          <p:nvPr>
            <p:ph type="title" hasCustomPrompt="1"/>
          </p:nvPr>
        </p:nvSpPr>
        <p:spPr>
          <a:xfrm>
            <a:off x="340659" y="658641"/>
            <a:ext cx="11520000" cy="888036"/>
          </a:xfrm>
        </p:spPr>
        <p:txBody>
          <a:bodyPr vert="horz" anchor="t">
            <a:noAutofit/>
          </a:bodyPr>
          <a:lstStyle>
            <a:lvl1pPr>
              <a:defRPr sz="2400" b="1">
                <a:latin typeface="+mn-lt"/>
                <a:cs typeface="Arial" panose="020B0604020202020204" pitchFamily="34" charset="0"/>
              </a:defRPr>
            </a:lvl1pPr>
          </a:lstStyle>
          <a:p>
            <a:r>
              <a:rPr lang="en-US" altLang="ja-JP" dirty="0"/>
              <a:t>Main Message</a:t>
            </a:r>
            <a:r>
              <a:rPr lang="ja-JP" altLang="en-US" dirty="0"/>
              <a:t>を入力（本スライドで最も伝えたいこと＜名詞止め・体言止め不可＞）</a:t>
            </a:r>
            <a:br>
              <a:rPr lang="en-US" altLang="ja-JP" dirty="0"/>
            </a:br>
            <a:r>
              <a:rPr lang="en-US" altLang="ja-JP" dirty="0"/>
              <a:t>※</a:t>
            </a:r>
            <a:r>
              <a:rPr lang="ja-JP" altLang="en-US" dirty="0"/>
              <a:t>：ボディに記載されていることと一致しているか？に留意すること</a:t>
            </a:r>
            <a:endParaRPr lang="en-US" dirty="0"/>
          </a:p>
        </p:txBody>
      </p:sp>
      <p:sp>
        <p:nvSpPr>
          <p:cNvPr id="3" name="Content Placeholder 2">
            <a:extLst>
              <a:ext uri="{FF2B5EF4-FFF2-40B4-BE49-F238E27FC236}">
                <a16:creationId xmlns:a16="http://schemas.microsoft.com/office/drawing/2014/main" id="{E9339DB8-95A7-9FC6-6530-517458EE7AE7}"/>
              </a:ext>
            </a:extLst>
          </p:cNvPr>
          <p:cNvSpPr>
            <a:spLocks noGrp="1"/>
          </p:cNvSpPr>
          <p:nvPr>
            <p:ph idx="1" hasCustomPrompt="1"/>
          </p:nvPr>
        </p:nvSpPr>
        <p:spPr>
          <a:xfrm>
            <a:off x="340659" y="1649506"/>
            <a:ext cx="11520000" cy="4608000"/>
          </a:xfrm>
        </p:spPr>
        <p:txBody>
          <a:bodyPr>
            <a:noAutofit/>
          </a:bodyPr>
          <a:lstStyle>
            <a:lvl1pPr>
              <a:lnSpc>
                <a:spcPct val="100000"/>
              </a:lnSpc>
              <a:buFont typeface="Wingdings" panose="05000000000000000000" pitchFamily="2" charset="2"/>
              <a:buChar char="n"/>
              <a:defRPr sz="1400">
                <a:latin typeface="+mn-lt"/>
                <a:cs typeface="Arial" panose="020B0604020202020204" pitchFamily="34" charset="0"/>
              </a:defRPr>
            </a:lvl1pPr>
            <a:lvl2pPr>
              <a:lnSpc>
                <a:spcPct val="100000"/>
              </a:lnSpc>
              <a:buFont typeface="Wingdings" panose="05000000000000000000" pitchFamily="2" charset="2"/>
              <a:buChar char="Ø"/>
              <a:defRPr sz="1400">
                <a:latin typeface="+mn-lt"/>
                <a:cs typeface="Arial" panose="020B0604020202020204" pitchFamily="34" charset="0"/>
              </a:defRPr>
            </a:lvl2pPr>
            <a:lvl3pPr>
              <a:lnSpc>
                <a:spcPct val="100000"/>
              </a:lnSpc>
              <a:buFont typeface="Wingdings" panose="05000000000000000000" pitchFamily="2" charset="2"/>
              <a:buChar char="ü"/>
              <a:defRPr sz="1400">
                <a:latin typeface="+mn-lt"/>
                <a:cs typeface="Arial" panose="020B0604020202020204" pitchFamily="34" charset="0"/>
              </a:defRPr>
            </a:lvl3pPr>
            <a:lvl4pPr>
              <a:lnSpc>
                <a:spcPct val="100000"/>
              </a:lnSpc>
              <a:defRPr sz="1400">
                <a:latin typeface="+mn-lt"/>
                <a:cs typeface="Arial" panose="020B0604020202020204" pitchFamily="34" charset="0"/>
              </a:defRPr>
            </a:lvl4pPr>
            <a:lvl5pPr>
              <a:lnSpc>
                <a:spcPct val="100000"/>
              </a:lnSpc>
              <a:defRPr sz="1400">
                <a:latin typeface="+mn-lt"/>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cxnSp>
        <p:nvCxnSpPr>
          <p:cNvPr id="18" name="Straight Connector 17">
            <a:extLst>
              <a:ext uri="{FF2B5EF4-FFF2-40B4-BE49-F238E27FC236}">
                <a16:creationId xmlns:a16="http://schemas.microsoft.com/office/drawing/2014/main" id="{92FAB67E-B991-C1DB-AF95-0067ED4270E7}"/>
              </a:ext>
            </a:extLst>
          </p:cNvPr>
          <p:cNvCxnSpPr>
            <a:cxnSpLocks/>
          </p:cNvCxnSpPr>
          <p:nvPr userDrawn="1"/>
        </p:nvCxnSpPr>
        <p:spPr>
          <a:xfrm>
            <a:off x="334961" y="575733"/>
            <a:ext cx="11525345" cy="0"/>
          </a:xfrm>
          <a:prstGeom prst="line">
            <a:avLst/>
          </a:prstGeom>
          <a:ln>
            <a:solidFill>
              <a:schemeClr val="accent5"/>
            </a:solidFill>
          </a:ln>
        </p:spPr>
        <p:style>
          <a:lnRef idx="2">
            <a:schemeClr val="accent5"/>
          </a:lnRef>
          <a:fillRef idx="0">
            <a:schemeClr val="accent5"/>
          </a:fillRef>
          <a:effectRef idx="1">
            <a:schemeClr val="accent5"/>
          </a:effectRef>
          <a:fontRef idx="minor">
            <a:schemeClr val="tx1"/>
          </a:fontRef>
        </p:style>
      </p:cxnSp>
      <p:sp>
        <p:nvSpPr>
          <p:cNvPr id="40" name="Content Placeholder 39">
            <a:extLst>
              <a:ext uri="{FF2B5EF4-FFF2-40B4-BE49-F238E27FC236}">
                <a16:creationId xmlns:a16="http://schemas.microsoft.com/office/drawing/2014/main" id="{08ABB455-6DE7-F23D-0144-AC1725389E78}"/>
              </a:ext>
            </a:extLst>
          </p:cNvPr>
          <p:cNvSpPr>
            <a:spLocks noGrp="1"/>
          </p:cNvSpPr>
          <p:nvPr>
            <p:ph sz="quarter" idx="10" hasCustomPrompt="1"/>
          </p:nvPr>
        </p:nvSpPr>
        <p:spPr>
          <a:xfrm>
            <a:off x="340659" y="6352338"/>
            <a:ext cx="11520000" cy="380155"/>
          </a:xfrm>
        </p:spPr>
        <p:txBody>
          <a:bodyPr wrap="square" anchor="t">
            <a:noAutofit/>
          </a:bodyPr>
          <a:lstStyle>
            <a:lvl1pPr marL="0" indent="0" algn="l">
              <a:buNone/>
              <a:defRPr sz="1000">
                <a:solidFill>
                  <a:schemeClr val="accent6">
                    <a:lumMod val="50000"/>
                  </a:schemeClr>
                </a:solidFill>
                <a:latin typeface="+mn-lt"/>
                <a:cs typeface="Arial" panose="020B0604020202020204" pitchFamily="34" charset="0"/>
              </a:defRPr>
            </a:lvl1pPr>
          </a:lstStyle>
          <a:p>
            <a:pPr lvl="0"/>
            <a:r>
              <a:rPr lang="en-GB" dirty="0"/>
              <a:t>[Footer]</a:t>
            </a:r>
            <a:endParaRPr lang="en-AU" dirty="0"/>
          </a:p>
        </p:txBody>
      </p:sp>
      <p:sp>
        <p:nvSpPr>
          <p:cNvPr id="42" name="TextBox 41">
            <a:extLst>
              <a:ext uri="{FF2B5EF4-FFF2-40B4-BE49-F238E27FC236}">
                <a16:creationId xmlns:a16="http://schemas.microsoft.com/office/drawing/2014/main" id="{BD120B55-2644-75BC-9973-61F9A42698D1}"/>
              </a:ext>
            </a:extLst>
          </p:cNvPr>
          <p:cNvSpPr txBox="1"/>
          <p:nvPr userDrawn="1"/>
        </p:nvSpPr>
        <p:spPr>
          <a:xfrm>
            <a:off x="11105812" y="6514831"/>
            <a:ext cx="983573" cy="216000"/>
          </a:xfrm>
          <a:prstGeom prst="rect">
            <a:avLst/>
          </a:prstGeom>
          <a:noFill/>
        </p:spPr>
        <p:txBody>
          <a:bodyPr wrap="square" rtlCol="0" anchor="ctr">
            <a:noAutofit/>
          </a:bodyPr>
          <a:lstStyle/>
          <a:p>
            <a:pPr algn="r"/>
            <a:fld id="{345173B5-5526-C040-8550-97FCE61EEC3A}" type="slidenum">
              <a:rPr lang="en-AU" sz="1200" smtClean="0">
                <a:solidFill>
                  <a:schemeClr val="accent6">
                    <a:lumMod val="50000"/>
                  </a:schemeClr>
                </a:solidFill>
                <a:latin typeface="+mn-lt"/>
                <a:cs typeface="Arial" panose="020B0604020202020204" pitchFamily="34" charset="0"/>
              </a:rPr>
              <a:pPr algn="r"/>
              <a:t>‹#›</a:t>
            </a:fld>
            <a:endParaRPr lang="en-AU" sz="1200" dirty="0">
              <a:solidFill>
                <a:schemeClr val="accent6">
                  <a:lumMod val="50000"/>
                </a:schemeClr>
              </a:solidFill>
              <a:latin typeface="+mn-lt"/>
              <a:cs typeface="Arial" panose="020B0604020202020204" pitchFamily="34" charset="0"/>
            </a:endParaRPr>
          </a:p>
        </p:txBody>
      </p:sp>
      <p:sp>
        <p:nvSpPr>
          <p:cNvPr id="14" name="フッター プレースホルダー 13">
            <a:extLst>
              <a:ext uri="{FF2B5EF4-FFF2-40B4-BE49-F238E27FC236}">
                <a16:creationId xmlns:a16="http://schemas.microsoft.com/office/drawing/2014/main" id="{5722D2F0-0373-262B-C267-DA18008BC6A4}"/>
              </a:ext>
            </a:extLst>
          </p:cNvPr>
          <p:cNvSpPr>
            <a:spLocks noGrp="1"/>
          </p:cNvSpPr>
          <p:nvPr>
            <p:ph type="ftr" sz="quarter" idx="11"/>
          </p:nvPr>
        </p:nvSpPr>
        <p:spPr>
          <a:xfrm>
            <a:off x="9877808" y="6514831"/>
            <a:ext cx="1919585" cy="216000"/>
          </a:xfrm>
        </p:spPr>
        <p:txBody>
          <a:bodyPr/>
          <a:lstStyle>
            <a:lvl1pPr algn="l">
              <a:defRPr sz="1000">
                <a:latin typeface="+mn-lt"/>
                <a:ea typeface="+mn-ea"/>
              </a:defRPr>
            </a:lvl1pPr>
          </a:lstStyle>
          <a:p>
            <a:pPr>
              <a:defRPr/>
            </a:pPr>
            <a:r>
              <a:rPr kumimoji="1" lang="en-US" altLang="ja-JP" dirty="0">
                <a:solidFill>
                  <a:srgbClr val="FFFFFF">
                    <a:lumMod val="75000"/>
                  </a:srgbClr>
                </a:solidFill>
              </a:rPr>
              <a:t>©️ 2026 Boost Consulting, Inc.</a:t>
            </a:r>
            <a:endParaRPr kumimoji="1" lang="ja-JP" altLang="en-US" dirty="0">
              <a:solidFill>
                <a:srgbClr val="FFFFFF">
                  <a:lumMod val="75000"/>
                </a:srgbClr>
              </a:solidFill>
              <a:latin typeface="+mn-lt"/>
            </a:endParaRPr>
          </a:p>
        </p:txBody>
      </p:sp>
      <p:sp>
        <p:nvSpPr>
          <p:cNvPr id="5" name="Content Placeholder 2">
            <a:extLst>
              <a:ext uri="{FF2B5EF4-FFF2-40B4-BE49-F238E27FC236}">
                <a16:creationId xmlns:a16="http://schemas.microsoft.com/office/drawing/2014/main" id="{3BD292E6-BE6F-C93B-E930-DA2C705FD579}"/>
              </a:ext>
            </a:extLst>
          </p:cNvPr>
          <p:cNvSpPr>
            <a:spLocks noGrp="1"/>
          </p:cNvSpPr>
          <p:nvPr>
            <p:ph idx="12" hasCustomPrompt="1"/>
          </p:nvPr>
        </p:nvSpPr>
        <p:spPr>
          <a:xfrm>
            <a:off x="340306" y="233891"/>
            <a:ext cx="11520000" cy="258947"/>
          </a:xfrm>
        </p:spPr>
        <p:txBody>
          <a:bodyPr anchor="ctr">
            <a:noAutofit/>
          </a:bodyPr>
          <a:lstStyle>
            <a:lvl1pPr>
              <a:lnSpc>
                <a:spcPct val="100000"/>
              </a:lnSpc>
              <a:buNone/>
              <a:defRPr sz="1400" b="1">
                <a:solidFill>
                  <a:srgbClr val="2D5A42"/>
                </a:solidFill>
                <a:latin typeface="+mn-lt"/>
                <a:cs typeface="Arial" panose="020B0604020202020204" pitchFamily="34" charset="0"/>
              </a:defRPr>
            </a:lvl1pPr>
            <a:lvl2pPr>
              <a:lnSpc>
                <a:spcPct val="100000"/>
              </a:lnSpc>
              <a:defRPr sz="1400">
                <a:latin typeface="+mn-lt"/>
                <a:cs typeface="Arial" panose="020B0604020202020204" pitchFamily="34" charset="0"/>
              </a:defRPr>
            </a:lvl2pPr>
            <a:lvl3pPr>
              <a:lnSpc>
                <a:spcPct val="100000"/>
              </a:lnSpc>
              <a:defRPr sz="1400">
                <a:latin typeface="+mn-lt"/>
                <a:cs typeface="Arial" panose="020B0604020202020204" pitchFamily="34" charset="0"/>
              </a:defRPr>
            </a:lvl3pPr>
            <a:lvl4pPr>
              <a:lnSpc>
                <a:spcPct val="100000"/>
              </a:lnSpc>
              <a:defRPr sz="1400">
                <a:latin typeface="+mn-lt"/>
                <a:cs typeface="Arial" panose="020B0604020202020204" pitchFamily="34" charset="0"/>
              </a:defRPr>
            </a:lvl4pPr>
            <a:lvl5pPr>
              <a:lnSpc>
                <a:spcPct val="100000"/>
              </a:lnSpc>
              <a:defRPr sz="1400">
                <a:latin typeface="+mn-lt"/>
                <a:cs typeface="Arial" panose="020B0604020202020204" pitchFamily="34" charset="0"/>
              </a:defRPr>
            </a:lvl5pPr>
          </a:lstStyle>
          <a:p>
            <a:pPr lvl="0"/>
            <a:r>
              <a:rPr lang="en-US" altLang="ja-JP" dirty="0"/>
              <a:t>Title</a:t>
            </a:r>
            <a:endParaRPr lang="en-US" dirty="0"/>
          </a:p>
        </p:txBody>
      </p:sp>
      <p:grpSp>
        <p:nvGrpSpPr>
          <p:cNvPr id="15" name="グループ化 14">
            <a:extLst>
              <a:ext uri="{FF2B5EF4-FFF2-40B4-BE49-F238E27FC236}">
                <a16:creationId xmlns:a16="http://schemas.microsoft.com/office/drawing/2014/main" id="{4166F895-DEAD-3F3D-E109-15DDB5E3A606}"/>
              </a:ext>
            </a:extLst>
          </p:cNvPr>
          <p:cNvGrpSpPr/>
          <p:nvPr userDrawn="1"/>
        </p:nvGrpSpPr>
        <p:grpSpPr>
          <a:xfrm>
            <a:off x="-790684" y="2588774"/>
            <a:ext cx="616229" cy="1587897"/>
            <a:chOff x="-790684" y="26356"/>
            <a:chExt cx="616229" cy="1587897"/>
          </a:xfrm>
        </p:grpSpPr>
        <p:sp>
          <p:nvSpPr>
            <p:cNvPr id="16" name="正方形/長方形 15">
              <a:extLst>
                <a:ext uri="{FF2B5EF4-FFF2-40B4-BE49-F238E27FC236}">
                  <a16:creationId xmlns:a16="http://schemas.microsoft.com/office/drawing/2014/main" id="{B73E7798-E71A-B674-252D-74D58D960E22}"/>
                </a:ext>
              </a:extLst>
            </p:cNvPr>
            <p:cNvSpPr/>
            <p:nvPr/>
          </p:nvSpPr>
          <p:spPr>
            <a:xfrm>
              <a:off x="-420676" y="27573"/>
              <a:ext cx="246221" cy="246221"/>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8FFB0C95-6B21-CF4C-6B62-DA9BCA281FE1}"/>
                </a:ext>
              </a:extLst>
            </p:cNvPr>
            <p:cNvSpPr/>
            <p:nvPr/>
          </p:nvSpPr>
          <p:spPr>
            <a:xfrm>
              <a:off x="-420677" y="272577"/>
              <a:ext cx="246221" cy="246221"/>
            </a:xfrm>
            <a:prstGeom prst="rect">
              <a:avLst/>
            </a:prstGeom>
            <a:solidFill>
              <a:srgbClr val="1F302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正方形/長方形 18">
              <a:extLst>
                <a:ext uri="{FF2B5EF4-FFF2-40B4-BE49-F238E27FC236}">
                  <a16:creationId xmlns:a16="http://schemas.microsoft.com/office/drawing/2014/main" id="{31B1E487-7143-E64F-DDC5-047BE7A94EA0}"/>
                </a:ext>
              </a:extLst>
            </p:cNvPr>
            <p:cNvSpPr/>
            <p:nvPr/>
          </p:nvSpPr>
          <p:spPr>
            <a:xfrm>
              <a:off x="-422027" y="740515"/>
              <a:ext cx="246221" cy="246221"/>
            </a:xfrm>
            <a:prstGeom prst="rect">
              <a:avLst/>
            </a:prstGeom>
            <a:solidFill>
              <a:srgbClr val="3F755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CD308889-F11B-B001-58DC-FBFCC6EB21A3}"/>
                </a:ext>
              </a:extLst>
            </p:cNvPr>
            <p:cNvSpPr/>
            <p:nvPr/>
          </p:nvSpPr>
          <p:spPr>
            <a:xfrm>
              <a:off x="-422027" y="984911"/>
              <a:ext cx="246221" cy="246221"/>
            </a:xfrm>
            <a:prstGeom prst="rect">
              <a:avLst/>
            </a:prstGeom>
            <a:solidFill>
              <a:srgbClr val="5A957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正方形/長方形 20">
              <a:extLst>
                <a:ext uri="{FF2B5EF4-FFF2-40B4-BE49-F238E27FC236}">
                  <a16:creationId xmlns:a16="http://schemas.microsoft.com/office/drawing/2014/main" id="{6EF31A2D-CF2F-5C1C-ECCB-D5D89B1DC8EB}"/>
                </a:ext>
              </a:extLst>
            </p:cNvPr>
            <p:cNvSpPr/>
            <p:nvPr/>
          </p:nvSpPr>
          <p:spPr>
            <a:xfrm>
              <a:off x="-790009" y="26356"/>
              <a:ext cx="246221" cy="246221"/>
            </a:xfrm>
            <a:prstGeom prst="rect">
              <a:avLst/>
            </a:prstGeom>
            <a:solidFill>
              <a:srgbClr val="B8935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2" name="正方形/長方形 21">
              <a:extLst>
                <a:ext uri="{FF2B5EF4-FFF2-40B4-BE49-F238E27FC236}">
                  <a16:creationId xmlns:a16="http://schemas.microsoft.com/office/drawing/2014/main" id="{DE3822D4-07B9-FC71-C96D-CDC44CD82D05}"/>
                </a:ext>
              </a:extLst>
            </p:cNvPr>
            <p:cNvSpPr/>
            <p:nvPr/>
          </p:nvSpPr>
          <p:spPr>
            <a:xfrm>
              <a:off x="-790009" y="248073"/>
              <a:ext cx="246221" cy="246221"/>
            </a:xfrm>
            <a:prstGeom prst="rect">
              <a:avLst/>
            </a:prstGeom>
            <a:solidFill>
              <a:srgbClr val="D4A57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a:extLst>
                <a:ext uri="{FF2B5EF4-FFF2-40B4-BE49-F238E27FC236}">
                  <a16:creationId xmlns:a16="http://schemas.microsoft.com/office/drawing/2014/main" id="{2ABDA808-7BFA-4D35-C307-55036B23759E}"/>
                </a:ext>
              </a:extLst>
            </p:cNvPr>
            <p:cNvSpPr/>
            <p:nvPr/>
          </p:nvSpPr>
          <p:spPr>
            <a:xfrm>
              <a:off x="-790684" y="494294"/>
              <a:ext cx="246221" cy="246221"/>
            </a:xfrm>
            <a:prstGeom prst="rect">
              <a:avLst/>
            </a:prstGeom>
            <a:solidFill>
              <a:srgbClr val="E6B78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正方形/長方形 23">
              <a:extLst>
                <a:ext uri="{FF2B5EF4-FFF2-40B4-BE49-F238E27FC236}">
                  <a16:creationId xmlns:a16="http://schemas.microsoft.com/office/drawing/2014/main" id="{5B2FACD0-801B-BF9E-C0A3-3C8DFC6A2C24}"/>
                </a:ext>
              </a:extLst>
            </p:cNvPr>
            <p:cNvSpPr/>
            <p:nvPr/>
          </p:nvSpPr>
          <p:spPr>
            <a:xfrm>
              <a:off x="-420678" y="518190"/>
              <a:ext cx="246221" cy="246221"/>
            </a:xfrm>
            <a:prstGeom prst="rect">
              <a:avLst/>
            </a:prstGeom>
            <a:solidFill>
              <a:srgbClr val="2D5A4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正方形/長方形 24">
              <a:extLst>
                <a:ext uri="{FF2B5EF4-FFF2-40B4-BE49-F238E27FC236}">
                  <a16:creationId xmlns:a16="http://schemas.microsoft.com/office/drawing/2014/main" id="{E474745D-97CA-0FC2-2EA5-83FF932CEF9A}"/>
                </a:ext>
              </a:extLst>
            </p:cNvPr>
            <p:cNvSpPr/>
            <p:nvPr/>
          </p:nvSpPr>
          <p:spPr>
            <a:xfrm>
              <a:off x="-422027" y="1223588"/>
              <a:ext cx="246221" cy="246221"/>
            </a:xfrm>
            <a:prstGeom prst="rect">
              <a:avLst/>
            </a:prstGeom>
            <a:solidFill>
              <a:srgbClr val="77B991"/>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正方形/長方形 25">
              <a:extLst>
                <a:ext uri="{FF2B5EF4-FFF2-40B4-BE49-F238E27FC236}">
                  <a16:creationId xmlns:a16="http://schemas.microsoft.com/office/drawing/2014/main" id="{ED1CE230-918B-64CA-DEC6-E4DA57ABCD58}"/>
                </a:ext>
              </a:extLst>
            </p:cNvPr>
            <p:cNvSpPr/>
            <p:nvPr/>
          </p:nvSpPr>
          <p:spPr>
            <a:xfrm>
              <a:off x="-790009" y="900094"/>
              <a:ext cx="246221" cy="246221"/>
            </a:xfrm>
            <a:prstGeom prst="rect">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7" name="正方形/長方形 26">
              <a:extLst>
                <a:ext uri="{FF2B5EF4-FFF2-40B4-BE49-F238E27FC236}">
                  <a16:creationId xmlns:a16="http://schemas.microsoft.com/office/drawing/2014/main" id="{B42BBC51-7AF4-615A-2D55-3717B28F329D}"/>
                </a:ext>
              </a:extLst>
            </p:cNvPr>
            <p:cNvSpPr/>
            <p:nvPr/>
          </p:nvSpPr>
          <p:spPr>
            <a:xfrm>
              <a:off x="-790009" y="1121811"/>
              <a:ext cx="246221" cy="246221"/>
            </a:xfrm>
            <a:prstGeom prst="rect">
              <a:avLst/>
            </a:prstGeom>
            <a:solidFill>
              <a:schemeClr val="bg1">
                <a:lumMod val="7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正方形/長方形 27">
              <a:extLst>
                <a:ext uri="{FF2B5EF4-FFF2-40B4-BE49-F238E27FC236}">
                  <a16:creationId xmlns:a16="http://schemas.microsoft.com/office/drawing/2014/main" id="{7D5C4773-1B43-068D-3659-E18E7A5024E8}"/>
                </a:ext>
              </a:extLst>
            </p:cNvPr>
            <p:cNvSpPr/>
            <p:nvPr/>
          </p:nvSpPr>
          <p:spPr>
            <a:xfrm>
              <a:off x="-790684" y="1368032"/>
              <a:ext cx="246221" cy="246221"/>
            </a:xfrm>
            <a:prstGeom prst="rect">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Tree>
    <p:extLst>
      <p:ext uri="{BB962C8B-B14F-4D97-AF65-F5344CB8AC3E}">
        <p14:creationId xmlns:p14="http://schemas.microsoft.com/office/powerpoint/2010/main" val="90500989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orient="horz" pos="142" userDrawn="1">
          <p15:clr>
            <a:srgbClr val="FBAE40"/>
          </p15:clr>
        </p15:guide>
        <p15:guide id="4" pos="3940" userDrawn="1">
          <p15:clr>
            <a:srgbClr val="FBAE40"/>
          </p15:clr>
        </p15:guide>
        <p15:guide id="5" pos="3727" userDrawn="1">
          <p15:clr>
            <a:srgbClr val="FBAE40"/>
          </p15:clr>
        </p15:guide>
        <p15:guide id="6" orient="horz" pos="323" userDrawn="1">
          <p15:clr>
            <a:srgbClr val="FBAE40"/>
          </p15:clr>
        </p15:guide>
        <p15:guide id="7" orient="horz" pos="3952" userDrawn="1">
          <p15:clr>
            <a:srgbClr val="FBAE40"/>
          </p15:clr>
        </p15:guide>
        <p15:guide id="8" pos="7469" userDrawn="1">
          <p15:clr>
            <a:srgbClr val="FBAE40"/>
          </p15:clr>
        </p15:guide>
        <p15:guide id="9" pos="211" userDrawn="1">
          <p15:clr>
            <a:srgbClr val="FBAE40"/>
          </p15:clr>
        </p15:guide>
        <p15:guide id="10" orient="horz" pos="4247" userDrawn="1">
          <p15:clr>
            <a:srgbClr val="FBAE40"/>
          </p15:clr>
        </p15:guide>
        <p15:guide id="11" orient="horz" pos="407" userDrawn="1">
          <p15:clr>
            <a:srgbClr val="FBAE40"/>
          </p15:clr>
        </p15:guide>
        <p15:guide id="12" orient="horz" pos="3987" userDrawn="1">
          <p15:clr>
            <a:srgbClr val="FBAE40"/>
          </p15:clr>
        </p15:guide>
        <p15:guide id="13" orient="horz" pos="981" userDrawn="1">
          <p15:clr>
            <a:srgbClr val="FBAE40"/>
          </p15:clr>
        </p15:guide>
        <p15:guide id="14" orient="horz" pos="1026"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CONFIDENTIAL">
    <p:spTree>
      <p:nvGrpSpPr>
        <p:cNvPr id="1" name=""/>
        <p:cNvGrpSpPr/>
        <p:nvPr/>
      </p:nvGrpSpPr>
      <p:grpSpPr>
        <a:xfrm>
          <a:off x="0" y="0"/>
          <a:ext cx="0" cy="0"/>
          <a:chOff x="0" y="0"/>
          <a:chExt cx="0" cy="0"/>
        </a:xfrm>
      </p:grpSpPr>
      <p:sp>
        <p:nvSpPr>
          <p:cNvPr id="10" name="テキスト ボックス 9">
            <a:extLst>
              <a:ext uri="{FF2B5EF4-FFF2-40B4-BE49-F238E27FC236}">
                <a16:creationId xmlns:a16="http://schemas.microsoft.com/office/drawing/2014/main" id="{82699696-9B15-3CD6-BBE8-B725E3FACC29}"/>
              </a:ext>
            </a:extLst>
          </p:cNvPr>
          <p:cNvSpPr txBox="1"/>
          <p:nvPr userDrawn="1"/>
        </p:nvSpPr>
        <p:spPr>
          <a:xfrm>
            <a:off x="9717722" y="136525"/>
            <a:ext cx="2154555" cy="246221"/>
          </a:xfrm>
          <a:prstGeom prst="rect">
            <a:avLst/>
          </a:prstGeom>
          <a:noFill/>
          <a:ln>
            <a:noFill/>
          </a:ln>
        </p:spPr>
        <p:txBody>
          <a:bodyPr wrap="square">
            <a:spAutoFit/>
          </a:bodyPr>
          <a:lstStyle/>
          <a:p>
            <a:pPr algn="r"/>
            <a:r>
              <a:rPr lang="ja-JP" altLang="en-US" sz="1000">
                <a:solidFill>
                  <a:schemeClr val="bg1">
                    <a:lumMod val="75000"/>
                  </a:schemeClr>
                </a:solidFill>
              </a:rPr>
              <a:t>Strictly confidential</a:t>
            </a:r>
            <a:endParaRPr lang="en-US" altLang="ja-JP" sz="1000" dirty="0">
              <a:solidFill>
                <a:schemeClr val="bg1">
                  <a:lumMod val="75000"/>
                </a:schemeClr>
              </a:solidFill>
            </a:endParaRPr>
          </a:p>
        </p:txBody>
      </p:sp>
      <p:sp>
        <p:nvSpPr>
          <p:cNvPr id="15" name="Shape 108">
            <a:extLst>
              <a:ext uri="{FF2B5EF4-FFF2-40B4-BE49-F238E27FC236}">
                <a16:creationId xmlns:a16="http://schemas.microsoft.com/office/drawing/2014/main" id="{8175DEE8-974A-80BD-8971-38A0C4A1846B}"/>
              </a:ext>
            </a:extLst>
          </p:cNvPr>
          <p:cNvSpPr/>
          <p:nvPr userDrawn="1"/>
        </p:nvSpPr>
        <p:spPr>
          <a:xfrm>
            <a:off x="3555999" y="1778049"/>
            <a:ext cx="5080000" cy="297517"/>
          </a:xfrm>
          <a:prstGeom prst="rect">
            <a:avLst/>
          </a:prstGeom>
          <a:ln w="12700">
            <a:miter lim="400000"/>
          </a:ln>
          <a:extLst>
            <a:ext uri="{C572A759-6A51-4108-AA02-DFA0A04FC94B}">
              <ma14:wrappingTextBoxFlag xmlns:ma14="http://schemas.microsoft.com/office/mac/drawingml/2011/main" xmlns="" val="1"/>
            </a:ext>
          </a:extLst>
        </p:spPr>
        <p:txBody>
          <a:bodyPr wrap="square" lIns="25400" tIns="25400" rIns="25400" bIns="25400" anchor="ctr">
            <a:spAutoFit/>
          </a:bodyPr>
          <a:lstStyle>
            <a:lvl1pPr>
              <a:defRPr sz="3200" b="1">
                <a:solidFill>
                  <a:srgbClr val="2A378F"/>
                </a:solidFill>
              </a:defRPr>
            </a:lvl1pPr>
          </a:lstStyle>
          <a:p>
            <a:pPr algn="ctr"/>
            <a:r>
              <a:rPr sz="1600" b="0" dirty="0">
                <a:solidFill>
                  <a:srgbClr val="2C3D50"/>
                </a:solidFill>
                <a:latin typeface="+mn-ea"/>
                <a:ea typeface="+mn-ea"/>
              </a:rPr>
              <a:t>CONFIDENTIAL</a:t>
            </a:r>
          </a:p>
        </p:txBody>
      </p:sp>
      <p:sp>
        <p:nvSpPr>
          <p:cNvPr id="16" name="Shape 109">
            <a:extLst>
              <a:ext uri="{FF2B5EF4-FFF2-40B4-BE49-F238E27FC236}">
                <a16:creationId xmlns:a16="http://schemas.microsoft.com/office/drawing/2014/main" id="{2E3ED6EC-6BC3-23C8-7408-B1483559B6FE}"/>
              </a:ext>
            </a:extLst>
          </p:cNvPr>
          <p:cNvSpPr/>
          <p:nvPr userDrawn="1"/>
        </p:nvSpPr>
        <p:spPr>
          <a:xfrm>
            <a:off x="3480676" y="2556293"/>
            <a:ext cx="5230648" cy="1745414"/>
          </a:xfrm>
          <a:prstGeom prst="rect">
            <a:avLst/>
          </a:prstGeom>
          <a:solidFill>
            <a:schemeClr val="bg1"/>
          </a:solidFill>
          <a:ln w="12700">
            <a:miter lim="400000"/>
          </a:ln>
          <a:extLst>
            <a:ext uri="{C572A759-6A51-4108-AA02-DFA0A04FC94B}">
              <ma14:wrappingTextBoxFlag xmlns:ma14="http://schemas.microsoft.com/office/mac/drawingml/2011/main" xmlns="" val="1"/>
            </a:ext>
          </a:extLst>
        </p:spPr>
        <p:txBody>
          <a:bodyPr wrap="square" lIns="25400" tIns="25400" rIns="25400" bIns="25400" anchor="ctr">
            <a:spAutoFit/>
          </a:bodyPr>
          <a:lstStyle/>
          <a:p>
            <a:pPr algn="l">
              <a:lnSpc>
                <a:spcPct val="120000"/>
              </a:lnSpc>
              <a:spcBef>
                <a:spcPts val="2250"/>
              </a:spcBef>
              <a:defRPr sz="2200">
                <a:solidFill>
                  <a:srgbClr val="4C4C4C"/>
                </a:solidFill>
                <a:latin typeface="ヒラギノ角ゴ ProN W3"/>
                <a:ea typeface="ヒラギノ角ゴ ProN W3"/>
                <a:cs typeface="ヒラギノ角ゴ ProN W3"/>
                <a:sym typeface="ヒラギノ角ゴ ProN W3"/>
              </a:defRPr>
            </a:pPr>
            <a:r>
              <a:rPr sz="1100" b="0" i="0" dirty="0">
                <a:solidFill>
                  <a:srgbClr val="7E8C8D"/>
                </a:solidFill>
                <a:latin typeface="+mn-ea"/>
                <a:ea typeface="+mn-ea"/>
                <a:cs typeface="Hiragino Kaku Gothic Pro W3" charset="-128"/>
              </a:rPr>
              <a:t>本文書（添付資料を含む）は、</a:t>
            </a:r>
            <a:r>
              <a:rPr lang="en-US" sz="1100" b="0" i="0" dirty="0">
                <a:solidFill>
                  <a:srgbClr val="7E8C8D"/>
                </a:solidFill>
                <a:latin typeface="+mn-ea"/>
                <a:ea typeface="+mn-ea"/>
                <a:cs typeface="Hiragino Kaku Gothic Pro W3" charset="-128"/>
              </a:rPr>
              <a:t>ブーストコンサルティング株式会社</a:t>
            </a:r>
            <a:r>
              <a:rPr sz="1100" b="0" i="0" dirty="0">
                <a:solidFill>
                  <a:srgbClr val="7E8C8D"/>
                </a:solidFill>
                <a:latin typeface="+mn-ea"/>
                <a:ea typeface="+mn-ea"/>
                <a:cs typeface="Hiragino Kaku Gothic Pro W3" charset="-128"/>
              </a:rPr>
              <a:t>が著作権その他の権利を有する営業秘密（含サプライヤ等第三者が権利を有するもの）です。当社の許可なく複製し利用すること、また漏洩することは「著作権法」「不正競争防止法」によって禁じられております。本資料内の社名・製品名は各社の登録商標です。</a:t>
            </a:r>
          </a:p>
          <a:p>
            <a:pPr algn="l">
              <a:lnSpc>
                <a:spcPct val="120000"/>
              </a:lnSpc>
              <a:spcBef>
                <a:spcPts val="2250"/>
              </a:spcBef>
              <a:defRPr sz="2200">
                <a:solidFill>
                  <a:srgbClr val="4C4C4C"/>
                </a:solidFill>
                <a:latin typeface="ヒラギノ角ゴ ProN W3"/>
                <a:ea typeface="ヒラギノ角ゴ ProN W3"/>
                <a:cs typeface="ヒラギノ角ゴ ProN W3"/>
                <a:sym typeface="ヒラギノ角ゴ ProN W3"/>
              </a:defRPr>
            </a:pPr>
            <a:r>
              <a:rPr sz="1100" b="0" i="0" dirty="0" err="1">
                <a:solidFill>
                  <a:srgbClr val="7E8C8D"/>
                </a:solidFill>
                <a:latin typeface="+mn-ea"/>
                <a:ea typeface="+mn-ea"/>
                <a:cs typeface="Hiragino Kaku Gothic Pro W3" charset="-128"/>
              </a:rPr>
              <a:t>また、本資料は</a:t>
            </a:r>
            <a:r>
              <a:rPr lang="ja-JP" altLang="en-US" sz="1100" b="0" i="0">
                <a:solidFill>
                  <a:srgbClr val="7E8C8D"/>
                </a:solidFill>
                <a:latin typeface="+mn-ea"/>
                <a:ea typeface="+mn-ea"/>
                <a:cs typeface="Hiragino Kaku Gothic Pro W3" charset="-128"/>
              </a:rPr>
              <a:t>ブーストコンサルティング</a:t>
            </a:r>
            <a:r>
              <a:rPr lang="en-US" altLang="ja-JP" sz="1100" b="0" i="0" dirty="0">
                <a:solidFill>
                  <a:srgbClr val="7E8C8D"/>
                </a:solidFill>
                <a:latin typeface="+mn-ea"/>
                <a:ea typeface="+mn-ea"/>
                <a:cs typeface="Hiragino Kaku Gothic Pro W3" charset="-128"/>
              </a:rPr>
              <a:t>株式会社</a:t>
            </a:r>
            <a:r>
              <a:rPr sz="1100" b="0" i="0" dirty="0">
                <a:solidFill>
                  <a:srgbClr val="7E8C8D"/>
                </a:solidFill>
                <a:latin typeface="+mn-ea"/>
                <a:ea typeface="+mn-ea"/>
                <a:cs typeface="Hiragino Kaku Gothic Pro W3" charset="-128"/>
              </a:rPr>
              <a:t>による口頭の説明を補助するために使用されるものであって、本件に関する検討内容や議論の過程を網羅的に掲載しているものではありません。</a:t>
            </a:r>
          </a:p>
        </p:txBody>
      </p:sp>
      <p:sp>
        <p:nvSpPr>
          <p:cNvPr id="18" name="正方形/長方形 17">
            <a:extLst>
              <a:ext uri="{FF2B5EF4-FFF2-40B4-BE49-F238E27FC236}">
                <a16:creationId xmlns:a16="http://schemas.microsoft.com/office/drawing/2014/main" id="{B198F1EA-ECF6-4655-0360-6AB727FA0689}"/>
              </a:ext>
            </a:extLst>
          </p:cNvPr>
          <p:cNvSpPr/>
          <p:nvPr userDrawn="1"/>
        </p:nvSpPr>
        <p:spPr>
          <a:xfrm>
            <a:off x="3147848" y="2320639"/>
            <a:ext cx="5896303" cy="2228193"/>
          </a:xfrm>
          <a:prstGeom prst="rect">
            <a:avLst/>
          </a:prstGeom>
          <a:noFill/>
          <a:ln w="9525">
            <a:solidFill>
              <a:srgbClr val="7E8C8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6" name="グループ化 5">
            <a:extLst>
              <a:ext uri="{FF2B5EF4-FFF2-40B4-BE49-F238E27FC236}">
                <a16:creationId xmlns:a16="http://schemas.microsoft.com/office/drawing/2014/main" id="{ADEAFD2B-3636-AB11-2954-F32C0A6E9C83}"/>
              </a:ext>
            </a:extLst>
          </p:cNvPr>
          <p:cNvGrpSpPr/>
          <p:nvPr userDrawn="1"/>
        </p:nvGrpSpPr>
        <p:grpSpPr>
          <a:xfrm>
            <a:off x="-790684" y="2588774"/>
            <a:ext cx="616229" cy="1587897"/>
            <a:chOff x="-790684" y="26356"/>
            <a:chExt cx="616229" cy="1587897"/>
          </a:xfrm>
        </p:grpSpPr>
        <p:sp>
          <p:nvSpPr>
            <p:cNvPr id="14" name="正方形/長方形 13">
              <a:extLst>
                <a:ext uri="{FF2B5EF4-FFF2-40B4-BE49-F238E27FC236}">
                  <a16:creationId xmlns:a16="http://schemas.microsoft.com/office/drawing/2014/main" id="{D3B3D0E1-4351-6895-25CB-3690460C32EA}"/>
                </a:ext>
              </a:extLst>
            </p:cNvPr>
            <p:cNvSpPr/>
            <p:nvPr/>
          </p:nvSpPr>
          <p:spPr>
            <a:xfrm>
              <a:off x="-420676" y="27573"/>
              <a:ext cx="246221" cy="246221"/>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F379D470-FC86-A949-BB52-6DD0C8FBE297}"/>
                </a:ext>
              </a:extLst>
            </p:cNvPr>
            <p:cNvSpPr/>
            <p:nvPr/>
          </p:nvSpPr>
          <p:spPr>
            <a:xfrm>
              <a:off x="-420677" y="272577"/>
              <a:ext cx="246221" cy="246221"/>
            </a:xfrm>
            <a:prstGeom prst="rect">
              <a:avLst/>
            </a:prstGeom>
            <a:solidFill>
              <a:srgbClr val="1F302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正方形/長方形 18">
              <a:extLst>
                <a:ext uri="{FF2B5EF4-FFF2-40B4-BE49-F238E27FC236}">
                  <a16:creationId xmlns:a16="http://schemas.microsoft.com/office/drawing/2014/main" id="{73EB795C-EB3A-21AF-E074-F923F067C819}"/>
                </a:ext>
              </a:extLst>
            </p:cNvPr>
            <p:cNvSpPr/>
            <p:nvPr/>
          </p:nvSpPr>
          <p:spPr>
            <a:xfrm>
              <a:off x="-422027" y="740515"/>
              <a:ext cx="246221" cy="246221"/>
            </a:xfrm>
            <a:prstGeom prst="rect">
              <a:avLst/>
            </a:prstGeom>
            <a:solidFill>
              <a:srgbClr val="3F755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71032DD5-02E2-79DD-5EBB-AC682E91C309}"/>
                </a:ext>
              </a:extLst>
            </p:cNvPr>
            <p:cNvSpPr/>
            <p:nvPr/>
          </p:nvSpPr>
          <p:spPr>
            <a:xfrm>
              <a:off x="-422027" y="984911"/>
              <a:ext cx="246221" cy="246221"/>
            </a:xfrm>
            <a:prstGeom prst="rect">
              <a:avLst/>
            </a:prstGeom>
            <a:solidFill>
              <a:srgbClr val="5A957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正方形/長方形 20">
              <a:extLst>
                <a:ext uri="{FF2B5EF4-FFF2-40B4-BE49-F238E27FC236}">
                  <a16:creationId xmlns:a16="http://schemas.microsoft.com/office/drawing/2014/main" id="{F09BC46A-C37D-AE4D-AFC5-B19855839B00}"/>
                </a:ext>
              </a:extLst>
            </p:cNvPr>
            <p:cNvSpPr/>
            <p:nvPr/>
          </p:nvSpPr>
          <p:spPr>
            <a:xfrm>
              <a:off x="-790009" y="26356"/>
              <a:ext cx="246221" cy="246221"/>
            </a:xfrm>
            <a:prstGeom prst="rect">
              <a:avLst/>
            </a:prstGeom>
            <a:solidFill>
              <a:srgbClr val="B8935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2" name="正方形/長方形 21">
              <a:extLst>
                <a:ext uri="{FF2B5EF4-FFF2-40B4-BE49-F238E27FC236}">
                  <a16:creationId xmlns:a16="http://schemas.microsoft.com/office/drawing/2014/main" id="{7F2228BC-EAE5-2797-D30A-76D3ECFD9045}"/>
                </a:ext>
              </a:extLst>
            </p:cNvPr>
            <p:cNvSpPr/>
            <p:nvPr/>
          </p:nvSpPr>
          <p:spPr>
            <a:xfrm>
              <a:off x="-790009" y="248073"/>
              <a:ext cx="246221" cy="246221"/>
            </a:xfrm>
            <a:prstGeom prst="rect">
              <a:avLst/>
            </a:prstGeom>
            <a:solidFill>
              <a:srgbClr val="D4A57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a:extLst>
                <a:ext uri="{FF2B5EF4-FFF2-40B4-BE49-F238E27FC236}">
                  <a16:creationId xmlns:a16="http://schemas.microsoft.com/office/drawing/2014/main" id="{90AD0715-D754-4077-B0A1-61B8791718F7}"/>
                </a:ext>
              </a:extLst>
            </p:cNvPr>
            <p:cNvSpPr/>
            <p:nvPr/>
          </p:nvSpPr>
          <p:spPr>
            <a:xfrm>
              <a:off x="-790684" y="494294"/>
              <a:ext cx="246221" cy="246221"/>
            </a:xfrm>
            <a:prstGeom prst="rect">
              <a:avLst/>
            </a:prstGeom>
            <a:solidFill>
              <a:srgbClr val="E6B78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正方形/長方形 23">
              <a:extLst>
                <a:ext uri="{FF2B5EF4-FFF2-40B4-BE49-F238E27FC236}">
                  <a16:creationId xmlns:a16="http://schemas.microsoft.com/office/drawing/2014/main" id="{330824C3-B43B-B312-C13A-960922CF4B87}"/>
                </a:ext>
              </a:extLst>
            </p:cNvPr>
            <p:cNvSpPr/>
            <p:nvPr/>
          </p:nvSpPr>
          <p:spPr>
            <a:xfrm>
              <a:off x="-420678" y="518190"/>
              <a:ext cx="246221" cy="246221"/>
            </a:xfrm>
            <a:prstGeom prst="rect">
              <a:avLst/>
            </a:prstGeom>
            <a:solidFill>
              <a:srgbClr val="2D5A4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正方形/長方形 24">
              <a:extLst>
                <a:ext uri="{FF2B5EF4-FFF2-40B4-BE49-F238E27FC236}">
                  <a16:creationId xmlns:a16="http://schemas.microsoft.com/office/drawing/2014/main" id="{26623F78-076C-B3E1-C853-0C089F638E50}"/>
                </a:ext>
              </a:extLst>
            </p:cNvPr>
            <p:cNvSpPr/>
            <p:nvPr/>
          </p:nvSpPr>
          <p:spPr>
            <a:xfrm>
              <a:off x="-422027" y="1223588"/>
              <a:ext cx="246221" cy="246221"/>
            </a:xfrm>
            <a:prstGeom prst="rect">
              <a:avLst/>
            </a:prstGeom>
            <a:solidFill>
              <a:srgbClr val="77B991"/>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正方形/長方形 25">
              <a:extLst>
                <a:ext uri="{FF2B5EF4-FFF2-40B4-BE49-F238E27FC236}">
                  <a16:creationId xmlns:a16="http://schemas.microsoft.com/office/drawing/2014/main" id="{7D21409A-DC3E-4119-CB31-5B7D7C7D05F4}"/>
                </a:ext>
              </a:extLst>
            </p:cNvPr>
            <p:cNvSpPr/>
            <p:nvPr/>
          </p:nvSpPr>
          <p:spPr>
            <a:xfrm>
              <a:off x="-790009" y="900094"/>
              <a:ext cx="246221" cy="246221"/>
            </a:xfrm>
            <a:prstGeom prst="rect">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7" name="正方形/長方形 26">
              <a:extLst>
                <a:ext uri="{FF2B5EF4-FFF2-40B4-BE49-F238E27FC236}">
                  <a16:creationId xmlns:a16="http://schemas.microsoft.com/office/drawing/2014/main" id="{E5C1F557-A34B-4B79-1BA7-FA5D088F6428}"/>
                </a:ext>
              </a:extLst>
            </p:cNvPr>
            <p:cNvSpPr/>
            <p:nvPr/>
          </p:nvSpPr>
          <p:spPr>
            <a:xfrm>
              <a:off x="-790009" y="1121811"/>
              <a:ext cx="246221" cy="246221"/>
            </a:xfrm>
            <a:prstGeom prst="rect">
              <a:avLst/>
            </a:prstGeom>
            <a:solidFill>
              <a:schemeClr val="bg1">
                <a:lumMod val="7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正方形/長方形 27">
              <a:extLst>
                <a:ext uri="{FF2B5EF4-FFF2-40B4-BE49-F238E27FC236}">
                  <a16:creationId xmlns:a16="http://schemas.microsoft.com/office/drawing/2014/main" id="{AFA4F27A-2627-0A02-A4DC-C0AA10B74947}"/>
                </a:ext>
              </a:extLst>
            </p:cNvPr>
            <p:cNvSpPr/>
            <p:nvPr/>
          </p:nvSpPr>
          <p:spPr>
            <a:xfrm>
              <a:off x="-790684" y="1368032"/>
              <a:ext cx="246221" cy="246221"/>
            </a:xfrm>
            <a:prstGeom prst="rect">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30" name="TextBox 41">
            <a:extLst>
              <a:ext uri="{FF2B5EF4-FFF2-40B4-BE49-F238E27FC236}">
                <a16:creationId xmlns:a16="http://schemas.microsoft.com/office/drawing/2014/main" id="{5913EFFE-C8B9-9CE7-BEAF-1F42EA659347}"/>
              </a:ext>
            </a:extLst>
          </p:cNvPr>
          <p:cNvSpPr txBox="1"/>
          <p:nvPr userDrawn="1"/>
        </p:nvSpPr>
        <p:spPr>
          <a:xfrm>
            <a:off x="11105812" y="6514831"/>
            <a:ext cx="983573" cy="216000"/>
          </a:xfrm>
          <a:prstGeom prst="rect">
            <a:avLst/>
          </a:prstGeom>
          <a:noFill/>
        </p:spPr>
        <p:txBody>
          <a:bodyPr wrap="square" rtlCol="0" anchor="ctr">
            <a:noAutofit/>
          </a:bodyPr>
          <a:lstStyle/>
          <a:p>
            <a:pPr algn="r"/>
            <a:fld id="{345173B5-5526-C040-8550-97FCE61EEC3A}" type="slidenum">
              <a:rPr lang="en-AU" sz="1200" smtClean="0">
                <a:solidFill>
                  <a:schemeClr val="accent6">
                    <a:lumMod val="50000"/>
                  </a:schemeClr>
                </a:solidFill>
                <a:latin typeface="+mn-lt"/>
                <a:cs typeface="Arial" panose="020B0604020202020204" pitchFamily="34" charset="0"/>
              </a:rPr>
              <a:pPr algn="r"/>
              <a:t>‹#›</a:t>
            </a:fld>
            <a:endParaRPr lang="en-AU" sz="1200" dirty="0">
              <a:solidFill>
                <a:schemeClr val="accent6">
                  <a:lumMod val="50000"/>
                </a:schemeClr>
              </a:solidFill>
              <a:latin typeface="+mn-lt"/>
              <a:cs typeface="Arial" panose="020B0604020202020204" pitchFamily="34" charset="0"/>
            </a:endParaRPr>
          </a:p>
        </p:txBody>
      </p:sp>
      <p:sp>
        <p:nvSpPr>
          <p:cNvPr id="2" name="フッター プレースホルダー 13">
            <a:extLst>
              <a:ext uri="{FF2B5EF4-FFF2-40B4-BE49-F238E27FC236}">
                <a16:creationId xmlns:a16="http://schemas.microsoft.com/office/drawing/2014/main" id="{351FA5B7-4DF9-BE3F-40BE-6A3C048346DF}"/>
              </a:ext>
            </a:extLst>
          </p:cNvPr>
          <p:cNvSpPr>
            <a:spLocks noGrp="1"/>
          </p:cNvSpPr>
          <p:nvPr>
            <p:ph type="ftr" sz="quarter" idx="11"/>
          </p:nvPr>
        </p:nvSpPr>
        <p:spPr>
          <a:xfrm>
            <a:off x="9877808" y="6514831"/>
            <a:ext cx="1919585" cy="216000"/>
          </a:xfrm>
        </p:spPr>
        <p:txBody>
          <a:bodyPr/>
          <a:lstStyle>
            <a:lvl1pPr algn="l">
              <a:defRPr sz="1000">
                <a:latin typeface="+mn-lt"/>
                <a:ea typeface="+mn-ea"/>
              </a:defRPr>
            </a:lvl1pPr>
          </a:lstStyle>
          <a:p>
            <a:pPr>
              <a:defRPr/>
            </a:pPr>
            <a:r>
              <a:rPr kumimoji="1" lang="en-US" altLang="ja-JP" dirty="0">
                <a:solidFill>
                  <a:srgbClr val="FFFFFF">
                    <a:lumMod val="75000"/>
                  </a:srgbClr>
                </a:solidFill>
              </a:rPr>
              <a:t>©️ 2026 Boost Consulting, Inc.</a:t>
            </a:r>
            <a:endParaRPr kumimoji="1" lang="ja-JP" altLang="en-US" dirty="0">
              <a:solidFill>
                <a:srgbClr val="FFFFFF">
                  <a:lumMod val="75000"/>
                </a:srgbClr>
              </a:solidFill>
              <a:latin typeface="+mn-lt"/>
            </a:endParaRPr>
          </a:p>
        </p:txBody>
      </p:sp>
    </p:spTree>
    <p:extLst>
      <p:ext uri="{BB962C8B-B14F-4D97-AF65-F5344CB8AC3E}">
        <p14:creationId xmlns:p14="http://schemas.microsoft.com/office/powerpoint/2010/main" val="31022174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END">
    <p:spTree>
      <p:nvGrpSpPr>
        <p:cNvPr id="1" name=""/>
        <p:cNvGrpSpPr/>
        <p:nvPr/>
      </p:nvGrpSpPr>
      <p:grpSpPr>
        <a:xfrm>
          <a:off x="0" y="0"/>
          <a:ext cx="0" cy="0"/>
          <a:chOff x="0" y="0"/>
          <a:chExt cx="0" cy="0"/>
        </a:xfrm>
      </p:grpSpPr>
      <p:sp>
        <p:nvSpPr>
          <p:cNvPr id="10" name="テキスト ボックス 9">
            <a:extLst>
              <a:ext uri="{FF2B5EF4-FFF2-40B4-BE49-F238E27FC236}">
                <a16:creationId xmlns:a16="http://schemas.microsoft.com/office/drawing/2014/main" id="{82699696-9B15-3CD6-BBE8-B725E3FACC29}"/>
              </a:ext>
            </a:extLst>
          </p:cNvPr>
          <p:cNvSpPr txBox="1"/>
          <p:nvPr userDrawn="1"/>
        </p:nvSpPr>
        <p:spPr>
          <a:xfrm>
            <a:off x="9717722" y="136525"/>
            <a:ext cx="2154555" cy="246221"/>
          </a:xfrm>
          <a:prstGeom prst="rect">
            <a:avLst/>
          </a:prstGeom>
          <a:noFill/>
          <a:ln>
            <a:noFill/>
          </a:ln>
        </p:spPr>
        <p:txBody>
          <a:bodyPr wrap="square">
            <a:spAutoFit/>
          </a:bodyPr>
          <a:lstStyle/>
          <a:p>
            <a:pPr algn="r"/>
            <a:r>
              <a:rPr lang="ja-JP" altLang="en-US" sz="1000">
                <a:solidFill>
                  <a:schemeClr val="bg1">
                    <a:lumMod val="75000"/>
                  </a:schemeClr>
                </a:solidFill>
              </a:rPr>
              <a:t>Strictly confidential</a:t>
            </a:r>
            <a:endParaRPr lang="en-US" altLang="ja-JP" sz="1000" dirty="0">
              <a:solidFill>
                <a:schemeClr val="bg1">
                  <a:lumMod val="75000"/>
                </a:schemeClr>
              </a:solidFill>
            </a:endParaRPr>
          </a:p>
        </p:txBody>
      </p:sp>
      <p:sp>
        <p:nvSpPr>
          <p:cNvPr id="2" name="正方形/長方形 1">
            <a:extLst>
              <a:ext uri="{FF2B5EF4-FFF2-40B4-BE49-F238E27FC236}">
                <a16:creationId xmlns:a16="http://schemas.microsoft.com/office/drawing/2014/main" id="{D801113C-D15D-EEB8-367A-DAF32447D218}"/>
              </a:ext>
            </a:extLst>
          </p:cNvPr>
          <p:cNvSpPr/>
          <p:nvPr userDrawn="1"/>
        </p:nvSpPr>
        <p:spPr>
          <a:xfrm>
            <a:off x="-420676" y="27573"/>
            <a:ext cx="246221" cy="246221"/>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正方形/長方形 2">
            <a:extLst>
              <a:ext uri="{FF2B5EF4-FFF2-40B4-BE49-F238E27FC236}">
                <a16:creationId xmlns:a16="http://schemas.microsoft.com/office/drawing/2014/main" id="{53F8F977-E297-17D4-0A3E-DF7ECE73491E}"/>
              </a:ext>
            </a:extLst>
          </p:cNvPr>
          <p:cNvSpPr/>
          <p:nvPr userDrawn="1"/>
        </p:nvSpPr>
        <p:spPr>
          <a:xfrm>
            <a:off x="-420677" y="272577"/>
            <a:ext cx="246221" cy="246221"/>
          </a:xfrm>
          <a:prstGeom prst="rect">
            <a:avLst/>
          </a:prstGeom>
          <a:solidFill>
            <a:srgbClr val="2C3D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正方形/長方形 3">
            <a:extLst>
              <a:ext uri="{FF2B5EF4-FFF2-40B4-BE49-F238E27FC236}">
                <a16:creationId xmlns:a16="http://schemas.microsoft.com/office/drawing/2014/main" id="{C63B8C8F-4D7E-A640-A40A-44B6C03A81B6}"/>
              </a:ext>
            </a:extLst>
          </p:cNvPr>
          <p:cNvSpPr/>
          <p:nvPr userDrawn="1"/>
        </p:nvSpPr>
        <p:spPr>
          <a:xfrm>
            <a:off x="-422027" y="740515"/>
            <a:ext cx="246221" cy="246221"/>
          </a:xfrm>
          <a:prstGeom prst="rect">
            <a:avLst/>
          </a:prstGeom>
          <a:solidFill>
            <a:srgbClr val="B4002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57558606-D021-6763-3C48-C6987F20BA9D}"/>
              </a:ext>
            </a:extLst>
          </p:cNvPr>
          <p:cNvSpPr/>
          <p:nvPr userDrawn="1"/>
        </p:nvSpPr>
        <p:spPr>
          <a:xfrm>
            <a:off x="-422027" y="984911"/>
            <a:ext cx="246221" cy="246221"/>
          </a:xfrm>
          <a:prstGeom prst="rect">
            <a:avLst/>
          </a:prstGeom>
          <a:solidFill>
            <a:schemeClr val="bg1"/>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a:extLst>
              <a:ext uri="{FF2B5EF4-FFF2-40B4-BE49-F238E27FC236}">
                <a16:creationId xmlns:a16="http://schemas.microsoft.com/office/drawing/2014/main" id="{A5EEF839-A49A-E541-5D35-2E7F009C7E64}"/>
              </a:ext>
            </a:extLst>
          </p:cNvPr>
          <p:cNvSpPr/>
          <p:nvPr userDrawn="1"/>
        </p:nvSpPr>
        <p:spPr>
          <a:xfrm>
            <a:off x="-790009" y="26356"/>
            <a:ext cx="246221" cy="246221"/>
          </a:xfrm>
          <a:prstGeom prst="rect">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16583140-9F93-FA4D-D645-726A17853450}"/>
              </a:ext>
            </a:extLst>
          </p:cNvPr>
          <p:cNvSpPr/>
          <p:nvPr userDrawn="1"/>
        </p:nvSpPr>
        <p:spPr>
          <a:xfrm>
            <a:off x="-790009" y="248073"/>
            <a:ext cx="246221" cy="246221"/>
          </a:xfrm>
          <a:prstGeom prst="rect">
            <a:avLst/>
          </a:prstGeom>
          <a:solidFill>
            <a:schemeClr val="bg1">
              <a:lumMod val="7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a:extLst>
              <a:ext uri="{FF2B5EF4-FFF2-40B4-BE49-F238E27FC236}">
                <a16:creationId xmlns:a16="http://schemas.microsoft.com/office/drawing/2014/main" id="{FE8A8672-50D6-E5D4-D04B-CAC986EAA226}"/>
              </a:ext>
            </a:extLst>
          </p:cNvPr>
          <p:cNvSpPr/>
          <p:nvPr userDrawn="1"/>
        </p:nvSpPr>
        <p:spPr>
          <a:xfrm>
            <a:off x="-790684" y="494294"/>
            <a:ext cx="246221" cy="246221"/>
          </a:xfrm>
          <a:prstGeom prst="rect">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92050E20-E619-9D0A-4DE0-F5613E4DE751}"/>
              </a:ext>
            </a:extLst>
          </p:cNvPr>
          <p:cNvSpPr/>
          <p:nvPr userDrawn="1"/>
        </p:nvSpPr>
        <p:spPr>
          <a:xfrm>
            <a:off x="-420678" y="518190"/>
            <a:ext cx="246221" cy="246221"/>
          </a:xfrm>
          <a:prstGeom prst="rect">
            <a:avLst/>
          </a:prstGeom>
          <a:solidFill>
            <a:srgbClr val="7E8C8D"/>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A5DE7C36-A0E1-6BC7-AEA0-9A999631D176}"/>
              </a:ext>
            </a:extLst>
          </p:cNvPr>
          <p:cNvSpPr txBox="1"/>
          <p:nvPr userDrawn="1"/>
        </p:nvSpPr>
        <p:spPr>
          <a:xfrm>
            <a:off x="4933662" y="3136612"/>
            <a:ext cx="2278188" cy="584775"/>
          </a:xfrm>
          <a:prstGeom prst="rect">
            <a:avLst/>
          </a:prstGeom>
          <a:noFill/>
        </p:spPr>
        <p:txBody>
          <a:bodyPr wrap="none" rtlCol="0">
            <a:spAutoFit/>
          </a:bodyPr>
          <a:lstStyle/>
          <a:p>
            <a:r>
              <a:rPr kumimoji="1" lang="en-US" altLang="ja-JP" sz="3200" b="1" dirty="0">
                <a:solidFill>
                  <a:srgbClr val="1F302F"/>
                </a:solidFill>
              </a:rPr>
              <a:t>End of File</a:t>
            </a:r>
            <a:endParaRPr kumimoji="1" lang="ja-JP" altLang="en-US" sz="3200" b="1" dirty="0">
              <a:solidFill>
                <a:srgbClr val="1F302F"/>
              </a:solidFill>
            </a:endParaRPr>
          </a:p>
        </p:txBody>
      </p:sp>
      <p:pic>
        <p:nvPicPr>
          <p:cNvPr id="14" name="図 13" descr="ロゴ&#10;&#10;AI によって生成されたコンテンツは間違っている可能性があります。">
            <a:extLst>
              <a:ext uri="{FF2B5EF4-FFF2-40B4-BE49-F238E27FC236}">
                <a16:creationId xmlns:a16="http://schemas.microsoft.com/office/drawing/2014/main" id="{574F2406-0D8E-8487-07C0-08FA571ABDE1}"/>
              </a:ext>
            </a:extLst>
          </p:cNvPr>
          <p:cNvPicPr>
            <a:picLocks noChangeAspect="1"/>
          </p:cNvPicPr>
          <p:nvPr userDrawn="1"/>
        </p:nvPicPr>
        <p:blipFill>
          <a:blip r:embed="rId2"/>
          <a:stretch>
            <a:fillRect/>
          </a:stretch>
        </p:blipFill>
        <p:spPr>
          <a:xfrm>
            <a:off x="5662081" y="5435590"/>
            <a:ext cx="867838" cy="651650"/>
          </a:xfrm>
          <a:prstGeom prst="rect">
            <a:avLst/>
          </a:prstGeom>
        </p:spPr>
      </p:pic>
      <p:cxnSp>
        <p:nvCxnSpPr>
          <p:cNvPr id="15" name="直線コネクタ 14">
            <a:extLst>
              <a:ext uri="{FF2B5EF4-FFF2-40B4-BE49-F238E27FC236}">
                <a16:creationId xmlns:a16="http://schemas.microsoft.com/office/drawing/2014/main" id="{734FFB27-6086-7FE3-657B-BEDD7777672B}"/>
              </a:ext>
            </a:extLst>
          </p:cNvPr>
          <p:cNvCxnSpPr>
            <a:cxnSpLocks/>
          </p:cNvCxnSpPr>
          <p:nvPr userDrawn="1"/>
        </p:nvCxnSpPr>
        <p:spPr>
          <a:xfrm>
            <a:off x="5839852" y="3721387"/>
            <a:ext cx="512297" cy="0"/>
          </a:xfrm>
          <a:prstGeom prst="line">
            <a:avLst/>
          </a:prstGeom>
          <a:ln w="57150">
            <a:solidFill>
              <a:srgbClr val="1F302F"/>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127409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基本スライド">
  <p:cSld name="1_基本スライド">
    <p:spTree>
      <p:nvGrpSpPr>
        <p:cNvPr id="1" name="Shape 32"/>
        <p:cNvGrpSpPr/>
        <p:nvPr/>
      </p:nvGrpSpPr>
      <p:grpSpPr>
        <a:xfrm>
          <a:off x="0" y="0"/>
          <a:ext cx="0" cy="0"/>
          <a:chOff x="0" y="0"/>
          <a:chExt cx="0" cy="0"/>
        </a:xfrm>
      </p:grpSpPr>
      <p:sp>
        <p:nvSpPr>
          <p:cNvPr id="33" name="Google Shape;33;p24"/>
          <p:cNvSpPr txBox="1">
            <a:spLocks noGrp="1"/>
          </p:cNvSpPr>
          <p:nvPr>
            <p:ph type="title"/>
          </p:nvPr>
        </p:nvSpPr>
        <p:spPr>
          <a:xfrm>
            <a:off x="340659" y="658641"/>
            <a:ext cx="11520000" cy="888036"/>
          </a:xfrm>
          <a:prstGeom prst="rect">
            <a:avLst/>
          </a:prstGeom>
          <a:noFill/>
          <a:ln>
            <a:noFill/>
          </a:ln>
        </p:spPr>
        <p:txBody>
          <a:bodyPr spcFirstLastPara="1" wrap="square" lIns="91425" tIns="45700" rIns="91425" bIns="45700" anchor="t" anchorCtr="0">
            <a:noAutofit/>
          </a:bodyPr>
          <a:lstStyle>
            <a:lvl1pPr lvl="0" algn="l">
              <a:lnSpc>
                <a:spcPct val="90000"/>
              </a:lnSpc>
              <a:spcBef>
                <a:spcPts val="0"/>
              </a:spcBef>
              <a:spcAft>
                <a:spcPts val="0"/>
              </a:spcAft>
              <a:buClr>
                <a:schemeClr val="dk1"/>
              </a:buClr>
              <a:buSzPts val="2400"/>
              <a:buFont typeface="Arial"/>
              <a:buNone/>
              <a:defRPr sz="2400" b="1">
                <a:latin typeface="Meiryo UI" panose="020B0604030504040204" pitchFamily="50" charset="-128"/>
                <a:ea typeface="Meiryo UI" panose="020B0604030504040204" pitchFamily="50" charset="-128"/>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34" name="Google Shape;34;p24"/>
          <p:cNvSpPr txBox="1">
            <a:spLocks noGrp="1"/>
          </p:cNvSpPr>
          <p:nvPr>
            <p:ph type="body" idx="1"/>
          </p:nvPr>
        </p:nvSpPr>
        <p:spPr>
          <a:xfrm>
            <a:off x="340659" y="1649506"/>
            <a:ext cx="11520000" cy="4608000"/>
          </a:xfrm>
          <a:prstGeom prst="rect">
            <a:avLst/>
          </a:prstGeom>
          <a:noFill/>
          <a:ln>
            <a:noFill/>
          </a:ln>
        </p:spPr>
        <p:txBody>
          <a:bodyPr spcFirstLastPara="1" wrap="square" lIns="91425" tIns="45700" rIns="91425" bIns="45700" anchor="t" anchorCtr="0">
            <a:noAutofit/>
          </a:bodyPr>
          <a:lstStyle>
            <a:lvl1pPr marL="457200" lvl="0" indent="-317500" algn="l">
              <a:lnSpc>
                <a:spcPct val="100000"/>
              </a:lnSpc>
              <a:spcBef>
                <a:spcPts val="1000"/>
              </a:spcBef>
              <a:spcAft>
                <a:spcPts val="0"/>
              </a:spcAft>
              <a:buClr>
                <a:schemeClr val="dk1"/>
              </a:buClr>
              <a:buSzPts val="1400"/>
              <a:buFont typeface="Noto Sans Symbols"/>
              <a:buChar char="■"/>
              <a:defRPr sz="1400">
                <a:latin typeface="Meiryo UI" panose="020B0604030504040204" pitchFamily="50" charset="-128"/>
                <a:ea typeface="Meiryo UI" panose="020B0604030504040204" pitchFamily="50" charset="-128"/>
                <a:cs typeface="Arial"/>
                <a:sym typeface="Arial"/>
              </a:defRPr>
            </a:lvl1pPr>
            <a:lvl2pPr marL="914400" lvl="1" indent="-317500" algn="l">
              <a:lnSpc>
                <a:spcPct val="100000"/>
              </a:lnSpc>
              <a:spcBef>
                <a:spcPts val="500"/>
              </a:spcBef>
              <a:spcAft>
                <a:spcPts val="0"/>
              </a:spcAft>
              <a:buClr>
                <a:schemeClr val="dk1"/>
              </a:buClr>
              <a:buSzPts val="1400"/>
              <a:buFont typeface="Noto Sans Symbols"/>
              <a:buChar char="⮚"/>
              <a:defRPr sz="1400">
                <a:latin typeface="Arial"/>
                <a:ea typeface="Arial"/>
                <a:cs typeface="Arial"/>
                <a:sym typeface="Arial"/>
              </a:defRPr>
            </a:lvl2pPr>
            <a:lvl3pPr marL="1371600" lvl="2" indent="-317500" algn="l">
              <a:lnSpc>
                <a:spcPct val="100000"/>
              </a:lnSpc>
              <a:spcBef>
                <a:spcPts val="500"/>
              </a:spcBef>
              <a:spcAft>
                <a:spcPts val="0"/>
              </a:spcAft>
              <a:buClr>
                <a:schemeClr val="dk1"/>
              </a:buClr>
              <a:buSzPts val="1400"/>
              <a:buFont typeface="Noto Sans Symbols"/>
              <a:buChar char="✔"/>
              <a:defRPr sz="1400">
                <a:latin typeface="Arial"/>
                <a:ea typeface="Arial"/>
                <a:cs typeface="Arial"/>
                <a:sym typeface="Arial"/>
              </a:defRPr>
            </a:lvl3pPr>
            <a:lvl4pPr marL="1828800" lvl="3" indent="-317500" algn="l">
              <a:lnSpc>
                <a:spcPct val="100000"/>
              </a:lnSpc>
              <a:spcBef>
                <a:spcPts val="500"/>
              </a:spcBef>
              <a:spcAft>
                <a:spcPts val="0"/>
              </a:spcAft>
              <a:buClr>
                <a:schemeClr val="dk1"/>
              </a:buClr>
              <a:buSzPts val="1400"/>
              <a:buChar char="•"/>
              <a:defRPr sz="1400">
                <a:latin typeface="Arial"/>
                <a:ea typeface="Arial"/>
                <a:cs typeface="Arial"/>
                <a:sym typeface="Arial"/>
              </a:defRPr>
            </a:lvl4pPr>
            <a:lvl5pPr marL="2286000" lvl="4" indent="-317500" algn="l">
              <a:lnSpc>
                <a:spcPct val="100000"/>
              </a:lnSpc>
              <a:spcBef>
                <a:spcPts val="500"/>
              </a:spcBef>
              <a:spcAft>
                <a:spcPts val="0"/>
              </a:spcAft>
              <a:buClr>
                <a:schemeClr val="dk1"/>
              </a:buClr>
              <a:buSzPts val="1400"/>
              <a:buChar char="•"/>
              <a:defRPr sz="1400">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cxnSp>
        <p:nvCxnSpPr>
          <p:cNvPr id="35" name="Google Shape;35;p24"/>
          <p:cNvCxnSpPr/>
          <p:nvPr/>
        </p:nvCxnSpPr>
        <p:spPr>
          <a:xfrm>
            <a:off x="334961" y="575733"/>
            <a:ext cx="11525345" cy="0"/>
          </a:xfrm>
          <a:prstGeom prst="straightConnector1">
            <a:avLst/>
          </a:prstGeom>
          <a:noFill/>
          <a:ln w="19050" cap="flat" cmpd="sng">
            <a:solidFill>
              <a:schemeClr val="accent5"/>
            </a:solidFill>
            <a:prstDash val="solid"/>
            <a:miter lim="800000"/>
            <a:headEnd type="none" w="sm" len="sm"/>
            <a:tailEnd type="none" w="sm" len="sm"/>
          </a:ln>
        </p:spPr>
      </p:cxnSp>
      <p:sp>
        <p:nvSpPr>
          <p:cNvPr id="36" name="Google Shape;36;p24"/>
          <p:cNvSpPr txBox="1">
            <a:spLocks noGrp="1"/>
          </p:cNvSpPr>
          <p:nvPr>
            <p:ph type="body" idx="2"/>
          </p:nvPr>
        </p:nvSpPr>
        <p:spPr>
          <a:xfrm>
            <a:off x="340659" y="6352338"/>
            <a:ext cx="11520000" cy="380155"/>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787878"/>
              </a:buClr>
              <a:buSzPts val="1000"/>
              <a:buNone/>
              <a:defRPr sz="1000">
                <a:solidFill>
                  <a:srgbClr val="787878"/>
                </a:solidFill>
                <a:latin typeface="Arial"/>
                <a:ea typeface="Arial"/>
                <a:cs typeface="Arial"/>
                <a:sym typeface="Aria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24"/>
          <p:cNvSpPr txBox="1"/>
          <p:nvPr/>
        </p:nvSpPr>
        <p:spPr>
          <a:xfrm>
            <a:off x="11105812" y="6514831"/>
            <a:ext cx="983573" cy="2160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ja-JP" sz="1200">
                <a:solidFill>
                  <a:srgbClr val="787878"/>
                </a:solidFill>
                <a:latin typeface="Arial"/>
                <a:ea typeface="Arial"/>
                <a:cs typeface="Arial"/>
                <a:sym typeface="Arial"/>
              </a:rPr>
              <a:t>‹#›</a:t>
            </a:fld>
            <a:endParaRPr sz="1200">
              <a:solidFill>
                <a:srgbClr val="787878"/>
              </a:solidFill>
              <a:latin typeface="Arial"/>
              <a:ea typeface="Arial"/>
              <a:cs typeface="Arial"/>
              <a:sym typeface="Arial"/>
            </a:endParaRPr>
          </a:p>
        </p:txBody>
      </p:sp>
      <p:sp>
        <p:nvSpPr>
          <p:cNvPr id="38" name="Google Shape;38;p24"/>
          <p:cNvSpPr txBox="1">
            <a:spLocks noGrp="1"/>
          </p:cNvSpPr>
          <p:nvPr>
            <p:ph type="ftr" idx="11"/>
          </p:nvPr>
        </p:nvSpPr>
        <p:spPr>
          <a:xfrm>
            <a:off x="9877808" y="6514831"/>
            <a:ext cx="1919585" cy="2160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1000">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24"/>
          <p:cNvSpPr txBox="1">
            <a:spLocks noGrp="1"/>
          </p:cNvSpPr>
          <p:nvPr>
            <p:ph type="body" idx="3" hasCustomPrompt="1"/>
          </p:nvPr>
        </p:nvSpPr>
        <p:spPr>
          <a:xfrm>
            <a:off x="340306" y="233891"/>
            <a:ext cx="11520000" cy="258947"/>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1000"/>
              </a:spcBef>
              <a:spcAft>
                <a:spcPts val="0"/>
              </a:spcAft>
              <a:buClr>
                <a:srgbClr val="2D5A42"/>
              </a:buClr>
              <a:buSzPts val="1400"/>
              <a:buNone/>
              <a:defRPr sz="1400" b="1">
                <a:solidFill>
                  <a:srgbClr val="2D5A42"/>
                </a:solidFill>
                <a:latin typeface="Meiryo UI" panose="020B0604030504040204" pitchFamily="50" charset="-128"/>
                <a:ea typeface="Meiryo UI" panose="020B0604030504040204" pitchFamily="50" charset="-128"/>
                <a:cs typeface="Arial"/>
                <a:sym typeface="Arial"/>
              </a:defRPr>
            </a:lvl1pPr>
            <a:lvl2pPr marL="914400" lvl="1" indent="-317500" algn="l">
              <a:lnSpc>
                <a:spcPct val="100000"/>
              </a:lnSpc>
              <a:spcBef>
                <a:spcPts val="500"/>
              </a:spcBef>
              <a:spcAft>
                <a:spcPts val="0"/>
              </a:spcAft>
              <a:buClr>
                <a:schemeClr val="dk1"/>
              </a:buClr>
              <a:buSzPts val="1400"/>
              <a:buChar char="•"/>
              <a:defRPr sz="1400">
                <a:latin typeface="Arial"/>
                <a:ea typeface="Arial"/>
                <a:cs typeface="Arial"/>
                <a:sym typeface="Arial"/>
              </a:defRPr>
            </a:lvl2pPr>
            <a:lvl3pPr marL="1371600" lvl="2" indent="-317500" algn="l">
              <a:lnSpc>
                <a:spcPct val="100000"/>
              </a:lnSpc>
              <a:spcBef>
                <a:spcPts val="500"/>
              </a:spcBef>
              <a:spcAft>
                <a:spcPts val="0"/>
              </a:spcAft>
              <a:buClr>
                <a:schemeClr val="dk1"/>
              </a:buClr>
              <a:buSzPts val="1400"/>
              <a:buChar char="•"/>
              <a:defRPr sz="1400">
                <a:latin typeface="Arial"/>
                <a:ea typeface="Arial"/>
                <a:cs typeface="Arial"/>
                <a:sym typeface="Arial"/>
              </a:defRPr>
            </a:lvl3pPr>
            <a:lvl4pPr marL="1828800" lvl="3" indent="-317500" algn="l">
              <a:lnSpc>
                <a:spcPct val="100000"/>
              </a:lnSpc>
              <a:spcBef>
                <a:spcPts val="500"/>
              </a:spcBef>
              <a:spcAft>
                <a:spcPts val="0"/>
              </a:spcAft>
              <a:buClr>
                <a:schemeClr val="dk1"/>
              </a:buClr>
              <a:buSzPts val="1400"/>
              <a:buChar char="•"/>
              <a:defRPr sz="1400">
                <a:latin typeface="Arial"/>
                <a:ea typeface="Arial"/>
                <a:cs typeface="Arial"/>
                <a:sym typeface="Arial"/>
              </a:defRPr>
            </a:lvl4pPr>
            <a:lvl5pPr marL="2286000" lvl="4" indent="-317500" algn="l">
              <a:lnSpc>
                <a:spcPct val="100000"/>
              </a:lnSpc>
              <a:spcBef>
                <a:spcPts val="500"/>
              </a:spcBef>
              <a:spcAft>
                <a:spcPts val="0"/>
              </a:spcAft>
              <a:buClr>
                <a:schemeClr val="dk1"/>
              </a:buClr>
              <a:buSzPts val="1400"/>
              <a:buChar char="•"/>
              <a:defRPr sz="1400">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US" dirty="0"/>
              <a:t>xxx</a:t>
            </a:r>
            <a:endParaRPr dirty="0"/>
          </a:p>
        </p:txBody>
      </p:sp>
      <p:grpSp>
        <p:nvGrpSpPr>
          <p:cNvPr id="40" name="Google Shape;40;p24"/>
          <p:cNvGrpSpPr/>
          <p:nvPr/>
        </p:nvGrpSpPr>
        <p:grpSpPr>
          <a:xfrm>
            <a:off x="-790684" y="2588774"/>
            <a:ext cx="616229" cy="1587897"/>
            <a:chOff x="-790684" y="26356"/>
            <a:chExt cx="616229" cy="1587897"/>
          </a:xfrm>
        </p:grpSpPr>
        <p:sp>
          <p:nvSpPr>
            <p:cNvPr id="41" name="Google Shape;41;p24"/>
            <p:cNvSpPr/>
            <p:nvPr/>
          </p:nvSpPr>
          <p:spPr>
            <a:xfrm>
              <a:off x="-420676" y="27573"/>
              <a:ext cx="246221" cy="246221"/>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2" name="Google Shape;42;p24"/>
            <p:cNvSpPr/>
            <p:nvPr/>
          </p:nvSpPr>
          <p:spPr>
            <a:xfrm>
              <a:off x="-420677" y="272577"/>
              <a:ext cx="246221" cy="246221"/>
            </a:xfrm>
            <a:prstGeom prst="rect">
              <a:avLst/>
            </a:prstGeom>
            <a:solidFill>
              <a:srgbClr val="1F302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3" name="Google Shape;43;p24"/>
            <p:cNvSpPr/>
            <p:nvPr/>
          </p:nvSpPr>
          <p:spPr>
            <a:xfrm>
              <a:off x="-422027" y="740515"/>
              <a:ext cx="246221" cy="246221"/>
            </a:xfrm>
            <a:prstGeom prst="rect">
              <a:avLst/>
            </a:prstGeom>
            <a:solidFill>
              <a:srgbClr val="3F755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4" name="Google Shape;44;p24"/>
            <p:cNvSpPr/>
            <p:nvPr/>
          </p:nvSpPr>
          <p:spPr>
            <a:xfrm>
              <a:off x="-422027" y="984911"/>
              <a:ext cx="246221" cy="246221"/>
            </a:xfrm>
            <a:prstGeom prst="rect">
              <a:avLst/>
            </a:prstGeom>
            <a:solidFill>
              <a:srgbClr val="5A957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5" name="Google Shape;45;p24"/>
            <p:cNvSpPr/>
            <p:nvPr/>
          </p:nvSpPr>
          <p:spPr>
            <a:xfrm>
              <a:off x="-790009" y="26356"/>
              <a:ext cx="246221" cy="246221"/>
            </a:xfrm>
            <a:prstGeom prst="rect">
              <a:avLst/>
            </a:prstGeom>
            <a:solidFill>
              <a:srgbClr val="B8935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6" name="Google Shape;46;p24"/>
            <p:cNvSpPr/>
            <p:nvPr/>
          </p:nvSpPr>
          <p:spPr>
            <a:xfrm>
              <a:off x="-790009" y="248073"/>
              <a:ext cx="246221" cy="246221"/>
            </a:xfrm>
            <a:prstGeom prst="rect">
              <a:avLst/>
            </a:prstGeom>
            <a:solidFill>
              <a:srgbClr val="D4A57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7" name="Google Shape;47;p24"/>
            <p:cNvSpPr/>
            <p:nvPr/>
          </p:nvSpPr>
          <p:spPr>
            <a:xfrm>
              <a:off x="-790684" y="494294"/>
              <a:ext cx="246221" cy="246221"/>
            </a:xfrm>
            <a:prstGeom prst="rect">
              <a:avLst/>
            </a:prstGeom>
            <a:solidFill>
              <a:srgbClr val="E6B7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8" name="Google Shape;48;p24"/>
            <p:cNvSpPr/>
            <p:nvPr/>
          </p:nvSpPr>
          <p:spPr>
            <a:xfrm>
              <a:off x="-420678" y="518190"/>
              <a:ext cx="246221" cy="246221"/>
            </a:xfrm>
            <a:prstGeom prst="rect">
              <a:avLst/>
            </a:prstGeom>
            <a:solidFill>
              <a:srgbClr val="2D5A4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9" name="Google Shape;49;p24"/>
            <p:cNvSpPr/>
            <p:nvPr/>
          </p:nvSpPr>
          <p:spPr>
            <a:xfrm>
              <a:off x="-422027" y="1223588"/>
              <a:ext cx="246221" cy="246221"/>
            </a:xfrm>
            <a:prstGeom prst="rect">
              <a:avLst/>
            </a:prstGeom>
            <a:solidFill>
              <a:srgbClr val="77B99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0" name="Google Shape;50;p24"/>
            <p:cNvSpPr/>
            <p:nvPr/>
          </p:nvSpPr>
          <p:spPr>
            <a:xfrm>
              <a:off x="-790009" y="900094"/>
              <a:ext cx="246221" cy="246221"/>
            </a:xfrm>
            <a:prstGeom prst="rect">
              <a:avLst/>
            </a:prstGeom>
            <a:solidFill>
              <a:srgbClr val="7F7F7F"/>
            </a:solidFill>
            <a:ln w="1905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1" name="Google Shape;51;p24"/>
            <p:cNvSpPr/>
            <p:nvPr/>
          </p:nvSpPr>
          <p:spPr>
            <a:xfrm>
              <a:off x="-790009" y="1121811"/>
              <a:ext cx="246221" cy="246221"/>
            </a:xfrm>
            <a:prstGeom prst="rect">
              <a:avLst/>
            </a:prstGeom>
            <a:solidFill>
              <a:srgbClr val="BFBFBF"/>
            </a:solidFill>
            <a:ln w="19050"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2" name="Google Shape;52;p24"/>
            <p:cNvSpPr/>
            <p:nvPr/>
          </p:nvSpPr>
          <p:spPr>
            <a:xfrm>
              <a:off x="-790684" y="1368032"/>
              <a:ext cx="246221" cy="246221"/>
            </a:xfrm>
            <a:prstGeom prst="rect">
              <a:avLst/>
            </a:prstGeom>
            <a:solidFill>
              <a:srgbClr val="F2F2F2"/>
            </a:solidFill>
            <a:ln w="19050" cap="flat" cmpd="sng">
              <a:solidFill>
                <a:srgbClr val="F2F2F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spTree>
    <p:extLst>
      <p:ext uri="{BB962C8B-B14F-4D97-AF65-F5344CB8AC3E}">
        <p14:creationId xmlns:p14="http://schemas.microsoft.com/office/powerpoint/2010/main" val="168820237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142">
          <p15:clr>
            <a:srgbClr val="FBAE40"/>
          </p15:clr>
        </p15:guide>
        <p15:guide id="4" pos="3953">
          <p15:clr>
            <a:srgbClr val="FBAE40"/>
          </p15:clr>
        </p15:guide>
        <p15:guide id="5" pos="3727">
          <p15:clr>
            <a:srgbClr val="FBAE40"/>
          </p15:clr>
        </p15:guide>
        <p15:guide id="6" orient="horz" pos="323">
          <p15:clr>
            <a:srgbClr val="FBAE40"/>
          </p15:clr>
        </p15:guide>
        <p15:guide id="7" orient="horz" pos="3952">
          <p15:clr>
            <a:srgbClr val="FBAE40"/>
          </p15:clr>
        </p15:guide>
        <p15:guide id="8" pos="7469">
          <p15:clr>
            <a:srgbClr val="FBAE40"/>
          </p15:clr>
        </p15:guide>
        <p15:guide id="9" pos="211">
          <p15:clr>
            <a:srgbClr val="FBAE40"/>
          </p15:clr>
        </p15:guide>
        <p15:guide id="10" orient="horz" pos="4247">
          <p15:clr>
            <a:srgbClr val="FBAE40"/>
          </p15:clr>
        </p15:guide>
        <p15:guide id="11" orient="horz" pos="407">
          <p15:clr>
            <a:srgbClr val="FBAE40"/>
          </p15:clr>
        </p15:guide>
        <p15:guide id="12" orient="horz" pos="3987">
          <p15:clr>
            <a:srgbClr val="FBAE40"/>
          </p15:clr>
        </p15:guide>
        <p15:guide id="13" orient="horz" pos="981">
          <p15:clr>
            <a:srgbClr val="FBAE40"/>
          </p15:clr>
        </p15:guide>
        <p15:guide id="14" orient="horz" pos="1026">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730E7F0F-E018-30EE-33DE-1664BD871672}"/>
              </a:ext>
            </a:extLst>
          </p:cNvPr>
          <p:cNvGraphicFramePr>
            <a:graphicFrameLocks/>
          </p:cNvGraphicFramePr>
          <p:nvPr userDrawn="1">
            <p:custDataLst>
              <p:tags r:id="rId12"/>
            </p:custDataLst>
            <p:extLst>
              <p:ext uri="{D42A27DB-BD31-4B8C-83A1-F6EECF244321}">
                <p14:modId xmlns:p14="http://schemas.microsoft.com/office/powerpoint/2010/main" val="91253361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スライド" r:id="rId13" imgW="7772400" imgH="10058400" progId="TCLayout.ActiveDocument.1">
                  <p:embed/>
                </p:oleObj>
              </mc:Choice>
              <mc:Fallback>
                <p:oleObj name="think-cellスライド" r:id="rId13" imgW="7772400" imgH="10058400" progId="TCLayout.ActiveDocument.1">
                  <p:embed/>
                  <p:pic>
                    <p:nvPicPr>
                      <p:cNvPr id="0" name=""/>
                      <p:cNvPicPr/>
                      <p:nvPr/>
                    </p:nvPicPr>
                    <p:blipFill>
                      <a:blip r:embed="rId14"/>
                      <a:stretch>
                        <a:fillRect/>
                      </a:stretch>
                    </p:blipFill>
                    <p:spPr>
                      <a:xfrm>
                        <a:off x="1588" y="1588"/>
                        <a:ext cx="1227" cy="1588"/>
                      </a:xfrm>
                      <a:prstGeom prst="rect">
                        <a:avLst/>
                      </a:prstGeom>
                    </p:spPr>
                  </p:pic>
                </p:oleObj>
              </mc:Fallback>
            </mc:AlternateContent>
          </a:graphicData>
        </a:graphic>
      </p:graphicFrame>
      <p:sp>
        <p:nvSpPr>
          <p:cNvPr id="2" name="Title Placeholder 1">
            <a:extLst>
              <a:ext uri="{FF2B5EF4-FFF2-40B4-BE49-F238E27FC236}">
                <a16:creationId xmlns:a16="http://schemas.microsoft.com/office/drawing/2014/main" id="{E8693852-EDA2-F937-8832-DE418A88F61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dirty="0"/>
              <a:t>Click to edit Master title style</a:t>
            </a:r>
            <a:endParaRPr lang="en-US" dirty="0"/>
          </a:p>
        </p:txBody>
      </p:sp>
      <p:sp>
        <p:nvSpPr>
          <p:cNvPr id="3" name="Text Placeholder 2">
            <a:extLst>
              <a:ext uri="{FF2B5EF4-FFF2-40B4-BE49-F238E27FC236}">
                <a16:creationId xmlns:a16="http://schemas.microsoft.com/office/drawing/2014/main" id="{7B045977-3D1E-EADF-E9A3-44FAC2629A5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7" name="フッター プレースホルダー 6">
            <a:extLst>
              <a:ext uri="{FF2B5EF4-FFF2-40B4-BE49-F238E27FC236}">
                <a16:creationId xmlns:a16="http://schemas.microsoft.com/office/drawing/2014/main" id="{1E3FB325-DB18-F612-4747-BDF002EF3A13}"/>
              </a:ext>
            </a:extLst>
          </p:cNvPr>
          <p:cNvSpPr>
            <a:spLocks noGrp="1"/>
          </p:cNvSpPr>
          <p:nvPr>
            <p:ph type="ftr" sz="quarter" idx="3"/>
          </p:nvPr>
        </p:nvSpPr>
        <p:spPr>
          <a:xfrm>
            <a:off x="4038600" y="633600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kumimoji="1" lang="en-US" altLang="ja-JP" dirty="0"/>
              <a:t>Boost Consulting, Inc.</a:t>
            </a:r>
            <a:endParaRPr kumimoji="1" lang="ja-JP" altLang="en-US"/>
          </a:p>
        </p:txBody>
      </p:sp>
      <p:sp>
        <p:nvSpPr>
          <p:cNvPr id="4" name="スライド番号プレースホルダー 3">
            <a:extLst>
              <a:ext uri="{FF2B5EF4-FFF2-40B4-BE49-F238E27FC236}">
                <a16:creationId xmlns:a16="http://schemas.microsoft.com/office/drawing/2014/main" id="{2605EFEC-8A27-668A-723D-6EC9B36E3C4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0CFDC3F-3EA4-40A0-B69B-E08060D05F31}" type="slidenum">
              <a:rPr kumimoji="1" lang="ja-JP" altLang="en-US" smtClean="0"/>
              <a:t>‹#›</a:t>
            </a:fld>
            <a:endParaRPr kumimoji="1" lang="ja-JP" altLang="en-US"/>
          </a:p>
        </p:txBody>
      </p:sp>
    </p:spTree>
    <p:extLst>
      <p:ext uri="{BB962C8B-B14F-4D97-AF65-F5344CB8AC3E}">
        <p14:creationId xmlns:p14="http://schemas.microsoft.com/office/powerpoint/2010/main" val="1613692388"/>
      </p:ext>
    </p:extLst>
  </p:cSld>
  <p:clrMap bg1="lt1" tx1="dk1" bg2="lt2" tx2="dk2" accent1="accent1" accent2="accent2" accent3="accent3" accent4="accent4" accent5="accent5" accent6="accent6" hlink="hlink" folHlink="folHlink"/>
  <p:sldLayoutIdLst>
    <p:sldLayoutId id="2147483688" r:id="rId1"/>
    <p:sldLayoutId id="2147483682" r:id="rId2"/>
    <p:sldLayoutId id="2147483684" r:id="rId3"/>
    <p:sldLayoutId id="2147483685" r:id="rId4"/>
    <p:sldLayoutId id="2147483689" r:id="rId5"/>
    <p:sldLayoutId id="2147483686" r:id="rId6"/>
    <p:sldLayoutId id="2147483650" r:id="rId7"/>
    <p:sldLayoutId id="2147483703" r:id="rId8"/>
    <p:sldLayoutId id="2147483687" r:id="rId9"/>
    <p:sldLayoutId id="2147483704" r:id="rId10"/>
  </p:sldLayoutIdLst>
  <p:hf hdr="0" dt="0"/>
  <p:txStyles>
    <p:titleStyle>
      <a:lvl1pPr algn="l" defTabSz="914400" rtl="0" eaLnBrk="1" latinLnBrk="0" hangingPunct="1">
        <a:lnSpc>
          <a:spcPct val="90000"/>
        </a:lnSpc>
        <a:spcBef>
          <a:spcPct val="0"/>
        </a:spcBef>
        <a:buNone/>
        <a:defRPr sz="4400" b="1" kern="1200">
          <a:solidFill>
            <a:schemeClr val="tx1"/>
          </a:solidFill>
          <a:latin typeface="+mn-ea"/>
          <a:ea typeface="+mn-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ea"/>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7.xml"/><Relationship Id="rId1" Type="http://schemas.openxmlformats.org/officeDocument/2006/relationships/tags" Target="../tags/tag5.xml"/><Relationship Id="rId4" Type="http://schemas.openxmlformats.org/officeDocument/2006/relationships/image" Target="../media/image7.emf"/></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7.xml"/><Relationship Id="rId1" Type="http://schemas.openxmlformats.org/officeDocument/2006/relationships/tags" Target="../tags/tag6.xml"/><Relationship Id="rId4" Type="http://schemas.openxmlformats.org/officeDocument/2006/relationships/image" Target="../media/image8.em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10.xml"/><Relationship Id="rId6" Type="http://schemas.openxmlformats.org/officeDocument/2006/relationships/image" Target="../media/image12.jpg"/><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10.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1">
            <a:extLst>
              <a:ext uri="{FF2B5EF4-FFF2-40B4-BE49-F238E27FC236}">
                <a16:creationId xmlns:a16="http://schemas.microsoft.com/office/drawing/2014/main" id="{FC66EE7B-64D5-43B6-33D1-48C39410C4C3}"/>
              </a:ext>
            </a:extLst>
          </p:cNvPr>
          <p:cNvSpPr/>
          <p:nvPr/>
        </p:nvSpPr>
        <p:spPr>
          <a:xfrm>
            <a:off x="338328" y="1371600"/>
            <a:ext cx="7589520" cy="365760"/>
          </a:xfrm>
          <a:prstGeom prst="rect">
            <a:avLst/>
          </a:prstGeom>
          <a:noFill/>
          <a:ln/>
        </p:spPr>
        <p:txBody>
          <a:bodyPr wrap="square" lIns="177800" tIns="177800" rIns="177800" bIns="177800" rtlCol="0" anchor="ctr"/>
          <a:lstStyle/>
          <a:p>
            <a:pPr marL="0" indent="0">
              <a:buNone/>
            </a:pPr>
            <a:r>
              <a:rPr lang="en-US" sz="1600" dirty="0" err="1">
                <a:solidFill>
                  <a:srgbClr val="333333"/>
                </a:solidFill>
                <a:latin typeface="Meiryo UI" pitchFamily="34" charset="0"/>
                <a:ea typeface="Meiryo UI" pitchFamily="34" charset="-122"/>
                <a:cs typeface="Meiryo UI" pitchFamily="34" charset="-120"/>
              </a:rPr>
              <a:t>ベイン・キャピタル・ジャパン</a:t>
            </a:r>
            <a:r>
              <a:rPr lang="en-US" sz="1600" dirty="0">
                <a:solidFill>
                  <a:srgbClr val="333333"/>
                </a:solidFill>
                <a:latin typeface="Meiryo UI" pitchFamily="34" charset="0"/>
                <a:ea typeface="Meiryo UI" pitchFamily="34" charset="-122"/>
                <a:cs typeface="Meiryo UI" pitchFamily="34" charset="-120"/>
              </a:rPr>
              <a:t> / </a:t>
            </a:r>
            <a:r>
              <a:rPr lang="en-US" sz="1600" dirty="0" err="1">
                <a:solidFill>
                  <a:srgbClr val="333333"/>
                </a:solidFill>
                <a:latin typeface="Meiryo UI" pitchFamily="34" charset="0"/>
                <a:ea typeface="Meiryo UI" pitchFamily="34" charset="-122"/>
                <a:cs typeface="Meiryo UI" pitchFamily="34" charset="-120"/>
              </a:rPr>
              <a:t>株式会社ヨーク・ホールディングス</a:t>
            </a:r>
            <a:r>
              <a:rPr lang="en-US" sz="1600" dirty="0">
                <a:solidFill>
                  <a:srgbClr val="333333"/>
                </a:solidFill>
                <a:latin typeface="Meiryo UI" pitchFamily="34" charset="0"/>
                <a:ea typeface="Meiryo UI" pitchFamily="34" charset="-122"/>
                <a:cs typeface="Meiryo UI" pitchFamily="34" charset="-120"/>
              </a:rPr>
              <a:t> 御中</a:t>
            </a:r>
            <a:endParaRPr lang="en-US" sz="1600" dirty="0"/>
          </a:p>
        </p:txBody>
      </p:sp>
      <p:sp>
        <p:nvSpPr>
          <p:cNvPr id="5" name="Text 2">
            <a:extLst>
              <a:ext uri="{FF2B5EF4-FFF2-40B4-BE49-F238E27FC236}">
                <a16:creationId xmlns:a16="http://schemas.microsoft.com/office/drawing/2014/main" id="{B5E487F7-5C2D-982B-E87B-D2E188A46650}"/>
              </a:ext>
            </a:extLst>
          </p:cNvPr>
          <p:cNvSpPr/>
          <p:nvPr/>
        </p:nvSpPr>
        <p:spPr>
          <a:xfrm>
            <a:off x="338328" y="2743200"/>
            <a:ext cx="7589520" cy="548640"/>
          </a:xfrm>
          <a:prstGeom prst="rect">
            <a:avLst/>
          </a:prstGeom>
          <a:noFill/>
          <a:ln/>
        </p:spPr>
        <p:txBody>
          <a:bodyPr wrap="square" lIns="177800" tIns="177800" rIns="177800" bIns="177800" rtlCol="0" anchor="ctr"/>
          <a:lstStyle/>
          <a:p>
            <a:pPr marL="0" indent="0">
              <a:buNone/>
            </a:pPr>
            <a:r>
              <a:rPr lang="en-US" sz="3200" b="1" dirty="0">
                <a:solidFill>
                  <a:srgbClr val="1A1A1A"/>
                </a:solidFill>
                <a:latin typeface="Meiryo UI" pitchFamily="34" charset="0"/>
                <a:ea typeface="Meiryo UI" pitchFamily="34" charset="-122"/>
                <a:cs typeface="Meiryo UI" pitchFamily="34" charset="-120"/>
              </a:rPr>
              <a:t>Boost </a:t>
            </a:r>
            <a:r>
              <a:rPr lang="en-US" sz="3200" b="1" dirty="0" err="1">
                <a:solidFill>
                  <a:srgbClr val="1A1A1A"/>
                </a:solidFill>
                <a:latin typeface="Meiryo UI" pitchFamily="34" charset="0"/>
                <a:ea typeface="Meiryo UI" pitchFamily="34" charset="-122"/>
                <a:cs typeface="Meiryo UI" pitchFamily="34" charset="-120"/>
              </a:rPr>
              <a:t>Consultingのご紹介</a:t>
            </a:r>
            <a:endParaRPr lang="en-US" sz="3200" dirty="0"/>
          </a:p>
        </p:txBody>
      </p:sp>
      <p:sp>
        <p:nvSpPr>
          <p:cNvPr id="7" name="Text 4">
            <a:extLst>
              <a:ext uri="{FF2B5EF4-FFF2-40B4-BE49-F238E27FC236}">
                <a16:creationId xmlns:a16="http://schemas.microsoft.com/office/drawing/2014/main" id="{5E346885-55DB-13AA-16BB-4EF6E6B86819}"/>
              </a:ext>
            </a:extLst>
          </p:cNvPr>
          <p:cNvSpPr/>
          <p:nvPr/>
        </p:nvSpPr>
        <p:spPr>
          <a:xfrm>
            <a:off x="338328" y="6035040"/>
            <a:ext cx="7589520" cy="274320"/>
          </a:xfrm>
          <a:prstGeom prst="rect">
            <a:avLst/>
          </a:prstGeom>
          <a:noFill/>
          <a:ln/>
        </p:spPr>
        <p:txBody>
          <a:bodyPr wrap="square" lIns="177800" tIns="177800" rIns="177800" bIns="177800" rtlCol="0" anchor="ctr"/>
          <a:lstStyle/>
          <a:p>
            <a:pPr marL="0" indent="0">
              <a:buNone/>
            </a:pPr>
            <a:r>
              <a:rPr lang="en-US" sz="1400" dirty="0">
                <a:solidFill>
                  <a:srgbClr val="666666"/>
                </a:solidFill>
                <a:latin typeface="Meiryo UI" pitchFamily="34" charset="0"/>
                <a:ea typeface="Meiryo UI" pitchFamily="34" charset="-122"/>
                <a:cs typeface="Meiryo UI" pitchFamily="34" charset="-120"/>
              </a:rPr>
              <a:t>2026年2月19日 | </a:t>
            </a:r>
            <a:r>
              <a:rPr lang="en-US" sz="1400" dirty="0" err="1">
                <a:solidFill>
                  <a:srgbClr val="666666"/>
                </a:solidFill>
                <a:latin typeface="Meiryo UI" pitchFamily="34" charset="0"/>
                <a:ea typeface="Meiryo UI" pitchFamily="34" charset="-122"/>
                <a:cs typeface="Meiryo UI" pitchFamily="34" charset="-120"/>
              </a:rPr>
              <a:t>ブーストコンサルティング株式会社</a:t>
            </a:r>
            <a:endParaRPr lang="en-US" sz="1400" dirty="0"/>
          </a:p>
        </p:txBody>
      </p:sp>
    </p:spTree>
    <p:extLst>
      <p:ext uri="{BB962C8B-B14F-4D97-AF65-F5344CB8AC3E}">
        <p14:creationId xmlns:p14="http://schemas.microsoft.com/office/powerpoint/2010/main" val="14424502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FD2C0BF3-4E11-416D-88A5-F4942A6459A6}"/>
              </a:ext>
            </a:extLst>
          </p:cNvPr>
          <p:cNvGraphicFramePr>
            <a:graphicFrameLocks/>
          </p:cNvGraphicFramePr>
          <p:nvPr>
            <p:custDataLst>
              <p:tags r:id="rId1"/>
            </p:custDataLst>
            <p:extLst>
              <p:ext uri="{D42A27DB-BD31-4B8C-83A1-F6EECF244321}">
                <p14:modId xmlns:p14="http://schemas.microsoft.com/office/powerpoint/2010/main" val="68197636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スライド" r:id="rId3" imgW="7772400" imgH="10058400" progId="TCLayout.ActiveDocument.1">
                  <p:embed/>
                </p:oleObj>
              </mc:Choice>
              <mc:Fallback>
                <p:oleObj name="think-cellスライド" r:id="rId3" imgW="7772400" imgH="10058400" progId="TCLayout.ActiveDocument.1">
                  <p:embed/>
                  <p:pic>
                    <p:nvPicPr>
                      <p:cNvPr id="0" name=""/>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タイトル 1">
            <a:extLst>
              <a:ext uri="{FF2B5EF4-FFF2-40B4-BE49-F238E27FC236}">
                <a16:creationId xmlns:a16="http://schemas.microsoft.com/office/drawing/2014/main" id="{8C246C52-DBD1-443B-8C06-B9FEA0E37071}"/>
              </a:ext>
            </a:extLst>
          </p:cNvPr>
          <p:cNvSpPr>
            <a:spLocks noGrp="1"/>
          </p:cNvSpPr>
          <p:nvPr>
            <p:ph type="title"/>
          </p:nvPr>
        </p:nvSpPr>
        <p:spPr/>
        <p:txBody>
          <a:bodyPr vert="horz" rIns="91440" anchor="t"/>
          <a:lstStyle/>
          <a:p>
            <a:r>
              <a:rPr lang="ja-JP" altLang="ja-JP" dirty="0">
                <a:latin typeface="Meiryo UI" panose="020B0604030504040204" pitchFamily="50" charset="-128"/>
                <a:ea typeface="Meiryo UI" panose="020B0604030504040204" pitchFamily="50" charset="-128"/>
              </a:rPr>
              <a:t>AIを用いてビジネスインパクトを創出するコンサルティングを提供</a:t>
            </a:r>
            <a:br>
              <a:rPr lang="ja-JP" altLang="ja-JP" dirty="0">
                <a:latin typeface="Meiryo UI" panose="020B0604030504040204" pitchFamily="50" charset="-128"/>
                <a:ea typeface="Meiryo UI" panose="020B0604030504040204" pitchFamily="50" charset="-128"/>
              </a:rPr>
            </a:br>
            <a:r>
              <a:rPr lang="ja-JP" altLang="ja-JP" sz="1800" dirty="0">
                <a:solidFill>
                  <a:srgbClr val="7F7F7F"/>
                </a:solidFill>
                <a:latin typeface="Meiryo UI" panose="020B0604030504040204" pitchFamily="50" charset="-128"/>
                <a:ea typeface="Meiryo UI" panose="020B0604030504040204" pitchFamily="50" charset="-128"/>
              </a:rPr>
              <a:t>コンサルティング会社が“不要“になる状態を目指して、クライアントの内製化・自走を支援する</a:t>
            </a:r>
            <a:endParaRPr kumimoji="1" lang="ja-JP" altLang="en-US" dirty="0"/>
          </a:p>
        </p:txBody>
      </p:sp>
      <p:sp>
        <p:nvSpPr>
          <p:cNvPr id="3" name="フッター プレースホルダー 13">
            <a:extLst>
              <a:ext uri="{FF2B5EF4-FFF2-40B4-BE49-F238E27FC236}">
                <a16:creationId xmlns:a16="http://schemas.microsoft.com/office/drawing/2014/main" id="{28D1DBF4-A67D-761C-1003-58BE63520FCA}"/>
              </a:ext>
            </a:extLst>
          </p:cNvPr>
          <p:cNvSpPr>
            <a:spLocks noGrp="1"/>
          </p:cNvSpPr>
          <p:nvPr>
            <p:ph type="ftr" sz="quarter" idx="11"/>
          </p:nvPr>
        </p:nvSpPr>
        <p:spPr/>
        <p:txBody>
          <a:bodyPr/>
          <a:lstStyle>
            <a:lvl1pPr algn="l">
              <a:defRPr sz="1000">
                <a:latin typeface="+mn-lt"/>
                <a:ea typeface="+mn-ea"/>
              </a:defRPr>
            </a:lvl1pPr>
          </a:lstStyle>
          <a:p>
            <a:pPr>
              <a:defRPr/>
            </a:pPr>
            <a:r>
              <a:rPr kumimoji="1" lang="en-US" altLang="ja-JP" dirty="0">
                <a:solidFill>
                  <a:srgbClr val="FFFFFF">
                    <a:lumMod val="75000"/>
                  </a:srgbClr>
                </a:solidFill>
              </a:rPr>
              <a:t>©️ 2026 Boost Consulting, Inc.</a:t>
            </a:r>
            <a:endParaRPr kumimoji="1" lang="ja-JP" altLang="en-US" dirty="0">
              <a:solidFill>
                <a:srgbClr val="FFFFFF">
                  <a:lumMod val="75000"/>
                </a:srgbClr>
              </a:solidFill>
              <a:latin typeface="+mn-lt"/>
            </a:endParaRPr>
          </a:p>
        </p:txBody>
      </p:sp>
      <p:sp>
        <p:nvSpPr>
          <p:cNvPr id="7" name="コンテンツ プレースホルダー 6">
            <a:extLst>
              <a:ext uri="{FF2B5EF4-FFF2-40B4-BE49-F238E27FC236}">
                <a16:creationId xmlns:a16="http://schemas.microsoft.com/office/drawing/2014/main" id="{D027FA96-EE6D-7CA2-27E2-97C1D81ACEA7}"/>
              </a:ext>
            </a:extLst>
          </p:cNvPr>
          <p:cNvSpPr>
            <a:spLocks noGrp="1"/>
          </p:cNvSpPr>
          <p:nvPr>
            <p:ph idx="12"/>
          </p:nvPr>
        </p:nvSpPr>
        <p:spPr/>
        <p:txBody>
          <a:bodyPr/>
          <a:lstStyle/>
          <a:p>
            <a:r>
              <a:rPr lang="ja-JP" altLang="en-US"/>
              <a:t>会社概要：私たちが目指すもの</a:t>
            </a:r>
          </a:p>
        </p:txBody>
      </p:sp>
      <p:sp>
        <p:nvSpPr>
          <p:cNvPr id="11" name="Google Shape;392;p2">
            <a:extLst>
              <a:ext uri="{FF2B5EF4-FFF2-40B4-BE49-F238E27FC236}">
                <a16:creationId xmlns:a16="http://schemas.microsoft.com/office/drawing/2014/main" id="{AFC79463-70D6-8C0C-BDB2-EADC8A004CAD}"/>
              </a:ext>
            </a:extLst>
          </p:cNvPr>
          <p:cNvSpPr/>
          <p:nvPr/>
        </p:nvSpPr>
        <p:spPr>
          <a:xfrm>
            <a:off x="340306" y="1977537"/>
            <a:ext cx="3625407" cy="3838864"/>
          </a:xfrm>
          <a:prstGeom prst="rect">
            <a:avLst/>
          </a:prstGeom>
          <a:solidFill>
            <a:srgbClr val="3F755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b="1">
              <a:solidFill>
                <a:schemeClr val="lt1"/>
              </a:solidFill>
              <a:latin typeface="Meiryo UI" panose="020B0604030504040204" pitchFamily="50" charset="-128"/>
              <a:ea typeface="Meiryo UI" panose="020B0604030504040204" pitchFamily="50" charset="-128"/>
              <a:sym typeface="Arial"/>
            </a:endParaRPr>
          </a:p>
        </p:txBody>
      </p:sp>
      <p:sp>
        <p:nvSpPr>
          <p:cNvPr id="13" name="Google Shape;393;p2">
            <a:extLst>
              <a:ext uri="{FF2B5EF4-FFF2-40B4-BE49-F238E27FC236}">
                <a16:creationId xmlns:a16="http://schemas.microsoft.com/office/drawing/2014/main" id="{DEC5FECE-234E-B915-E585-09D733F074EF}"/>
              </a:ext>
            </a:extLst>
          </p:cNvPr>
          <p:cNvSpPr/>
          <p:nvPr/>
        </p:nvSpPr>
        <p:spPr>
          <a:xfrm>
            <a:off x="4287602" y="1977537"/>
            <a:ext cx="3625407" cy="3838864"/>
          </a:xfrm>
          <a:prstGeom prst="rect">
            <a:avLst/>
          </a:prstGeom>
          <a:solidFill>
            <a:srgbClr val="3F755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b="1">
              <a:solidFill>
                <a:schemeClr val="lt1"/>
              </a:solidFill>
              <a:latin typeface="Meiryo UI" panose="020B0604030504040204" pitchFamily="50" charset="-128"/>
              <a:ea typeface="Meiryo UI" panose="020B0604030504040204" pitchFamily="50" charset="-128"/>
              <a:sym typeface="Arial"/>
            </a:endParaRPr>
          </a:p>
        </p:txBody>
      </p:sp>
      <p:sp>
        <p:nvSpPr>
          <p:cNvPr id="16" name="Google Shape;394;p2">
            <a:extLst>
              <a:ext uri="{FF2B5EF4-FFF2-40B4-BE49-F238E27FC236}">
                <a16:creationId xmlns:a16="http://schemas.microsoft.com/office/drawing/2014/main" id="{2C5FB91B-099B-3E60-5E5B-83671504AB5F}"/>
              </a:ext>
            </a:extLst>
          </p:cNvPr>
          <p:cNvSpPr/>
          <p:nvPr/>
        </p:nvSpPr>
        <p:spPr>
          <a:xfrm>
            <a:off x="8234899" y="1977537"/>
            <a:ext cx="3625407" cy="3838864"/>
          </a:xfrm>
          <a:prstGeom prst="rect">
            <a:avLst/>
          </a:prstGeom>
          <a:solidFill>
            <a:srgbClr val="3F755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b="1">
              <a:solidFill>
                <a:schemeClr val="lt1"/>
              </a:solidFill>
              <a:latin typeface="Meiryo UI" panose="020B0604030504040204" pitchFamily="50" charset="-128"/>
              <a:ea typeface="Meiryo UI" panose="020B0604030504040204" pitchFamily="50" charset="-128"/>
              <a:sym typeface="Arial"/>
            </a:endParaRPr>
          </a:p>
        </p:txBody>
      </p:sp>
      <p:sp>
        <p:nvSpPr>
          <p:cNvPr id="17" name="Google Shape;395;p2">
            <a:extLst>
              <a:ext uri="{FF2B5EF4-FFF2-40B4-BE49-F238E27FC236}">
                <a16:creationId xmlns:a16="http://schemas.microsoft.com/office/drawing/2014/main" id="{DA0C441E-F865-6383-1B4E-6ADCFD298A12}"/>
              </a:ext>
            </a:extLst>
          </p:cNvPr>
          <p:cNvSpPr/>
          <p:nvPr/>
        </p:nvSpPr>
        <p:spPr>
          <a:xfrm>
            <a:off x="447262" y="1977537"/>
            <a:ext cx="3518452" cy="3838864"/>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b="1">
              <a:solidFill>
                <a:schemeClr val="lt1"/>
              </a:solidFill>
              <a:latin typeface="Meiryo UI" panose="020B0604030504040204" pitchFamily="50" charset="-128"/>
              <a:ea typeface="Meiryo UI" panose="020B0604030504040204" pitchFamily="50" charset="-128"/>
              <a:sym typeface="Arial"/>
            </a:endParaRPr>
          </a:p>
        </p:txBody>
      </p:sp>
      <p:sp>
        <p:nvSpPr>
          <p:cNvPr id="18" name="Google Shape;396;p2">
            <a:extLst>
              <a:ext uri="{FF2B5EF4-FFF2-40B4-BE49-F238E27FC236}">
                <a16:creationId xmlns:a16="http://schemas.microsoft.com/office/drawing/2014/main" id="{C3DED63F-C257-4FA0-1DE2-1D2530F603DF}"/>
              </a:ext>
            </a:extLst>
          </p:cNvPr>
          <p:cNvSpPr/>
          <p:nvPr/>
        </p:nvSpPr>
        <p:spPr>
          <a:xfrm>
            <a:off x="4394558" y="1977537"/>
            <a:ext cx="3518452" cy="3838864"/>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b="1">
              <a:solidFill>
                <a:schemeClr val="lt1"/>
              </a:solidFill>
              <a:latin typeface="Meiryo UI" panose="020B0604030504040204" pitchFamily="50" charset="-128"/>
              <a:ea typeface="Meiryo UI" panose="020B0604030504040204" pitchFamily="50" charset="-128"/>
              <a:sym typeface="Arial"/>
            </a:endParaRPr>
          </a:p>
        </p:txBody>
      </p:sp>
      <p:sp>
        <p:nvSpPr>
          <p:cNvPr id="19" name="Google Shape;397;p2">
            <a:extLst>
              <a:ext uri="{FF2B5EF4-FFF2-40B4-BE49-F238E27FC236}">
                <a16:creationId xmlns:a16="http://schemas.microsoft.com/office/drawing/2014/main" id="{71C0854E-C381-F097-C8B3-6ED27B0EC1E1}"/>
              </a:ext>
            </a:extLst>
          </p:cNvPr>
          <p:cNvSpPr/>
          <p:nvPr/>
        </p:nvSpPr>
        <p:spPr>
          <a:xfrm>
            <a:off x="8341855" y="1977537"/>
            <a:ext cx="3518452" cy="3838864"/>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b="1">
              <a:solidFill>
                <a:schemeClr val="lt1"/>
              </a:solidFill>
              <a:latin typeface="Meiryo UI" panose="020B0604030504040204" pitchFamily="50" charset="-128"/>
              <a:ea typeface="Meiryo UI" panose="020B0604030504040204" pitchFamily="50" charset="-128"/>
              <a:sym typeface="Arial"/>
            </a:endParaRPr>
          </a:p>
        </p:txBody>
      </p:sp>
      <p:sp>
        <p:nvSpPr>
          <p:cNvPr id="20" name="Google Shape;398;p2">
            <a:extLst>
              <a:ext uri="{FF2B5EF4-FFF2-40B4-BE49-F238E27FC236}">
                <a16:creationId xmlns:a16="http://schemas.microsoft.com/office/drawing/2014/main" id="{FB96775D-44CA-6A47-25DE-92DF4415D117}"/>
              </a:ext>
            </a:extLst>
          </p:cNvPr>
          <p:cNvSpPr/>
          <p:nvPr/>
        </p:nvSpPr>
        <p:spPr>
          <a:xfrm>
            <a:off x="487017" y="1625215"/>
            <a:ext cx="3478696" cy="1803785"/>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ja-JP" sz="2000" b="1" dirty="0">
                <a:solidFill>
                  <a:srgbClr val="3F7556"/>
                </a:solidFill>
                <a:latin typeface="Meiryo UI" panose="020B0604030504040204" pitchFamily="50" charset="-128"/>
                <a:ea typeface="Meiryo UI" panose="020B0604030504040204" pitchFamily="50" charset="-128"/>
                <a:sym typeface="Arial"/>
              </a:rPr>
              <a:t>01</a:t>
            </a:r>
            <a:endParaRPr dirty="0">
              <a:latin typeface="Meiryo UI" panose="020B0604030504040204" pitchFamily="50" charset="-128"/>
              <a:ea typeface="Meiryo UI" panose="020B0604030504040204" pitchFamily="50" charset="-128"/>
            </a:endParaRPr>
          </a:p>
          <a:p>
            <a:pPr marL="0" marR="0" lvl="0" indent="0" algn="l" rtl="0">
              <a:spcBef>
                <a:spcPts val="0"/>
              </a:spcBef>
              <a:spcAft>
                <a:spcPts val="0"/>
              </a:spcAft>
              <a:buNone/>
            </a:pPr>
            <a:endParaRPr sz="2000" b="1" dirty="0">
              <a:solidFill>
                <a:srgbClr val="3F7556"/>
              </a:solidFill>
              <a:latin typeface="Meiryo UI" panose="020B0604030504040204" pitchFamily="50" charset="-128"/>
              <a:ea typeface="Meiryo UI" panose="020B0604030504040204" pitchFamily="50" charset="-128"/>
              <a:sym typeface="Arial"/>
            </a:endParaRPr>
          </a:p>
          <a:p>
            <a:pPr marL="0" marR="0" lvl="0" indent="0" algn="l" rtl="0">
              <a:spcBef>
                <a:spcPts val="0"/>
              </a:spcBef>
              <a:spcAft>
                <a:spcPts val="0"/>
              </a:spcAft>
              <a:buNone/>
            </a:pPr>
            <a:r>
              <a:rPr lang="ja-JP" sz="2000" b="1" u="sng" dirty="0">
                <a:solidFill>
                  <a:srgbClr val="3F7556"/>
                </a:solidFill>
                <a:latin typeface="Meiryo UI" panose="020B0604030504040204" pitchFamily="50" charset="-128"/>
                <a:ea typeface="Meiryo UI" panose="020B0604030504040204" pitchFamily="50" charset="-128"/>
                <a:sym typeface="Arial"/>
              </a:rPr>
              <a:t>ビジネスインパクトを目的とする</a:t>
            </a:r>
            <a:endParaRPr dirty="0">
              <a:latin typeface="Meiryo UI" panose="020B0604030504040204" pitchFamily="50" charset="-128"/>
              <a:ea typeface="Meiryo UI" panose="020B0604030504040204" pitchFamily="50" charset="-128"/>
            </a:endParaRPr>
          </a:p>
        </p:txBody>
      </p:sp>
      <p:sp>
        <p:nvSpPr>
          <p:cNvPr id="21" name="Google Shape;399;p2">
            <a:extLst>
              <a:ext uri="{FF2B5EF4-FFF2-40B4-BE49-F238E27FC236}">
                <a16:creationId xmlns:a16="http://schemas.microsoft.com/office/drawing/2014/main" id="{BE706DA3-7E83-BA93-2087-37F564A475E3}"/>
              </a:ext>
            </a:extLst>
          </p:cNvPr>
          <p:cNvSpPr/>
          <p:nvPr/>
        </p:nvSpPr>
        <p:spPr>
          <a:xfrm>
            <a:off x="4432852" y="1625215"/>
            <a:ext cx="3478696" cy="1803785"/>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ja-JP" sz="2000" b="1">
                <a:solidFill>
                  <a:srgbClr val="3F7556"/>
                </a:solidFill>
                <a:latin typeface="Meiryo UI" panose="020B0604030504040204" pitchFamily="50" charset="-128"/>
                <a:ea typeface="Meiryo UI" panose="020B0604030504040204" pitchFamily="50" charset="-128"/>
                <a:sym typeface="Arial"/>
              </a:rPr>
              <a:t>02</a:t>
            </a:r>
            <a:endParaRPr>
              <a:latin typeface="Meiryo UI" panose="020B0604030504040204" pitchFamily="50" charset="-128"/>
              <a:ea typeface="Meiryo UI" panose="020B0604030504040204" pitchFamily="50" charset="-128"/>
            </a:endParaRPr>
          </a:p>
          <a:p>
            <a:pPr marL="0" marR="0" lvl="0" indent="0" algn="l" rtl="0">
              <a:spcBef>
                <a:spcPts val="0"/>
              </a:spcBef>
              <a:spcAft>
                <a:spcPts val="0"/>
              </a:spcAft>
              <a:buNone/>
            </a:pPr>
            <a:endParaRPr sz="2000" b="1">
              <a:solidFill>
                <a:srgbClr val="3F7556"/>
              </a:solidFill>
              <a:latin typeface="Meiryo UI" panose="020B0604030504040204" pitchFamily="50" charset="-128"/>
              <a:ea typeface="Meiryo UI" panose="020B0604030504040204" pitchFamily="50" charset="-128"/>
              <a:sym typeface="Arial"/>
            </a:endParaRPr>
          </a:p>
          <a:p>
            <a:pPr marL="0" marR="0" lvl="0" indent="0" algn="l" rtl="0">
              <a:spcBef>
                <a:spcPts val="0"/>
              </a:spcBef>
              <a:spcAft>
                <a:spcPts val="0"/>
              </a:spcAft>
              <a:buNone/>
            </a:pPr>
            <a:r>
              <a:rPr lang="ja-JP" sz="2000" b="1" u="sng">
                <a:solidFill>
                  <a:srgbClr val="3F7556"/>
                </a:solidFill>
                <a:latin typeface="Meiryo UI" panose="020B0604030504040204" pitchFamily="50" charset="-128"/>
                <a:ea typeface="Meiryo UI" panose="020B0604030504040204" pitchFamily="50" charset="-128"/>
                <a:sym typeface="Arial"/>
              </a:rPr>
              <a:t>内製・自走をゴールとする</a:t>
            </a:r>
            <a:endParaRPr sz="2000" b="1" u="sng">
              <a:solidFill>
                <a:srgbClr val="3F7556"/>
              </a:solidFill>
              <a:latin typeface="Meiryo UI" panose="020B0604030504040204" pitchFamily="50" charset="-128"/>
              <a:ea typeface="Meiryo UI" panose="020B0604030504040204" pitchFamily="50" charset="-128"/>
              <a:sym typeface="Arial"/>
            </a:endParaRPr>
          </a:p>
        </p:txBody>
      </p:sp>
      <p:sp>
        <p:nvSpPr>
          <p:cNvPr id="22" name="Google Shape;400;p2">
            <a:extLst>
              <a:ext uri="{FF2B5EF4-FFF2-40B4-BE49-F238E27FC236}">
                <a16:creationId xmlns:a16="http://schemas.microsoft.com/office/drawing/2014/main" id="{AA53E10A-0F04-F5E6-DAD2-7E5DCFAFDA79}"/>
              </a:ext>
            </a:extLst>
          </p:cNvPr>
          <p:cNvSpPr/>
          <p:nvPr/>
        </p:nvSpPr>
        <p:spPr>
          <a:xfrm>
            <a:off x="8388626" y="1625215"/>
            <a:ext cx="3478696" cy="1803785"/>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ja-JP" sz="2000" b="1">
                <a:solidFill>
                  <a:srgbClr val="3F7556"/>
                </a:solidFill>
                <a:latin typeface="Meiryo UI" panose="020B0604030504040204" pitchFamily="50" charset="-128"/>
                <a:ea typeface="Meiryo UI" panose="020B0604030504040204" pitchFamily="50" charset="-128"/>
                <a:sym typeface="Arial"/>
              </a:rPr>
              <a:t>03</a:t>
            </a:r>
            <a:endParaRPr>
              <a:latin typeface="Meiryo UI" panose="020B0604030504040204" pitchFamily="50" charset="-128"/>
              <a:ea typeface="Meiryo UI" panose="020B0604030504040204" pitchFamily="50" charset="-128"/>
            </a:endParaRPr>
          </a:p>
          <a:p>
            <a:pPr marL="0" marR="0" lvl="0" indent="0" algn="l" rtl="0">
              <a:spcBef>
                <a:spcPts val="0"/>
              </a:spcBef>
              <a:spcAft>
                <a:spcPts val="0"/>
              </a:spcAft>
              <a:buNone/>
            </a:pPr>
            <a:endParaRPr sz="2000" b="1">
              <a:solidFill>
                <a:srgbClr val="3F7556"/>
              </a:solidFill>
              <a:latin typeface="Meiryo UI" panose="020B0604030504040204" pitchFamily="50" charset="-128"/>
              <a:ea typeface="Meiryo UI" panose="020B0604030504040204" pitchFamily="50" charset="-128"/>
              <a:sym typeface="Arial"/>
            </a:endParaRPr>
          </a:p>
          <a:p>
            <a:pPr marL="0" marR="0" lvl="0" indent="0" algn="l" rtl="0">
              <a:spcBef>
                <a:spcPts val="0"/>
              </a:spcBef>
              <a:spcAft>
                <a:spcPts val="0"/>
              </a:spcAft>
              <a:buNone/>
            </a:pPr>
            <a:r>
              <a:rPr lang="ja-JP" sz="2000" b="1" u="sng">
                <a:solidFill>
                  <a:srgbClr val="3F7556"/>
                </a:solidFill>
                <a:latin typeface="Meiryo UI" panose="020B0604030504040204" pitchFamily="50" charset="-128"/>
                <a:ea typeface="Meiryo UI" panose="020B0604030504040204" pitchFamily="50" charset="-128"/>
                <a:sym typeface="Arial"/>
              </a:rPr>
              <a:t>AIで適正価格を実現する</a:t>
            </a:r>
            <a:endParaRPr sz="2000" b="1" u="sng">
              <a:solidFill>
                <a:srgbClr val="3F7556"/>
              </a:solidFill>
              <a:latin typeface="Meiryo UI" panose="020B0604030504040204" pitchFamily="50" charset="-128"/>
              <a:ea typeface="Meiryo UI" panose="020B0604030504040204" pitchFamily="50" charset="-128"/>
              <a:sym typeface="Arial"/>
            </a:endParaRPr>
          </a:p>
        </p:txBody>
      </p:sp>
      <p:sp>
        <p:nvSpPr>
          <p:cNvPr id="23" name="Google Shape;401;p2">
            <a:extLst>
              <a:ext uri="{FF2B5EF4-FFF2-40B4-BE49-F238E27FC236}">
                <a16:creationId xmlns:a16="http://schemas.microsoft.com/office/drawing/2014/main" id="{BD14FB96-362A-D4C2-77C6-E24AF28D2D03}"/>
              </a:ext>
            </a:extLst>
          </p:cNvPr>
          <p:cNvSpPr/>
          <p:nvPr/>
        </p:nvSpPr>
        <p:spPr>
          <a:xfrm>
            <a:off x="487017" y="3434138"/>
            <a:ext cx="3478696" cy="1456428"/>
          </a:xfrm>
          <a:prstGeom prst="rect">
            <a:avLst/>
          </a:prstGeom>
          <a:noFill/>
          <a:ln>
            <a:noFill/>
          </a:ln>
        </p:spPr>
        <p:txBody>
          <a:bodyPr spcFirstLastPara="1" wrap="square" lIns="91425" tIns="45700" rIns="91425" bIns="45700" anchor="t" anchorCtr="0">
            <a:noAutofit/>
          </a:bodyPr>
          <a:lstStyle/>
          <a:p>
            <a:pPr marL="285750" marR="0" lvl="0" indent="-285750" algn="l" rtl="0">
              <a:spcBef>
                <a:spcPts val="0"/>
              </a:spcBef>
              <a:spcAft>
                <a:spcPts val="0"/>
              </a:spcAft>
              <a:buClr>
                <a:schemeClr val="dk1"/>
              </a:buClr>
              <a:buSzPts val="1400"/>
              <a:buFont typeface="Noto Sans Symbols"/>
              <a:buChar char="■"/>
            </a:pPr>
            <a:r>
              <a:rPr lang="ja-JP" sz="1600" b="1" dirty="0">
                <a:solidFill>
                  <a:schemeClr val="dk1"/>
                </a:solidFill>
                <a:latin typeface="Meiryo UI" panose="020B0604030504040204" pitchFamily="50" charset="-128"/>
                <a:ea typeface="Meiryo UI" panose="020B0604030504040204" pitchFamily="50" charset="-128"/>
                <a:sym typeface="Arial"/>
              </a:rPr>
              <a:t>「AIの目的化」への問題意識</a:t>
            </a:r>
            <a:endParaRPr sz="1600" b="1" dirty="0">
              <a:solidFill>
                <a:schemeClr val="dk1"/>
              </a:solidFill>
              <a:latin typeface="Meiryo UI" panose="020B0604030504040204" pitchFamily="50" charset="-128"/>
              <a:ea typeface="Meiryo UI" panose="020B0604030504040204" pitchFamily="50" charset="-128"/>
              <a:sym typeface="Arial"/>
            </a:endParaRPr>
          </a:p>
          <a:p>
            <a:pPr marL="285750" marR="0" lvl="0" indent="-196850" algn="l" rtl="0">
              <a:spcBef>
                <a:spcPts val="0"/>
              </a:spcBef>
              <a:spcAft>
                <a:spcPts val="0"/>
              </a:spcAft>
              <a:buClr>
                <a:schemeClr val="dk1"/>
              </a:buClr>
              <a:buSzPts val="1400"/>
              <a:buFont typeface="Noto Sans Symbols"/>
              <a:buNone/>
            </a:pPr>
            <a:endParaRPr sz="1600" b="1" dirty="0">
              <a:solidFill>
                <a:schemeClr val="dk1"/>
              </a:solidFill>
              <a:latin typeface="Meiryo UI" panose="020B0604030504040204" pitchFamily="50" charset="-128"/>
              <a:ea typeface="Meiryo UI" panose="020B0604030504040204" pitchFamily="50" charset="-128"/>
              <a:sym typeface="Arial"/>
            </a:endParaRPr>
          </a:p>
          <a:p>
            <a:pPr marL="285750" marR="0" lvl="0" indent="-285750" algn="l" rtl="0">
              <a:spcBef>
                <a:spcPts val="0"/>
              </a:spcBef>
              <a:spcAft>
                <a:spcPts val="0"/>
              </a:spcAft>
              <a:buClr>
                <a:schemeClr val="dk1"/>
              </a:buClr>
              <a:buSzPts val="1400"/>
              <a:buFont typeface="Noto Sans Symbols"/>
              <a:buChar char="■"/>
            </a:pPr>
            <a:r>
              <a:rPr lang="ja-JP" sz="1600" b="1" dirty="0">
                <a:solidFill>
                  <a:schemeClr val="dk1"/>
                </a:solidFill>
                <a:latin typeface="Meiryo UI" panose="020B0604030504040204" pitchFamily="50" charset="-128"/>
                <a:ea typeface="Meiryo UI" panose="020B0604030504040204" pitchFamily="50" charset="-128"/>
                <a:sym typeface="Arial"/>
              </a:rPr>
              <a:t>AI導入ではなく、売上向上・コスト削減の達成を至上命題とする</a:t>
            </a:r>
            <a:endParaRPr sz="1600" b="1" dirty="0">
              <a:solidFill>
                <a:schemeClr val="dk1"/>
              </a:solidFill>
              <a:latin typeface="Meiryo UI" panose="020B0604030504040204" pitchFamily="50" charset="-128"/>
              <a:ea typeface="Meiryo UI" panose="020B0604030504040204" pitchFamily="50" charset="-128"/>
              <a:sym typeface="Arial"/>
            </a:endParaRPr>
          </a:p>
        </p:txBody>
      </p:sp>
      <p:sp>
        <p:nvSpPr>
          <p:cNvPr id="24" name="Google Shape;402;p2">
            <a:extLst>
              <a:ext uri="{FF2B5EF4-FFF2-40B4-BE49-F238E27FC236}">
                <a16:creationId xmlns:a16="http://schemas.microsoft.com/office/drawing/2014/main" id="{6705B458-554F-BE45-B7AA-59BA000CC73C}"/>
              </a:ext>
            </a:extLst>
          </p:cNvPr>
          <p:cNvSpPr/>
          <p:nvPr/>
        </p:nvSpPr>
        <p:spPr>
          <a:xfrm>
            <a:off x="4432852" y="3434138"/>
            <a:ext cx="3478696" cy="1456428"/>
          </a:xfrm>
          <a:prstGeom prst="rect">
            <a:avLst/>
          </a:prstGeom>
          <a:noFill/>
          <a:ln>
            <a:noFill/>
          </a:ln>
        </p:spPr>
        <p:txBody>
          <a:bodyPr spcFirstLastPara="1" wrap="square" lIns="91425" tIns="45700" rIns="91425" bIns="45700" anchor="t" anchorCtr="0">
            <a:noAutofit/>
          </a:bodyPr>
          <a:lstStyle/>
          <a:p>
            <a:pPr marL="285750" marR="0" lvl="0" indent="-285750" algn="l" rtl="0">
              <a:spcBef>
                <a:spcPts val="0"/>
              </a:spcBef>
              <a:spcAft>
                <a:spcPts val="0"/>
              </a:spcAft>
              <a:buClr>
                <a:schemeClr val="dk1"/>
              </a:buClr>
              <a:buSzPts val="1400"/>
              <a:buFont typeface="Noto Sans Symbols"/>
              <a:buChar char="■"/>
            </a:pPr>
            <a:r>
              <a:rPr lang="ja-JP" sz="1600" b="1" dirty="0">
                <a:solidFill>
                  <a:schemeClr val="dk1"/>
                </a:solidFill>
                <a:latin typeface="Meiryo UI" panose="020B0604030504040204" pitchFamily="50" charset="-128"/>
                <a:ea typeface="Meiryo UI" panose="020B0604030504040204" pitchFamily="50" charset="-128"/>
                <a:sym typeface="Arial"/>
              </a:rPr>
              <a:t>コンサルティング会社依存への問題意識</a:t>
            </a:r>
            <a:endParaRPr sz="1600" b="1" dirty="0">
              <a:solidFill>
                <a:schemeClr val="dk1"/>
              </a:solidFill>
              <a:latin typeface="Meiryo UI" panose="020B0604030504040204" pitchFamily="50" charset="-128"/>
              <a:ea typeface="Meiryo UI" panose="020B0604030504040204" pitchFamily="50" charset="-128"/>
              <a:sym typeface="Arial"/>
            </a:endParaRPr>
          </a:p>
          <a:p>
            <a:pPr marL="285750" marR="0" lvl="0" indent="-196850" algn="l" rtl="0">
              <a:spcBef>
                <a:spcPts val="0"/>
              </a:spcBef>
              <a:spcAft>
                <a:spcPts val="0"/>
              </a:spcAft>
              <a:buClr>
                <a:schemeClr val="dk1"/>
              </a:buClr>
              <a:buSzPts val="1400"/>
              <a:buFont typeface="Noto Sans Symbols"/>
              <a:buNone/>
            </a:pPr>
            <a:endParaRPr sz="1600" b="1" dirty="0">
              <a:solidFill>
                <a:schemeClr val="dk1"/>
              </a:solidFill>
              <a:latin typeface="Meiryo UI" panose="020B0604030504040204" pitchFamily="50" charset="-128"/>
              <a:ea typeface="Meiryo UI" panose="020B0604030504040204" pitchFamily="50" charset="-128"/>
              <a:sym typeface="Arial"/>
            </a:endParaRPr>
          </a:p>
          <a:p>
            <a:pPr marL="285750" marR="0" lvl="0" indent="-285750" algn="l" rtl="0">
              <a:spcBef>
                <a:spcPts val="0"/>
              </a:spcBef>
              <a:spcAft>
                <a:spcPts val="0"/>
              </a:spcAft>
              <a:buClr>
                <a:schemeClr val="dk1"/>
              </a:buClr>
              <a:buSzPts val="1400"/>
              <a:buFont typeface="Noto Sans Symbols"/>
              <a:buChar char="■"/>
            </a:pPr>
            <a:r>
              <a:rPr lang="ja-JP" sz="1600" b="1" dirty="0">
                <a:solidFill>
                  <a:schemeClr val="dk1"/>
                </a:solidFill>
                <a:latin typeface="Meiryo UI" panose="020B0604030504040204" pitchFamily="50" charset="-128"/>
                <a:ea typeface="Meiryo UI" panose="020B0604030504040204" pitchFamily="50" charset="-128"/>
                <a:sym typeface="Arial"/>
              </a:rPr>
              <a:t>AI時代は外部依存からの脱却の好機</a:t>
            </a:r>
            <a:r>
              <a:rPr lang="ja-JP" altLang="en-US" sz="1600" b="1" dirty="0">
                <a:solidFill>
                  <a:schemeClr val="dk1"/>
                </a:solidFill>
                <a:latin typeface="Meiryo UI" panose="020B0604030504040204" pitchFamily="50" charset="-128"/>
                <a:ea typeface="Meiryo UI" panose="020B0604030504040204" pitchFamily="50" charset="-128"/>
                <a:sym typeface="Arial"/>
              </a:rPr>
              <a:t>と捉え、</a:t>
            </a:r>
            <a:r>
              <a:rPr lang="ja-JP" sz="1600" b="1" dirty="0">
                <a:solidFill>
                  <a:schemeClr val="dk1"/>
                </a:solidFill>
                <a:latin typeface="Meiryo UI" panose="020B0604030504040204" pitchFamily="50" charset="-128"/>
                <a:ea typeface="Meiryo UI" panose="020B0604030504040204" pitchFamily="50" charset="-128"/>
                <a:sym typeface="Arial"/>
              </a:rPr>
              <a:t>クライアントの自走を見据えた支援を行う</a:t>
            </a:r>
            <a:endParaRPr sz="1600" b="1" dirty="0">
              <a:solidFill>
                <a:schemeClr val="dk1"/>
              </a:solidFill>
              <a:latin typeface="Meiryo UI" panose="020B0604030504040204" pitchFamily="50" charset="-128"/>
              <a:ea typeface="Meiryo UI" panose="020B0604030504040204" pitchFamily="50" charset="-128"/>
              <a:sym typeface="Arial"/>
            </a:endParaRPr>
          </a:p>
        </p:txBody>
      </p:sp>
      <p:sp>
        <p:nvSpPr>
          <p:cNvPr id="25" name="Google Shape;403;p2">
            <a:extLst>
              <a:ext uri="{FF2B5EF4-FFF2-40B4-BE49-F238E27FC236}">
                <a16:creationId xmlns:a16="http://schemas.microsoft.com/office/drawing/2014/main" id="{C66BC95B-3705-5F30-8149-0553AAAE0145}"/>
              </a:ext>
            </a:extLst>
          </p:cNvPr>
          <p:cNvSpPr/>
          <p:nvPr/>
        </p:nvSpPr>
        <p:spPr>
          <a:xfrm>
            <a:off x="8378687" y="3434138"/>
            <a:ext cx="3478696" cy="1456428"/>
          </a:xfrm>
          <a:prstGeom prst="rect">
            <a:avLst/>
          </a:prstGeom>
          <a:noFill/>
          <a:ln>
            <a:noFill/>
          </a:ln>
        </p:spPr>
        <p:txBody>
          <a:bodyPr spcFirstLastPara="1" wrap="square" lIns="91425" tIns="45700" rIns="91425" bIns="45700" anchor="t" anchorCtr="0">
            <a:noAutofit/>
          </a:bodyPr>
          <a:lstStyle/>
          <a:p>
            <a:pPr marL="285750" marR="0" lvl="0" indent="-285750" algn="l" rtl="0">
              <a:spcBef>
                <a:spcPts val="0"/>
              </a:spcBef>
              <a:spcAft>
                <a:spcPts val="0"/>
              </a:spcAft>
              <a:buClr>
                <a:schemeClr val="dk1"/>
              </a:buClr>
              <a:buSzPts val="1400"/>
              <a:buFont typeface="Noto Sans Symbols"/>
              <a:buChar char="■"/>
            </a:pPr>
            <a:r>
              <a:rPr lang="ja-JP" sz="1600" b="1" dirty="0">
                <a:solidFill>
                  <a:schemeClr val="dk1"/>
                </a:solidFill>
                <a:latin typeface="Meiryo UI" panose="020B0604030504040204" pitchFamily="50" charset="-128"/>
                <a:ea typeface="Meiryo UI" panose="020B0604030504040204" pitchFamily="50" charset="-128"/>
                <a:sym typeface="Arial"/>
              </a:rPr>
              <a:t>高止まりするコンサルフィーへの問題意識</a:t>
            </a:r>
            <a:endParaRPr sz="1600" b="1" dirty="0">
              <a:solidFill>
                <a:schemeClr val="dk1"/>
              </a:solidFill>
              <a:latin typeface="Meiryo UI" panose="020B0604030504040204" pitchFamily="50" charset="-128"/>
              <a:ea typeface="Meiryo UI" panose="020B0604030504040204" pitchFamily="50" charset="-128"/>
              <a:sym typeface="Arial"/>
            </a:endParaRPr>
          </a:p>
          <a:p>
            <a:pPr marL="285750" marR="0" lvl="0" indent="-196850" algn="l" rtl="0">
              <a:spcBef>
                <a:spcPts val="0"/>
              </a:spcBef>
              <a:spcAft>
                <a:spcPts val="0"/>
              </a:spcAft>
              <a:buClr>
                <a:schemeClr val="dk1"/>
              </a:buClr>
              <a:buSzPts val="1400"/>
              <a:buFont typeface="Noto Sans Symbols"/>
              <a:buNone/>
            </a:pPr>
            <a:endParaRPr sz="1600" b="1" dirty="0">
              <a:solidFill>
                <a:schemeClr val="dk1"/>
              </a:solidFill>
              <a:latin typeface="Meiryo UI" panose="020B0604030504040204" pitchFamily="50" charset="-128"/>
              <a:ea typeface="Meiryo UI" panose="020B0604030504040204" pitchFamily="50" charset="-128"/>
              <a:sym typeface="Arial"/>
            </a:endParaRPr>
          </a:p>
          <a:p>
            <a:pPr marL="285750" marR="0" lvl="0" indent="-285750" algn="l" rtl="0">
              <a:spcBef>
                <a:spcPts val="0"/>
              </a:spcBef>
              <a:spcAft>
                <a:spcPts val="0"/>
              </a:spcAft>
              <a:buClr>
                <a:schemeClr val="dk1"/>
              </a:buClr>
              <a:buSzPts val="1400"/>
              <a:buFont typeface="Noto Sans Symbols"/>
              <a:buChar char="■"/>
            </a:pPr>
            <a:r>
              <a:rPr lang="ja-JP" sz="1600" b="1" dirty="0">
                <a:solidFill>
                  <a:schemeClr val="dk1"/>
                </a:solidFill>
                <a:latin typeface="Meiryo UI" panose="020B0604030504040204" pitchFamily="50" charset="-128"/>
                <a:ea typeface="Meiryo UI" panose="020B0604030504040204" pitchFamily="50" charset="-128"/>
                <a:sym typeface="Arial"/>
              </a:rPr>
              <a:t>自らAIを使い倒すことで業務を効率化し、サービスフィー以上のリターンを提供する</a:t>
            </a:r>
            <a:endParaRPr sz="1600" b="1" dirty="0">
              <a:solidFill>
                <a:schemeClr val="dk1"/>
              </a:solidFill>
              <a:latin typeface="Meiryo UI" panose="020B0604030504040204" pitchFamily="50" charset="-128"/>
              <a:ea typeface="Meiryo UI" panose="020B0604030504040204" pitchFamily="50" charset="-128"/>
              <a:sym typeface="Arial"/>
            </a:endParaRPr>
          </a:p>
        </p:txBody>
      </p:sp>
    </p:spTree>
    <p:extLst>
      <p:ext uri="{BB962C8B-B14F-4D97-AF65-F5344CB8AC3E}">
        <p14:creationId xmlns:p14="http://schemas.microsoft.com/office/powerpoint/2010/main" val="26697965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6" name="think-cell data - do not delete" hidden="1">
            <a:extLst>
              <a:ext uri="{FF2B5EF4-FFF2-40B4-BE49-F238E27FC236}">
                <a16:creationId xmlns:a16="http://schemas.microsoft.com/office/drawing/2014/main" id="{EA2EE0E2-429C-187E-42AA-F5F1640DA434}"/>
              </a:ext>
            </a:extLst>
          </p:cNvPr>
          <p:cNvGraphicFramePr>
            <a:graphicFrameLocks/>
          </p:cNvGraphicFramePr>
          <p:nvPr>
            <p:custDataLst>
              <p:tags r:id="rId1"/>
            </p:custDataLst>
            <p:extLst>
              <p:ext uri="{D42A27DB-BD31-4B8C-83A1-F6EECF244321}">
                <p14:modId xmlns:p14="http://schemas.microsoft.com/office/powerpoint/2010/main" val="191818419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スライド" r:id="rId3" imgW="7772400" imgH="10058400" progId="TCLayout.ActiveDocument.1">
                  <p:embed/>
                </p:oleObj>
              </mc:Choice>
              <mc:Fallback>
                <p:oleObj name="think-cellスライド" r:id="rId3" imgW="7772400" imgH="10058400" progId="TCLayout.ActiveDocument.1">
                  <p:embed/>
                  <p:pic>
                    <p:nvPicPr>
                      <p:cNvPr id="0" name=""/>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タイトル 1">
            <a:extLst>
              <a:ext uri="{FF2B5EF4-FFF2-40B4-BE49-F238E27FC236}">
                <a16:creationId xmlns:a16="http://schemas.microsoft.com/office/drawing/2014/main" id="{D2D97B97-E9F1-5B17-5C52-B4904DE44FDD}"/>
              </a:ext>
            </a:extLst>
          </p:cNvPr>
          <p:cNvSpPr>
            <a:spLocks noGrp="1"/>
          </p:cNvSpPr>
          <p:nvPr>
            <p:ph type="title"/>
          </p:nvPr>
        </p:nvSpPr>
        <p:spPr/>
        <p:txBody>
          <a:bodyPr vert="horz" rIns="91440"/>
          <a:lstStyle/>
          <a:p>
            <a:r>
              <a:rPr lang="ja-JP" altLang="ja-JP" dirty="0"/>
              <a:t>戦略／オペレーション／組織の3つの分野でご支援を提供する</a:t>
            </a:r>
            <a:endParaRPr kumimoji="1" lang="ja-JP" altLang="en-US" dirty="0"/>
          </a:p>
        </p:txBody>
      </p:sp>
      <p:sp>
        <p:nvSpPr>
          <p:cNvPr id="3" name="フッター プレースホルダー 13">
            <a:extLst>
              <a:ext uri="{FF2B5EF4-FFF2-40B4-BE49-F238E27FC236}">
                <a16:creationId xmlns:a16="http://schemas.microsoft.com/office/drawing/2014/main" id="{EB07C5E6-2E42-D26C-4DF0-832C45CB406E}"/>
              </a:ext>
            </a:extLst>
          </p:cNvPr>
          <p:cNvSpPr>
            <a:spLocks noGrp="1"/>
          </p:cNvSpPr>
          <p:nvPr>
            <p:ph type="ftr" sz="quarter" idx="11"/>
          </p:nvPr>
        </p:nvSpPr>
        <p:spPr/>
        <p:txBody>
          <a:bodyPr/>
          <a:lstStyle>
            <a:lvl1pPr algn="l">
              <a:defRPr sz="1000">
                <a:latin typeface="+mn-lt"/>
                <a:ea typeface="+mn-ea"/>
              </a:defRPr>
            </a:lvl1pPr>
          </a:lstStyle>
          <a:p>
            <a:pPr>
              <a:defRPr/>
            </a:pPr>
            <a:r>
              <a:rPr kumimoji="1" lang="en-US" altLang="ja-JP" dirty="0">
                <a:solidFill>
                  <a:srgbClr val="FFFFFF">
                    <a:lumMod val="75000"/>
                  </a:srgbClr>
                </a:solidFill>
              </a:rPr>
              <a:t>©️ 2026 Boost Consulting, Inc.</a:t>
            </a:r>
            <a:endParaRPr kumimoji="1" lang="ja-JP" altLang="en-US" dirty="0">
              <a:solidFill>
                <a:srgbClr val="FFFFFF">
                  <a:lumMod val="75000"/>
                </a:srgbClr>
              </a:solidFill>
              <a:latin typeface="+mn-lt"/>
            </a:endParaRPr>
          </a:p>
        </p:txBody>
      </p:sp>
      <p:sp>
        <p:nvSpPr>
          <p:cNvPr id="6" name="コンテンツ プレースホルダー 5">
            <a:extLst>
              <a:ext uri="{FF2B5EF4-FFF2-40B4-BE49-F238E27FC236}">
                <a16:creationId xmlns:a16="http://schemas.microsoft.com/office/drawing/2014/main" id="{3CF4FB28-5831-B45D-F400-9DB4794A3B38}"/>
              </a:ext>
            </a:extLst>
          </p:cNvPr>
          <p:cNvSpPr>
            <a:spLocks noGrp="1"/>
          </p:cNvSpPr>
          <p:nvPr>
            <p:ph idx="12"/>
          </p:nvPr>
        </p:nvSpPr>
        <p:spPr/>
        <p:txBody>
          <a:bodyPr/>
          <a:lstStyle/>
          <a:p>
            <a:r>
              <a:rPr lang="ja-JP" altLang="en-US" dirty="0">
                <a:solidFill>
                  <a:srgbClr val="1D3D30"/>
                </a:solidFill>
              </a:rPr>
              <a:t>サービスラインナップ</a:t>
            </a:r>
          </a:p>
        </p:txBody>
      </p:sp>
      <p:sp>
        <p:nvSpPr>
          <p:cNvPr id="7" name="Google Shape;412;p3">
            <a:extLst>
              <a:ext uri="{FF2B5EF4-FFF2-40B4-BE49-F238E27FC236}">
                <a16:creationId xmlns:a16="http://schemas.microsoft.com/office/drawing/2014/main" id="{F5AEBA22-5F71-BD8F-05E5-AF91563AA4CA}"/>
              </a:ext>
            </a:extLst>
          </p:cNvPr>
          <p:cNvSpPr/>
          <p:nvPr/>
        </p:nvSpPr>
        <p:spPr>
          <a:xfrm>
            <a:off x="1380959" y="2005154"/>
            <a:ext cx="5114242" cy="336019"/>
          </a:xfrm>
          <a:prstGeom prst="rect">
            <a:avLst/>
          </a:prstGeom>
          <a:solidFill>
            <a:srgbClr val="2D5A4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sz="1400" b="1">
                <a:solidFill>
                  <a:schemeClr val="lt1"/>
                </a:solidFill>
                <a:latin typeface="+mj-ea"/>
                <a:ea typeface="+mj-ea"/>
                <a:cs typeface="Arial"/>
                <a:sym typeface="Arial"/>
              </a:rPr>
              <a:t>経営全般の壁打ちがしたい</a:t>
            </a:r>
            <a:endParaRPr sz="1400" b="1">
              <a:solidFill>
                <a:schemeClr val="lt1"/>
              </a:solidFill>
              <a:latin typeface="+mj-ea"/>
              <a:ea typeface="+mj-ea"/>
              <a:cs typeface="Arial"/>
              <a:sym typeface="Arial"/>
            </a:endParaRPr>
          </a:p>
        </p:txBody>
      </p:sp>
      <p:sp>
        <p:nvSpPr>
          <p:cNvPr id="8" name="Google Shape;413;p3">
            <a:extLst>
              <a:ext uri="{FF2B5EF4-FFF2-40B4-BE49-F238E27FC236}">
                <a16:creationId xmlns:a16="http://schemas.microsoft.com/office/drawing/2014/main" id="{DC3602D7-5B6F-DC1D-B856-FFAE845EDB2B}"/>
              </a:ext>
            </a:extLst>
          </p:cNvPr>
          <p:cNvSpPr/>
          <p:nvPr/>
        </p:nvSpPr>
        <p:spPr>
          <a:xfrm>
            <a:off x="6807017" y="2005038"/>
            <a:ext cx="3999437" cy="336019"/>
          </a:xfrm>
          <a:prstGeom prst="rect">
            <a:avLst/>
          </a:prstGeom>
          <a:solidFill>
            <a:srgbClr val="D4A57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sz="1400" b="1">
                <a:solidFill>
                  <a:schemeClr val="lt1"/>
                </a:solidFill>
                <a:latin typeface="+mj-ea"/>
                <a:ea typeface="+mj-ea"/>
                <a:cs typeface="Arial"/>
                <a:sym typeface="Arial"/>
              </a:rPr>
              <a:t>経営顧問（小澤）</a:t>
            </a:r>
            <a:endParaRPr sz="1400" b="1">
              <a:solidFill>
                <a:schemeClr val="lt1"/>
              </a:solidFill>
              <a:latin typeface="+mj-ea"/>
              <a:ea typeface="+mj-ea"/>
              <a:cs typeface="Arial"/>
              <a:sym typeface="Arial"/>
            </a:endParaRPr>
          </a:p>
        </p:txBody>
      </p:sp>
      <p:sp>
        <p:nvSpPr>
          <p:cNvPr id="9" name="Google Shape;414;p3">
            <a:extLst>
              <a:ext uri="{FF2B5EF4-FFF2-40B4-BE49-F238E27FC236}">
                <a16:creationId xmlns:a16="http://schemas.microsoft.com/office/drawing/2014/main" id="{58EAEF91-0558-5E88-173E-FFA0069F590F}"/>
              </a:ext>
            </a:extLst>
          </p:cNvPr>
          <p:cNvSpPr/>
          <p:nvPr/>
        </p:nvSpPr>
        <p:spPr>
          <a:xfrm rot="5400000">
            <a:off x="6539416" y="2098936"/>
            <a:ext cx="256914" cy="138303"/>
          </a:xfrm>
          <a:prstGeom prst="triangle">
            <a:avLst>
              <a:gd name="adj" fmla="val 50000"/>
            </a:avLst>
          </a:prstGeom>
          <a:solidFill>
            <a:srgbClr val="A5A5A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b="1">
              <a:solidFill>
                <a:schemeClr val="lt1"/>
              </a:solidFill>
              <a:latin typeface="+mj-ea"/>
              <a:ea typeface="+mj-ea"/>
              <a:cs typeface="Arial"/>
              <a:sym typeface="Arial"/>
            </a:endParaRPr>
          </a:p>
        </p:txBody>
      </p:sp>
      <p:sp>
        <p:nvSpPr>
          <p:cNvPr id="10" name="Google Shape;415;p3">
            <a:extLst>
              <a:ext uri="{FF2B5EF4-FFF2-40B4-BE49-F238E27FC236}">
                <a16:creationId xmlns:a16="http://schemas.microsoft.com/office/drawing/2014/main" id="{51B76FD2-B3A3-DFD5-4CBC-660F15EFEDAA}"/>
              </a:ext>
            </a:extLst>
          </p:cNvPr>
          <p:cNvSpPr/>
          <p:nvPr/>
        </p:nvSpPr>
        <p:spPr>
          <a:xfrm>
            <a:off x="6807017" y="2459489"/>
            <a:ext cx="3999437" cy="305472"/>
          </a:xfrm>
          <a:prstGeom prst="rect">
            <a:avLst/>
          </a:prstGeom>
          <a:solidFill>
            <a:srgbClr val="D4A57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sz="1400" b="1">
                <a:solidFill>
                  <a:schemeClr val="lt1"/>
                </a:solidFill>
                <a:latin typeface="+mj-ea"/>
                <a:ea typeface="+mj-ea"/>
                <a:cs typeface="Arial"/>
                <a:sym typeface="Arial"/>
              </a:rPr>
              <a:t>戦略策定支援</a:t>
            </a:r>
            <a:endParaRPr sz="1400" b="1">
              <a:solidFill>
                <a:schemeClr val="lt1"/>
              </a:solidFill>
              <a:latin typeface="+mj-ea"/>
              <a:ea typeface="+mj-ea"/>
              <a:cs typeface="Arial"/>
              <a:sym typeface="Arial"/>
            </a:endParaRPr>
          </a:p>
        </p:txBody>
      </p:sp>
      <p:sp>
        <p:nvSpPr>
          <p:cNvPr id="11" name="Google Shape;416;p3">
            <a:extLst>
              <a:ext uri="{FF2B5EF4-FFF2-40B4-BE49-F238E27FC236}">
                <a16:creationId xmlns:a16="http://schemas.microsoft.com/office/drawing/2014/main" id="{EB4C6422-1038-832D-B9B4-6768C5E35619}"/>
              </a:ext>
            </a:extLst>
          </p:cNvPr>
          <p:cNvSpPr/>
          <p:nvPr/>
        </p:nvSpPr>
        <p:spPr>
          <a:xfrm>
            <a:off x="6807017" y="2817606"/>
            <a:ext cx="3999437" cy="305472"/>
          </a:xfrm>
          <a:prstGeom prst="rect">
            <a:avLst/>
          </a:prstGeom>
          <a:solidFill>
            <a:srgbClr val="D4A57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sz="1400" b="1">
                <a:solidFill>
                  <a:schemeClr val="lt1"/>
                </a:solidFill>
                <a:latin typeface="+mj-ea"/>
                <a:ea typeface="+mj-ea"/>
                <a:cs typeface="Arial"/>
                <a:sym typeface="Arial"/>
              </a:rPr>
              <a:t>新規事業創出支援</a:t>
            </a:r>
            <a:endParaRPr sz="1400" b="1">
              <a:solidFill>
                <a:schemeClr val="lt1"/>
              </a:solidFill>
              <a:latin typeface="+mj-ea"/>
              <a:ea typeface="+mj-ea"/>
              <a:cs typeface="Arial"/>
              <a:sym typeface="Arial"/>
            </a:endParaRPr>
          </a:p>
        </p:txBody>
      </p:sp>
      <p:sp>
        <p:nvSpPr>
          <p:cNvPr id="12" name="Google Shape;417;p3">
            <a:extLst>
              <a:ext uri="{FF2B5EF4-FFF2-40B4-BE49-F238E27FC236}">
                <a16:creationId xmlns:a16="http://schemas.microsoft.com/office/drawing/2014/main" id="{B616609D-BA25-09F6-5F83-D5E0D5B520BE}"/>
              </a:ext>
            </a:extLst>
          </p:cNvPr>
          <p:cNvSpPr/>
          <p:nvPr/>
        </p:nvSpPr>
        <p:spPr>
          <a:xfrm>
            <a:off x="6807017" y="3175723"/>
            <a:ext cx="3999437" cy="305472"/>
          </a:xfrm>
          <a:prstGeom prst="rect">
            <a:avLst/>
          </a:prstGeom>
          <a:solidFill>
            <a:srgbClr val="D4A57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sz="1400" b="1">
                <a:solidFill>
                  <a:schemeClr val="lt1"/>
                </a:solidFill>
                <a:latin typeface="+mj-ea"/>
                <a:ea typeface="+mj-ea"/>
                <a:cs typeface="Arial"/>
                <a:sym typeface="Arial"/>
              </a:rPr>
              <a:t>AIロードマップ策定支援</a:t>
            </a:r>
            <a:endParaRPr sz="1400" b="1">
              <a:solidFill>
                <a:schemeClr val="lt1"/>
              </a:solidFill>
              <a:latin typeface="+mj-ea"/>
              <a:ea typeface="+mj-ea"/>
              <a:cs typeface="Arial"/>
              <a:sym typeface="Arial"/>
            </a:endParaRPr>
          </a:p>
        </p:txBody>
      </p:sp>
      <p:sp>
        <p:nvSpPr>
          <p:cNvPr id="13" name="Google Shape;418;p3">
            <a:extLst>
              <a:ext uri="{FF2B5EF4-FFF2-40B4-BE49-F238E27FC236}">
                <a16:creationId xmlns:a16="http://schemas.microsoft.com/office/drawing/2014/main" id="{C46C17D9-4A7D-3174-96E5-3EA8B4D76267}"/>
              </a:ext>
            </a:extLst>
          </p:cNvPr>
          <p:cNvSpPr/>
          <p:nvPr/>
        </p:nvSpPr>
        <p:spPr>
          <a:xfrm>
            <a:off x="1380960" y="2459487"/>
            <a:ext cx="1445897" cy="1021707"/>
          </a:xfrm>
          <a:prstGeom prst="rect">
            <a:avLst/>
          </a:prstGeom>
          <a:solidFill>
            <a:srgbClr val="2D5A4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sz="1400" b="1">
                <a:solidFill>
                  <a:schemeClr val="lt1"/>
                </a:solidFill>
                <a:latin typeface="+mj-ea"/>
                <a:ea typeface="+mj-ea"/>
                <a:cs typeface="Arial"/>
                <a:sym typeface="Arial"/>
              </a:rPr>
              <a:t>戦略</a:t>
            </a:r>
            <a:endParaRPr sz="1400" b="1">
              <a:solidFill>
                <a:schemeClr val="lt1"/>
              </a:solidFill>
              <a:latin typeface="+mj-ea"/>
              <a:ea typeface="+mj-ea"/>
              <a:cs typeface="Arial"/>
              <a:sym typeface="Arial"/>
            </a:endParaRPr>
          </a:p>
        </p:txBody>
      </p:sp>
      <p:sp>
        <p:nvSpPr>
          <p:cNvPr id="14" name="Google Shape;419;p3">
            <a:extLst>
              <a:ext uri="{FF2B5EF4-FFF2-40B4-BE49-F238E27FC236}">
                <a16:creationId xmlns:a16="http://schemas.microsoft.com/office/drawing/2014/main" id="{A8FF2D46-7D99-0E0C-DD34-4DDA22229EDD}"/>
              </a:ext>
            </a:extLst>
          </p:cNvPr>
          <p:cNvSpPr/>
          <p:nvPr/>
        </p:nvSpPr>
        <p:spPr>
          <a:xfrm>
            <a:off x="2927439" y="2459489"/>
            <a:ext cx="3567761" cy="305472"/>
          </a:xfrm>
          <a:prstGeom prst="rect">
            <a:avLst/>
          </a:prstGeom>
          <a:solidFill>
            <a:srgbClr val="5A957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sz="1400" b="1">
                <a:solidFill>
                  <a:schemeClr val="lt1"/>
                </a:solidFill>
                <a:latin typeface="+mj-ea"/>
                <a:ea typeface="+mj-ea"/>
                <a:cs typeface="Arial"/>
                <a:sym typeface="Arial"/>
              </a:rPr>
              <a:t>成長戦略を立てたい</a:t>
            </a:r>
            <a:endParaRPr sz="1400" b="1">
              <a:solidFill>
                <a:schemeClr val="lt1"/>
              </a:solidFill>
              <a:latin typeface="+mj-ea"/>
              <a:ea typeface="+mj-ea"/>
              <a:cs typeface="Arial"/>
              <a:sym typeface="Arial"/>
            </a:endParaRPr>
          </a:p>
        </p:txBody>
      </p:sp>
      <p:sp>
        <p:nvSpPr>
          <p:cNvPr id="15" name="Google Shape;420;p3">
            <a:extLst>
              <a:ext uri="{FF2B5EF4-FFF2-40B4-BE49-F238E27FC236}">
                <a16:creationId xmlns:a16="http://schemas.microsoft.com/office/drawing/2014/main" id="{2F91850C-05DA-B95A-C083-58CBAB6B0EDA}"/>
              </a:ext>
            </a:extLst>
          </p:cNvPr>
          <p:cNvSpPr/>
          <p:nvPr/>
        </p:nvSpPr>
        <p:spPr>
          <a:xfrm>
            <a:off x="2927439" y="2817606"/>
            <a:ext cx="3567761" cy="305472"/>
          </a:xfrm>
          <a:prstGeom prst="rect">
            <a:avLst/>
          </a:prstGeom>
          <a:solidFill>
            <a:srgbClr val="5A957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sz="1400" b="1">
                <a:solidFill>
                  <a:schemeClr val="lt1"/>
                </a:solidFill>
                <a:latin typeface="+mj-ea"/>
                <a:ea typeface="+mj-ea"/>
                <a:cs typeface="Arial"/>
                <a:sym typeface="Arial"/>
              </a:rPr>
              <a:t>新規事業を創りたい</a:t>
            </a:r>
            <a:endParaRPr sz="1400" b="1">
              <a:solidFill>
                <a:schemeClr val="lt1"/>
              </a:solidFill>
              <a:latin typeface="+mj-ea"/>
              <a:ea typeface="+mj-ea"/>
              <a:cs typeface="Arial"/>
              <a:sym typeface="Arial"/>
            </a:endParaRPr>
          </a:p>
        </p:txBody>
      </p:sp>
      <p:sp>
        <p:nvSpPr>
          <p:cNvPr id="16" name="Google Shape;421;p3">
            <a:extLst>
              <a:ext uri="{FF2B5EF4-FFF2-40B4-BE49-F238E27FC236}">
                <a16:creationId xmlns:a16="http://schemas.microsoft.com/office/drawing/2014/main" id="{7A467D8B-D06F-9F27-6BAC-6FB069F98401}"/>
              </a:ext>
            </a:extLst>
          </p:cNvPr>
          <p:cNvSpPr/>
          <p:nvPr/>
        </p:nvSpPr>
        <p:spPr>
          <a:xfrm>
            <a:off x="2927439" y="3175723"/>
            <a:ext cx="3567761" cy="305472"/>
          </a:xfrm>
          <a:prstGeom prst="rect">
            <a:avLst/>
          </a:prstGeom>
          <a:solidFill>
            <a:srgbClr val="5A957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sz="1400" b="1">
                <a:solidFill>
                  <a:schemeClr val="lt1"/>
                </a:solidFill>
                <a:latin typeface="+mj-ea"/>
                <a:ea typeface="+mj-ea"/>
                <a:cs typeface="Arial"/>
                <a:sym typeface="Arial"/>
              </a:rPr>
              <a:t>AI変革の計画を立てたい</a:t>
            </a:r>
            <a:endParaRPr sz="1400" b="1">
              <a:solidFill>
                <a:schemeClr val="lt1"/>
              </a:solidFill>
              <a:latin typeface="+mj-ea"/>
              <a:ea typeface="+mj-ea"/>
              <a:cs typeface="Arial"/>
              <a:sym typeface="Arial"/>
            </a:endParaRPr>
          </a:p>
        </p:txBody>
      </p:sp>
      <p:sp>
        <p:nvSpPr>
          <p:cNvPr id="17" name="Google Shape;422;p3">
            <a:extLst>
              <a:ext uri="{FF2B5EF4-FFF2-40B4-BE49-F238E27FC236}">
                <a16:creationId xmlns:a16="http://schemas.microsoft.com/office/drawing/2014/main" id="{FC5A20D3-D939-BE70-D15F-56554E1BA7B3}"/>
              </a:ext>
            </a:extLst>
          </p:cNvPr>
          <p:cNvSpPr/>
          <p:nvPr/>
        </p:nvSpPr>
        <p:spPr>
          <a:xfrm rot="5400000">
            <a:off x="6539416" y="2546968"/>
            <a:ext cx="256914" cy="138303"/>
          </a:xfrm>
          <a:prstGeom prst="triangle">
            <a:avLst>
              <a:gd name="adj" fmla="val 50000"/>
            </a:avLst>
          </a:prstGeom>
          <a:solidFill>
            <a:srgbClr val="A5A5A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b="1">
              <a:solidFill>
                <a:schemeClr val="lt1"/>
              </a:solidFill>
              <a:latin typeface="+mj-ea"/>
              <a:ea typeface="+mj-ea"/>
              <a:cs typeface="Arial"/>
              <a:sym typeface="Arial"/>
            </a:endParaRPr>
          </a:p>
        </p:txBody>
      </p:sp>
      <p:sp>
        <p:nvSpPr>
          <p:cNvPr id="18" name="Google Shape;423;p3">
            <a:extLst>
              <a:ext uri="{FF2B5EF4-FFF2-40B4-BE49-F238E27FC236}">
                <a16:creationId xmlns:a16="http://schemas.microsoft.com/office/drawing/2014/main" id="{9598076B-E268-B335-CF2D-5AA6CD304BD4}"/>
              </a:ext>
            </a:extLst>
          </p:cNvPr>
          <p:cNvSpPr/>
          <p:nvPr/>
        </p:nvSpPr>
        <p:spPr>
          <a:xfrm rot="5400000">
            <a:off x="6539416" y="2902956"/>
            <a:ext cx="256914" cy="138303"/>
          </a:xfrm>
          <a:prstGeom prst="triangle">
            <a:avLst>
              <a:gd name="adj" fmla="val 50000"/>
            </a:avLst>
          </a:prstGeom>
          <a:solidFill>
            <a:srgbClr val="A5A5A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b="1">
              <a:solidFill>
                <a:schemeClr val="lt1"/>
              </a:solidFill>
              <a:latin typeface="+mj-ea"/>
              <a:ea typeface="+mj-ea"/>
              <a:cs typeface="Arial"/>
              <a:sym typeface="Arial"/>
            </a:endParaRPr>
          </a:p>
        </p:txBody>
      </p:sp>
      <p:sp>
        <p:nvSpPr>
          <p:cNvPr id="19" name="Google Shape;424;p3">
            <a:extLst>
              <a:ext uri="{FF2B5EF4-FFF2-40B4-BE49-F238E27FC236}">
                <a16:creationId xmlns:a16="http://schemas.microsoft.com/office/drawing/2014/main" id="{EE9F59C9-5495-F146-F15C-054B4D38A39F}"/>
              </a:ext>
            </a:extLst>
          </p:cNvPr>
          <p:cNvSpPr/>
          <p:nvPr/>
        </p:nvSpPr>
        <p:spPr>
          <a:xfrm rot="5400000">
            <a:off x="6539416" y="3258944"/>
            <a:ext cx="256914" cy="138303"/>
          </a:xfrm>
          <a:prstGeom prst="triangle">
            <a:avLst>
              <a:gd name="adj" fmla="val 50000"/>
            </a:avLst>
          </a:prstGeom>
          <a:solidFill>
            <a:srgbClr val="A5A5A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b="1">
              <a:solidFill>
                <a:schemeClr val="lt1"/>
              </a:solidFill>
              <a:latin typeface="+mj-ea"/>
              <a:ea typeface="+mj-ea"/>
              <a:cs typeface="Arial"/>
              <a:sym typeface="Arial"/>
            </a:endParaRPr>
          </a:p>
        </p:txBody>
      </p:sp>
      <p:sp>
        <p:nvSpPr>
          <p:cNvPr id="20" name="Google Shape;425;p3">
            <a:extLst>
              <a:ext uri="{FF2B5EF4-FFF2-40B4-BE49-F238E27FC236}">
                <a16:creationId xmlns:a16="http://schemas.microsoft.com/office/drawing/2014/main" id="{6A094166-4011-A5E6-F77A-A4B43D86E5AB}"/>
              </a:ext>
            </a:extLst>
          </p:cNvPr>
          <p:cNvSpPr/>
          <p:nvPr/>
        </p:nvSpPr>
        <p:spPr>
          <a:xfrm>
            <a:off x="1380960" y="3608576"/>
            <a:ext cx="1445897" cy="1397395"/>
          </a:xfrm>
          <a:prstGeom prst="rect">
            <a:avLst/>
          </a:prstGeom>
          <a:solidFill>
            <a:srgbClr val="2D5A4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sz="1400" b="1">
                <a:solidFill>
                  <a:schemeClr val="lt1"/>
                </a:solidFill>
                <a:latin typeface="+mj-ea"/>
                <a:ea typeface="+mj-ea"/>
                <a:cs typeface="Arial"/>
                <a:sym typeface="Arial"/>
              </a:rPr>
              <a:t>オペレーション</a:t>
            </a:r>
            <a:endParaRPr sz="1400" b="1">
              <a:solidFill>
                <a:schemeClr val="lt1"/>
              </a:solidFill>
              <a:latin typeface="+mj-ea"/>
              <a:ea typeface="+mj-ea"/>
              <a:cs typeface="Arial"/>
              <a:sym typeface="Arial"/>
            </a:endParaRPr>
          </a:p>
        </p:txBody>
      </p:sp>
      <p:sp>
        <p:nvSpPr>
          <p:cNvPr id="21" name="Google Shape;426;p3">
            <a:extLst>
              <a:ext uri="{FF2B5EF4-FFF2-40B4-BE49-F238E27FC236}">
                <a16:creationId xmlns:a16="http://schemas.microsoft.com/office/drawing/2014/main" id="{78680FD8-5DB5-DDC8-D4D8-ACC8C0765AFA}"/>
              </a:ext>
            </a:extLst>
          </p:cNvPr>
          <p:cNvSpPr/>
          <p:nvPr/>
        </p:nvSpPr>
        <p:spPr>
          <a:xfrm>
            <a:off x="2927439" y="3604086"/>
            <a:ext cx="3567761" cy="1401886"/>
          </a:xfrm>
          <a:prstGeom prst="rect">
            <a:avLst/>
          </a:prstGeom>
          <a:solidFill>
            <a:srgbClr val="5A957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sz="1400" b="1">
                <a:solidFill>
                  <a:schemeClr val="lt1"/>
                </a:solidFill>
                <a:latin typeface="+mj-ea"/>
                <a:ea typeface="+mj-ea"/>
                <a:cs typeface="Arial"/>
                <a:sym typeface="Arial"/>
              </a:rPr>
              <a:t>業務効率化・コストダウンを実現したい</a:t>
            </a:r>
            <a:endParaRPr sz="1400" b="1">
              <a:solidFill>
                <a:schemeClr val="lt1"/>
              </a:solidFill>
              <a:latin typeface="+mj-ea"/>
              <a:ea typeface="+mj-ea"/>
              <a:cs typeface="Arial"/>
              <a:sym typeface="Arial"/>
            </a:endParaRPr>
          </a:p>
        </p:txBody>
      </p:sp>
      <p:sp>
        <p:nvSpPr>
          <p:cNvPr id="22" name="Google Shape;427;p3">
            <a:extLst>
              <a:ext uri="{FF2B5EF4-FFF2-40B4-BE49-F238E27FC236}">
                <a16:creationId xmlns:a16="http://schemas.microsoft.com/office/drawing/2014/main" id="{ED5F8818-8FDC-F685-4871-DF81D10B092B}"/>
              </a:ext>
            </a:extLst>
          </p:cNvPr>
          <p:cNvSpPr/>
          <p:nvPr/>
        </p:nvSpPr>
        <p:spPr>
          <a:xfrm>
            <a:off x="6809527" y="3599509"/>
            <a:ext cx="3999437" cy="305472"/>
          </a:xfrm>
          <a:prstGeom prst="rect">
            <a:avLst/>
          </a:prstGeom>
          <a:solidFill>
            <a:srgbClr val="D4A57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sz="1400" b="1">
                <a:solidFill>
                  <a:schemeClr val="lt1"/>
                </a:solidFill>
                <a:latin typeface="+mj-ea"/>
                <a:ea typeface="+mj-ea"/>
                <a:cs typeface="Arial"/>
                <a:sym typeface="Arial"/>
              </a:rPr>
              <a:t>業務分析・削減ポテンシャル評価</a:t>
            </a:r>
            <a:endParaRPr sz="1400" b="1">
              <a:solidFill>
                <a:schemeClr val="lt1"/>
              </a:solidFill>
              <a:latin typeface="+mj-ea"/>
              <a:ea typeface="+mj-ea"/>
              <a:cs typeface="Arial"/>
              <a:sym typeface="Arial"/>
            </a:endParaRPr>
          </a:p>
        </p:txBody>
      </p:sp>
      <p:sp>
        <p:nvSpPr>
          <p:cNvPr id="23" name="Google Shape;428;p3">
            <a:extLst>
              <a:ext uri="{FF2B5EF4-FFF2-40B4-BE49-F238E27FC236}">
                <a16:creationId xmlns:a16="http://schemas.microsoft.com/office/drawing/2014/main" id="{3A35CD40-C4CE-5860-B036-E7B3192C189D}"/>
              </a:ext>
            </a:extLst>
          </p:cNvPr>
          <p:cNvSpPr/>
          <p:nvPr/>
        </p:nvSpPr>
        <p:spPr>
          <a:xfrm>
            <a:off x="6809529" y="3966506"/>
            <a:ext cx="3999437" cy="305472"/>
          </a:xfrm>
          <a:prstGeom prst="rect">
            <a:avLst/>
          </a:prstGeom>
          <a:solidFill>
            <a:srgbClr val="D4A57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sz="1400" b="1">
                <a:solidFill>
                  <a:schemeClr val="lt1"/>
                </a:solidFill>
                <a:latin typeface="+mj-ea"/>
                <a:ea typeface="+mj-ea"/>
                <a:cs typeface="Arial"/>
                <a:sym typeface="Arial"/>
              </a:rPr>
              <a:t>AIエージェント開発</a:t>
            </a:r>
            <a:endParaRPr sz="1400" b="1">
              <a:solidFill>
                <a:schemeClr val="lt1"/>
              </a:solidFill>
              <a:latin typeface="+mj-ea"/>
              <a:ea typeface="+mj-ea"/>
              <a:cs typeface="Arial"/>
              <a:sym typeface="Arial"/>
            </a:endParaRPr>
          </a:p>
        </p:txBody>
      </p:sp>
      <p:sp>
        <p:nvSpPr>
          <p:cNvPr id="24" name="Google Shape;429;p3">
            <a:extLst>
              <a:ext uri="{FF2B5EF4-FFF2-40B4-BE49-F238E27FC236}">
                <a16:creationId xmlns:a16="http://schemas.microsoft.com/office/drawing/2014/main" id="{A8931738-E6E6-35B7-C2E1-9462F58DD282}"/>
              </a:ext>
            </a:extLst>
          </p:cNvPr>
          <p:cNvSpPr/>
          <p:nvPr/>
        </p:nvSpPr>
        <p:spPr>
          <a:xfrm>
            <a:off x="6809529" y="4333503"/>
            <a:ext cx="3999437" cy="305472"/>
          </a:xfrm>
          <a:prstGeom prst="rect">
            <a:avLst/>
          </a:prstGeom>
          <a:solidFill>
            <a:srgbClr val="D4A57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sz="1400" b="1">
                <a:solidFill>
                  <a:schemeClr val="lt1"/>
                </a:solidFill>
                <a:latin typeface="+mj-ea"/>
                <a:ea typeface="+mj-ea"/>
                <a:cs typeface="Arial"/>
                <a:sym typeface="Arial"/>
              </a:rPr>
              <a:t>AIプロダクト提供</a:t>
            </a:r>
            <a:endParaRPr sz="1400" b="1">
              <a:solidFill>
                <a:schemeClr val="lt1"/>
              </a:solidFill>
              <a:latin typeface="+mj-ea"/>
              <a:ea typeface="+mj-ea"/>
              <a:cs typeface="Arial"/>
              <a:sym typeface="Arial"/>
            </a:endParaRPr>
          </a:p>
        </p:txBody>
      </p:sp>
      <p:sp>
        <p:nvSpPr>
          <p:cNvPr id="25" name="Google Shape;430;p3">
            <a:extLst>
              <a:ext uri="{FF2B5EF4-FFF2-40B4-BE49-F238E27FC236}">
                <a16:creationId xmlns:a16="http://schemas.microsoft.com/office/drawing/2014/main" id="{487CA46E-0426-E93E-4B45-F77903716A15}"/>
              </a:ext>
            </a:extLst>
          </p:cNvPr>
          <p:cNvSpPr/>
          <p:nvPr/>
        </p:nvSpPr>
        <p:spPr>
          <a:xfrm>
            <a:off x="6807017" y="4700500"/>
            <a:ext cx="3999437" cy="305472"/>
          </a:xfrm>
          <a:prstGeom prst="rect">
            <a:avLst/>
          </a:prstGeom>
          <a:solidFill>
            <a:srgbClr val="D4A57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sz="1400" b="1">
                <a:solidFill>
                  <a:schemeClr val="lt1"/>
                </a:solidFill>
                <a:latin typeface="+mj-ea"/>
                <a:ea typeface="+mj-ea"/>
                <a:cs typeface="Arial"/>
                <a:sym typeface="Arial"/>
              </a:rPr>
              <a:t>システムリプレース</a:t>
            </a:r>
            <a:endParaRPr sz="1400" b="1">
              <a:solidFill>
                <a:schemeClr val="lt1"/>
              </a:solidFill>
              <a:latin typeface="+mj-ea"/>
              <a:ea typeface="+mj-ea"/>
              <a:cs typeface="Arial"/>
              <a:sym typeface="Arial"/>
            </a:endParaRPr>
          </a:p>
        </p:txBody>
      </p:sp>
      <p:sp>
        <p:nvSpPr>
          <p:cNvPr id="26" name="Google Shape;431;p3">
            <a:extLst>
              <a:ext uri="{FF2B5EF4-FFF2-40B4-BE49-F238E27FC236}">
                <a16:creationId xmlns:a16="http://schemas.microsoft.com/office/drawing/2014/main" id="{DE15E133-0C6A-6A5E-8B1E-B7E25F3369BC}"/>
              </a:ext>
            </a:extLst>
          </p:cNvPr>
          <p:cNvSpPr/>
          <p:nvPr/>
        </p:nvSpPr>
        <p:spPr>
          <a:xfrm rot="5400000">
            <a:off x="6539416" y="3686424"/>
            <a:ext cx="256914" cy="138303"/>
          </a:xfrm>
          <a:prstGeom prst="triangle">
            <a:avLst>
              <a:gd name="adj" fmla="val 50000"/>
            </a:avLst>
          </a:prstGeom>
          <a:solidFill>
            <a:srgbClr val="A5A5A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b="1">
              <a:solidFill>
                <a:schemeClr val="lt1"/>
              </a:solidFill>
              <a:latin typeface="+mj-ea"/>
              <a:ea typeface="+mj-ea"/>
              <a:cs typeface="Arial"/>
              <a:sym typeface="Arial"/>
            </a:endParaRPr>
          </a:p>
        </p:txBody>
      </p:sp>
      <p:sp>
        <p:nvSpPr>
          <p:cNvPr id="27" name="Google Shape;432;p3">
            <a:extLst>
              <a:ext uri="{FF2B5EF4-FFF2-40B4-BE49-F238E27FC236}">
                <a16:creationId xmlns:a16="http://schemas.microsoft.com/office/drawing/2014/main" id="{4FB57464-6155-3520-D2A7-CA540316557D}"/>
              </a:ext>
            </a:extLst>
          </p:cNvPr>
          <p:cNvSpPr/>
          <p:nvPr/>
        </p:nvSpPr>
        <p:spPr>
          <a:xfrm rot="5400000">
            <a:off x="6539416" y="4054045"/>
            <a:ext cx="256914" cy="138303"/>
          </a:xfrm>
          <a:prstGeom prst="triangle">
            <a:avLst>
              <a:gd name="adj" fmla="val 50000"/>
            </a:avLst>
          </a:prstGeom>
          <a:solidFill>
            <a:srgbClr val="A5A5A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b="1">
              <a:solidFill>
                <a:schemeClr val="lt1"/>
              </a:solidFill>
              <a:latin typeface="+mj-ea"/>
              <a:ea typeface="+mj-ea"/>
              <a:cs typeface="Arial"/>
              <a:sym typeface="Arial"/>
            </a:endParaRPr>
          </a:p>
        </p:txBody>
      </p:sp>
      <p:sp>
        <p:nvSpPr>
          <p:cNvPr id="28" name="Google Shape;433;p3">
            <a:extLst>
              <a:ext uri="{FF2B5EF4-FFF2-40B4-BE49-F238E27FC236}">
                <a16:creationId xmlns:a16="http://schemas.microsoft.com/office/drawing/2014/main" id="{5C007522-EE09-2CEC-559B-B520D849484F}"/>
              </a:ext>
            </a:extLst>
          </p:cNvPr>
          <p:cNvSpPr/>
          <p:nvPr/>
        </p:nvSpPr>
        <p:spPr>
          <a:xfrm rot="5400000">
            <a:off x="6539416" y="4421666"/>
            <a:ext cx="256914" cy="138303"/>
          </a:xfrm>
          <a:prstGeom prst="triangle">
            <a:avLst>
              <a:gd name="adj" fmla="val 50000"/>
            </a:avLst>
          </a:prstGeom>
          <a:solidFill>
            <a:srgbClr val="A5A5A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b="1">
              <a:solidFill>
                <a:schemeClr val="lt1"/>
              </a:solidFill>
              <a:latin typeface="+mj-ea"/>
              <a:ea typeface="+mj-ea"/>
              <a:cs typeface="Arial"/>
              <a:sym typeface="Arial"/>
            </a:endParaRPr>
          </a:p>
        </p:txBody>
      </p:sp>
      <p:sp>
        <p:nvSpPr>
          <p:cNvPr id="29" name="Google Shape;434;p3">
            <a:extLst>
              <a:ext uri="{FF2B5EF4-FFF2-40B4-BE49-F238E27FC236}">
                <a16:creationId xmlns:a16="http://schemas.microsoft.com/office/drawing/2014/main" id="{65073E64-A79E-0CD2-DFD8-C7B9DF78B43F}"/>
              </a:ext>
            </a:extLst>
          </p:cNvPr>
          <p:cNvSpPr/>
          <p:nvPr/>
        </p:nvSpPr>
        <p:spPr>
          <a:xfrm rot="5400000">
            <a:off x="6539416" y="4789288"/>
            <a:ext cx="256914" cy="138303"/>
          </a:xfrm>
          <a:prstGeom prst="triangle">
            <a:avLst>
              <a:gd name="adj" fmla="val 50000"/>
            </a:avLst>
          </a:prstGeom>
          <a:solidFill>
            <a:srgbClr val="A5A5A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b="1">
              <a:solidFill>
                <a:schemeClr val="lt1"/>
              </a:solidFill>
              <a:latin typeface="+mj-ea"/>
              <a:ea typeface="+mj-ea"/>
              <a:cs typeface="Arial"/>
              <a:sym typeface="Arial"/>
            </a:endParaRPr>
          </a:p>
        </p:txBody>
      </p:sp>
      <p:sp>
        <p:nvSpPr>
          <p:cNvPr id="30" name="Google Shape;435;p3">
            <a:extLst>
              <a:ext uri="{FF2B5EF4-FFF2-40B4-BE49-F238E27FC236}">
                <a16:creationId xmlns:a16="http://schemas.microsoft.com/office/drawing/2014/main" id="{8CC64DF2-8537-68B1-30A2-09E96472DA98}"/>
              </a:ext>
            </a:extLst>
          </p:cNvPr>
          <p:cNvSpPr/>
          <p:nvPr/>
        </p:nvSpPr>
        <p:spPr>
          <a:xfrm>
            <a:off x="1380960" y="5126840"/>
            <a:ext cx="1445897" cy="1008934"/>
          </a:xfrm>
          <a:prstGeom prst="rect">
            <a:avLst/>
          </a:prstGeom>
          <a:solidFill>
            <a:srgbClr val="2D5A4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sz="1400" b="1">
                <a:solidFill>
                  <a:schemeClr val="lt1"/>
                </a:solidFill>
                <a:latin typeface="+mj-ea"/>
                <a:ea typeface="+mj-ea"/>
                <a:cs typeface="Arial"/>
                <a:sym typeface="Arial"/>
              </a:rPr>
              <a:t>組織</a:t>
            </a:r>
            <a:endParaRPr sz="1400" b="1">
              <a:solidFill>
                <a:schemeClr val="lt1"/>
              </a:solidFill>
              <a:latin typeface="+mj-ea"/>
              <a:ea typeface="+mj-ea"/>
              <a:cs typeface="Arial"/>
              <a:sym typeface="Arial"/>
            </a:endParaRPr>
          </a:p>
        </p:txBody>
      </p:sp>
      <p:sp>
        <p:nvSpPr>
          <p:cNvPr id="31" name="Google Shape;436;p3">
            <a:extLst>
              <a:ext uri="{FF2B5EF4-FFF2-40B4-BE49-F238E27FC236}">
                <a16:creationId xmlns:a16="http://schemas.microsoft.com/office/drawing/2014/main" id="{64BE298C-6C8C-9F48-E47E-9FB56D67629E}"/>
              </a:ext>
            </a:extLst>
          </p:cNvPr>
          <p:cNvSpPr/>
          <p:nvPr/>
        </p:nvSpPr>
        <p:spPr>
          <a:xfrm>
            <a:off x="2927438" y="5480672"/>
            <a:ext cx="3567761" cy="655103"/>
          </a:xfrm>
          <a:prstGeom prst="rect">
            <a:avLst/>
          </a:prstGeom>
          <a:solidFill>
            <a:srgbClr val="5A957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sz="1400" b="1">
                <a:solidFill>
                  <a:schemeClr val="lt1"/>
                </a:solidFill>
                <a:latin typeface="+mj-ea"/>
                <a:ea typeface="+mj-ea"/>
                <a:cs typeface="Arial"/>
                <a:sym typeface="Arial"/>
              </a:rPr>
              <a:t>人材を強化したい</a:t>
            </a:r>
            <a:endParaRPr sz="1400" b="1">
              <a:solidFill>
                <a:schemeClr val="lt1"/>
              </a:solidFill>
              <a:latin typeface="+mj-ea"/>
              <a:ea typeface="+mj-ea"/>
              <a:cs typeface="Arial"/>
              <a:sym typeface="Arial"/>
            </a:endParaRPr>
          </a:p>
        </p:txBody>
      </p:sp>
      <p:sp>
        <p:nvSpPr>
          <p:cNvPr id="32" name="Google Shape;437;p3">
            <a:extLst>
              <a:ext uri="{FF2B5EF4-FFF2-40B4-BE49-F238E27FC236}">
                <a16:creationId xmlns:a16="http://schemas.microsoft.com/office/drawing/2014/main" id="{224A5C88-D4F2-9932-60D6-EBB7862A190C}"/>
              </a:ext>
            </a:extLst>
          </p:cNvPr>
          <p:cNvSpPr/>
          <p:nvPr/>
        </p:nvSpPr>
        <p:spPr>
          <a:xfrm>
            <a:off x="2927437" y="5124284"/>
            <a:ext cx="3567761" cy="305473"/>
          </a:xfrm>
          <a:prstGeom prst="rect">
            <a:avLst/>
          </a:prstGeom>
          <a:solidFill>
            <a:srgbClr val="5A957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sz="1400" b="1">
                <a:solidFill>
                  <a:schemeClr val="lt1"/>
                </a:solidFill>
                <a:latin typeface="+mj-ea"/>
                <a:ea typeface="+mj-ea"/>
                <a:cs typeface="Arial"/>
                <a:sym typeface="Arial"/>
              </a:rPr>
              <a:t>AIを普及させたい</a:t>
            </a:r>
            <a:endParaRPr sz="1400" b="1">
              <a:solidFill>
                <a:schemeClr val="lt1"/>
              </a:solidFill>
              <a:latin typeface="+mj-ea"/>
              <a:ea typeface="+mj-ea"/>
              <a:cs typeface="Arial"/>
              <a:sym typeface="Arial"/>
            </a:endParaRPr>
          </a:p>
        </p:txBody>
      </p:sp>
      <p:sp>
        <p:nvSpPr>
          <p:cNvPr id="33" name="Google Shape;438;p3">
            <a:extLst>
              <a:ext uri="{FF2B5EF4-FFF2-40B4-BE49-F238E27FC236}">
                <a16:creationId xmlns:a16="http://schemas.microsoft.com/office/drawing/2014/main" id="{D6319BE8-E94C-DEF1-FDC3-F3D79ABF8924}"/>
              </a:ext>
            </a:extLst>
          </p:cNvPr>
          <p:cNvSpPr/>
          <p:nvPr/>
        </p:nvSpPr>
        <p:spPr>
          <a:xfrm>
            <a:off x="6809529" y="5124284"/>
            <a:ext cx="3999437" cy="305472"/>
          </a:xfrm>
          <a:prstGeom prst="rect">
            <a:avLst/>
          </a:prstGeom>
          <a:solidFill>
            <a:srgbClr val="D4A57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sz="1400" b="1">
                <a:solidFill>
                  <a:schemeClr val="lt1"/>
                </a:solidFill>
                <a:latin typeface="+mj-ea"/>
                <a:ea typeface="+mj-ea"/>
                <a:cs typeface="Arial"/>
                <a:sym typeface="Arial"/>
              </a:rPr>
              <a:t>AI推進室立ち上げ支援</a:t>
            </a:r>
            <a:endParaRPr sz="1400" b="1">
              <a:solidFill>
                <a:schemeClr val="lt1"/>
              </a:solidFill>
              <a:latin typeface="+mj-ea"/>
              <a:ea typeface="+mj-ea"/>
              <a:cs typeface="Arial"/>
              <a:sym typeface="Arial"/>
            </a:endParaRPr>
          </a:p>
        </p:txBody>
      </p:sp>
      <p:sp>
        <p:nvSpPr>
          <p:cNvPr id="34" name="Google Shape;439;p3">
            <a:extLst>
              <a:ext uri="{FF2B5EF4-FFF2-40B4-BE49-F238E27FC236}">
                <a16:creationId xmlns:a16="http://schemas.microsoft.com/office/drawing/2014/main" id="{D589ADF1-F363-EE69-FF6D-17EEA454440E}"/>
              </a:ext>
            </a:extLst>
          </p:cNvPr>
          <p:cNvSpPr/>
          <p:nvPr/>
        </p:nvSpPr>
        <p:spPr>
          <a:xfrm>
            <a:off x="6809529" y="5480673"/>
            <a:ext cx="3999437" cy="305472"/>
          </a:xfrm>
          <a:prstGeom prst="rect">
            <a:avLst/>
          </a:prstGeom>
          <a:solidFill>
            <a:srgbClr val="D4A57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sz="1400" b="1">
                <a:solidFill>
                  <a:schemeClr val="lt1"/>
                </a:solidFill>
                <a:latin typeface="+mj-ea"/>
                <a:ea typeface="+mj-ea"/>
                <a:cs typeface="Arial"/>
                <a:sym typeface="Arial"/>
              </a:rPr>
              <a:t>ハイクラス人材派遣・紹介</a:t>
            </a:r>
            <a:endParaRPr sz="1400" b="1">
              <a:solidFill>
                <a:schemeClr val="lt1"/>
              </a:solidFill>
              <a:latin typeface="+mj-ea"/>
              <a:ea typeface="+mj-ea"/>
              <a:cs typeface="Arial"/>
              <a:sym typeface="Arial"/>
            </a:endParaRPr>
          </a:p>
        </p:txBody>
      </p:sp>
      <p:sp>
        <p:nvSpPr>
          <p:cNvPr id="35" name="Google Shape;440;p3">
            <a:extLst>
              <a:ext uri="{FF2B5EF4-FFF2-40B4-BE49-F238E27FC236}">
                <a16:creationId xmlns:a16="http://schemas.microsoft.com/office/drawing/2014/main" id="{E358DC32-D392-0FFA-816F-3DC425974E21}"/>
              </a:ext>
            </a:extLst>
          </p:cNvPr>
          <p:cNvSpPr/>
          <p:nvPr/>
        </p:nvSpPr>
        <p:spPr>
          <a:xfrm>
            <a:off x="6809529" y="5830303"/>
            <a:ext cx="3999437" cy="305472"/>
          </a:xfrm>
          <a:prstGeom prst="rect">
            <a:avLst/>
          </a:prstGeom>
          <a:solidFill>
            <a:srgbClr val="D4A57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sz="1400" b="1">
                <a:solidFill>
                  <a:schemeClr val="lt1"/>
                </a:solidFill>
                <a:latin typeface="+mj-ea"/>
                <a:ea typeface="+mj-ea"/>
                <a:cs typeface="Arial"/>
                <a:sym typeface="Arial"/>
              </a:rPr>
              <a:t>AI人材育成支援</a:t>
            </a:r>
            <a:endParaRPr sz="1400" b="1">
              <a:solidFill>
                <a:schemeClr val="lt1"/>
              </a:solidFill>
              <a:latin typeface="+mj-ea"/>
              <a:ea typeface="+mj-ea"/>
              <a:cs typeface="Arial"/>
              <a:sym typeface="Arial"/>
            </a:endParaRPr>
          </a:p>
        </p:txBody>
      </p:sp>
      <p:sp>
        <p:nvSpPr>
          <p:cNvPr id="36" name="Google Shape;441;p3">
            <a:extLst>
              <a:ext uri="{FF2B5EF4-FFF2-40B4-BE49-F238E27FC236}">
                <a16:creationId xmlns:a16="http://schemas.microsoft.com/office/drawing/2014/main" id="{4C003F8C-A6C8-7340-50EC-005F2DCBF516}"/>
              </a:ext>
            </a:extLst>
          </p:cNvPr>
          <p:cNvSpPr/>
          <p:nvPr/>
        </p:nvSpPr>
        <p:spPr>
          <a:xfrm rot="5400000">
            <a:off x="6539416" y="5210102"/>
            <a:ext cx="256914" cy="138303"/>
          </a:xfrm>
          <a:prstGeom prst="triangle">
            <a:avLst>
              <a:gd name="adj" fmla="val 50000"/>
            </a:avLst>
          </a:prstGeom>
          <a:solidFill>
            <a:srgbClr val="A5A5A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b="1">
              <a:solidFill>
                <a:schemeClr val="lt1"/>
              </a:solidFill>
              <a:latin typeface="+mj-ea"/>
              <a:ea typeface="+mj-ea"/>
              <a:cs typeface="Arial"/>
              <a:sym typeface="Arial"/>
            </a:endParaRPr>
          </a:p>
        </p:txBody>
      </p:sp>
      <p:sp>
        <p:nvSpPr>
          <p:cNvPr id="37" name="Google Shape;442;p3">
            <a:extLst>
              <a:ext uri="{FF2B5EF4-FFF2-40B4-BE49-F238E27FC236}">
                <a16:creationId xmlns:a16="http://schemas.microsoft.com/office/drawing/2014/main" id="{DE76D731-0C8E-DAB1-76EF-1299D98D2E75}"/>
              </a:ext>
            </a:extLst>
          </p:cNvPr>
          <p:cNvSpPr/>
          <p:nvPr/>
        </p:nvSpPr>
        <p:spPr>
          <a:xfrm rot="5400000">
            <a:off x="6539416" y="5566798"/>
            <a:ext cx="256914" cy="138303"/>
          </a:xfrm>
          <a:prstGeom prst="triangle">
            <a:avLst>
              <a:gd name="adj" fmla="val 50000"/>
            </a:avLst>
          </a:prstGeom>
          <a:solidFill>
            <a:srgbClr val="A5A5A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b="1">
              <a:solidFill>
                <a:schemeClr val="lt1"/>
              </a:solidFill>
              <a:latin typeface="+mj-ea"/>
              <a:ea typeface="+mj-ea"/>
              <a:cs typeface="Arial"/>
              <a:sym typeface="Arial"/>
            </a:endParaRPr>
          </a:p>
        </p:txBody>
      </p:sp>
      <p:sp>
        <p:nvSpPr>
          <p:cNvPr id="38" name="Google Shape;443;p3">
            <a:extLst>
              <a:ext uri="{FF2B5EF4-FFF2-40B4-BE49-F238E27FC236}">
                <a16:creationId xmlns:a16="http://schemas.microsoft.com/office/drawing/2014/main" id="{1B754598-8F94-2A42-FC1D-F73755D7C4CF}"/>
              </a:ext>
            </a:extLst>
          </p:cNvPr>
          <p:cNvSpPr/>
          <p:nvPr/>
        </p:nvSpPr>
        <p:spPr>
          <a:xfrm rot="5400000">
            <a:off x="6539416" y="5915806"/>
            <a:ext cx="256914" cy="138303"/>
          </a:xfrm>
          <a:prstGeom prst="triangle">
            <a:avLst>
              <a:gd name="adj" fmla="val 50000"/>
            </a:avLst>
          </a:prstGeom>
          <a:solidFill>
            <a:srgbClr val="A5A5A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b="1">
              <a:solidFill>
                <a:schemeClr val="lt1"/>
              </a:solidFill>
              <a:latin typeface="+mj-ea"/>
              <a:ea typeface="+mj-ea"/>
              <a:cs typeface="Arial"/>
              <a:sym typeface="Arial"/>
            </a:endParaRPr>
          </a:p>
        </p:txBody>
      </p:sp>
      <p:cxnSp>
        <p:nvCxnSpPr>
          <p:cNvPr id="39" name="Google Shape;444;p3">
            <a:extLst>
              <a:ext uri="{FF2B5EF4-FFF2-40B4-BE49-F238E27FC236}">
                <a16:creationId xmlns:a16="http://schemas.microsoft.com/office/drawing/2014/main" id="{CDBD9D38-E2C4-9386-42FB-2BD6284DC606}"/>
              </a:ext>
            </a:extLst>
          </p:cNvPr>
          <p:cNvCxnSpPr/>
          <p:nvPr/>
        </p:nvCxnSpPr>
        <p:spPr>
          <a:xfrm>
            <a:off x="1380959" y="1897033"/>
            <a:ext cx="5114242" cy="0"/>
          </a:xfrm>
          <a:prstGeom prst="straightConnector1">
            <a:avLst/>
          </a:prstGeom>
          <a:noFill/>
          <a:ln w="19050" cap="flat" cmpd="sng">
            <a:solidFill>
              <a:schemeClr val="accent1"/>
            </a:solidFill>
            <a:prstDash val="solid"/>
            <a:miter lim="800000"/>
            <a:headEnd type="none" w="sm" len="sm"/>
            <a:tailEnd type="none" w="sm" len="sm"/>
          </a:ln>
        </p:spPr>
      </p:cxnSp>
      <p:cxnSp>
        <p:nvCxnSpPr>
          <p:cNvPr id="40" name="Google Shape;445;p3">
            <a:extLst>
              <a:ext uri="{FF2B5EF4-FFF2-40B4-BE49-F238E27FC236}">
                <a16:creationId xmlns:a16="http://schemas.microsoft.com/office/drawing/2014/main" id="{A2164743-B904-2475-179E-DBD1649B0F69}"/>
              </a:ext>
            </a:extLst>
          </p:cNvPr>
          <p:cNvCxnSpPr/>
          <p:nvPr/>
        </p:nvCxnSpPr>
        <p:spPr>
          <a:xfrm>
            <a:off x="6812494" y="1897033"/>
            <a:ext cx="3993960" cy="0"/>
          </a:xfrm>
          <a:prstGeom prst="straightConnector1">
            <a:avLst/>
          </a:prstGeom>
          <a:noFill/>
          <a:ln w="19050" cap="flat" cmpd="sng">
            <a:solidFill>
              <a:schemeClr val="accent1"/>
            </a:solidFill>
            <a:prstDash val="solid"/>
            <a:miter lim="800000"/>
            <a:headEnd type="none" w="sm" len="sm"/>
            <a:tailEnd type="none" w="sm" len="sm"/>
          </a:ln>
        </p:spPr>
      </p:cxnSp>
      <p:sp>
        <p:nvSpPr>
          <p:cNvPr id="41" name="Google Shape;446;p3">
            <a:extLst>
              <a:ext uri="{FF2B5EF4-FFF2-40B4-BE49-F238E27FC236}">
                <a16:creationId xmlns:a16="http://schemas.microsoft.com/office/drawing/2014/main" id="{A441A12F-5465-911D-A79E-7133383297C0}"/>
              </a:ext>
            </a:extLst>
          </p:cNvPr>
          <p:cNvSpPr/>
          <p:nvPr/>
        </p:nvSpPr>
        <p:spPr>
          <a:xfrm>
            <a:off x="1380959" y="1494913"/>
            <a:ext cx="5114242" cy="360669"/>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altLang="en-US" sz="2000" b="1" dirty="0">
                <a:solidFill>
                  <a:schemeClr val="dk1"/>
                </a:solidFill>
                <a:latin typeface="+mj-ea"/>
                <a:ea typeface="+mj-ea"/>
                <a:cs typeface="Arial"/>
                <a:sym typeface="Arial"/>
              </a:rPr>
              <a:t>クライアント</a:t>
            </a:r>
            <a:r>
              <a:rPr lang="ja-JP" sz="2000" b="1" dirty="0">
                <a:solidFill>
                  <a:schemeClr val="dk1"/>
                </a:solidFill>
                <a:latin typeface="+mj-ea"/>
                <a:ea typeface="+mj-ea"/>
                <a:cs typeface="Arial"/>
                <a:sym typeface="Arial"/>
              </a:rPr>
              <a:t>のご状況</a:t>
            </a:r>
            <a:endParaRPr dirty="0">
              <a:latin typeface="+mj-ea"/>
              <a:ea typeface="+mj-ea"/>
            </a:endParaRPr>
          </a:p>
        </p:txBody>
      </p:sp>
      <p:sp>
        <p:nvSpPr>
          <p:cNvPr id="42" name="Google Shape;447;p3">
            <a:extLst>
              <a:ext uri="{FF2B5EF4-FFF2-40B4-BE49-F238E27FC236}">
                <a16:creationId xmlns:a16="http://schemas.microsoft.com/office/drawing/2014/main" id="{C8CF64AF-53EF-FF41-A7C2-7716AFEB4D66}"/>
              </a:ext>
            </a:extLst>
          </p:cNvPr>
          <p:cNvSpPr/>
          <p:nvPr/>
        </p:nvSpPr>
        <p:spPr>
          <a:xfrm>
            <a:off x="6807017" y="1494797"/>
            <a:ext cx="3999437" cy="360669"/>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sz="2000" b="1">
                <a:solidFill>
                  <a:schemeClr val="dk1"/>
                </a:solidFill>
                <a:latin typeface="+mj-ea"/>
                <a:ea typeface="+mj-ea"/>
                <a:cs typeface="Arial"/>
                <a:sym typeface="Arial"/>
              </a:rPr>
              <a:t>提供サービス</a:t>
            </a:r>
            <a:endParaRPr sz="2000" b="1">
              <a:solidFill>
                <a:schemeClr val="dk1"/>
              </a:solidFill>
              <a:latin typeface="+mj-ea"/>
              <a:ea typeface="+mj-ea"/>
              <a:cs typeface="Arial"/>
              <a:sym typeface="Arial"/>
            </a:endParaRPr>
          </a:p>
        </p:txBody>
      </p:sp>
      <p:cxnSp>
        <p:nvCxnSpPr>
          <p:cNvPr id="43" name="Google Shape;448;p3">
            <a:extLst>
              <a:ext uri="{FF2B5EF4-FFF2-40B4-BE49-F238E27FC236}">
                <a16:creationId xmlns:a16="http://schemas.microsoft.com/office/drawing/2014/main" id="{EA891D90-4FB2-C3B2-3298-1F46CBD659BD}"/>
              </a:ext>
            </a:extLst>
          </p:cNvPr>
          <p:cNvCxnSpPr/>
          <p:nvPr/>
        </p:nvCxnSpPr>
        <p:spPr>
          <a:xfrm>
            <a:off x="1380959" y="2400330"/>
            <a:ext cx="9425495" cy="0"/>
          </a:xfrm>
          <a:prstGeom prst="straightConnector1">
            <a:avLst/>
          </a:prstGeom>
          <a:noFill/>
          <a:ln w="19050" cap="flat" cmpd="sng">
            <a:solidFill>
              <a:srgbClr val="7F7F7F"/>
            </a:solidFill>
            <a:prstDash val="dash"/>
            <a:miter lim="800000"/>
            <a:headEnd type="none" w="sm" len="sm"/>
            <a:tailEnd type="none" w="sm" len="sm"/>
          </a:ln>
        </p:spPr>
      </p:cxnSp>
      <p:cxnSp>
        <p:nvCxnSpPr>
          <p:cNvPr id="44" name="Google Shape;449;p3">
            <a:extLst>
              <a:ext uri="{FF2B5EF4-FFF2-40B4-BE49-F238E27FC236}">
                <a16:creationId xmlns:a16="http://schemas.microsoft.com/office/drawing/2014/main" id="{29DEFE7D-1C87-7529-F55B-824A2D5DF7E6}"/>
              </a:ext>
            </a:extLst>
          </p:cNvPr>
          <p:cNvCxnSpPr/>
          <p:nvPr/>
        </p:nvCxnSpPr>
        <p:spPr>
          <a:xfrm>
            <a:off x="1380959" y="3540352"/>
            <a:ext cx="9425495" cy="0"/>
          </a:xfrm>
          <a:prstGeom prst="straightConnector1">
            <a:avLst/>
          </a:prstGeom>
          <a:noFill/>
          <a:ln w="19050" cap="flat" cmpd="sng">
            <a:solidFill>
              <a:srgbClr val="7F7F7F"/>
            </a:solidFill>
            <a:prstDash val="dash"/>
            <a:miter lim="800000"/>
            <a:headEnd type="none" w="sm" len="sm"/>
            <a:tailEnd type="none" w="sm" len="sm"/>
          </a:ln>
        </p:spPr>
      </p:cxnSp>
      <p:cxnSp>
        <p:nvCxnSpPr>
          <p:cNvPr id="45" name="Google Shape;450;p3">
            <a:extLst>
              <a:ext uri="{FF2B5EF4-FFF2-40B4-BE49-F238E27FC236}">
                <a16:creationId xmlns:a16="http://schemas.microsoft.com/office/drawing/2014/main" id="{E320BD27-F583-B859-BC72-B3C60D82FB69}"/>
              </a:ext>
            </a:extLst>
          </p:cNvPr>
          <p:cNvCxnSpPr/>
          <p:nvPr/>
        </p:nvCxnSpPr>
        <p:spPr>
          <a:xfrm>
            <a:off x="1380959" y="5065129"/>
            <a:ext cx="9425495" cy="0"/>
          </a:xfrm>
          <a:prstGeom prst="straightConnector1">
            <a:avLst/>
          </a:prstGeom>
          <a:noFill/>
          <a:ln w="19050" cap="flat" cmpd="sng">
            <a:solidFill>
              <a:srgbClr val="7F7F7F"/>
            </a:solidFill>
            <a:prstDash val="dash"/>
            <a:miter lim="800000"/>
            <a:headEnd type="none" w="sm" len="sm"/>
            <a:tailEnd type="none" w="sm" len="sm"/>
          </a:ln>
        </p:spPr>
      </p:cxnSp>
    </p:spTree>
    <p:extLst>
      <p:ext uri="{BB962C8B-B14F-4D97-AF65-F5344CB8AC3E}">
        <p14:creationId xmlns:p14="http://schemas.microsoft.com/office/powerpoint/2010/main" val="16542088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64A76DC-AC35-5C04-C81C-651F77CEEEC2}"/>
              </a:ext>
            </a:extLst>
          </p:cNvPr>
          <p:cNvSpPr>
            <a:spLocks noGrp="1"/>
          </p:cNvSpPr>
          <p:nvPr>
            <p:ph type="title"/>
          </p:nvPr>
        </p:nvSpPr>
        <p:spPr/>
        <p:txBody>
          <a:bodyPr/>
          <a:lstStyle/>
          <a:p>
            <a:r>
              <a:rPr kumimoji="1" lang="en-US" altLang="ja-JP" dirty="0"/>
              <a:t>AI</a:t>
            </a:r>
            <a:r>
              <a:rPr kumimoji="1" lang="ja-JP" altLang="en-US" dirty="0"/>
              <a:t>による企業変革に必要な技術力ｘ実行力ｘ事業経験を有するプロフェッショナルファーム</a:t>
            </a:r>
          </a:p>
        </p:txBody>
      </p:sp>
      <p:sp>
        <p:nvSpPr>
          <p:cNvPr id="6" name="コンテンツ プレースホルダー 5">
            <a:extLst>
              <a:ext uri="{FF2B5EF4-FFF2-40B4-BE49-F238E27FC236}">
                <a16:creationId xmlns:a16="http://schemas.microsoft.com/office/drawing/2014/main" id="{36DA9079-7184-0274-2A33-31171F95B04C}"/>
              </a:ext>
            </a:extLst>
          </p:cNvPr>
          <p:cNvSpPr>
            <a:spLocks noGrp="1"/>
          </p:cNvSpPr>
          <p:nvPr>
            <p:ph idx="12"/>
          </p:nvPr>
        </p:nvSpPr>
        <p:spPr/>
        <p:txBody>
          <a:bodyPr/>
          <a:lstStyle/>
          <a:p>
            <a:r>
              <a:rPr kumimoji="1" lang="en-US" altLang="ja-JP" dirty="0"/>
              <a:t>Boost Consulting</a:t>
            </a:r>
            <a:r>
              <a:rPr kumimoji="1" lang="ja-JP" altLang="en-US" dirty="0"/>
              <a:t>の強み</a:t>
            </a:r>
          </a:p>
        </p:txBody>
      </p:sp>
      <p:grpSp>
        <p:nvGrpSpPr>
          <p:cNvPr id="7" name="Google Shape;458;p4">
            <a:extLst>
              <a:ext uri="{FF2B5EF4-FFF2-40B4-BE49-F238E27FC236}">
                <a16:creationId xmlns:a16="http://schemas.microsoft.com/office/drawing/2014/main" id="{41D5A328-782E-95E0-A30B-C286CA436772}"/>
              </a:ext>
            </a:extLst>
          </p:cNvPr>
          <p:cNvGrpSpPr/>
          <p:nvPr/>
        </p:nvGrpSpPr>
        <p:grpSpPr>
          <a:xfrm>
            <a:off x="531945" y="1950498"/>
            <a:ext cx="3806958" cy="3412547"/>
            <a:chOff x="704989" y="2105614"/>
            <a:chExt cx="3460871" cy="3102315"/>
          </a:xfrm>
        </p:grpSpPr>
        <p:sp>
          <p:nvSpPr>
            <p:cNvPr id="8" name="Google Shape;459;p4">
              <a:extLst>
                <a:ext uri="{FF2B5EF4-FFF2-40B4-BE49-F238E27FC236}">
                  <a16:creationId xmlns:a16="http://schemas.microsoft.com/office/drawing/2014/main" id="{C6FACEA8-43E4-02E9-A80C-8721E6F7F3AB}"/>
                </a:ext>
              </a:extLst>
            </p:cNvPr>
            <p:cNvSpPr/>
            <p:nvPr/>
          </p:nvSpPr>
          <p:spPr>
            <a:xfrm>
              <a:off x="1528031" y="2105614"/>
              <a:ext cx="1903515" cy="1903514"/>
            </a:xfrm>
            <a:prstGeom prst="ellipse">
              <a:avLst/>
            </a:prstGeom>
            <a:solidFill>
              <a:srgbClr val="B8935F">
                <a:alpha val="69803"/>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424242"/>
                </a:buClr>
                <a:buSzPts val="2400"/>
                <a:buFont typeface="Arial"/>
                <a:buNone/>
              </a:pPr>
              <a:r>
                <a:rPr lang="ja-JP" sz="2400" b="1" i="0" u="none" strike="noStrike" cap="none">
                  <a:solidFill>
                    <a:srgbClr val="424242"/>
                  </a:solidFill>
                  <a:latin typeface="+mj-ea"/>
                  <a:ea typeface="+mj-ea"/>
                  <a:cs typeface="Arial"/>
                  <a:sym typeface="Arial"/>
                </a:rPr>
                <a:t>技術力</a:t>
              </a:r>
              <a:endParaRPr>
                <a:latin typeface="+mj-ea"/>
                <a:ea typeface="+mj-ea"/>
              </a:endParaRPr>
            </a:p>
          </p:txBody>
        </p:sp>
        <p:sp>
          <p:nvSpPr>
            <p:cNvPr id="9" name="Google Shape;460;p4">
              <a:extLst>
                <a:ext uri="{FF2B5EF4-FFF2-40B4-BE49-F238E27FC236}">
                  <a16:creationId xmlns:a16="http://schemas.microsoft.com/office/drawing/2014/main" id="{777856D8-336C-816E-D419-1CEB35DB5A4E}"/>
                </a:ext>
              </a:extLst>
            </p:cNvPr>
            <p:cNvSpPr/>
            <p:nvPr/>
          </p:nvSpPr>
          <p:spPr>
            <a:xfrm>
              <a:off x="704989" y="3304415"/>
              <a:ext cx="1903515" cy="1903514"/>
            </a:xfrm>
            <a:prstGeom prst="ellipse">
              <a:avLst/>
            </a:prstGeom>
            <a:solidFill>
              <a:srgbClr val="7F7F7F">
                <a:alpha val="69803"/>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424242"/>
                </a:buClr>
                <a:buSzPts val="2400"/>
                <a:buFont typeface="Arial"/>
                <a:buNone/>
              </a:pPr>
              <a:r>
                <a:rPr lang="ja-JP" sz="2400" b="1" i="0" u="none" strike="noStrike" cap="none">
                  <a:solidFill>
                    <a:srgbClr val="424242"/>
                  </a:solidFill>
                  <a:latin typeface="+mj-ea"/>
                  <a:ea typeface="+mj-ea"/>
                  <a:cs typeface="Arial"/>
                  <a:sym typeface="Arial"/>
                </a:rPr>
                <a:t>事業経験</a:t>
              </a:r>
              <a:endParaRPr>
                <a:latin typeface="+mj-ea"/>
                <a:ea typeface="+mj-ea"/>
              </a:endParaRPr>
            </a:p>
          </p:txBody>
        </p:sp>
        <p:sp>
          <p:nvSpPr>
            <p:cNvPr id="10" name="Google Shape;461;p4">
              <a:extLst>
                <a:ext uri="{FF2B5EF4-FFF2-40B4-BE49-F238E27FC236}">
                  <a16:creationId xmlns:a16="http://schemas.microsoft.com/office/drawing/2014/main" id="{5ABF40A7-2966-AA91-47E8-039DE01072B0}"/>
                </a:ext>
              </a:extLst>
            </p:cNvPr>
            <p:cNvSpPr/>
            <p:nvPr/>
          </p:nvSpPr>
          <p:spPr>
            <a:xfrm>
              <a:off x="2262345" y="3304415"/>
              <a:ext cx="1903515" cy="1903514"/>
            </a:xfrm>
            <a:prstGeom prst="ellipse">
              <a:avLst/>
            </a:prstGeom>
            <a:solidFill>
              <a:srgbClr val="B8935F">
                <a:alpha val="69803"/>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424242"/>
                </a:buClr>
                <a:buSzPts val="2400"/>
                <a:buFont typeface="Arial"/>
                <a:buNone/>
              </a:pPr>
              <a:r>
                <a:rPr lang="ja-JP" sz="2400" b="1" i="0" u="none" strike="noStrike" cap="none">
                  <a:solidFill>
                    <a:srgbClr val="424242"/>
                  </a:solidFill>
                  <a:latin typeface="+mj-ea"/>
                  <a:ea typeface="+mj-ea"/>
                  <a:cs typeface="Arial"/>
                  <a:sym typeface="Arial"/>
                </a:rPr>
                <a:t>実行力</a:t>
              </a:r>
              <a:endParaRPr>
                <a:latin typeface="+mj-ea"/>
                <a:ea typeface="+mj-ea"/>
              </a:endParaRPr>
            </a:p>
          </p:txBody>
        </p:sp>
      </p:grpSp>
      <p:sp>
        <p:nvSpPr>
          <p:cNvPr id="11" name="Google Shape;462;p4">
            <a:extLst>
              <a:ext uri="{FF2B5EF4-FFF2-40B4-BE49-F238E27FC236}">
                <a16:creationId xmlns:a16="http://schemas.microsoft.com/office/drawing/2014/main" id="{F4916892-5425-E6E8-1793-ADE9EFA494F8}"/>
              </a:ext>
            </a:extLst>
          </p:cNvPr>
          <p:cNvSpPr/>
          <p:nvPr/>
        </p:nvSpPr>
        <p:spPr>
          <a:xfrm rot="5400000">
            <a:off x="4270604" y="1919941"/>
            <a:ext cx="1250627" cy="341570"/>
          </a:xfrm>
          <a:prstGeom prst="rect">
            <a:avLst/>
          </a:prstGeom>
          <a:solidFill>
            <a:srgbClr val="B8935F">
              <a:alpha val="69803"/>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000"/>
              <a:buFont typeface="Arial"/>
              <a:buNone/>
            </a:pPr>
            <a:endParaRPr sz="2000" b="1" i="0" u="none" strike="noStrike" cap="none">
              <a:solidFill>
                <a:srgbClr val="000000"/>
              </a:solidFill>
              <a:latin typeface="+mj-ea"/>
              <a:ea typeface="+mj-ea"/>
              <a:cs typeface="Arial"/>
              <a:sym typeface="Arial"/>
            </a:endParaRPr>
          </a:p>
        </p:txBody>
      </p:sp>
      <p:sp>
        <p:nvSpPr>
          <p:cNvPr id="12" name="Google Shape;463;p4">
            <a:extLst>
              <a:ext uri="{FF2B5EF4-FFF2-40B4-BE49-F238E27FC236}">
                <a16:creationId xmlns:a16="http://schemas.microsoft.com/office/drawing/2014/main" id="{3D0FCFB1-16AB-AA43-2E3B-BC2275BFCDF0}"/>
              </a:ext>
            </a:extLst>
          </p:cNvPr>
          <p:cNvSpPr/>
          <p:nvPr/>
        </p:nvSpPr>
        <p:spPr>
          <a:xfrm rot="5400000">
            <a:off x="3887674" y="3671868"/>
            <a:ext cx="2016487" cy="341570"/>
          </a:xfrm>
          <a:prstGeom prst="rect">
            <a:avLst/>
          </a:prstGeom>
          <a:solidFill>
            <a:srgbClr val="B8935F">
              <a:alpha val="69803"/>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000"/>
              <a:buFont typeface="Arial"/>
              <a:buNone/>
            </a:pPr>
            <a:endParaRPr sz="2000" b="1" i="0" u="none" strike="noStrike" cap="none">
              <a:solidFill>
                <a:srgbClr val="000000"/>
              </a:solidFill>
              <a:latin typeface="+mj-ea"/>
              <a:ea typeface="+mj-ea"/>
              <a:cs typeface="Arial"/>
              <a:sym typeface="Arial"/>
            </a:endParaRPr>
          </a:p>
        </p:txBody>
      </p:sp>
      <p:sp>
        <p:nvSpPr>
          <p:cNvPr id="13" name="Google Shape;464;p4">
            <a:extLst>
              <a:ext uri="{FF2B5EF4-FFF2-40B4-BE49-F238E27FC236}">
                <a16:creationId xmlns:a16="http://schemas.microsoft.com/office/drawing/2014/main" id="{63303583-7BC8-B353-F89E-6CB339BA3251}"/>
              </a:ext>
            </a:extLst>
          </p:cNvPr>
          <p:cNvSpPr/>
          <p:nvPr/>
        </p:nvSpPr>
        <p:spPr>
          <a:xfrm rot="5400000">
            <a:off x="4270603" y="5423798"/>
            <a:ext cx="1250628" cy="341570"/>
          </a:xfrm>
          <a:prstGeom prst="rect">
            <a:avLst/>
          </a:prstGeom>
          <a:solidFill>
            <a:srgbClr val="7F7F7F">
              <a:alpha val="49803"/>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000"/>
              <a:buFont typeface="Arial"/>
              <a:buNone/>
            </a:pPr>
            <a:endParaRPr sz="2000" b="1" i="0" u="none" strike="noStrike" cap="none">
              <a:solidFill>
                <a:srgbClr val="000000"/>
              </a:solidFill>
              <a:latin typeface="+mj-ea"/>
              <a:ea typeface="+mj-ea"/>
              <a:cs typeface="Arial"/>
              <a:sym typeface="Arial"/>
            </a:endParaRPr>
          </a:p>
        </p:txBody>
      </p:sp>
      <p:sp>
        <p:nvSpPr>
          <p:cNvPr id="14" name="Google Shape;465;p4">
            <a:extLst>
              <a:ext uri="{FF2B5EF4-FFF2-40B4-BE49-F238E27FC236}">
                <a16:creationId xmlns:a16="http://schemas.microsoft.com/office/drawing/2014/main" id="{D3849DF4-188B-BDCA-43AF-FE39280B4549}"/>
              </a:ext>
            </a:extLst>
          </p:cNvPr>
          <p:cNvSpPr/>
          <p:nvPr/>
        </p:nvSpPr>
        <p:spPr>
          <a:xfrm>
            <a:off x="5070160" y="1465412"/>
            <a:ext cx="6657757" cy="1250627"/>
          </a:xfrm>
          <a:prstGeom prst="rect">
            <a:avLst/>
          </a:prstGeom>
          <a:solidFill>
            <a:srgbClr val="F2F2F2"/>
          </a:solidFill>
          <a:ln>
            <a:noFill/>
          </a:ln>
        </p:spPr>
        <p:txBody>
          <a:bodyPr spcFirstLastPara="1" wrap="square" lIns="91425" tIns="45700" rIns="91425" bIns="45700" anchor="ctr" anchorCtr="0">
            <a:noAutofit/>
          </a:bodyPr>
          <a:lstStyle/>
          <a:p>
            <a:pPr marL="285750" marR="0" lvl="0" indent="-285750" algn="l" rtl="0">
              <a:lnSpc>
                <a:spcPct val="100000"/>
              </a:lnSpc>
              <a:spcBef>
                <a:spcPts val="0"/>
              </a:spcBef>
              <a:spcAft>
                <a:spcPts val="0"/>
              </a:spcAft>
              <a:buClr>
                <a:srgbClr val="000000"/>
              </a:buClr>
              <a:buSzPts val="1400"/>
              <a:buFont typeface="Noto Sans Symbols"/>
              <a:buChar char="✔"/>
            </a:pPr>
            <a:r>
              <a:rPr lang="ja-JP" sz="1400" b="1" i="0" u="none" strike="noStrike" cap="none" dirty="0">
                <a:solidFill>
                  <a:srgbClr val="000000"/>
                </a:solidFill>
                <a:latin typeface="+mj-ea"/>
                <a:ea typeface="+mj-ea"/>
                <a:cs typeface="Arial"/>
                <a:sym typeface="Arial"/>
              </a:rPr>
              <a:t>業界トップSIer・総合コンサルファーム出身者による高い要件定義力、システム設計力</a:t>
            </a:r>
            <a:endParaRPr dirty="0">
              <a:latin typeface="+mj-ea"/>
              <a:ea typeface="+mj-ea"/>
            </a:endParaRPr>
          </a:p>
          <a:p>
            <a:pPr marL="742950" marR="0" lvl="1" indent="-285750" algn="l" rtl="0">
              <a:lnSpc>
                <a:spcPct val="100000"/>
              </a:lnSpc>
              <a:spcBef>
                <a:spcPts val="0"/>
              </a:spcBef>
              <a:spcAft>
                <a:spcPts val="0"/>
              </a:spcAft>
              <a:buClr>
                <a:srgbClr val="000000"/>
              </a:buClr>
              <a:buSzPts val="1400"/>
              <a:buFont typeface="Arial"/>
              <a:buChar char="–"/>
            </a:pPr>
            <a:r>
              <a:rPr lang="ja-JP" sz="1400" b="0" i="0" u="none" strike="noStrike" cap="none" dirty="0">
                <a:solidFill>
                  <a:srgbClr val="000000"/>
                </a:solidFill>
                <a:latin typeface="+mj-ea"/>
                <a:ea typeface="+mj-ea"/>
                <a:cs typeface="Arial"/>
                <a:sym typeface="Arial"/>
              </a:rPr>
              <a:t>NTTデータ、野村総研、PwC 他</a:t>
            </a:r>
            <a:endParaRPr dirty="0">
              <a:latin typeface="+mj-ea"/>
              <a:ea typeface="+mj-ea"/>
            </a:endParaRPr>
          </a:p>
          <a:p>
            <a:pPr marL="285750" marR="0" lvl="0" indent="-285750" algn="l" rtl="0">
              <a:lnSpc>
                <a:spcPct val="100000"/>
              </a:lnSpc>
              <a:spcBef>
                <a:spcPts val="0"/>
              </a:spcBef>
              <a:spcAft>
                <a:spcPts val="0"/>
              </a:spcAft>
              <a:buClr>
                <a:srgbClr val="000000"/>
              </a:buClr>
              <a:buSzPts val="1400"/>
              <a:buFont typeface="Noto Sans Symbols"/>
              <a:buChar char="✔"/>
            </a:pPr>
            <a:r>
              <a:rPr lang="ja-JP" sz="1400" b="1" i="0" u="none" strike="noStrike" cap="none" dirty="0">
                <a:solidFill>
                  <a:srgbClr val="000000"/>
                </a:solidFill>
                <a:latin typeface="+mj-ea"/>
                <a:ea typeface="+mj-ea"/>
                <a:cs typeface="Arial"/>
                <a:sym typeface="Arial"/>
              </a:rPr>
              <a:t>東大松尾研発のAI開発エンジニア・データサイエンティストによる高いAI実装力</a:t>
            </a:r>
            <a:endParaRPr sz="1400" b="1" i="0" u="none" strike="noStrike" cap="none" dirty="0">
              <a:solidFill>
                <a:srgbClr val="000000"/>
              </a:solidFill>
              <a:latin typeface="+mj-ea"/>
              <a:ea typeface="+mj-ea"/>
              <a:cs typeface="Arial"/>
              <a:sym typeface="Arial"/>
            </a:endParaRPr>
          </a:p>
          <a:p>
            <a:pPr marL="742950" marR="0" lvl="1" indent="-285750" algn="l" rtl="0">
              <a:lnSpc>
                <a:spcPct val="100000"/>
              </a:lnSpc>
              <a:spcBef>
                <a:spcPts val="0"/>
              </a:spcBef>
              <a:spcAft>
                <a:spcPts val="0"/>
              </a:spcAft>
              <a:buClr>
                <a:srgbClr val="000000"/>
              </a:buClr>
              <a:buSzPts val="1400"/>
              <a:buFont typeface="Arial"/>
              <a:buChar char="–"/>
            </a:pPr>
            <a:r>
              <a:rPr lang="ja-JP" sz="1400" b="0" i="0" u="none" strike="noStrike" cap="none" dirty="0">
                <a:solidFill>
                  <a:srgbClr val="000000"/>
                </a:solidFill>
                <a:latin typeface="+mj-ea"/>
                <a:ea typeface="+mj-ea"/>
                <a:cs typeface="Arial"/>
                <a:sym typeface="Arial"/>
              </a:rPr>
              <a:t>SALT2</a:t>
            </a:r>
            <a:endParaRPr sz="1400" b="0" i="0" u="none" strike="noStrike" cap="none" dirty="0">
              <a:solidFill>
                <a:srgbClr val="000000"/>
              </a:solidFill>
              <a:latin typeface="+mj-ea"/>
              <a:ea typeface="+mj-ea"/>
              <a:cs typeface="Arial"/>
              <a:sym typeface="Arial"/>
            </a:endParaRPr>
          </a:p>
        </p:txBody>
      </p:sp>
      <p:sp>
        <p:nvSpPr>
          <p:cNvPr id="15" name="Google Shape;466;p4">
            <a:extLst>
              <a:ext uri="{FF2B5EF4-FFF2-40B4-BE49-F238E27FC236}">
                <a16:creationId xmlns:a16="http://schemas.microsoft.com/office/drawing/2014/main" id="{0970920A-CF46-8E21-0F58-CCBDCC0B00CB}"/>
              </a:ext>
            </a:extLst>
          </p:cNvPr>
          <p:cNvSpPr/>
          <p:nvPr/>
        </p:nvSpPr>
        <p:spPr>
          <a:xfrm>
            <a:off x="5070160" y="2834410"/>
            <a:ext cx="6657757" cy="2016487"/>
          </a:xfrm>
          <a:prstGeom prst="rect">
            <a:avLst/>
          </a:prstGeom>
          <a:solidFill>
            <a:srgbClr val="F2F2F2"/>
          </a:solidFill>
          <a:ln>
            <a:noFill/>
          </a:ln>
        </p:spPr>
        <p:txBody>
          <a:bodyPr spcFirstLastPara="1" wrap="square" lIns="91425" tIns="45700" rIns="91425" bIns="45700" anchor="ctr" anchorCtr="0">
            <a:noAutofit/>
          </a:bodyPr>
          <a:lstStyle/>
          <a:p>
            <a:pPr marL="285750" marR="0" lvl="0" indent="-285750" algn="l" rtl="0">
              <a:lnSpc>
                <a:spcPct val="100000"/>
              </a:lnSpc>
              <a:spcBef>
                <a:spcPts val="0"/>
              </a:spcBef>
              <a:spcAft>
                <a:spcPts val="0"/>
              </a:spcAft>
              <a:buClr>
                <a:srgbClr val="000000"/>
              </a:buClr>
              <a:buSzPts val="1400"/>
              <a:buFont typeface="Noto Sans Symbols"/>
              <a:buChar char="✔"/>
            </a:pPr>
            <a:r>
              <a:rPr lang="ja-JP" sz="1400" b="1" i="0" u="none" strike="noStrike" cap="none">
                <a:solidFill>
                  <a:srgbClr val="000000"/>
                </a:solidFill>
                <a:latin typeface="+mj-ea"/>
                <a:ea typeface="+mj-ea"/>
                <a:cs typeface="Arial"/>
                <a:sym typeface="Arial"/>
              </a:rPr>
              <a:t>広いカバレッジ・開発実績</a:t>
            </a:r>
            <a:endParaRPr>
              <a:latin typeface="+mj-ea"/>
              <a:ea typeface="+mj-ea"/>
            </a:endParaRPr>
          </a:p>
          <a:p>
            <a:pPr marL="742950" marR="0" lvl="1" indent="-285750" algn="l" rtl="0">
              <a:lnSpc>
                <a:spcPct val="100000"/>
              </a:lnSpc>
              <a:spcBef>
                <a:spcPts val="0"/>
              </a:spcBef>
              <a:spcAft>
                <a:spcPts val="0"/>
              </a:spcAft>
              <a:buClr>
                <a:srgbClr val="000000"/>
              </a:buClr>
              <a:buSzPts val="1400"/>
              <a:buFont typeface="Arial"/>
              <a:buChar char="–"/>
            </a:pPr>
            <a:r>
              <a:rPr lang="ja-JP" sz="1400" b="0" i="0" u="none" strike="noStrike" cap="none">
                <a:solidFill>
                  <a:srgbClr val="000000"/>
                </a:solidFill>
                <a:latin typeface="+mj-ea"/>
                <a:ea typeface="+mj-ea"/>
                <a:cs typeface="Arial"/>
                <a:sym typeface="Arial"/>
              </a:rPr>
              <a:t>業界：　金融、製造、消費財、小売、商社、サービス等</a:t>
            </a:r>
            <a:endParaRPr>
              <a:latin typeface="+mj-ea"/>
              <a:ea typeface="+mj-ea"/>
            </a:endParaRPr>
          </a:p>
          <a:p>
            <a:pPr marL="742950" marR="0" lvl="1" indent="-285750" algn="l" rtl="0">
              <a:lnSpc>
                <a:spcPct val="100000"/>
              </a:lnSpc>
              <a:spcBef>
                <a:spcPts val="0"/>
              </a:spcBef>
              <a:spcAft>
                <a:spcPts val="0"/>
              </a:spcAft>
              <a:buClr>
                <a:srgbClr val="000000"/>
              </a:buClr>
              <a:buSzPts val="1400"/>
              <a:buFont typeface="Arial"/>
              <a:buChar char="–"/>
            </a:pPr>
            <a:r>
              <a:rPr lang="ja-JP" sz="1400" b="0" i="0" u="none" strike="noStrike" cap="none">
                <a:solidFill>
                  <a:srgbClr val="000000"/>
                </a:solidFill>
                <a:latin typeface="+mj-ea"/>
                <a:ea typeface="+mj-ea"/>
                <a:cs typeface="Arial"/>
                <a:sym typeface="Arial"/>
              </a:rPr>
              <a:t>テーマ：　LLM構築、RAG構築、需要予測モデル、マルチモーダル、データ基盤、AIエージェント開発、セキュリティ/ガバナンス</a:t>
            </a:r>
            <a:endParaRPr>
              <a:latin typeface="+mj-ea"/>
              <a:ea typeface="+mj-ea"/>
            </a:endParaRPr>
          </a:p>
          <a:p>
            <a:pPr marL="285750" marR="0" lvl="0" indent="-285750" algn="l" rtl="0">
              <a:lnSpc>
                <a:spcPct val="100000"/>
              </a:lnSpc>
              <a:spcBef>
                <a:spcPts val="0"/>
              </a:spcBef>
              <a:spcAft>
                <a:spcPts val="0"/>
              </a:spcAft>
              <a:buClr>
                <a:srgbClr val="000000"/>
              </a:buClr>
              <a:buSzPts val="1400"/>
              <a:buFont typeface="Noto Sans Symbols"/>
              <a:buChar char="✔"/>
            </a:pPr>
            <a:r>
              <a:rPr lang="ja-JP" sz="1400" b="1" i="0" u="none" strike="noStrike" cap="none">
                <a:solidFill>
                  <a:srgbClr val="000000"/>
                </a:solidFill>
                <a:latin typeface="+mj-ea"/>
                <a:ea typeface="+mj-ea"/>
                <a:cs typeface="Arial"/>
                <a:sym typeface="Arial"/>
              </a:rPr>
              <a:t>自社（Boost Consulting、Boost Capital）の業務をAIで自動化</a:t>
            </a:r>
            <a:endParaRPr sz="1400" b="1" i="0" u="none" strike="noStrike" cap="none">
              <a:solidFill>
                <a:srgbClr val="000000"/>
              </a:solidFill>
              <a:latin typeface="+mj-ea"/>
              <a:ea typeface="+mj-ea"/>
              <a:cs typeface="Arial"/>
              <a:sym typeface="Arial"/>
            </a:endParaRPr>
          </a:p>
          <a:p>
            <a:pPr marL="742950" marR="0" lvl="1" indent="-285750" algn="l" rtl="0">
              <a:lnSpc>
                <a:spcPct val="100000"/>
              </a:lnSpc>
              <a:spcBef>
                <a:spcPts val="0"/>
              </a:spcBef>
              <a:spcAft>
                <a:spcPts val="0"/>
              </a:spcAft>
              <a:buClr>
                <a:srgbClr val="000000"/>
              </a:buClr>
              <a:buSzPts val="1400"/>
              <a:buFont typeface="Arial"/>
              <a:buChar char="–"/>
            </a:pPr>
            <a:r>
              <a:rPr lang="ja-JP" sz="1400" b="0" i="0" u="none" strike="noStrike" cap="none">
                <a:solidFill>
                  <a:srgbClr val="000000"/>
                </a:solidFill>
                <a:latin typeface="+mj-ea"/>
                <a:ea typeface="+mj-ea"/>
                <a:cs typeface="Arial"/>
                <a:sym typeface="Arial"/>
              </a:rPr>
              <a:t>資料作成AI、営業管理AI、業績管理AI…etc</a:t>
            </a:r>
            <a:endParaRPr sz="1400" b="0" i="0" u="none" strike="noStrike" cap="none">
              <a:solidFill>
                <a:srgbClr val="000000"/>
              </a:solidFill>
              <a:latin typeface="+mj-ea"/>
              <a:ea typeface="+mj-ea"/>
              <a:cs typeface="Arial"/>
              <a:sym typeface="Arial"/>
            </a:endParaRPr>
          </a:p>
          <a:p>
            <a:pPr marL="285750" marR="0" lvl="0" indent="-285750" algn="l" rtl="0">
              <a:lnSpc>
                <a:spcPct val="100000"/>
              </a:lnSpc>
              <a:spcBef>
                <a:spcPts val="0"/>
              </a:spcBef>
              <a:spcAft>
                <a:spcPts val="0"/>
              </a:spcAft>
              <a:buClr>
                <a:srgbClr val="000000"/>
              </a:buClr>
              <a:buSzPts val="1400"/>
              <a:buFont typeface="Noto Sans Symbols"/>
              <a:buChar char="✔"/>
            </a:pPr>
            <a:r>
              <a:rPr lang="ja-JP" sz="1400" b="1" i="0" u="none" strike="noStrike" cap="none">
                <a:solidFill>
                  <a:srgbClr val="000000"/>
                </a:solidFill>
                <a:latin typeface="+mj-ea"/>
                <a:ea typeface="+mj-ea"/>
                <a:cs typeface="Arial"/>
                <a:sym typeface="Arial"/>
              </a:rPr>
              <a:t>Boost Capital買収先の業務・システムをAIで自動化（顧問バンク）</a:t>
            </a:r>
            <a:endParaRPr>
              <a:latin typeface="+mj-ea"/>
              <a:ea typeface="+mj-ea"/>
            </a:endParaRPr>
          </a:p>
        </p:txBody>
      </p:sp>
      <p:sp>
        <p:nvSpPr>
          <p:cNvPr id="16" name="Google Shape;467;p4">
            <a:extLst>
              <a:ext uri="{FF2B5EF4-FFF2-40B4-BE49-F238E27FC236}">
                <a16:creationId xmlns:a16="http://schemas.microsoft.com/office/drawing/2014/main" id="{D74EEE36-8653-7371-CA1D-D2E672E61444}"/>
              </a:ext>
            </a:extLst>
          </p:cNvPr>
          <p:cNvSpPr/>
          <p:nvPr/>
        </p:nvSpPr>
        <p:spPr>
          <a:xfrm>
            <a:off x="5070160" y="4969269"/>
            <a:ext cx="6657757" cy="1250628"/>
          </a:xfrm>
          <a:prstGeom prst="rect">
            <a:avLst/>
          </a:prstGeom>
          <a:solidFill>
            <a:srgbClr val="F2F2F2"/>
          </a:solidFill>
          <a:ln>
            <a:noFill/>
          </a:ln>
        </p:spPr>
        <p:txBody>
          <a:bodyPr spcFirstLastPara="1" wrap="square" lIns="91425" tIns="45700" rIns="91425" bIns="45700" anchor="ctr" anchorCtr="0">
            <a:noAutofit/>
          </a:bodyPr>
          <a:lstStyle/>
          <a:p>
            <a:pPr marL="285750" marR="0" lvl="0" indent="-285750" algn="l" rtl="0">
              <a:lnSpc>
                <a:spcPct val="100000"/>
              </a:lnSpc>
              <a:spcBef>
                <a:spcPts val="0"/>
              </a:spcBef>
              <a:spcAft>
                <a:spcPts val="0"/>
              </a:spcAft>
              <a:buClr>
                <a:srgbClr val="000000"/>
              </a:buClr>
              <a:buSzPts val="1400"/>
              <a:buFont typeface="Noto Sans Symbols"/>
              <a:buChar char="✔"/>
            </a:pPr>
            <a:r>
              <a:rPr lang="ja-JP" sz="1400" b="1" i="0" u="none" strike="noStrike" cap="none">
                <a:solidFill>
                  <a:srgbClr val="000000"/>
                </a:solidFill>
                <a:latin typeface="+mj-ea"/>
                <a:ea typeface="+mj-ea"/>
                <a:cs typeface="Arial"/>
                <a:sym typeface="Arial"/>
              </a:rPr>
              <a:t>プライム上場企業CEO/CTO、スタートアップ起業・事業会社経営者による事業運営ノウハウ</a:t>
            </a:r>
            <a:endParaRPr>
              <a:latin typeface="+mj-ea"/>
              <a:ea typeface="+mj-ea"/>
            </a:endParaRPr>
          </a:p>
          <a:p>
            <a:pPr marL="742950" marR="0" lvl="1" indent="-285750" algn="l" rtl="0">
              <a:lnSpc>
                <a:spcPct val="100000"/>
              </a:lnSpc>
              <a:spcBef>
                <a:spcPts val="0"/>
              </a:spcBef>
              <a:spcAft>
                <a:spcPts val="0"/>
              </a:spcAft>
              <a:buClr>
                <a:srgbClr val="000000"/>
              </a:buClr>
              <a:buSzPts val="1400"/>
              <a:buFont typeface="Arial"/>
              <a:buChar char="–"/>
            </a:pPr>
            <a:r>
              <a:rPr lang="ja-JP" sz="1400" b="0" i="0" u="none" strike="noStrike" cap="none">
                <a:solidFill>
                  <a:srgbClr val="000000"/>
                </a:solidFill>
                <a:latin typeface="+mj-ea"/>
                <a:ea typeface="+mj-ea"/>
                <a:cs typeface="Arial"/>
                <a:sym typeface="Arial"/>
              </a:rPr>
              <a:t>事業運営にとって必要＆最適なソリューションを現場目線で提案可能</a:t>
            </a:r>
            <a:endParaRPr>
              <a:latin typeface="+mj-ea"/>
              <a:ea typeface="+mj-ea"/>
            </a:endParaRPr>
          </a:p>
        </p:txBody>
      </p:sp>
      <p:cxnSp>
        <p:nvCxnSpPr>
          <p:cNvPr id="17" name="Google Shape;468;p4">
            <a:extLst>
              <a:ext uri="{FF2B5EF4-FFF2-40B4-BE49-F238E27FC236}">
                <a16:creationId xmlns:a16="http://schemas.microsoft.com/office/drawing/2014/main" id="{0B622994-144C-59E7-5BAD-0D3F7EA85AA5}"/>
              </a:ext>
            </a:extLst>
          </p:cNvPr>
          <p:cNvCxnSpPr/>
          <p:nvPr/>
        </p:nvCxnSpPr>
        <p:spPr>
          <a:xfrm rot="10800000" flipH="1">
            <a:off x="3287944" y="1815758"/>
            <a:ext cx="808276" cy="656306"/>
          </a:xfrm>
          <a:prstGeom prst="straightConnector1">
            <a:avLst/>
          </a:prstGeom>
          <a:noFill/>
          <a:ln w="19050" cap="flat" cmpd="sng">
            <a:solidFill>
              <a:srgbClr val="7F7F7F"/>
            </a:solidFill>
            <a:prstDash val="solid"/>
            <a:miter lim="800000"/>
            <a:headEnd type="none" w="sm" len="sm"/>
            <a:tailEnd type="none" w="sm" len="sm"/>
          </a:ln>
        </p:spPr>
      </p:cxnSp>
      <p:cxnSp>
        <p:nvCxnSpPr>
          <p:cNvPr id="18" name="Google Shape;469;p4">
            <a:extLst>
              <a:ext uri="{FF2B5EF4-FFF2-40B4-BE49-F238E27FC236}">
                <a16:creationId xmlns:a16="http://schemas.microsoft.com/office/drawing/2014/main" id="{65681A11-7D26-4140-E88A-2638109397B3}"/>
              </a:ext>
            </a:extLst>
          </p:cNvPr>
          <p:cNvCxnSpPr/>
          <p:nvPr/>
        </p:nvCxnSpPr>
        <p:spPr>
          <a:xfrm>
            <a:off x="4097314" y="1822304"/>
            <a:ext cx="627818" cy="0"/>
          </a:xfrm>
          <a:prstGeom prst="straightConnector1">
            <a:avLst/>
          </a:prstGeom>
          <a:noFill/>
          <a:ln w="19050" cap="flat" cmpd="sng">
            <a:solidFill>
              <a:srgbClr val="7F7F7F"/>
            </a:solidFill>
            <a:prstDash val="solid"/>
            <a:miter lim="800000"/>
            <a:headEnd type="none" w="sm" len="sm"/>
            <a:tailEnd type="none" w="sm" len="sm"/>
          </a:ln>
        </p:spPr>
      </p:cxnSp>
      <p:cxnSp>
        <p:nvCxnSpPr>
          <p:cNvPr id="19" name="Google Shape;470;p4">
            <a:extLst>
              <a:ext uri="{FF2B5EF4-FFF2-40B4-BE49-F238E27FC236}">
                <a16:creationId xmlns:a16="http://schemas.microsoft.com/office/drawing/2014/main" id="{7EF59244-B217-3364-356A-E5FD9B39B20F}"/>
              </a:ext>
            </a:extLst>
          </p:cNvPr>
          <p:cNvCxnSpPr/>
          <p:nvPr/>
        </p:nvCxnSpPr>
        <p:spPr>
          <a:xfrm rot="10800000" flipH="1">
            <a:off x="4338903" y="3640692"/>
            <a:ext cx="386229" cy="1218"/>
          </a:xfrm>
          <a:prstGeom prst="straightConnector1">
            <a:avLst/>
          </a:prstGeom>
          <a:noFill/>
          <a:ln w="19050" cap="flat" cmpd="sng">
            <a:solidFill>
              <a:srgbClr val="7F7F7F"/>
            </a:solidFill>
            <a:prstDash val="solid"/>
            <a:miter lim="800000"/>
            <a:headEnd type="none" w="sm" len="sm"/>
            <a:tailEnd type="none" w="sm" len="sm"/>
          </a:ln>
        </p:spPr>
      </p:cxnSp>
      <p:cxnSp>
        <p:nvCxnSpPr>
          <p:cNvPr id="20" name="Google Shape;471;p4">
            <a:extLst>
              <a:ext uri="{FF2B5EF4-FFF2-40B4-BE49-F238E27FC236}">
                <a16:creationId xmlns:a16="http://schemas.microsoft.com/office/drawing/2014/main" id="{10C8EC1C-CFF1-488A-B567-81F6C0E008CC}"/>
              </a:ext>
            </a:extLst>
          </p:cNvPr>
          <p:cNvCxnSpPr/>
          <p:nvPr/>
        </p:nvCxnSpPr>
        <p:spPr>
          <a:xfrm rot="10800000" flipH="1">
            <a:off x="3852476" y="3640229"/>
            <a:ext cx="489676" cy="403926"/>
          </a:xfrm>
          <a:prstGeom prst="straightConnector1">
            <a:avLst/>
          </a:prstGeom>
          <a:noFill/>
          <a:ln w="19050" cap="flat" cmpd="sng">
            <a:solidFill>
              <a:srgbClr val="7F7F7F"/>
            </a:solidFill>
            <a:prstDash val="solid"/>
            <a:miter lim="800000"/>
            <a:headEnd type="none" w="sm" len="sm"/>
            <a:tailEnd type="none" w="sm" len="sm"/>
          </a:ln>
        </p:spPr>
      </p:cxnSp>
      <p:cxnSp>
        <p:nvCxnSpPr>
          <p:cNvPr id="21" name="Google Shape;472;p4">
            <a:extLst>
              <a:ext uri="{FF2B5EF4-FFF2-40B4-BE49-F238E27FC236}">
                <a16:creationId xmlns:a16="http://schemas.microsoft.com/office/drawing/2014/main" id="{D2E00A42-50E0-F94D-CA6B-A843F39FB11D}"/>
              </a:ext>
            </a:extLst>
          </p:cNvPr>
          <p:cNvCxnSpPr/>
          <p:nvPr/>
        </p:nvCxnSpPr>
        <p:spPr>
          <a:xfrm>
            <a:off x="3917950" y="5766866"/>
            <a:ext cx="807182" cy="0"/>
          </a:xfrm>
          <a:prstGeom prst="straightConnector1">
            <a:avLst/>
          </a:prstGeom>
          <a:noFill/>
          <a:ln w="19050" cap="flat" cmpd="sng">
            <a:solidFill>
              <a:srgbClr val="7F7F7F"/>
            </a:solidFill>
            <a:prstDash val="solid"/>
            <a:miter lim="800000"/>
            <a:headEnd type="none" w="sm" len="sm"/>
            <a:tailEnd type="none" w="sm" len="sm"/>
          </a:ln>
        </p:spPr>
      </p:cxnSp>
      <p:cxnSp>
        <p:nvCxnSpPr>
          <p:cNvPr id="22" name="Google Shape;473;p4">
            <a:extLst>
              <a:ext uri="{FF2B5EF4-FFF2-40B4-BE49-F238E27FC236}">
                <a16:creationId xmlns:a16="http://schemas.microsoft.com/office/drawing/2014/main" id="{6C238C58-5F89-16A5-8AE1-33ED477E4A5A}"/>
              </a:ext>
            </a:extLst>
          </p:cNvPr>
          <p:cNvCxnSpPr/>
          <p:nvPr/>
        </p:nvCxnSpPr>
        <p:spPr>
          <a:xfrm>
            <a:off x="1886857" y="4969269"/>
            <a:ext cx="2031093" cy="797597"/>
          </a:xfrm>
          <a:prstGeom prst="straightConnector1">
            <a:avLst/>
          </a:prstGeom>
          <a:noFill/>
          <a:ln w="19050" cap="flat" cmpd="sng">
            <a:solidFill>
              <a:srgbClr val="7F7F7F"/>
            </a:solidFill>
            <a:prstDash val="solid"/>
            <a:miter lim="800000"/>
            <a:headEnd type="none" w="sm" len="sm"/>
            <a:tailEnd type="none" w="sm" len="sm"/>
          </a:ln>
        </p:spPr>
      </p:cxnSp>
      <p:sp>
        <p:nvSpPr>
          <p:cNvPr id="3" name="フッター プレースホルダー 13">
            <a:extLst>
              <a:ext uri="{FF2B5EF4-FFF2-40B4-BE49-F238E27FC236}">
                <a16:creationId xmlns:a16="http://schemas.microsoft.com/office/drawing/2014/main" id="{B647DABA-C5DD-C0CF-6FA1-923B1906AEA1}"/>
              </a:ext>
            </a:extLst>
          </p:cNvPr>
          <p:cNvSpPr>
            <a:spLocks noGrp="1"/>
          </p:cNvSpPr>
          <p:nvPr>
            <p:ph type="ftr" sz="quarter" idx="11"/>
          </p:nvPr>
        </p:nvSpPr>
        <p:spPr>
          <a:xfrm>
            <a:off x="9877808" y="6514831"/>
            <a:ext cx="1919585" cy="216000"/>
          </a:xfrm>
        </p:spPr>
        <p:txBody>
          <a:bodyPr/>
          <a:lstStyle>
            <a:lvl1pPr algn="l">
              <a:defRPr sz="1000">
                <a:latin typeface="+mn-lt"/>
                <a:ea typeface="+mn-ea"/>
              </a:defRPr>
            </a:lvl1pPr>
          </a:lstStyle>
          <a:p>
            <a:pPr>
              <a:defRPr/>
            </a:pPr>
            <a:r>
              <a:rPr kumimoji="1" lang="en-US" altLang="ja-JP" dirty="0">
                <a:solidFill>
                  <a:srgbClr val="FFFFFF">
                    <a:lumMod val="75000"/>
                  </a:srgbClr>
                </a:solidFill>
              </a:rPr>
              <a:t>©️ 2026 Boost Consulting, Inc.</a:t>
            </a:r>
            <a:endParaRPr kumimoji="1" lang="ja-JP" altLang="en-US" dirty="0">
              <a:solidFill>
                <a:srgbClr val="FFFFFF">
                  <a:lumMod val="75000"/>
                </a:srgbClr>
              </a:solidFill>
              <a:latin typeface="+mn-lt"/>
            </a:endParaRPr>
          </a:p>
        </p:txBody>
      </p:sp>
    </p:spTree>
    <p:extLst>
      <p:ext uri="{BB962C8B-B14F-4D97-AF65-F5344CB8AC3E}">
        <p14:creationId xmlns:p14="http://schemas.microsoft.com/office/powerpoint/2010/main" val="29946266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90E1876-3213-2A21-B10A-9BA96FFA0619}"/>
              </a:ext>
            </a:extLst>
          </p:cNvPr>
          <p:cNvSpPr>
            <a:spLocks noGrp="1"/>
          </p:cNvSpPr>
          <p:nvPr>
            <p:ph type="title"/>
          </p:nvPr>
        </p:nvSpPr>
        <p:spPr/>
        <p:txBody>
          <a:bodyPr/>
          <a:lstStyle/>
          <a:p>
            <a:r>
              <a:rPr kumimoji="1" lang="ja-JP" altLang="en-US"/>
              <a:t>（議論用）前回ディスカッションを踏まえた課題仮説</a:t>
            </a:r>
          </a:p>
        </p:txBody>
      </p:sp>
      <p:cxnSp>
        <p:nvCxnSpPr>
          <p:cNvPr id="7" name="直線コネクタ 6">
            <a:extLst>
              <a:ext uri="{FF2B5EF4-FFF2-40B4-BE49-F238E27FC236}">
                <a16:creationId xmlns:a16="http://schemas.microsoft.com/office/drawing/2014/main" id="{C84B38D9-0B82-396E-9466-2A31D9759669}"/>
              </a:ext>
            </a:extLst>
          </p:cNvPr>
          <p:cNvCxnSpPr>
            <a:cxnSpLocks/>
          </p:cNvCxnSpPr>
          <p:nvPr/>
        </p:nvCxnSpPr>
        <p:spPr>
          <a:xfrm>
            <a:off x="3327093" y="1769734"/>
            <a:ext cx="3914409"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8" name="直線コネクタ 7">
            <a:extLst>
              <a:ext uri="{FF2B5EF4-FFF2-40B4-BE49-F238E27FC236}">
                <a16:creationId xmlns:a16="http://schemas.microsoft.com/office/drawing/2014/main" id="{290CC500-57FF-A384-86D6-1F6E83E30C3F}"/>
              </a:ext>
            </a:extLst>
          </p:cNvPr>
          <p:cNvCxnSpPr>
            <a:cxnSpLocks/>
          </p:cNvCxnSpPr>
          <p:nvPr/>
        </p:nvCxnSpPr>
        <p:spPr>
          <a:xfrm>
            <a:off x="7464810" y="1769734"/>
            <a:ext cx="4395495" cy="0"/>
          </a:xfrm>
          <a:prstGeom prst="line">
            <a:avLst/>
          </a:prstGeom>
        </p:spPr>
        <p:style>
          <a:lnRef idx="2">
            <a:schemeClr val="accent1"/>
          </a:lnRef>
          <a:fillRef idx="0">
            <a:schemeClr val="accent1"/>
          </a:fillRef>
          <a:effectRef idx="1">
            <a:schemeClr val="accent1"/>
          </a:effectRef>
          <a:fontRef idx="minor">
            <a:schemeClr val="tx1"/>
          </a:fontRef>
        </p:style>
      </p:cxnSp>
      <p:sp>
        <p:nvSpPr>
          <p:cNvPr id="9" name="正方形/長方形 8">
            <a:extLst>
              <a:ext uri="{FF2B5EF4-FFF2-40B4-BE49-F238E27FC236}">
                <a16:creationId xmlns:a16="http://schemas.microsoft.com/office/drawing/2014/main" id="{3333B2DC-9399-961F-10E3-D26E7669FA05}"/>
              </a:ext>
            </a:extLst>
          </p:cNvPr>
          <p:cNvSpPr/>
          <p:nvPr/>
        </p:nvSpPr>
        <p:spPr>
          <a:xfrm>
            <a:off x="3327093" y="1367614"/>
            <a:ext cx="3914409" cy="36066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000" b="1">
                <a:solidFill>
                  <a:schemeClr val="tx1"/>
                </a:solidFill>
                <a:latin typeface="Arial" panose="020B0604020202020204" pitchFamily="34" charset="0"/>
                <a:cs typeface="Arial" panose="020B0604020202020204" pitchFamily="34" charset="0"/>
              </a:rPr>
              <a:t>想定課題</a:t>
            </a:r>
            <a:endParaRPr kumimoji="1" lang="ja-JP" altLang="en-US" sz="2000" b="1" dirty="0">
              <a:solidFill>
                <a:schemeClr val="tx1"/>
              </a:solidFill>
              <a:latin typeface="Arial" panose="020B0604020202020204" pitchFamily="34" charset="0"/>
              <a:cs typeface="Arial" panose="020B0604020202020204" pitchFamily="34" charset="0"/>
            </a:endParaRPr>
          </a:p>
        </p:txBody>
      </p:sp>
      <p:sp>
        <p:nvSpPr>
          <p:cNvPr id="10" name="正方形/長方形 9">
            <a:extLst>
              <a:ext uri="{FF2B5EF4-FFF2-40B4-BE49-F238E27FC236}">
                <a16:creationId xmlns:a16="http://schemas.microsoft.com/office/drawing/2014/main" id="{73E63FEA-D2B3-E64A-7462-359022800212}"/>
              </a:ext>
            </a:extLst>
          </p:cNvPr>
          <p:cNvSpPr/>
          <p:nvPr/>
        </p:nvSpPr>
        <p:spPr>
          <a:xfrm>
            <a:off x="7458783" y="1367498"/>
            <a:ext cx="4401523" cy="36066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000" b="1" dirty="0">
                <a:solidFill>
                  <a:schemeClr val="tx1"/>
                </a:solidFill>
                <a:latin typeface="Arial" panose="020B0604020202020204" pitchFamily="34" charset="0"/>
                <a:cs typeface="Arial" panose="020B0604020202020204" pitchFamily="34" charset="0"/>
              </a:rPr>
              <a:t>AI</a:t>
            </a:r>
            <a:r>
              <a:rPr kumimoji="1" lang="ja-JP" altLang="en-US" sz="2000" b="1">
                <a:solidFill>
                  <a:schemeClr val="tx1"/>
                </a:solidFill>
                <a:latin typeface="Arial" panose="020B0604020202020204" pitchFamily="34" charset="0"/>
                <a:cs typeface="Arial" panose="020B0604020202020204" pitchFamily="34" charset="0"/>
              </a:rPr>
              <a:t>適用イメージ</a:t>
            </a:r>
            <a:endParaRPr kumimoji="1" lang="ja-JP" altLang="en-US" sz="2000" b="1" dirty="0">
              <a:solidFill>
                <a:schemeClr val="tx1"/>
              </a:solidFill>
              <a:latin typeface="Arial" panose="020B0604020202020204" pitchFamily="34" charset="0"/>
              <a:cs typeface="Arial" panose="020B0604020202020204" pitchFamily="34" charset="0"/>
            </a:endParaRPr>
          </a:p>
        </p:txBody>
      </p:sp>
      <p:sp>
        <p:nvSpPr>
          <p:cNvPr id="19" name="フッター プレースホルダー 4">
            <a:extLst>
              <a:ext uri="{FF2B5EF4-FFF2-40B4-BE49-F238E27FC236}">
                <a16:creationId xmlns:a16="http://schemas.microsoft.com/office/drawing/2014/main" id="{C7DDA820-B7DB-62FE-81FB-852BB551E1E1}"/>
              </a:ext>
            </a:extLst>
          </p:cNvPr>
          <p:cNvSpPr>
            <a:spLocks noGrp="1"/>
          </p:cNvSpPr>
          <p:nvPr>
            <p:ph type="ftr" sz="quarter" idx="11"/>
          </p:nvPr>
        </p:nvSpPr>
        <p:spPr>
          <a:xfrm>
            <a:off x="9877808" y="6514831"/>
            <a:ext cx="1919585" cy="216000"/>
          </a:xfrm>
        </p:spPr>
        <p:txBody>
          <a:bodyPr/>
          <a:lstStyle/>
          <a:p>
            <a:pPr>
              <a:defRPr/>
            </a:pPr>
            <a:r>
              <a:rPr kumimoji="1" lang="en-US" altLang="ja-JP" dirty="0">
                <a:solidFill>
                  <a:srgbClr val="FFFFFF">
                    <a:lumMod val="75000"/>
                  </a:srgbClr>
                </a:solidFill>
              </a:rPr>
              <a:t>©️ 2026 Boost Consulting, Inc.</a:t>
            </a:r>
            <a:endParaRPr kumimoji="1" lang="ja-JP" altLang="en-US" dirty="0">
              <a:solidFill>
                <a:srgbClr val="FFFFFF">
                  <a:lumMod val="75000"/>
                </a:srgbClr>
              </a:solidFill>
              <a:latin typeface="+mn-lt"/>
            </a:endParaRPr>
          </a:p>
        </p:txBody>
      </p:sp>
      <p:sp>
        <p:nvSpPr>
          <p:cNvPr id="20" name="コンテンツ プレースホルダー 5">
            <a:extLst>
              <a:ext uri="{FF2B5EF4-FFF2-40B4-BE49-F238E27FC236}">
                <a16:creationId xmlns:a16="http://schemas.microsoft.com/office/drawing/2014/main" id="{3D2BB08F-7306-98B3-92FC-50BFB59AAE96}"/>
              </a:ext>
            </a:extLst>
          </p:cNvPr>
          <p:cNvSpPr txBox="1">
            <a:spLocks/>
          </p:cNvSpPr>
          <p:nvPr/>
        </p:nvSpPr>
        <p:spPr>
          <a:xfrm>
            <a:off x="340306" y="233891"/>
            <a:ext cx="11520000" cy="258947"/>
          </a:xfrm>
          <a:prstGeom prst="rect">
            <a:avLst/>
          </a:prstGeom>
        </p:spPr>
        <p:txBody>
          <a:bodyPr vert="horz" lIns="91440" tIns="45720" rIns="91440" bIns="45720" rtlCol="0" anchor="ctr">
            <a:noAutofit/>
          </a:bodyPr>
          <a:lstStyle>
            <a:lvl1pPr marL="228600" indent="-228600" algn="l" defTabSz="914400" rtl="0" eaLnBrk="1" latinLnBrk="0" hangingPunct="1">
              <a:lnSpc>
                <a:spcPct val="100000"/>
              </a:lnSpc>
              <a:spcBef>
                <a:spcPts val="1000"/>
              </a:spcBef>
              <a:buFont typeface="Arial" panose="020B0604020202020204" pitchFamily="34" charset="0"/>
              <a:buNone/>
              <a:defRPr sz="1400" b="1" kern="1200">
                <a:solidFill>
                  <a:srgbClr val="2D5A42"/>
                </a:solidFill>
                <a:latin typeface="+mn-lt"/>
                <a:ea typeface="+mn-ea"/>
                <a:cs typeface="Arial" panose="020B0604020202020204" pitchFamily="34" charset="0"/>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ja-JP" altLang="en-US"/>
              <a:t>課題仮説</a:t>
            </a:r>
          </a:p>
        </p:txBody>
      </p:sp>
      <p:sp>
        <p:nvSpPr>
          <p:cNvPr id="12" name="正方形/長方形 11">
            <a:extLst>
              <a:ext uri="{FF2B5EF4-FFF2-40B4-BE49-F238E27FC236}">
                <a16:creationId xmlns:a16="http://schemas.microsoft.com/office/drawing/2014/main" id="{1C48F248-63A9-7653-048C-8668BFBB4161}"/>
              </a:ext>
            </a:extLst>
          </p:cNvPr>
          <p:cNvSpPr/>
          <p:nvPr/>
        </p:nvSpPr>
        <p:spPr>
          <a:xfrm>
            <a:off x="3327094" y="2159351"/>
            <a:ext cx="3914408" cy="163703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solidFill>
                <a:latin typeface="+mn-ea"/>
                <a:cs typeface="Arial" panose="020B0604020202020204" pitchFamily="34" charset="0"/>
              </a:rPr>
              <a:t>店舗ごとの売上高人件費比率に大きなばらつきがあるが、何が原因か（商圏・シフト・人員配置など）の因果分解ができていない</a:t>
            </a:r>
            <a:endParaRPr kumimoji="1" lang="en-US" altLang="ja-JP" sz="1400" dirty="0">
              <a:solidFill>
                <a:schemeClr val="tx1"/>
              </a:solidFill>
              <a:latin typeface="+mn-ea"/>
              <a:cs typeface="Arial" panose="020B0604020202020204" pitchFamily="34" charset="0"/>
            </a:endParaRPr>
          </a:p>
        </p:txBody>
      </p:sp>
      <p:sp>
        <p:nvSpPr>
          <p:cNvPr id="15" name="正方形/長方形 14">
            <a:extLst>
              <a:ext uri="{FF2B5EF4-FFF2-40B4-BE49-F238E27FC236}">
                <a16:creationId xmlns:a16="http://schemas.microsoft.com/office/drawing/2014/main" id="{210960C5-D7FC-05DD-6240-930F9F528F3A}"/>
              </a:ext>
            </a:extLst>
          </p:cNvPr>
          <p:cNvSpPr/>
          <p:nvPr/>
        </p:nvSpPr>
        <p:spPr>
          <a:xfrm>
            <a:off x="7458784" y="2159351"/>
            <a:ext cx="4334791" cy="163703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solidFill>
                <a:latin typeface="+mn-ea"/>
                <a:cs typeface="Arial" panose="020B0604020202020204" pitchFamily="34" charset="0"/>
              </a:rPr>
              <a:t>ばらつき要因の構造化分析</a:t>
            </a:r>
            <a:endParaRPr kumimoji="1" lang="en-US" altLang="ja-JP" sz="1400" dirty="0">
              <a:solidFill>
                <a:schemeClr val="tx1"/>
              </a:solidFill>
              <a:latin typeface="+mn-ea"/>
              <a:cs typeface="Arial" panose="020B0604020202020204" pitchFamily="34" charset="0"/>
            </a:endParaRPr>
          </a:p>
          <a:p>
            <a:pPr marL="285750" indent="-285750">
              <a:buFont typeface="Wingdings" pitchFamily="2" charset="2"/>
              <a:buChar char="n"/>
            </a:pPr>
            <a:r>
              <a:rPr kumimoji="1" lang="ja-JP" altLang="en-US" sz="1400">
                <a:solidFill>
                  <a:schemeClr val="tx1"/>
                </a:solidFill>
                <a:latin typeface="+mn-ea"/>
                <a:cs typeface="Arial" panose="020B0604020202020204" pitchFamily="34" charset="0"/>
              </a:rPr>
              <a:t>売上・人件費・シフト・部門別データを統合し、ばらつきに寄与する変数を特定 </a:t>
            </a:r>
            <a:endParaRPr kumimoji="1" lang="en-US" altLang="ja-JP" sz="1400" dirty="0">
              <a:solidFill>
                <a:schemeClr val="tx1"/>
              </a:solidFill>
              <a:latin typeface="+mn-ea"/>
              <a:cs typeface="Arial" panose="020B0604020202020204" pitchFamily="34" charset="0"/>
            </a:endParaRPr>
          </a:p>
          <a:p>
            <a:pPr marL="285750" indent="-285750">
              <a:buFont typeface="Wingdings" pitchFamily="2" charset="2"/>
              <a:buChar char="n"/>
            </a:pPr>
            <a:r>
              <a:rPr kumimoji="1" lang="ja-JP" altLang="en-US" sz="1400">
                <a:solidFill>
                  <a:schemeClr val="tx1"/>
                </a:solidFill>
                <a:latin typeface="+mn-ea"/>
                <a:cs typeface="Arial" panose="020B0604020202020204" pitchFamily="34" charset="0"/>
              </a:rPr>
              <a:t>優良店舗のパターンを抽出し、店舗ごとに「問題点</a:t>
            </a:r>
            <a:r>
              <a:rPr kumimoji="1" lang="en-US" altLang="ja-JP" sz="1400" dirty="0">
                <a:solidFill>
                  <a:schemeClr val="tx1"/>
                </a:solidFill>
                <a:latin typeface="+mn-ea"/>
                <a:cs typeface="Arial" panose="020B0604020202020204" pitchFamily="34" charset="0"/>
              </a:rPr>
              <a:t>×</a:t>
            </a:r>
            <a:r>
              <a:rPr kumimoji="1" lang="ja-JP" altLang="en-US" sz="1400">
                <a:solidFill>
                  <a:schemeClr val="tx1"/>
                </a:solidFill>
                <a:latin typeface="+mn-ea"/>
                <a:cs typeface="Arial" panose="020B0604020202020204" pitchFamily="34" charset="0"/>
              </a:rPr>
              <a:t>打ち手」を具体的に提示</a:t>
            </a:r>
            <a:endParaRPr kumimoji="1" lang="en-US" altLang="ja-JP" sz="1400" dirty="0">
              <a:solidFill>
                <a:schemeClr val="tx1"/>
              </a:solidFill>
              <a:latin typeface="+mn-ea"/>
              <a:cs typeface="Arial" panose="020B0604020202020204" pitchFamily="34" charset="0"/>
            </a:endParaRPr>
          </a:p>
        </p:txBody>
      </p:sp>
      <p:sp>
        <p:nvSpPr>
          <p:cNvPr id="4" name="正方形/長方形 3">
            <a:extLst>
              <a:ext uri="{FF2B5EF4-FFF2-40B4-BE49-F238E27FC236}">
                <a16:creationId xmlns:a16="http://schemas.microsoft.com/office/drawing/2014/main" id="{F3CF9005-1811-0C94-9147-5901B7DB8113}"/>
              </a:ext>
            </a:extLst>
          </p:cNvPr>
          <p:cNvSpPr/>
          <p:nvPr/>
        </p:nvSpPr>
        <p:spPr>
          <a:xfrm>
            <a:off x="340298" y="4138379"/>
            <a:ext cx="2909521" cy="1887913"/>
          </a:xfrm>
          <a:prstGeom prst="rect">
            <a:avLst/>
          </a:prstGeom>
          <a:solidFill>
            <a:srgbClr val="2D5A4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latin typeface="+mn-ea"/>
                <a:cs typeface="Arial" panose="020B0604020202020204" pitchFamily="34" charset="0"/>
              </a:rPr>
              <a:t>社内通達・イントラネットの</a:t>
            </a:r>
            <a:br>
              <a:rPr kumimoji="1" lang="en-US" altLang="ja-JP" dirty="0">
                <a:latin typeface="+mn-ea"/>
                <a:cs typeface="Arial" panose="020B0604020202020204" pitchFamily="34" charset="0"/>
              </a:rPr>
            </a:br>
            <a:r>
              <a:rPr kumimoji="1" lang="ja-JP" altLang="en-US">
                <a:latin typeface="+mn-ea"/>
                <a:cs typeface="Arial" panose="020B0604020202020204" pitchFamily="34" charset="0"/>
              </a:rPr>
              <a:t>受発信効率化</a:t>
            </a:r>
            <a:endParaRPr kumimoji="1" lang="ja-JP" altLang="en-US" dirty="0">
              <a:latin typeface="+mn-ea"/>
              <a:cs typeface="Arial" panose="020B0604020202020204" pitchFamily="34" charset="0"/>
            </a:endParaRPr>
          </a:p>
        </p:txBody>
      </p:sp>
      <p:sp>
        <p:nvSpPr>
          <p:cNvPr id="17" name="正方形/長方形 16">
            <a:extLst>
              <a:ext uri="{FF2B5EF4-FFF2-40B4-BE49-F238E27FC236}">
                <a16:creationId xmlns:a16="http://schemas.microsoft.com/office/drawing/2014/main" id="{30CFBCB2-A94A-C105-39C4-3264BA89F6F6}"/>
              </a:ext>
            </a:extLst>
          </p:cNvPr>
          <p:cNvSpPr/>
          <p:nvPr/>
        </p:nvSpPr>
        <p:spPr>
          <a:xfrm>
            <a:off x="3327090" y="4138355"/>
            <a:ext cx="3914408" cy="188793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solidFill>
                <a:latin typeface="+mn-ea"/>
                <a:cs typeface="Arial" panose="020B0604020202020204" pitchFamily="34" charset="0"/>
              </a:rPr>
              <a:t>通達の量が絶対量としても大変多く、発進のコストが高いだけでなく、受け取る側も全部を捌けない現状</a:t>
            </a:r>
            <a:endParaRPr kumimoji="1" lang="en-US" altLang="ja-JP" sz="1400" dirty="0">
              <a:solidFill>
                <a:schemeClr val="tx1"/>
              </a:solidFill>
              <a:latin typeface="+mn-ea"/>
              <a:cs typeface="Arial" panose="020B0604020202020204" pitchFamily="34" charset="0"/>
            </a:endParaRPr>
          </a:p>
          <a:p>
            <a:pPr marL="285750" indent="-285750">
              <a:buFont typeface="Wingdings" pitchFamily="2" charset="2"/>
              <a:buChar char="n"/>
            </a:pPr>
            <a:r>
              <a:rPr kumimoji="1" lang="ja-JP" altLang="en-US" sz="1400">
                <a:solidFill>
                  <a:schemeClr val="tx1"/>
                </a:solidFill>
                <a:latin typeface="+mn-ea"/>
                <a:cs typeface="Arial" panose="020B0604020202020204" pitchFamily="34" charset="0"/>
              </a:rPr>
              <a:t>本部から通達を出しても実質現場（特にパート・アルバイト）まで届かない</a:t>
            </a:r>
            <a:endParaRPr kumimoji="1" lang="en-US" altLang="ja-JP" sz="1400" dirty="0">
              <a:solidFill>
                <a:schemeClr val="tx1"/>
              </a:solidFill>
              <a:latin typeface="+mn-ea"/>
              <a:cs typeface="Arial" panose="020B0604020202020204" pitchFamily="34" charset="0"/>
            </a:endParaRPr>
          </a:p>
          <a:p>
            <a:pPr marL="285750" indent="-285750">
              <a:buFont typeface="Wingdings" pitchFamily="2" charset="2"/>
              <a:buChar char="n"/>
            </a:pPr>
            <a:r>
              <a:rPr kumimoji="1" lang="ja-JP" altLang="en-US" sz="1400">
                <a:solidFill>
                  <a:schemeClr val="tx1"/>
                </a:solidFill>
                <a:latin typeface="+mn-ea"/>
                <a:cs typeface="Arial" panose="020B0604020202020204" pitchFamily="34" charset="0"/>
              </a:rPr>
              <a:t>通達量が多く優先度が不明瞭</a:t>
            </a:r>
            <a:endParaRPr kumimoji="1" lang="en-US" altLang="ja-JP" sz="1400" dirty="0">
              <a:solidFill>
                <a:schemeClr val="tx1"/>
              </a:solidFill>
              <a:latin typeface="+mn-ea"/>
              <a:cs typeface="Arial" panose="020B0604020202020204" pitchFamily="34" charset="0"/>
            </a:endParaRPr>
          </a:p>
          <a:p>
            <a:pPr marL="285750" indent="-285750">
              <a:buFont typeface="Wingdings" pitchFamily="2" charset="2"/>
              <a:buChar char="n"/>
            </a:pPr>
            <a:r>
              <a:rPr kumimoji="1" lang="ja-JP" altLang="en-US" sz="1400">
                <a:solidFill>
                  <a:schemeClr val="tx1"/>
                </a:solidFill>
                <a:latin typeface="+mn-ea"/>
                <a:cs typeface="Arial" panose="020B0604020202020204" pitchFamily="34" charset="0"/>
              </a:rPr>
              <a:t>既読・実行の確認手段もない？</a:t>
            </a:r>
            <a:endParaRPr kumimoji="1" lang="en-US" altLang="ja-JP" sz="1400" dirty="0">
              <a:solidFill>
                <a:schemeClr val="tx1"/>
              </a:solidFill>
              <a:latin typeface="+mn-ea"/>
              <a:cs typeface="Arial" panose="020B0604020202020204" pitchFamily="34" charset="0"/>
            </a:endParaRPr>
          </a:p>
        </p:txBody>
      </p:sp>
      <p:sp>
        <p:nvSpPr>
          <p:cNvPr id="18" name="正方形/長方形 17">
            <a:extLst>
              <a:ext uri="{FF2B5EF4-FFF2-40B4-BE49-F238E27FC236}">
                <a16:creationId xmlns:a16="http://schemas.microsoft.com/office/drawing/2014/main" id="{54D2EB1E-AEFC-9DFC-894C-56C30C2898E8}"/>
              </a:ext>
            </a:extLst>
          </p:cNvPr>
          <p:cNvSpPr/>
          <p:nvPr/>
        </p:nvSpPr>
        <p:spPr>
          <a:xfrm>
            <a:off x="7458780" y="4138377"/>
            <a:ext cx="4334791" cy="188791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solidFill>
                <a:latin typeface="+mn-ea"/>
                <a:cs typeface="Arial" panose="020B0604020202020204" pitchFamily="34" charset="0"/>
              </a:rPr>
              <a:t>通達の</a:t>
            </a:r>
            <a:r>
              <a:rPr kumimoji="1" lang="en" altLang="ja-JP" sz="1400" dirty="0">
                <a:solidFill>
                  <a:schemeClr val="tx1"/>
                </a:solidFill>
                <a:latin typeface="+mn-ea"/>
                <a:cs typeface="Arial" panose="020B0604020202020204" pitchFamily="34" charset="0"/>
              </a:rPr>
              <a:t>AI</a:t>
            </a:r>
            <a:r>
              <a:rPr kumimoji="1" lang="ja-JP" altLang="en-US" sz="1400">
                <a:solidFill>
                  <a:schemeClr val="tx1"/>
                </a:solidFill>
                <a:latin typeface="+mn-ea"/>
                <a:cs typeface="Arial" panose="020B0604020202020204" pitchFamily="34" charset="0"/>
              </a:rPr>
              <a:t>要約・パーソナライズ配信 </a:t>
            </a:r>
            <a:endParaRPr kumimoji="1" lang="en-US" altLang="ja-JP" sz="1400" dirty="0">
              <a:solidFill>
                <a:schemeClr val="tx1"/>
              </a:solidFill>
              <a:latin typeface="+mn-ea"/>
              <a:cs typeface="Arial" panose="020B0604020202020204" pitchFamily="34" charset="0"/>
            </a:endParaRPr>
          </a:p>
          <a:p>
            <a:pPr marL="285750" indent="-285750">
              <a:buFont typeface="Wingdings" pitchFamily="2" charset="2"/>
              <a:buChar char="n"/>
            </a:pPr>
            <a:r>
              <a:rPr kumimoji="1" lang="ja-JP" altLang="en-US" sz="1400">
                <a:solidFill>
                  <a:schemeClr val="tx1"/>
                </a:solidFill>
                <a:latin typeface="+mn-ea"/>
                <a:cs typeface="Arial" panose="020B0604020202020204" pitchFamily="34" charset="0"/>
              </a:rPr>
              <a:t>通達文を自動要約し、店舗・役職に応じてフィルタリング配信</a:t>
            </a:r>
            <a:endParaRPr kumimoji="1" lang="en-US" altLang="ja-JP" sz="1400" dirty="0">
              <a:solidFill>
                <a:schemeClr val="tx1"/>
              </a:solidFill>
              <a:latin typeface="+mn-ea"/>
              <a:cs typeface="Arial" panose="020B0604020202020204" pitchFamily="34" charset="0"/>
            </a:endParaRPr>
          </a:p>
          <a:p>
            <a:pPr marL="285750" indent="-285750">
              <a:buFont typeface="Wingdings" pitchFamily="2" charset="2"/>
              <a:buChar char="n"/>
            </a:pPr>
            <a:r>
              <a:rPr kumimoji="1" lang="ja-JP" altLang="en-US" sz="1400">
                <a:solidFill>
                  <a:schemeClr val="tx1"/>
                </a:solidFill>
                <a:latin typeface="+mn-ea"/>
                <a:cs typeface="Arial" panose="020B0604020202020204" pitchFamily="34" charset="0"/>
              </a:rPr>
              <a:t>スマホで「あなたに関係ある通達：要点＋期限」を届け、既読管理＋実行報告まで一気通貫</a:t>
            </a:r>
            <a:endParaRPr kumimoji="1" lang="en-US" altLang="ja-JP" sz="1400" dirty="0">
              <a:solidFill>
                <a:schemeClr val="tx1"/>
              </a:solidFill>
              <a:latin typeface="+mn-ea"/>
              <a:cs typeface="Arial" panose="020B0604020202020204" pitchFamily="34" charset="0"/>
            </a:endParaRPr>
          </a:p>
        </p:txBody>
      </p:sp>
      <p:cxnSp>
        <p:nvCxnSpPr>
          <p:cNvPr id="5" name="直線コネクタ 4">
            <a:extLst>
              <a:ext uri="{FF2B5EF4-FFF2-40B4-BE49-F238E27FC236}">
                <a16:creationId xmlns:a16="http://schemas.microsoft.com/office/drawing/2014/main" id="{1E82F7F3-54F0-4A50-FC29-80BE6853391C}"/>
              </a:ext>
            </a:extLst>
          </p:cNvPr>
          <p:cNvCxnSpPr>
            <a:cxnSpLocks/>
          </p:cNvCxnSpPr>
          <p:nvPr/>
        </p:nvCxnSpPr>
        <p:spPr>
          <a:xfrm>
            <a:off x="340298" y="3967383"/>
            <a:ext cx="11453273" cy="0"/>
          </a:xfrm>
          <a:prstGeom prst="line">
            <a:avLst/>
          </a:prstGeom>
          <a:ln>
            <a:solidFill>
              <a:schemeClr val="bg1">
                <a:lumMod val="50000"/>
              </a:schemeClr>
            </a:solidFill>
            <a:prstDash val="dash"/>
          </a:ln>
        </p:spPr>
        <p:style>
          <a:lnRef idx="2">
            <a:schemeClr val="accent1"/>
          </a:lnRef>
          <a:fillRef idx="0">
            <a:schemeClr val="accent1"/>
          </a:fillRef>
          <a:effectRef idx="1">
            <a:schemeClr val="accent1"/>
          </a:effectRef>
          <a:fontRef idx="minor">
            <a:schemeClr val="tx1"/>
          </a:fontRef>
        </p:style>
      </p:cxnSp>
      <p:sp>
        <p:nvSpPr>
          <p:cNvPr id="26" name="正方形/長方形 25">
            <a:extLst>
              <a:ext uri="{FF2B5EF4-FFF2-40B4-BE49-F238E27FC236}">
                <a16:creationId xmlns:a16="http://schemas.microsoft.com/office/drawing/2014/main" id="{F2555160-93BE-5790-51D5-AC09D23DCFD1}"/>
              </a:ext>
            </a:extLst>
          </p:cNvPr>
          <p:cNvSpPr/>
          <p:nvPr/>
        </p:nvSpPr>
        <p:spPr>
          <a:xfrm>
            <a:off x="340298" y="1908448"/>
            <a:ext cx="2909521" cy="1887937"/>
          </a:xfrm>
          <a:prstGeom prst="rect">
            <a:avLst/>
          </a:prstGeom>
          <a:solidFill>
            <a:srgbClr val="2D5A4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latin typeface="+mn-ea"/>
                <a:cs typeface="Arial" panose="020B0604020202020204" pitchFamily="34" charset="0"/>
              </a:rPr>
              <a:t>店舗間の</a:t>
            </a:r>
            <a:br>
              <a:rPr kumimoji="1" lang="en-US" altLang="ja-JP" dirty="0">
                <a:latin typeface="+mn-ea"/>
                <a:cs typeface="Arial" panose="020B0604020202020204" pitchFamily="34" charset="0"/>
              </a:rPr>
            </a:br>
            <a:r>
              <a:rPr kumimoji="1" lang="ja-JP" altLang="en-US">
                <a:latin typeface="+mn-ea"/>
                <a:cs typeface="Arial" panose="020B0604020202020204" pitchFamily="34" charset="0"/>
              </a:rPr>
              <a:t>人件費</a:t>
            </a:r>
            <a:r>
              <a:rPr kumimoji="1" lang="en-US" altLang="ja-JP" dirty="0">
                <a:latin typeface="+mn-ea"/>
                <a:cs typeface="Arial" panose="020B0604020202020204" pitchFamily="34" charset="0"/>
              </a:rPr>
              <a:t>/</a:t>
            </a:r>
            <a:r>
              <a:rPr kumimoji="1" lang="ja-JP" altLang="en-US">
                <a:latin typeface="+mn-ea"/>
                <a:cs typeface="Arial" panose="020B0604020202020204" pitchFamily="34" charset="0"/>
              </a:rPr>
              <a:t>売上高のばらつき（アカチャンホンポなど）</a:t>
            </a:r>
            <a:endParaRPr kumimoji="1" lang="ja-JP" altLang="en-US" dirty="0">
              <a:latin typeface="+mn-ea"/>
              <a:cs typeface="Arial" panose="020B0604020202020204" pitchFamily="34" charset="0"/>
            </a:endParaRPr>
          </a:p>
        </p:txBody>
      </p:sp>
    </p:spTree>
    <p:extLst>
      <p:ext uri="{BB962C8B-B14F-4D97-AF65-F5344CB8AC3E}">
        <p14:creationId xmlns:p14="http://schemas.microsoft.com/office/powerpoint/2010/main" val="43758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7DDC72-24B5-0C41-7265-7584063CDDD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BA5A22B-5745-3E22-113D-75CFBDBB833D}"/>
              </a:ext>
            </a:extLst>
          </p:cNvPr>
          <p:cNvSpPr>
            <a:spLocks noGrp="1"/>
          </p:cNvSpPr>
          <p:nvPr>
            <p:ph type="title"/>
          </p:nvPr>
        </p:nvSpPr>
        <p:spPr/>
        <p:txBody>
          <a:bodyPr/>
          <a:lstStyle/>
          <a:p>
            <a:r>
              <a:rPr kumimoji="1" lang="ja-JP" altLang="en-US"/>
              <a:t>（議論用）本日お伺いしたいこと</a:t>
            </a:r>
          </a:p>
        </p:txBody>
      </p:sp>
      <p:sp>
        <p:nvSpPr>
          <p:cNvPr id="19" name="フッター プレースホルダー 4">
            <a:extLst>
              <a:ext uri="{FF2B5EF4-FFF2-40B4-BE49-F238E27FC236}">
                <a16:creationId xmlns:a16="http://schemas.microsoft.com/office/drawing/2014/main" id="{28A5735D-6A2F-5582-3D5E-23B7D748C1DB}"/>
              </a:ext>
            </a:extLst>
          </p:cNvPr>
          <p:cNvSpPr>
            <a:spLocks noGrp="1"/>
          </p:cNvSpPr>
          <p:nvPr>
            <p:ph type="ftr" sz="quarter" idx="11"/>
          </p:nvPr>
        </p:nvSpPr>
        <p:spPr>
          <a:xfrm>
            <a:off x="9877808" y="6514831"/>
            <a:ext cx="1919585" cy="216000"/>
          </a:xfrm>
        </p:spPr>
        <p:txBody>
          <a:bodyPr/>
          <a:lstStyle/>
          <a:p>
            <a:pPr>
              <a:defRPr/>
            </a:pPr>
            <a:r>
              <a:rPr kumimoji="1" lang="en-US" altLang="ja-JP" dirty="0">
                <a:solidFill>
                  <a:srgbClr val="FFFFFF">
                    <a:lumMod val="75000"/>
                  </a:srgbClr>
                </a:solidFill>
              </a:rPr>
              <a:t>©️ 2026 Boost Consulting, Inc.</a:t>
            </a:r>
            <a:endParaRPr kumimoji="1" lang="ja-JP" altLang="en-US" dirty="0">
              <a:solidFill>
                <a:srgbClr val="FFFFFF">
                  <a:lumMod val="75000"/>
                </a:srgbClr>
              </a:solidFill>
              <a:latin typeface="+mn-lt"/>
            </a:endParaRPr>
          </a:p>
        </p:txBody>
      </p:sp>
      <p:sp>
        <p:nvSpPr>
          <p:cNvPr id="20" name="コンテンツ プレースホルダー 5">
            <a:extLst>
              <a:ext uri="{FF2B5EF4-FFF2-40B4-BE49-F238E27FC236}">
                <a16:creationId xmlns:a16="http://schemas.microsoft.com/office/drawing/2014/main" id="{939FF555-DA8C-159F-7F2F-AA0B2F1DA6E8}"/>
              </a:ext>
            </a:extLst>
          </p:cNvPr>
          <p:cNvSpPr txBox="1">
            <a:spLocks/>
          </p:cNvSpPr>
          <p:nvPr/>
        </p:nvSpPr>
        <p:spPr>
          <a:xfrm>
            <a:off x="340306" y="233891"/>
            <a:ext cx="11520000" cy="258947"/>
          </a:xfrm>
          <a:prstGeom prst="rect">
            <a:avLst/>
          </a:prstGeom>
        </p:spPr>
        <p:txBody>
          <a:bodyPr vert="horz" lIns="91440" tIns="45720" rIns="91440" bIns="45720" rtlCol="0" anchor="ctr">
            <a:noAutofit/>
          </a:bodyPr>
          <a:lstStyle>
            <a:lvl1pPr marL="228600" indent="-228600" algn="l" defTabSz="914400" rtl="0" eaLnBrk="1" latinLnBrk="0" hangingPunct="1">
              <a:lnSpc>
                <a:spcPct val="100000"/>
              </a:lnSpc>
              <a:spcBef>
                <a:spcPts val="1000"/>
              </a:spcBef>
              <a:buFont typeface="Arial" panose="020B0604020202020204" pitchFamily="34" charset="0"/>
              <a:buNone/>
              <a:defRPr sz="1400" b="1" kern="1200">
                <a:solidFill>
                  <a:srgbClr val="2D5A42"/>
                </a:solidFill>
                <a:latin typeface="+mn-lt"/>
                <a:ea typeface="+mn-ea"/>
                <a:cs typeface="Arial" panose="020B0604020202020204" pitchFamily="34" charset="0"/>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ja-JP" altLang="en-US"/>
              <a:t>課題仮説</a:t>
            </a:r>
          </a:p>
        </p:txBody>
      </p:sp>
      <p:sp>
        <p:nvSpPr>
          <p:cNvPr id="12" name="正方形/長方形 11">
            <a:extLst>
              <a:ext uri="{FF2B5EF4-FFF2-40B4-BE49-F238E27FC236}">
                <a16:creationId xmlns:a16="http://schemas.microsoft.com/office/drawing/2014/main" id="{EB4F6D81-D38E-3D42-DE98-C3153B86B3E2}"/>
              </a:ext>
            </a:extLst>
          </p:cNvPr>
          <p:cNvSpPr/>
          <p:nvPr/>
        </p:nvSpPr>
        <p:spPr>
          <a:xfrm>
            <a:off x="3327093" y="1908448"/>
            <a:ext cx="8466477" cy="188793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nSpc>
                <a:spcPct val="150000"/>
              </a:lnSpc>
              <a:buFont typeface="Wingdings" pitchFamily="2" charset="2"/>
              <a:buChar char="n"/>
            </a:pPr>
            <a:r>
              <a:rPr kumimoji="1" lang="ja-JP" altLang="en-US" sz="1400">
                <a:solidFill>
                  <a:schemeClr val="tx1"/>
                </a:solidFill>
                <a:latin typeface="+mn-ea"/>
                <a:cs typeface="Arial" panose="020B0604020202020204" pitchFamily="34" charset="0"/>
              </a:rPr>
              <a:t>人員数か売上か、どちらがよりばらつきがあるか？</a:t>
            </a:r>
            <a:endParaRPr kumimoji="1" lang="en-US" altLang="ja-JP" sz="1400" dirty="0">
              <a:solidFill>
                <a:schemeClr val="tx1"/>
              </a:solidFill>
              <a:latin typeface="+mn-ea"/>
              <a:cs typeface="Arial" panose="020B0604020202020204" pitchFamily="34" charset="0"/>
            </a:endParaRPr>
          </a:p>
          <a:p>
            <a:pPr marL="285750" indent="-285750">
              <a:lnSpc>
                <a:spcPct val="150000"/>
              </a:lnSpc>
              <a:buFont typeface="Wingdings" pitchFamily="2" charset="2"/>
              <a:buChar char="n"/>
            </a:pPr>
            <a:r>
              <a:rPr kumimoji="1" lang="ja-JP" altLang="en-US" sz="1400">
                <a:solidFill>
                  <a:schemeClr val="tx1"/>
                </a:solidFill>
                <a:latin typeface="+mn-ea"/>
                <a:cs typeface="Arial" panose="020B0604020202020204" pitchFamily="34" charset="0"/>
              </a:rPr>
              <a:t>「うまく回っている店舗」と「そうでない店舗」の違いは直感的に何か？</a:t>
            </a:r>
            <a:endParaRPr kumimoji="1" lang="en-US" altLang="ja-JP" sz="1400" dirty="0">
              <a:solidFill>
                <a:schemeClr val="tx1"/>
              </a:solidFill>
              <a:latin typeface="+mn-ea"/>
              <a:cs typeface="Arial" panose="020B0604020202020204" pitchFamily="34" charset="0"/>
            </a:endParaRPr>
          </a:p>
          <a:p>
            <a:pPr marL="285750" indent="-285750">
              <a:lnSpc>
                <a:spcPct val="150000"/>
              </a:lnSpc>
              <a:buFont typeface="Wingdings" pitchFamily="2" charset="2"/>
              <a:buChar char="n"/>
            </a:pPr>
            <a:r>
              <a:rPr kumimoji="1" lang="ja-JP" altLang="en-US" sz="1400">
                <a:solidFill>
                  <a:schemeClr val="tx1"/>
                </a:solidFill>
                <a:latin typeface="+mn-ea"/>
                <a:cs typeface="Arial" panose="020B0604020202020204" pitchFamily="34" charset="0"/>
              </a:rPr>
              <a:t>店舗別の売上・人件費データはどの粒度で取れるか？（日次</a:t>
            </a:r>
            <a:r>
              <a:rPr kumimoji="1" lang="en-US" altLang="ja-JP" sz="1400" dirty="0">
                <a:solidFill>
                  <a:schemeClr val="tx1"/>
                </a:solidFill>
                <a:latin typeface="+mn-ea"/>
                <a:cs typeface="Arial" panose="020B0604020202020204" pitchFamily="34" charset="0"/>
              </a:rPr>
              <a:t>/</a:t>
            </a:r>
            <a:r>
              <a:rPr kumimoji="1" lang="ja-JP" altLang="en-US" sz="1400">
                <a:solidFill>
                  <a:schemeClr val="tx1"/>
                </a:solidFill>
                <a:latin typeface="+mn-ea"/>
                <a:cs typeface="Arial" panose="020B0604020202020204" pitchFamily="34" charset="0"/>
              </a:rPr>
              <a:t>週次、時間帯別、部門別）</a:t>
            </a:r>
          </a:p>
          <a:p>
            <a:pPr marL="285750" indent="-285750">
              <a:lnSpc>
                <a:spcPct val="150000"/>
              </a:lnSpc>
              <a:buFont typeface="Wingdings" pitchFamily="2" charset="2"/>
              <a:buChar char="n"/>
            </a:pPr>
            <a:r>
              <a:rPr kumimoji="1" lang="ja-JP" altLang="en-US" sz="1400">
                <a:solidFill>
                  <a:schemeClr val="tx1"/>
                </a:solidFill>
                <a:latin typeface="+mn-ea"/>
                <a:cs typeface="Arial" panose="020B0604020202020204" pitchFamily="34" charset="0"/>
              </a:rPr>
              <a:t>シフト作成の方法と所要時間？（</a:t>
            </a:r>
            <a:r>
              <a:rPr kumimoji="1" lang="en" altLang="ja-JP" sz="1400" dirty="0">
                <a:solidFill>
                  <a:schemeClr val="tx1"/>
                </a:solidFill>
                <a:latin typeface="+mn-ea"/>
                <a:cs typeface="Arial" panose="020B0604020202020204" pitchFamily="34" charset="0"/>
              </a:rPr>
              <a:t>Excel/</a:t>
            </a:r>
            <a:r>
              <a:rPr kumimoji="1" lang="ja-JP" altLang="en-US" sz="1400">
                <a:solidFill>
                  <a:schemeClr val="tx1"/>
                </a:solidFill>
                <a:latin typeface="+mn-ea"/>
                <a:cs typeface="Arial" panose="020B0604020202020204" pitchFamily="34" charset="0"/>
              </a:rPr>
              <a:t>紙</a:t>
            </a:r>
            <a:r>
              <a:rPr kumimoji="1" lang="en-US" altLang="ja-JP" sz="1400" dirty="0">
                <a:solidFill>
                  <a:schemeClr val="tx1"/>
                </a:solidFill>
                <a:latin typeface="+mn-ea"/>
                <a:cs typeface="Arial" panose="020B0604020202020204" pitchFamily="34" charset="0"/>
              </a:rPr>
              <a:t>/</a:t>
            </a:r>
            <a:r>
              <a:rPr kumimoji="1" lang="ja-JP" altLang="en-US" sz="1400">
                <a:solidFill>
                  <a:schemeClr val="tx1"/>
                </a:solidFill>
                <a:latin typeface="+mn-ea"/>
                <a:cs typeface="Arial" panose="020B0604020202020204" pitchFamily="34" charset="0"/>
              </a:rPr>
              <a:t>専用ツール、誰がどう決めているか）</a:t>
            </a:r>
          </a:p>
        </p:txBody>
      </p:sp>
      <p:sp>
        <p:nvSpPr>
          <p:cNvPr id="3" name="正方形/長方形 2">
            <a:extLst>
              <a:ext uri="{FF2B5EF4-FFF2-40B4-BE49-F238E27FC236}">
                <a16:creationId xmlns:a16="http://schemas.microsoft.com/office/drawing/2014/main" id="{BD68AC8F-2498-AB26-AFF2-4BE188E42E10}"/>
              </a:ext>
            </a:extLst>
          </p:cNvPr>
          <p:cNvSpPr/>
          <p:nvPr/>
        </p:nvSpPr>
        <p:spPr>
          <a:xfrm>
            <a:off x="340298" y="1908448"/>
            <a:ext cx="2909521" cy="1887937"/>
          </a:xfrm>
          <a:prstGeom prst="rect">
            <a:avLst/>
          </a:prstGeom>
          <a:solidFill>
            <a:srgbClr val="2D5A4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latin typeface="+mn-ea"/>
                <a:cs typeface="Arial" panose="020B0604020202020204" pitchFamily="34" charset="0"/>
              </a:rPr>
              <a:t>店舗間の</a:t>
            </a:r>
            <a:br>
              <a:rPr kumimoji="1" lang="en-US" altLang="ja-JP" dirty="0">
                <a:latin typeface="+mn-ea"/>
                <a:cs typeface="Arial" panose="020B0604020202020204" pitchFamily="34" charset="0"/>
              </a:rPr>
            </a:br>
            <a:r>
              <a:rPr kumimoji="1" lang="ja-JP" altLang="en-US">
                <a:latin typeface="+mn-ea"/>
                <a:cs typeface="Arial" panose="020B0604020202020204" pitchFamily="34" charset="0"/>
              </a:rPr>
              <a:t>人件費</a:t>
            </a:r>
            <a:r>
              <a:rPr kumimoji="1" lang="en-US" altLang="ja-JP" dirty="0">
                <a:latin typeface="+mn-ea"/>
                <a:cs typeface="Arial" panose="020B0604020202020204" pitchFamily="34" charset="0"/>
              </a:rPr>
              <a:t>/</a:t>
            </a:r>
            <a:r>
              <a:rPr kumimoji="1" lang="ja-JP" altLang="en-US">
                <a:latin typeface="+mn-ea"/>
                <a:cs typeface="Arial" panose="020B0604020202020204" pitchFamily="34" charset="0"/>
              </a:rPr>
              <a:t>売上高のばらつき（アカチャンホンポなど）</a:t>
            </a:r>
            <a:endParaRPr kumimoji="1" lang="ja-JP" altLang="en-US" dirty="0">
              <a:latin typeface="+mn-ea"/>
              <a:cs typeface="Arial" panose="020B0604020202020204" pitchFamily="34" charset="0"/>
            </a:endParaRPr>
          </a:p>
        </p:txBody>
      </p:sp>
      <p:sp>
        <p:nvSpPr>
          <p:cNvPr id="4" name="正方形/長方形 3">
            <a:extLst>
              <a:ext uri="{FF2B5EF4-FFF2-40B4-BE49-F238E27FC236}">
                <a16:creationId xmlns:a16="http://schemas.microsoft.com/office/drawing/2014/main" id="{59C5DAFB-F1BA-A74B-24BF-41A03F789CA6}"/>
              </a:ext>
            </a:extLst>
          </p:cNvPr>
          <p:cNvSpPr/>
          <p:nvPr/>
        </p:nvSpPr>
        <p:spPr>
          <a:xfrm>
            <a:off x="340298" y="4138355"/>
            <a:ext cx="2909521" cy="1887937"/>
          </a:xfrm>
          <a:prstGeom prst="rect">
            <a:avLst/>
          </a:prstGeom>
          <a:solidFill>
            <a:srgbClr val="2D5A4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latin typeface="+mn-ea"/>
                <a:cs typeface="Arial" panose="020B0604020202020204" pitchFamily="34" charset="0"/>
              </a:rPr>
              <a:t>社内通達・イントラネットの</a:t>
            </a:r>
            <a:br>
              <a:rPr kumimoji="1" lang="en-US" altLang="ja-JP" dirty="0">
                <a:latin typeface="+mn-ea"/>
                <a:cs typeface="Arial" panose="020B0604020202020204" pitchFamily="34" charset="0"/>
              </a:rPr>
            </a:br>
            <a:r>
              <a:rPr kumimoji="1" lang="ja-JP" altLang="en-US">
                <a:latin typeface="+mn-ea"/>
                <a:cs typeface="Arial" panose="020B0604020202020204" pitchFamily="34" charset="0"/>
              </a:rPr>
              <a:t>受発信効率化</a:t>
            </a:r>
            <a:endParaRPr kumimoji="1" lang="ja-JP" altLang="en-US" dirty="0">
              <a:latin typeface="+mn-ea"/>
              <a:cs typeface="Arial" panose="020B0604020202020204" pitchFamily="34" charset="0"/>
            </a:endParaRPr>
          </a:p>
        </p:txBody>
      </p:sp>
      <p:sp>
        <p:nvSpPr>
          <p:cNvPr id="17" name="正方形/長方形 16">
            <a:extLst>
              <a:ext uri="{FF2B5EF4-FFF2-40B4-BE49-F238E27FC236}">
                <a16:creationId xmlns:a16="http://schemas.microsoft.com/office/drawing/2014/main" id="{E98D32C2-F623-E691-43D4-05A33F32168D}"/>
              </a:ext>
            </a:extLst>
          </p:cNvPr>
          <p:cNvSpPr/>
          <p:nvPr/>
        </p:nvSpPr>
        <p:spPr>
          <a:xfrm>
            <a:off x="3327089" y="4138355"/>
            <a:ext cx="8466477" cy="188793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nSpc>
                <a:spcPct val="150000"/>
              </a:lnSpc>
              <a:buFont typeface="Wingdings" pitchFamily="2" charset="2"/>
              <a:buChar char="n"/>
            </a:pPr>
            <a:r>
              <a:rPr kumimoji="1" lang="ja-JP" altLang="en-US" sz="1400">
                <a:solidFill>
                  <a:schemeClr val="tx1"/>
                </a:solidFill>
                <a:latin typeface="+mn-ea"/>
                <a:cs typeface="Arial" panose="020B0604020202020204" pitchFamily="34" charset="0"/>
              </a:rPr>
              <a:t>通達のラベリング</a:t>
            </a:r>
            <a:r>
              <a:rPr kumimoji="1" lang="en-US" altLang="ja-JP" sz="1400" dirty="0">
                <a:solidFill>
                  <a:schemeClr val="tx1"/>
                </a:solidFill>
                <a:latin typeface="+mn-ea"/>
                <a:cs typeface="Arial" panose="020B0604020202020204" pitchFamily="34" charset="0"/>
              </a:rPr>
              <a:t>/</a:t>
            </a:r>
            <a:r>
              <a:rPr kumimoji="1" lang="ja-JP" altLang="en-US" sz="1400">
                <a:solidFill>
                  <a:schemeClr val="tx1"/>
                </a:solidFill>
                <a:latin typeface="+mn-ea"/>
                <a:cs typeface="Arial" panose="020B0604020202020204" pitchFamily="34" charset="0"/>
              </a:rPr>
              <a:t>種類はどれくらいあるか？また効率化の過程でそもそも不要という判断も可能か？</a:t>
            </a:r>
            <a:endParaRPr kumimoji="1" lang="en-US" altLang="ja-JP" sz="1400" dirty="0">
              <a:solidFill>
                <a:schemeClr val="tx1"/>
              </a:solidFill>
              <a:latin typeface="+mn-ea"/>
              <a:cs typeface="Arial" panose="020B0604020202020204" pitchFamily="34" charset="0"/>
            </a:endParaRPr>
          </a:p>
          <a:p>
            <a:pPr marL="285750" indent="-285750">
              <a:lnSpc>
                <a:spcPct val="150000"/>
              </a:lnSpc>
              <a:buFont typeface="Wingdings" pitchFamily="2" charset="2"/>
              <a:buChar char="n"/>
            </a:pPr>
            <a:r>
              <a:rPr kumimoji="1" lang="ja-JP" altLang="en-US" sz="1400">
                <a:solidFill>
                  <a:schemeClr val="tx1"/>
                </a:solidFill>
                <a:latin typeface="+mn-ea"/>
                <a:cs typeface="Arial" panose="020B0604020202020204" pitchFamily="34" charset="0"/>
              </a:rPr>
              <a:t>通達の仕組みと改善（テコ入れ）しようのある部分、フローはどこにあるか？</a:t>
            </a:r>
            <a:endParaRPr kumimoji="1" lang="en-US" altLang="ja-JP" sz="1400" dirty="0">
              <a:solidFill>
                <a:schemeClr val="tx1"/>
              </a:solidFill>
              <a:latin typeface="+mn-ea"/>
              <a:cs typeface="Arial" panose="020B0604020202020204" pitchFamily="34" charset="0"/>
            </a:endParaRPr>
          </a:p>
          <a:p>
            <a:pPr marL="285750" indent="-285750">
              <a:lnSpc>
                <a:spcPct val="150000"/>
              </a:lnSpc>
              <a:buFont typeface="Wingdings" pitchFamily="2" charset="2"/>
              <a:buChar char="n"/>
            </a:pPr>
            <a:r>
              <a:rPr kumimoji="1" lang="ja-JP" altLang="en-US" sz="1400">
                <a:solidFill>
                  <a:schemeClr val="tx1"/>
                </a:solidFill>
                <a:latin typeface="+mn-ea"/>
                <a:cs typeface="Arial" panose="020B0604020202020204" pitchFamily="34" charset="0"/>
              </a:rPr>
              <a:t>ステークホルダーが多岐に渡る中で、どのようにスモールスタートしうるか？</a:t>
            </a:r>
            <a:endParaRPr kumimoji="1" lang="en-US" altLang="ja-JP" sz="1400" dirty="0">
              <a:solidFill>
                <a:schemeClr val="tx1"/>
              </a:solidFill>
              <a:latin typeface="+mn-ea"/>
              <a:cs typeface="Arial" panose="020B0604020202020204" pitchFamily="34" charset="0"/>
            </a:endParaRPr>
          </a:p>
          <a:p>
            <a:pPr marL="285750" indent="-285750">
              <a:lnSpc>
                <a:spcPct val="150000"/>
              </a:lnSpc>
              <a:buFont typeface="Wingdings" pitchFamily="2" charset="2"/>
              <a:buChar char="n"/>
            </a:pPr>
            <a:r>
              <a:rPr kumimoji="1" lang="en-US" altLang="ja-JP" sz="1400" dirty="0">
                <a:solidFill>
                  <a:schemeClr val="tx1"/>
                </a:solidFill>
                <a:latin typeface="+mn-ea"/>
                <a:cs typeface="Arial" panose="020B0604020202020204" pitchFamily="34" charset="0"/>
              </a:rPr>
              <a:t>ROI</a:t>
            </a:r>
            <a:r>
              <a:rPr kumimoji="1" lang="ja-JP" altLang="en-US" sz="1400">
                <a:solidFill>
                  <a:schemeClr val="tx1"/>
                </a:solidFill>
                <a:latin typeface="+mn-ea"/>
                <a:cs typeface="Arial" panose="020B0604020202020204" pitchFamily="34" charset="0"/>
              </a:rPr>
              <a:t>を念頭に置いた際に、改善に向けてどれくらいの投資であれば許容しうるか？</a:t>
            </a:r>
            <a:endParaRPr kumimoji="1" lang="en-US" altLang="ja-JP" sz="1400" dirty="0">
              <a:solidFill>
                <a:schemeClr val="tx1"/>
              </a:solidFill>
              <a:latin typeface="+mn-ea"/>
              <a:cs typeface="Arial" panose="020B0604020202020204" pitchFamily="34" charset="0"/>
            </a:endParaRPr>
          </a:p>
        </p:txBody>
      </p:sp>
      <p:cxnSp>
        <p:nvCxnSpPr>
          <p:cNvPr id="5" name="直線コネクタ 4">
            <a:extLst>
              <a:ext uri="{FF2B5EF4-FFF2-40B4-BE49-F238E27FC236}">
                <a16:creationId xmlns:a16="http://schemas.microsoft.com/office/drawing/2014/main" id="{DB4BA791-F1FF-C19F-5DEE-9C413ED13CF8}"/>
              </a:ext>
            </a:extLst>
          </p:cNvPr>
          <p:cNvCxnSpPr>
            <a:cxnSpLocks/>
          </p:cNvCxnSpPr>
          <p:nvPr/>
        </p:nvCxnSpPr>
        <p:spPr>
          <a:xfrm>
            <a:off x="340298" y="3967383"/>
            <a:ext cx="11453273" cy="0"/>
          </a:xfrm>
          <a:prstGeom prst="line">
            <a:avLst/>
          </a:prstGeom>
          <a:ln>
            <a:solidFill>
              <a:schemeClr val="bg1">
                <a:lumMod val="50000"/>
              </a:schemeClr>
            </a:solidFill>
            <a:prstDash val="dash"/>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23105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77"/>
        <p:cNvGrpSpPr/>
        <p:nvPr/>
      </p:nvGrpSpPr>
      <p:grpSpPr>
        <a:xfrm>
          <a:off x="0" y="0"/>
          <a:ext cx="0" cy="0"/>
          <a:chOff x="0" y="0"/>
          <a:chExt cx="0" cy="0"/>
        </a:xfrm>
      </p:grpSpPr>
      <p:sp>
        <p:nvSpPr>
          <p:cNvPr id="478" name="Google Shape;478;p5"/>
          <p:cNvSpPr txBox="1">
            <a:spLocks noGrp="1"/>
          </p:cNvSpPr>
          <p:nvPr>
            <p:ph type="ftr" idx="11"/>
          </p:nvPr>
        </p:nvSpPr>
        <p:spPr>
          <a:xfrm>
            <a:off x="9877808" y="6514831"/>
            <a:ext cx="1919585" cy="216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ja-JP">
                <a:solidFill>
                  <a:srgbClr val="BFBFBF"/>
                </a:solidFill>
              </a:rPr>
              <a:t>©️ 2026 Boost Consulting, Inc.</a:t>
            </a:r>
            <a:endParaRPr>
              <a:solidFill>
                <a:srgbClr val="BFBFBF"/>
              </a:solidFill>
            </a:endParaRPr>
          </a:p>
        </p:txBody>
      </p:sp>
      <p:sp>
        <p:nvSpPr>
          <p:cNvPr id="479" name="Google Shape;479;p5"/>
          <p:cNvSpPr/>
          <p:nvPr/>
        </p:nvSpPr>
        <p:spPr>
          <a:xfrm>
            <a:off x="0" y="-1"/>
            <a:ext cx="12192000" cy="3429000"/>
          </a:xfrm>
          <a:prstGeom prst="rect">
            <a:avLst/>
          </a:prstGeom>
          <a:solidFill>
            <a:srgbClr val="BFBFBF"/>
          </a:solidFill>
          <a:ln w="19050"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Arial"/>
              <a:ea typeface="Arial"/>
              <a:cs typeface="Arial"/>
              <a:sym typeface="Arial"/>
            </a:endParaRPr>
          </a:p>
        </p:txBody>
      </p:sp>
      <p:sp>
        <p:nvSpPr>
          <p:cNvPr id="480" name="Google Shape;480;p5"/>
          <p:cNvSpPr txBox="1"/>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757575"/>
              </a:buClr>
              <a:buSzPts val="1200"/>
              <a:buFont typeface="Arial"/>
              <a:buNone/>
            </a:pPr>
            <a:fld id="{00000000-1234-1234-1234-123412341234}" type="slidenum">
              <a:rPr lang="en-US" altLang="ja-JP" sz="1200">
                <a:solidFill>
                  <a:srgbClr val="757575"/>
                </a:solidFill>
                <a:latin typeface="Arial"/>
                <a:ea typeface="Arial"/>
                <a:cs typeface="Arial"/>
                <a:sym typeface="Arial"/>
              </a:rPr>
              <a:t>7</a:t>
            </a:fld>
            <a:endParaRPr sz="1200">
              <a:solidFill>
                <a:srgbClr val="757575"/>
              </a:solidFill>
              <a:latin typeface="Arial"/>
              <a:ea typeface="Arial"/>
              <a:cs typeface="Arial"/>
              <a:sym typeface="Arial"/>
            </a:endParaRPr>
          </a:p>
        </p:txBody>
      </p:sp>
      <p:sp>
        <p:nvSpPr>
          <p:cNvPr id="481" name="Google Shape;481;p5"/>
          <p:cNvSpPr txBox="1"/>
          <p:nvPr/>
        </p:nvSpPr>
        <p:spPr>
          <a:xfrm>
            <a:off x="329245" y="362988"/>
            <a:ext cx="954107"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ja-JP" sz="2000" b="1" i="0" u="none" strike="noStrike" cap="none" dirty="0">
                <a:solidFill>
                  <a:srgbClr val="000000"/>
                </a:solidFill>
                <a:latin typeface="+mj-ea"/>
                <a:ea typeface="+mj-ea"/>
                <a:cs typeface="Arial"/>
                <a:sym typeface="Arial"/>
              </a:rPr>
              <a:t>経営陣</a:t>
            </a:r>
            <a:endParaRPr sz="2000" b="1" i="0" u="none" strike="noStrike" cap="none" dirty="0">
              <a:solidFill>
                <a:srgbClr val="000000"/>
              </a:solidFill>
              <a:latin typeface="+mj-ea"/>
              <a:ea typeface="+mj-ea"/>
              <a:cs typeface="Arial"/>
              <a:sym typeface="Arial"/>
            </a:endParaRPr>
          </a:p>
        </p:txBody>
      </p:sp>
      <p:pic>
        <p:nvPicPr>
          <p:cNvPr id="482" name="Google Shape;482;p5" descr="テキスト&#10;&#10;AI 生成コンテンツは誤りを含む可能性があります。"/>
          <p:cNvPicPr preferRelativeResize="0"/>
          <p:nvPr/>
        </p:nvPicPr>
        <p:blipFill rotWithShape="1">
          <a:blip r:embed="rId3">
            <a:alphaModFix/>
          </a:blip>
          <a:srcRect/>
          <a:stretch/>
        </p:blipFill>
        <p:spPr>
          <a:xfrm>
            <a:off x="3139808" y="903647"/>
            <a:ext cx="886566" cy="1258787"/>
          </a:xfrm>
          <a:prstGeom prst="rect">
            <a:avLst/>
          </a:prstGeom>
          <a:noFill/>
          <a:ln>
            <a:noFill/>
          </a:ln>
        </p:spPr>
      </p:pic>
      <p:pic>
        <p:nvPicPr>
          <p:cNvPr id="483" name="Google Shape;483;p5" descr="スーツを着た男性&#10;&#10;AI 生成コンテンツは誤りを含む可能性があります。"/>
          <p:cNvPicPr preferRelativeResize="0"/>
          <p:nvPr/>
        </p:nvPicPr>
        <p:blipFill rotWithShape="1">
          <a:blip r:embed="rId4">
            <a:alphaModFix/>
          </a:blip>
          <a:srcRect/>
          <a:stretch/>
        </p:blipFill>
        <p:spPr>
          <a:xfrm>
            <a:off x="674402" y="281578"/>
            <a:ext cx="2882683" cy="4235567"/>
          </a:xfrm>
          <a:prstGeom prst="rect">
            <a:avLst/>
          </a:prstGeom>
          <a:noFill/>
          <a:ln>
            <a:noFill/>
          </a:ln>
        </p:spPr>
      </p:pic>
      <p:sp>
        <p:nvSpPr>
          <p:cNvPr id="484" name="Google Shape;484;p5"/>
          <p:cNvSpPr txBox="1"/>
          <p:nvPr/>
        </p:nvSpPr>
        <p:spPr>
          <a:xfrm>
            <a:off x="563082" y="2317415"/>
            <a:ext cx="3072484" cy="369332"/>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ja-JP" sz="1800" b="0" i="0" u="none" strike="noStrike" cap="none">
                <a:solidFill>
                  <a:srgbClr val="000000"/>
                </a:solidFill>
                <a:latin typeface="+mj-ea"/>
                <a:ea typeface="+mj-ea"/>
                <a:cs typeface="Arial"/>
                <a:sym typeface="Arial"/>
              </a:rPr>
              <a:t>堀 新一郎 / Shinichiro Hori</a:t>
            </a:r>
            <a:endParaRPr sz="1800" b="0" i="0" u="none" strike="noStrike" cap="none">
              <a:solidFill>
                <a:srgbClr val="000000"/>
              </a:solidFill>
              <a:latin typeface="+mj-ea"/>
              <a:ea typeface="+mj-ea"/>
              <a:cs typeface="Arial"/>
              <a:sym typeface="Arial"/>
            </a:endParaRPr>
          </a:p>
        </p:txBody>
      </p:sp>
      <p:sp>
        <p:nvSpPr>
          <p:cNvPr id="485" name="Google Shape;485;p5"/>
          <p:cNvSpPr txBox="1"/>
          <p:nvPr/>
        </p:nvSpPr>
        <p:spPr>
          <a:xfrm>
            <a:off x="563082" y="2732844"/>
            <a:ext cx="954107" cy="276999"/>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JP" sz="1200" b="0" i="0" u="none" strike="noStrike" cap="none">
                <a:solidFill>
                  <a:srgbClr val="000000"/>
                </a:solidFill>
                <a:latin typeface="+mj-ea"/>
                <a:ea typeface="+mj-ea"/>
                <a:cs typeface="Arial"/>
                <a:sym typeface="Arial"/>
              </a:rPr>
              <a:t>代表取締役</a:t>
            </a:r>
            <a:endParaRPr sz="1200" b="0" i="0" u="none" strike="noStrike" cap="none">
              <a:solidFill>
                <a:srgbClr val="000000"/>
              </a:solidFill>
              <a:latin typeface="+mj-ea"/>
              <a:ea typeface="+mj-ea"/>
              <a:cs typeface="Arial"/>
              <a:sym typeface="Arial"/>
            </a:endParaRPr>
          </a:p>
        </p:txBody>
      </p:sp>
      <p:pic>
        <p:nvPicPr>
          <p:cNvPr id="486" name="Google Shape;486;p5" descr="黒いシャツを着ている男性&#10;&#10;AI 生成コンテンツは誤りを含む可能性があります。"/>
          <p:cNvPicPr preferRelativeResize="0"/>
          <p:nvPr/>
        </p:nvPicPr>
        <p:blipFill rotWithShape="1">
          <a:blip r:embed="rId5">
            <a:alphaModFix/>
          </a:blip>
          <a:srcRect/>
          <a:stretch/>
        </p:blipFill>
        <p:spPr>
          <a:xfrm>
            <a:off x="4926457" y="501488"/>
            <a:ext cx="2275619" cy="3034158"/>
          </a:xfrm>
          <a:prstGeom prst="rect">
            <a:avLst/>
          </a:prstGeom>
          <a:noFill/>
          <a:ln>
            <a:noFill/>
          </a:ln>
        </p:spPr>
      </p:pic>
      <p:pic>
        <p:nvPicPr>
          <p:cNvPr id="487" name="Google Shape;487;p5" descr="テキスト, 手紙&#10;&#10;AI 生成コンテンツは誤りを含む可能性があります。"/>
          <p:cNvPicPr preferRelativeResize="0"/>
          <p:nvPr/>
        </p:nvPicPr>
        <p:blipFill rotWithShape="1">
          <a:blip r:embed="rId6">
            <a:alphaModFix/>
          </a:blip>
          <a:srcRect l="8031" r="6386"/>
          <a:stretch/>
        </p:blipFill>
        <p:spPr>
          <a:xfrm>
            <a:off x="6898943" y="903647"/>
            <a:ext cx="850506" cy="1258142"/>
          </a:xfrm>
          <a:prstGeom prst="rect">
            <a:avLst/>
          </a:prstGeom>
          <a:noFill/>
          <a:ln w="9525" cap="flat" cmpd="sng">
            <a:solidFill>
              <a:srgbClr val="BFBFBF"/>
            </a:solidFill>
            <a:prstDash val="solid"/>
            <a:round/>
            <a:headEnd type="none" w="sm" len="sm"/>
            <a:tailEnd type="none" w="sm" len="sm"/>
          </a:ln>
        </p:spPr>
      </p:pic>
      <p:sp>
        <p:nvSpPr>
          <p:cNvPr id="488" name="Google Shape;488;p5"/>
          <p:cNvSpPr txBox="1"/>
          <p:nvPr/>
        </p:nvSpPr>
        <p:spPr>
          <a:xfrm>
            <a:off x="4379084" y="2313803"/>
            <a:ext cx="3072484" cy="369291"/>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ja-JP" sz="1800" b="0" i="0" u="none" strike="noStrike" cap="none">
                <a:solidFill>
                  <a:srgbClr val="000000"/>
                </a:solidFill>
                <a:latin typeface="+mj-ea"/>
                <a:ea typeface="+mj-ea"/>
                <a:cs typeface="Arial"/>
                <a:sym typeface="Arial"/>
              </a:rPr>
              <a:t>小澤 隆生 / Takao Ozawa</a:t>
            </a:r>
            <a:endParaRPr sz="1800" b="0" i="0" u="none" strike="noStrike" cap="none">
              <a:solidFill>
                <a:srgbClr val="000000"/>
              </a:solidFill>
              <a:latin typeface="+mj-ea"/>
              <a:ea typeface="+mj-ea"/>
              <a:cs typeface="Arial"/>
              <a:sym typeface="Arial"/>
            </a:endParaRPr>
          </a:p>
        </p:txBody>
      </p:sp>
      <p:sp>
        <p:nvSpPr>
          <p:cNvPr id="489" name="Google Shape;489;p5"/>
          <p:cNvSpPr txBox="1"/>
          <p:nvPr/>
        </p:nvSpPr>
        <p:spPr>
          <a:xfrm>
            <a:off x="4379084" y="2719820"/>
            <a:ext cx="646331" cy="276999"/>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JP" sz="1200" b="0" i="0" u="none" strike="noStrike" cap="none">
                <a:solidFill>
                  <a:srgbClr val="000000"/>
                </a:solidFill>
                <a:latin typeface="+mj-ea"/>
                <a:ea typeface="+mj-ea"/>
                <a:cs typeface="Arial"/>
                <a:sym typeface="Arial"/>
              </a:rPr>
              <a:t>取締役</a:t>
            </a:r>
            <a:endParaRPr sz="1200" b="0" i="0" u="none" strike="noStrike" cap="none">
              <a:solidFill>
                <a:srgbClr val="000000"/>
              </a:solidFill>
              <a:latin typeface="+mj-ea"/>
              <a:ea typeface="+mj-ea"/>
              <a:cs typeface="Arial"/>
              <a:sym typeface="Arial"/>
            </a:endParaRPr>
          </a:p>
        </p:txBody>
      </p:sp>
      <p:pic>
        <p:nvPicPr>
          <p:cNvPr id="490" name="Google Shape;490;p5" descr="スーツを着た男性&#10;&#10;AI 生成コンテンツは誤りを含む可能性があります。"/>
          <p:cNvPicPr preferRelativeResize="0"/>
          <p:nvPr/>
        </p:nvPicPr>
        <p:blipFill rotWithShape="1">
          <a:blip r:embed="rId7">
            <a:alphaModFix/>
          </a:blip>
          <a:srcRect/>
          <a:stretch/>
        </p:blipFill>
        <p:spPr>
          <a:xfrm>
            <a:off x="8581195" y="332062"/>
            <a:ext cx="2529628" cy="3794442"/>
          </a:xfrm>
          <a:prstGeom prst="rect">
            <a:avLst/>
          </a:prstGeom>
          <a:noFill/>
          <a:ln>
            <a:noFill/>
          </a:ln>
        </p:spPr>
      </p:pic>
      <p:sp>
        <p:nvSpPr>
          <p:cNvPr id="491" name="Google Shape;491;p5"/>
          <p:cNvSpPr txBox="1"/>
          <p:nvPr/>
        </p:nvSpPr>
        <p:spPr>
          <a:xfrm>
            <a:off x="8190250" y="2311413"/>
            <a:ext cx="3313710" cy="369332"/>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ja-JP" sz="1800" b="0" i="0" u="none" strike="noStrike" cap="none">
                <a:solidFill>
                  <a:srgbClr val="000000"/>
                </a:solidFill>
                <a:latin typeface="+mj-ea"/>
                <a:ea typeface="+mj-ea"/>
                <a:cs typeface="Arial"/>
                <a:sym typeface="Arial"/>
              </a:rPr>
              <a:t>高橋 健太 / Kenta Takahashi</a:t>
            </a:r>
            <a:endParaRPr sz="1800" b="0" i="0" u="none" strike="noStrike" cap="none">
              <a:solidFill>
                <a:srgbClr val="000000"/>
              </a:solidFill>
              <a:latin typeface="+mj-ea"/>
              <a:ea typeface="+mj-ea"/>
              <a:cs typeface="Arial"/>
              <a:sym typeface="Arial"/>
            </a:endParaRPr>
          </a:p>
        </p:txBody>
      </p:sp>
      <p:sp>
        <p:nvSpPr>
          <p:cNvPr id="492" name="Google Shape;492;p5"/>
          <p:cNvSpPr txBox="1"/>
          <p:nvPr/>
        </p:nvSpPr>
        <p:spPr>
          <a:xfrm>
            <a:off x="8190250" y="2714513"/>
            <a:ext cx="646331" cy="276999"/>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JP" sz="1200" b="0" i="0" u="none" strike="noStrike" cap="none">
                <a:solidFill>
                  <a:srgbClr val="000000"/>
                </a:solidFill>
                <a:latin typeface="+mj-ea"/>
                <a:ea typeface="+mj-ea"/>
                <a:cs typeface="Arial"/>
                <a:sym typeface="Arial"/>
              </a:rPr>
              <a:t>取締役</a:t>
            </a:r>
            <a:endParaRPr sz="1400" b="0" i="0" u="none" strike="noStrike" cap="none">
              <a:solidFill>
                <a:srgbClr val="000000"/>
              </a:solidFill>
              <a:latin typeface="+mj-ea"/>
              <a:ea typeface="+mj-ea"/>
              <a:cs typeface="Arial"/>
              <a:sym typeface="Arial"/>
            </a:endParaRPr>
          </a:p>
        </p:txBody>
      </p:sp>
      <p:sp>
        <p:nvSpPr>
          <p:cNvPr id="493" name="Google Shape;493;p5"/>
          <p:cNvSpPr/>
          <p:nvPr/>
        </p:nvSpPr>
        <p:spPr>
          <a:xfrm>
            <a:off x="0" y="3429001"/>
            <a:ext cx="12192000" cy="3429000"/>
          </a:xfrm>
          <a:prstGeom prst="rect">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Arial"/>
              <a:ea typeface="Arial"/>
              <a:cs typeface="Arial"/>
              <a:sym typeface="Arial"/>
            </a:endParaRPr>
          </a:p>
        </p:txBody>
      </p:sp>
      <p:sp>
        <p:nvSpPr>
          <p:cNvPr id="494" name="Google Shape;494;p5"/>
          <p:cNvSpPr/>
          <p:nvPr/>
        </p:nvSpPr>
        <p:spPr>
          <a:xfrm>
            <a:off x="563082" y="3065436"/>
            <a:ext cx="3433831" cy="3510986"/>
          </a:xfrm>
          <a:prstGeom prst="rect">
            <a:avLst/>
          </a:prstGeom>
          <a:solidFill>
            <a:schemeClr val="lt1"/>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mj-ea"/>
              <a:ea typeface="+mj-ea"/>
              <a:cs typeface="Arial"/>
              <a:sym typeface="Arial"/>
            </a:endParaRPr>
          </a:p>
        </p:txBody>
      </p:sp>
      <p:sp>
        <p:nvSpPr>
          <p:cNvPr id="495" name="Google Shape;495;p5"/>
          <p:cNvSpPr txBox="1"/>
          <p:nvPr/>
        </p:nvSpPr>
        <p:spPr>
          <a:xfrm>
            <a:off x="655657" y="3352948"/>
            <a:ext cx="3234129" cy="280072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ja-JP" sz="1600" b="0" i="0" u="none" strike="noStrike" cap="none" dirty="0">
                <a:solidFill>
                  <a:srgbClr val="000000"/>
                </a:solidFill>
                <a:latin typeface="+mj-ea"/>
                <a:ea typeface="+mj-ea"/>
                <a:cs typeface="Arial"/>
                <a:sym typeface="Arial"/>
              </a:rPr>
              <a:t>フューチャーアーキテクト、ドリームインキュベータでのシステム・戦略コンサルティング及びPE投資を経て、13年よりヤフー(現LINEヤフー（株）)に入社しM＆A業務に従事。16年にZ Venture Capital代表取締役社長に就任。海外現地法人立ち上げ、VC統合やファンド設計を主導。24年にBoost Capitalを共同創業し、戦略と経営の両面から起業家支援に取り組む。</a:t>
            </a:r>
            <a:endParaRPr sz="1600" b="0" i="0" u="none" strike="noStrike" cap="none" dirty="0">
              <a:solidFill>
                <a:srgbClr val="000000"/>
              </a:solidFill>
              <a:latin typeface="+mj-ea"/>
              <a:ea typeface="+mj-ea"/>
              <a:cs typeface="Arial"/>
              <a:sym typeface="Arial"/>
            </a:endParaRPr>
          </a:p>
        </p:txBody>
      </p:sp>
      <p:sp>
        <p:nvSpPr>
          <p:cNvPr id="496" name="Google Shape;496;p5"/>
          <p:cNvSpPr/>
          <p:nvPr/>
        </p:nvSpPr>
        <p:spPr>
          <a:xfrm>
            <a:off x="4379084" y="3065436"/>
            <a:ext cx="3433831" cy="3510986"/>
          </a:xfrm>
          <a:prstGeom prst="rect">
            <a:avLst/>
          </a:prstGeom>
          <a:solidFill>
            <a:schemeClr val="lt1"/>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mj-ea"/>
              <a:ea typeface="+mj-ea"/>
              <a:cs typeface="Arial"/>
              <a:sym typeface="Arial"/>
            </a:endParaRPr>
          </a:p>
        </p:txBody>
      </p:sp>
      <p:sp>
        <p:nvSpPr>
          <p:cNvPr id="497" name="Google Shape;497;p5"/>
          <p:cNvSpPr txBox="1"/>
          <p:nvPr/>
        </p:nvSpPr>
        <p:spPr>
          <a:xfrm>
            <a:off x="4478934" y="3404325"/>
            <a:ext cx="3234129" cy="255450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ja-JP" sz="1600" b="0" i="0" u="none" strike="noStrike" cap="none">
                <a:solidFill>
                  <a:srgbClr val="000000"/>
                </a:solidFill>
                <a:latin typeface="+mj-ea"/>
                <a:ea typeface="+mj-ea"/>
                <a:cs typeface="Arial"/>
                <a:sym typeface="Arial"/>
              </a:rPr>
              <a:t>ビズシーク創業後、楽天に売却。以降もクロコスを創業・売却するなど連続起業家として活躍。楽天では楽天野球団の立ち上げ、ヤフーではPayPayを含む複数の新規事業を推進し、ZOZO・一休・ASKULなどの大型M&amp;Aも主導。22年にはヤフー代表取締役社長CEOに就任。24年にVCファンドBoost Capitalを設立し、起業支援に注力。</a:t>
            </a:r>
            <a:endParaRPr sz="1600" b="0" i="0" u="none" strike="noStrike" cap="none">
              <a:solidFill>
                <a:srgbClr val="000000"/>
              </a:solidFill>
              <a:latin typeface="+mj-ea"/>
              <a:ea typeface="+mj-ea"/>
              <a:cs typeface="Arial"/>
              <a:sym typeface="Arial"/>
            </a:endParaRPr>
          </a:p>
        </p:txBody>
      </p:sp>
      <p:grpSp>
        <p:nvGrpSpPr>
          <p:cNvPr id="498" name="Google Shape;498;p5"/>
          <p:cNvGrpSpPr/>
          <p:nvPr/>
        </p:nvGrpSpPr>
        <p:grpSpPr>
          <a:xfrm>
            <a:off x="8128823" y="3065436"/>
            <a:ext cx="3500094" cy="3510986"/>
            <a:chOff x="8128823" y="3065436"/>
            <a:chExt cx="3500094" cy="3510986"/>
          </a:xfrm>
        </p:grpSpPr>
        <p:sp>
          <p:nvSpPr>
            <p:cNvPr id="499" name="Google Shape;499;p5"/>
            <p:cNvSpPr/>
            <p:nvPr/>
          </p:nvSpPr>
          <p:spPr>
            <a:xfrm>
              <a:off x="8195086" y="3065436"/>
              <a:ext cx="3433831" cy="3510986"/>
            </a:xfrm>
            <a:prstGeom prst="rect">
              <a:avLst/>
            </a:prstGeom>
            <a:solidFill>
              <a:schemeClr val="lt1"/>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mj-ea"/>
                <a:ea typeface="+mj-ea"/>
                <a:cs typeface="Arial"/>
                <a:sym typeface="Arial"/>
              </a:endParaRPr>
            </a:p>
          </p:txBody>
        </p:sp>
        <p:sp>
          <p:nvSpPr>
            <p:cNvPr id="500" name="Google Shape;500;p5"/>
            <p:cNvSpPr txBox="1"/>
            <p:nvPr/>
          </p:nvSpPr>
          <p:spPr>
            <a:xfrm>
              <a:off x="8292519" y="3400917"/>
              <a:ext cx="3234129" cy="230828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ja-JP" sz="1600" b="0" i="0" u="none" strike="noStrike" cap="none">
                  <a:solidFill>
                    <a:srgbClr val="000000"/>
                  </a:solidFill>
                  <a:latin typeface="+mj-ea"/>
                  <a:ea typeface="+mj-ea"/>
                  <a:cs typeface="Arial"/>
                  <a:sym typeface="Arial"/>
                </a:rPr>
                <a:t>マッキンゼーで戦略コンサルティングに従事後、MBKパートナーズにてコメダ珈琲・TASAKI・USJ・ゴディバ等のM&amp;A・経営支援を担当。PE業務を通じて経営の現場に深く関与。MBK在籍中にOMAKASEを創業しGMOに売却。24年にBoost Capitalを共同創業。個人でもLBOを用いた起業・投資に取り組む。 </a:t>
              </a:r>
              <a:endParaRPr sz="1400" b="0" i="0" u="none" strike="noStrike" cap="none">
                <a:solidFill>
                  <a:srgbClr val="000000"/>
                </a:solidFill>
                <a:latin typeface="+mj-ea"/>
                <a:ea typeface="+mj-ea"/>
                <a:cs typeface="Arial"/>
                <a:sym typeface="Arial"/>
              </a:endParaRPr>
            </a:p>
          </p:txBody>
        </p:sp>
        <p:sp>
          <p:nvSpPr>
            <p:cNvPr id="501" name="Google Shape;501;p5"/>
            <p:cNvSpPr txBox="1"/>
            <p:nvPr/>
          </p:nvSpPr>
          <p:spPr>
            <a:xfrm>
              <a:off x="8128823" y="3135899"/>
              <a:ext cx="748923" cy="2616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ja-JP" sz="1100" b="0" i="0" u="none" strike="noStrike" cap="none">
                  <a:solidFill>
                    <a:srgbClr val="000000"/>
                  </a:solidFill>
                  <a:latin typeface="+mj-ea"/>
                  <a:ea typeface="+mj-ea"/>
                  <a:cs typeface="Arial"/>
                  <a:sym typeface="Arial"/>
                </a:rPr>
                <a:t>【略歴】</a:t>
              </a:r>
              <a:endParaRPr sz="1100" b="0" i="0" u="none" strike="noStrike" cap="none">
                <a:solidFill>
                  <a:srgbClr val="000000"/>
                </a:solidFill>
                <a:latin typeface="+mj-ea"/>
                <a:ea typeface="+mj-ea"/>
                <a:cs typeface="Arial"/>
                <a:sym typeface="Arial"/>
              </a:endParaRPr>
            </a:p>
          </p:txBody>
        </p:sp>
      </p:grpSp>
      <p:sp>
        <p:nvSpPr>
          <p:cNvPr id="502" name="Google Shape;502;p5"/>
          <p:cNvSpPr txBox="1"/>
          <p:nvPr/>
        </p:nvSpPr>
        <p:spPr>
          <a:xfrm>
            <a:off x="508782" y="3142715"/>
            <a:ext cx="748923" cy="2616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ja-JP" sz="1100" b="0" i="0" u="none" strike="noStrike" cap="none">
                <a:solidFill>
                  <a:srgbClr val="000000"/>
                </a:solidFill>
                <a:latin typeface="+mj-ea"/>
                <a:ea typeface="+mj-ea"/>
                <a:cs typeface="Arial"/>
                <a:sym typeface="Arial"/>
              </a:rPr>
              <a:t>【略歴】</a:t>
            </a:r>
            <a:endParaRPr sz="1100" b="0" i="0" u="none" strike="noStrike" cap="none">
              <a:solidFill>
                <a:srgbClr val="000000"/>
              </a:solidFill>
              <a:latin typeface="+mj-ea"/>
              <a:ea typeface="+mj-ea"/>
              <a:cs typeface="Arial"/>
              <a:sym typeface="Arial"/>
            </a:endParaRPr>
          </a:p>
        </p:txBody>
      </p:sp>
      <p:sp>
        <p:nvSpPr>
          <p:cNvPr id="503" name="Google Shape;503;p5"/>
          <p:cNvSpPr txBox="1"/>
          <p:nvPr/>
        </p:nvSpPr>
        <p:spPr>
          <a:xfrm>
            <a:off x="4315238" y="3139307"/>
            <a:ext cx="748923" cy="2616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ja-JP" sz="1100" b="0" i="0" u="none" strike="noStrike" cap="none">
                <a:solidFill>
                  <a:srgbClr val="000000"/>
                </a:solidFill>
                <a:latin typeface="+mj-ea"/>
                <a:ea typeface="+mj-ea"/>
                <a:cs typeface="Arial"/>
                <a:sym typeface="Arial"/>
              </a:rPr>
              <a:t>【略歴】</a:t>
            </a:r>
            <a:endParaRPr sz="1100" b="0" i="0" u="none" strike="noStrike" cap="none">
              <a:solidFill>
                <a:srgbClr val="000000"/>
              </a:solidFill>
              <a:latin typeface="+mj-ea"/>
              <a:ea typeface="+mj-ea"/>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07"/>
        <p:cNvGrpSpPr/>
        <p:nvPr/>
      </p:nvGrpSpPr>
      <p:grpSpPr>
        <a:xfrm>
          <a:off x="0" y="0"/>
          <a:ext cx="0" cy="0"/>
          <a:chOff x="0" y="0"/>
          <a:chExt cx="0" cy="0"/>
        </a:xfrm>
      </p:grpSpPr>
      <p:sp>
        <p:nvSpPr>
          <p:cNvPr id="508" name="Google Shape;508;p6"/>
          <p:cNvSpPr txBox="1">
            <a:spLocks noGrp="1"/>
          </p:cNvSpPr>
          <p:nvPr>
            <p:ph type="ftr" idx="11"/>
          </p:nvPr>
        </p:nvSpPr>
        <p:spPr>
          <a:xfrm>
            <a:off x="9877808" y="6514831"/>
            <a:ext cx="1919585" cy="216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ja-JP">
                <a:solidFill>
                  <a:srgbClr val="BFBFBF"/>
                </a:solidFill>
                <a:latin typeface="+mj-ea"/>
                <a:ea typeface="+mj-ea"/>
              </a:rPr>
              <a:t>©️ 2026 Boost Consulting, Inc.</a:t>
            </a:r>
            <a:endParaRPr>
              <a:solidFill>
                <a:srgbClr val="BFBFBF"/>
              </a:solidFill>
              <a:latin typeface="+mj-ea"/>
              <a:ea typeface="+mj-ea"/>
            </a:endParaRPr>
          </a:p>
        </p:txBody>
      </p:sp>
      <p:sp>
        <p:nvSpPr>
          <p:cNvPr id="509" name="Google Shape;509;p6"/>
          <p:cNvSpPr/>
          <p:nvPr/>
        </p:nvSpPr>
        <p:spPr>
          <a:xfrm>
            <a:off x="0" y="-1"/>
            <a:ext cx="12192000" cy="3429000"/>
          </a:xfrm>
          <a:prstGeom prst="rect">
            <a:avLst/>
          </a:prstGeom>
          <a:solidFill>
            <a:srgbClr val="BFBFBF"/>
          </a:solidFill>
          <a:ln w="19050"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Arial"/>
              <a:ea typeface="Arial"/>
              <a:cs typeface="Arial"/>
              <a:sym typeface="Arial"/>
            </a:endParaRPr>
          </a:p>
        </p:txBody>
      </p:sp>
      <p:sp>
        <p:nvSpPr>
          <p:cNvPr id="510" name="Google Shape;510;p6"/>
          <p:cNvSpPr/>
          <p:nvPr/>
        </p:nvSpPr>
        <p:spPr>
          <a:xfrm>
            <a:off x="0" y="3429001"/>
            <a:ext cx="12192000" cy="3429000"/>
          </a:xfrm>
          <a:prstGeom prst="rect">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mj-ea"/>
              <a:ea typeface="+mj-ea"/>
              <a:cs typeface="Arial"/>
              <a:sym typeface="Arial"/>
            </a:endParaRPr>
          </a:p>
        </p:txBody>
      </p:sp>
      <p:pic>
        <p:nvPicPr>
          <p:cNvPr id="511" name="Google Shape;511;p6" descr="スーツを着た男性&#10;&#10;AI 生成コンテンツは誤りを含む可能性があります。"/>
          <p:cNvPicPr preferRelativeResize="0"/>
          <p:nvPr/>
        </p:nvPicPr>
        <p:blipFill rotWithShape="1">
          <a:blip r:embed="rId3">
            <a:alphaModFix/>
          </a:blip>
          <a:srcRect/>
          <a:stretch/>
        </p:blipFill>
        <p:spPr>
          <a:xfrm>
            <a:off x="-21451" y="617474"/>
            <a:ext cx="3032860" cy="3032860"/>
          </a:xfrm>
          <a:prstGeom prst="rect">
            <a:avLst/>
          </a:prstGeom>
          <a:noFill/>
          <a:ln>
            <a:noFill/>
          </a:ln>
        </p:spPr>
      </p:pic>
      <p:grpSp>
        <p:nvGrpSpPr>
          <p:cNvPr id="512" name="Google Shape;512;p6"/>
          <p:cNvGrpSpPr/>
          <p:nvPr/>
        </p:nvGrpSpPr>
        <p:grpSpPr>
          <a:xfrm>
            <a:off x="2724760" y="863373"/>
            <a:ext cx="3332772" cy="2755159"/>
            <a:chOff x="-2193616" y="4742813"/>
            <a:chExt cx="6156155" cy="1386244"/>
          </a:xfrm>
        </p:grpSpPr>
        <p:sp>
          <p:nvSpPr>
            <p:cNvPr id="513" name="Google Shape;513;p6"/>
            <p:cNvSpPr/>
            <p:nvPr/>
          </p:nvSpPr>
          <p:spPr>
            <a:xfrm>
              <a:off x="-2086424" y="4742813"/>
              <a:ext cx="6048963" cy="1386244"/>
            </a:xfrm>
            <a:prstGeom prst="rect">
              <a:avLst/>
            </a:prstGeom>
            <a:solidFill>
              <a:schemeClr val="lt1"/>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mj-ea"/>
                <a:ea typeface="+mj-ea"/>
                <a:cs typeface="Arial"/>
                <a:sym typeface="Arial"/>
              </a:endParaRPr>
            </a:p>
          </p:txBody>
        </p:sp>
        <p:sp>
          <p:nvSpPr>
            <p:cNvPr id="514" name="Google Shape;514;p6"/>
            <p:cNvSpPr txBox="1"/>
            <p:nvPr/>
          </p:nvSpPr>
          <p:spPr>
            <a:xfrm>
              <a:off x="-2086425" y="4877319"/>
              <a:ext cx="6048963" cy="116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ja-JP" sz="1100" b="0" i="0" u="none" strike="noStrike" cap="none">
                  <a:solidFill>
                    <a:srgbClr val="000000"/>
                  </a:solidFill>
                  <a:latin typeface="+mj-ea"/>
                  <a:ea typeface="+mj-ea"/>
                  <a:cs typeface="Arial"/>
                  <a:sym typeface="Arial"/>
                </a:rPr>
                <a:t>09年グリー入社。JapanStudio統括部長・開発本部副本部長 執行役員VPoEとして内製ゲーム事業を統括。15年LITALICO執行役員CTOとして開発組織とグローバルアプリを立ち上げ。19年ウェルスナビ執行役員CPO、20年エブリー参画、育児メディア事業「MAMADAYS」のカンパニー長兼執行役員・プロダクトマネージャーとして企画・運用を統括。23年より技術顧問・CTOとして新規サービス立ち上げを支援。</a:t>
              </a:r>
              <a:endParaRPr sz="1100" b="0" i="0" u="none" strike="noStrike" cap="none">
                <a:solidFill>
                  <a:srgbClr val="000000"/>
                </a:solidFill>
                <a:latin typeface="+mj-ea"/>
                <a:ea typeface="+mj-ea"/>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ja-JP" sz="1100" b="0" i="0" u="none" strike="noStrike" cap="none">
                  <a:solidFill>
                    <a:srgbClr val="000000"/>
                  </a:solidFill>
                  <a:latin typeface="+mj-ea"/>
                  <a:ea typeface="+mj-ea"/>
                  <a:cs typeface="Arial"/>
                  <a:sym typeface="Arial"/>
                </a:rPr>
                <a:t>博士（情報工学）</a:t>
              </a:r>
              <a:endParaRPr sz="1100" b="0" i="0" u="none" strike="noStrike" cap="none">
                <a:solidFill>
                  <a:srgbClr val="000000"/>
                </a:solidFill>
                <a:latin typeface="+mj-ea"/>
                <a:ea typeface="+mj-ea"/>
                <a:cs typeface="Arial"/>
                <a:sym typeface="Arial"/>
              </a:endParaRPr>
            </a:p>
          </p:txBody>
        </p:sp>
        <p:sp>
          <p:nvSpPr>
            <p:cNvPr id="515" name="Google Shape;515;p6"/>
            <p:cNvSpPr txBox="1"/>
            <p:nvPr/>
          </p:nvSpPr>
          <p:spPr>
            <a:xfrm>
              <a:off x="-2193616" y="4761820"/>
              <a:ext cx="5840838" cy="5716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ja-JP" sz="1100" b="0" i="0" u="none" strike="noStrike" cap="none">
                  <a:solidFill>
                    <a:srgbClr val="000000"/>
                  </a:solidFill>
                  <a:latin typeface="+mj-ea"/>
                  <a:ea typeface="+mj-ea"/>
                  <a:cs typeface="Arial"/>
                  <a:sym typeface="Arial"/>
                </a:rPr>
                <a:t>【略歴】</a:t>
              </a:r>
              <a:endParaRPr sz="1400" b="0" i="0" u="none" strike="noStrike" cap="none">
                <a:solidFill>
                  <a:srgbClr val="000000"/>
                </a:solidFill>
                <a:latin typeface="+mj-ea"/>
                <a:ea typeface="+mj-ea"/>
                <a:cs typeface="Arial"/>
                <a:sym typeface="Arial"/>
              </a:endParaRPr>
            </a:p>
          </p:txBody>
        </p:sp>
      </p:grpSp>
      <p:pic>
        <p:nvPicPr>
          <p:cNvPr id="516" name="Google Shape;516;p6" descr="スーツを着た男性&#10;&#10;AI 生成コンテンツは誤りを含む可能性があります。"/>
          <p:cNvPicPr preferRelativeResize="0"/>
          <p:nvPr/>
        </p:nvPicPr>
        <p:blipFill rotWithShape="1">
          <a:blip r:embed="rId4">
            <a:alphaModFix/>
          </a:blip>
          <a:srcRect b="5188"/>
          <a:stretch/>
        </p:blipFill>
        <p:spPr>
          <a:xfrm>
            <a:off x="5914730" y="640027"/>
            <a:ext cx="2586237" cy="2945111"/>
          </a:xfrm>
          <a:prstGeom prst="rect">
            <a:avLst/>
          </a:prstGeom>
          <a:noFill/>
          <a:ln>
            <a:noFill/>
          </a:ln>
        </p:spPr>
      </p:pic>
      <p:pic>
        <p:nvPicPr>
          <p:cNvPr id="517" name="Google Shape;517;p6" descr="人, シャツ が含まれている画像&#10;&#10;AI 生成コンテンツは誤りを含む可能性があります。"/>
          <p:cNvPicPr preferRelativeResize="0"/>
          <p:nvPr/>
        </p:nvPicPr>
        <p:blipFill rotWithShape="1">
          <a:blip r:embed="rId5">
            <a:alphaModFix/>
          </a:blip>
          <a:srcRect/>
          <a:stretch/>
        </p:blipFill>
        <p:spPr>
          <a:xfrm>
            <a:off x="6197091" y="4052625"/>
            <a:ext cx="2191474" cy="2442428"/>
          </a:xfrm>
          <a:prstGeom prst="rect">
            <a:avLst/>
          </a:prstGeom>
          <a:noFill/>
          <a:ln>
            <a:noFill/>
          </a:ln>
        </p:spPr>
      </p:pic>
      <p:pic>
        <p:nvPicPr>
          <p:cNvPr id="518" name="Google Shape;518;p6" descr="青いシャツを着た男性&#10;&#10;AI 生成コンテンツは誤りを含む可能性があります。"/>
          <p:cNvPicPr preferRelativeResize="0"/>
          <p:nvPr/>
        </p:nvPicPr>
        <p:blipFill rotWithShape="1">
          <a:blip r:embed="rId6">
            <a:alphaModFix/>
          </a:blip>
          <a:srcRect/>
          <a:stretch/>
        </p:blipFill>
        <p:spPr>
          <a:xfrm>
            <a:off x="-653332" y="3995820"/>
            <a:ext cx="4121010" cy="2548519"/>
          </a:xfrm>
          <a:prstGeom prst="rect">
            <a:avLst/>
          </a:prstGeom>
          <a:noFill/>
          <a:ln>
            <a:noFill/>
          </a:ln>
        </p:spPr>
      </p:pic>
      <p:grpSp>
        <p:nvGrpSpPr>
          <p:cNvPr id="519" name="Google Shape;519;p6"/>
          <p:cNvGrpSpPr/>
          <p:nvPr/>
        </p:nvGrpSpPr>
        <p:grpSpPr>
          <a:xfrm>
            <a:off x="8529983" y="863372"/>
            <a:ext cx="3332772" cy="2755159"/>
            <a:chOff x="-2193616" y="4742813"/>
            <a:chExt cx="6156155" cy="1386244"/>
          </a:xfrm>
        </p:grpSpPr>
        <p:sp>
          <p:nvSpPr>
            <p:cNvPr id="520" name="Google Shape;520;p6"/>
            <p:cNvSpPr/>
            <p:nvPr/>
          </p:nvSpPr>
          <p:spPr>
            <a:xfrm>
              <a:off x="-2086424" y="4742813"/>
              <a:ext cx="6048963" cy="1386244"/>
            </a:xfrm>
            <a:prstGeom prst="rect">
              <a:avLst/>
            </a:prstGeom>
            <a:solidFill>
              <a:schemeClr val="lt1"/>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mj-ea"/>
                <a:ea typeface="+mj-ea"/>
                <a:cs typeface="Arial"/>
                <a:sym typeface="Arial"/>
              </a:endParaRPr>
            </a:p>
          </p:txBody>
        </p:sp>
        <p:sp>
          <p:nvSpPr>
            <p:cNvPr id="521" name="Google Shape;521;p6"/>
            <p:cNvSpPr txBox="1"/>
            <p:nvPr/>
          </p:nvSpPr>
          <p:spPr>
            <a:xfrm>
              <a:off x="-2092292" y="4877319"/>
              <a:ext cx="6054829" cy="1234936"/>
            </a:xfrm>
            <a:prstGeom prst="rect">
              <a:avLst/>
            </a:prstGeom>
            <a:noFill/>
            <a:ln>
              <a:noFill/>
            </a:ln>
          </p:spPr>
          <p:txBody>
            <a:bodyPr spcFirstLastPara="1" wrap="square" lIns="91425" tIns="45700" rIns="91425" bIns="45700" anchor="t" anchorCtr="0">
              <a:noAutofit/>
            </a:bodyPr>
            <a:lstStyle/>
            <a:p>
              <a:pPr marL="0" marR="0" lvl="0" indent="0" algn="l" rtl="0">
                <a:lnSpc>
                  <a:spcPct val="120000"/>
                </a:lnSpc>
                <a:spcBef>
                  <a:spcPts val="0"/>
                </a:spcBef>
                <a:spcAft>
                  <a:spcPts val="0"/>
                </a:spcAft>
                <a:buClr>
                  <a:srgbClr val="000000"/>
                </a:buClr>
                <a:buSzPts val="1050"/>
                <a:buFont typeface="Arial"/>
                <a:buNone/>
              </a:pPr>
              <a:r>
                <a:rPr lang="ja-JP" sz="1050" b="0" i="0" u="none" strike="noStrike" cap="none">
                  <a:solidFill>
                    <a:srgbClr val="000000"/>
                  </a:solidFill>
                  <a:latin typeface="+mj-ea"/>
                  <a:ea typeface="+mj-ea"/>
                  <a:cs typeface="Arial"/>
                  <a:sym typeface="Arial"/>
                </a:rPr>
                <a:t>05年に筑波大学大学院卒業後、ヤフー株式会社（現 LINEヤフー(株)）に新卒入社。 エンジニアとして「Yahoo! JAPAN ID」や「Yahoo!ショッピング」「ヤフオク!」の決済システム構築などに携わる。決済金融部門のテクニカルディレクターや「Yahoo! JAPAN」を支えるプラットフォームの責任者を経て、15年にヤフー株式会社CTOに就任。19年10月にZホールディングス株式会社 常務執行役員 CTO、ヤフー株式会社取締役常務執行役員CTOに就任。23年10月よりLINEヤフー株式会社 上級執行役員 検索カンパニーCEOに就任。25年3月よりラクスル株式会社グループCIO兼グループCDOに就任。</a:t>
              </a:r>
              <a:endParaRPr sz="1050" b="0" i="0" u="none" strike="noStrike" cap="none">
                <a:solidFill>
                  <a:srgbClr val="000000"/>
                </a:solidFill>
                <a:latin typeface="+mj-ea"/>
                <a:ea typeface="+mj-ea"/>
                <a:cs typeface="Arial"/>
                <a:sym typeface="Arial"/>
              </a:endParaRPr>
            </a:p>
          </p:txBody>
        </p:sp>
        <p:sp>
          <p:nvSpPr>
            <p:cNvPr id="522" name="Google Shape;522;p6"/>
            <p:cNvSpPr txBox="1"/>
            <p:nvPr/>
          </p:nvSpPr>
          <p:spPr>
            <a:xfrm>
              <a:off x="-2193616" y="4761820"/>
              <a:ext cx="5840838" cy="5716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ja-JP" sz="1100" b="0" i="0" u="none" strike="noStrike" cap="none">
                  <a:solidFill>
                    <a:srgbClr val="000000"/>
                  </a:solidFill>
                  <a:latin typeface="+mj-ea"/>
                  <a:ea typeface="+mj-ea"/>
                  <a:cs typeface="Arial"/>
                  <a:sym typeface="Arial"/>
                </a:rPr>
                <a:t>【略歴】</a:t>
              </a:r>
              <a:endParaRPr sz="1400" b="0" i="0" u="none" strike="noStrike" cap="none">
                <a:solidFill>
                  <a:srgbClr val="000000"/>
                </a:solidFill>
                <a:latin typeface="+mj-ea"/>
                <a:ea typeface="+mj-ea"/>
                <a:cs typeface="Arial"/>
                <a:sym typeface="Arial"/>
              </a:endParaRPr>
            </a:p>
          </p:txBody>
        </p:sp>
      </p:grpSp>
      <p:grpSp>
        <p:nvGrpSpPr>
          <p:cNvPr id="523" name="Google Shape;523;p6"/>
          <p:cNvGrpSpPr/>
          <p:nvPr/>
        </p:nvGrpSpPr>
        <p:grpSpPr>
          <a:xfrm>
            <a:off x="2724760" y="3846591"/>
            <a:ext cx="3332772" cy="2755159"/>
            <a:chOff x="-2193616" y="4742813"/>
            <a:chExt cx="6156155" cy="1386244"/>
          </a:xfrm>
        </p:grpSpPr>
        <p:sp>
          <p:nvSpPr>
            <p:cNvPr id="524" name="Google Shape;524;p6"/>
            <p:cNvSpPr/>
            <p:nvPr/>
          </p:nvSpPr>
          <p:spPr>
            <a:xfrm>
              <a:off x="-2086424" y="4742813"/>
              <a:ext cx="6048963" cy="1386244"/>
            </a:xfrm>
            <a:prstGeom prst="rect">
              <a:avLst/>
            </a:prstGeom>
            <a:solidFill>
              <a:schemeClr val="lt1"/>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mj-ea"/>
                <a:ea typeface="+mj-ea"/>
                <a:cs typeface="Arial"/>
                <a:sym typeface="Arial"/>
              </a:endParaRPr>
            </a:p>
          </p:txBody>
        </p:sp>
        <p:sp>
          <p:nvSpPr>
            <p:cNvPr id="525" name="Google Shape;525;p6"/>
            <p:cNvSpPr txBox="1"/>
            <p:nvPr/>
          </p:nvSpPr>
          <p:spPr>
            <a:xfrm>
              <a:off x="-2086425" y="4877319"/>
              <a:ext cx="6048963" cy="1163430"/>
            </a:xfrm>
            <a:prstGeom prst="rect">
              <a:avLst/>
            </a:prstGeom>
            <a:noFill/>
            <a:ln>
              <a:noFill/>
            </a:ln>
          </p:spPr>
          <p:txBody>
            <a:bodyPr spcFirstLastPara="1" wrap="square" lIns="91425" tIns="45700" rIns="91425" bIns="45700" anchor="t" anchorCtr="0">
              <a:noAutofit/>
            </a:bodyPr>
            <a:lstStyle/>
            <a:p>
              <a:pPr marL="0" marR="0" lvl="0" indent="0" algn="l" rtl="0">
                <a:lnSpc>
                  <a:spcPct val="120000"/>
                </a:lnSpc>
                <a:spcBef>
                  <a:spcPts val="0"/>
                </a:spcBef>
                <a:spcAft>
                  <a:spcPts val="0"/>
                </a:spcAft>
                <a:buClr>
                  <a:srgbClr val="000000"/>
                </a:buClr>
                <a:buSzPts val="1100"/>
                <a:buFont typeface="Arial"/>
                <a:buNone/>
              </a:pPr>
              <a:r>
                <a:rPr lang="ja-JP" sz="1100" b="0" i="0" u="none" strike="noStrike" cap="none">
                  <a:solidFill>
                    <a:srgbClr val="000000"/>
                  </a:solidFill>
                  <a:latin typeface="+mj-ea"/>
                  <a:ea typeface="+mj-ea"/>
                  <a:cs typeface="Arial"/>
                  <a:sym typeface="Arial"/>
                </a:rPr>
                <a:t>青山学院大学大学院卒業、物理学の博士課程前期修了。卒業後入社したニフティ株式会社でブログサービス「ココログ」を立ち上げる。04年、株式会社はてなに入社してCTOに就任。「はてなブックマーク」などの開発を主導する。2010年からはグリー株式会社でソーシャルメディア統括部長を務める。フリーランスとなり、技術顧問を務めていた株式会社一休に16年4月入社。執行役員CTOシステム本部長に就任し、現職。</a:t>
              </a:r>
              <a:endParaRPr sz="1400" b="0" i="0" u="none" strike="noStrike" cap="none">
                <a:solidFill>
                  <a:srgbClr val="000000"/>
                </a:solidFill>
                <a:latin typeface="+mj-ea"/>
                <a:ea typeface="+mj-ea"/>
                <a:cs typeface="Arial"/>
                <a:sym typeface="Arial"/>
              </a:endParaRPr>
            </a:p>
          </p:txBody>
        </p:sp>
        <p:sp>
          <p:nvSpPr>
            <p:cNvPr id="526" name="Google Shape;526;p6"/>
            <p:cNvSpPr txBox="1"/>
            <p:nvPr/>
          </p:nvSpPr>
          <p:spPr>
            <a:xfrm>
              <a:off x="-2193616" y="4761820"/>
              <a:ext cx="5840838" cy="5716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ja-JP" sz="1100" b="0" i="0" u="none" strike="noStrike" cap="none">
                  <a:solidFill>
                    <a:srgbClr val="000000"/>
                  </a:solidFill>
                  <a:latin typeface="+mj-ea"/>
                  <a:ea typeface="+mj-ea"/>
                  <a:cs typeface="Arial"/>
                  <a:sym typeface="Arial"/>
                </a:rPr>
                <a:t>【略歴】</a:t>
              </a:r>
              <a:endParaRPr sz="1400" b="0" i="0" u="none" strike="noStrike" cap="none">
                <a:solidFill>
                  <a:srgbClr val="000000"/>
                </a:solidFill>
                <a:latin typeface="+mj-ea"/>
                <a:ea typeface="+mj-ea"/>
                <a:cs typeface="Arial"/>
                <a:sym typeface="Arial"/>
              </a:endParaRPr>
            </a:p>
          </p:txBody>
        </p:sp>
      </p:grpSp>
      <p:grpSp>
        <p:nvGrpSpPr>
          <p:cNvPr id="527" name="Google Shape;527;p6"/>
          <p:cNvGrpSpPr/>
          <p:nvPr/>
        </p:nvGrpSpPr>
        <p:grpSpPr>
          <a:xfrm>
            <a:off x="8529983" y="3831037"/>
            <a:ext cx="3362784" cy="2755159"/>
            <a:chOff x="-2193616" y="4742813"/>
            <a:chExt cx="6211592" cy="1386244"/>
          </a:xfrm>
        </p:grpSpPr>
        <p:sp>
          <p:nvSpPr>
            <p:cNvPr id="528" name="Google Shape;528;p6"/>
            <p:cNvSpPr/>
            <p:nvPr/>
          </p:nvSpPr>
          <p:spPr>
            <a:xfrm>
              <a:off x="-2086424" y="4742813"/>
              <a:ext cx="6048963" cy="1386244"/>
            </a:xfrm>
            <a:prstGeom prst="rect">
              <a:avLst/>
            </a:prstGeom>
            <a:solidFill>
              <a:schemeClr val="lt1"/>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mj-ea"/>
                <a:ea typeface="+mj-ea"/>
                <a:cs typeface="Arial"/>
                <a:sym typeface="Arial"/>
              </a:endParaRPr>
            </a:p>
          </p:txBody>
        </p:sp>
        <p:sp>
          <p:nvSpPr>
            <p:cNvPr id="529" name="Google Shape;529;p6"/>
            <p:cNvSpPr txBox="1"/>
            <p:nvPr/>
          </p:nvSpPr>
          <p:spPr>
            <a:xfrm>
              <a:off x="-2092292" y="4877319"/>
              <a:ext cx="6110268" cy="1163430"/>
            </a:xfrm>
            <a:prstGeom prst="rect">
              <a:avLst/>
            </a:prstGeom>
            <a:noFill/>
            <a:ln>
              <a:noFill/>
            </a:ln>
          </p:spPr>
          <p:txBody>
            <a:bodyPr spcFirstLastPara="1" wrap="square" lIns="91425" tIns="45700" rIns="91425" bIns="45700" anchor="t" anchorCtr="0">
              <a:noAutofit/>
            </a:bodyPr>
            <a:lstStyle/>
            <a:p>
              <a:pPr marL="0" marR="0" lvl="0" indent="0" algn="l" rtl="0">
                <a:lnSpc>
                  <a:spcPct val="120000"/>
                </a:lnSpc>
                <a:spcBef>
                  <a:spcPts val="0"/>
                </a:spcBef>
                <a:spcAft>
                  <a:spcPts val="0"/>
                </a:spcAft>
                <a:buClr>
                  <a:srgbClr val="000000"/>
                </a:buClr>
                <a:buSzPts val="1050"/>
                <a:buFont typeface="Arial"/>
                <a:buNone/>
              </a:pPr>
              <a:r>
                <a:rPr lang="ja-JP" sz="1050" b="0" i="0" u="none" strike="noStrike" cap="none">
                  <a:solidFill>
                    <a:srgbClr val="000000"/>
                  </a:solidFill>
                  <a:latin typeface="+mj-ea"/>
                  <a:ea typeface="+mj-ea"/>
                  <a:cs typeface="Arial"/>
                  <a:sym typeface="Arial"/>
                </a:rPr>
                <a:t>中央大学大学院卒業後、エンジニアとしてグリー株式会社に入社。その後11年株式会社クロコスを共同創業、12年にヤフー株式会社へ売却。15年株式会社メルカリに参画、執行役員CTO及びVP of Engineeringとしてエンジニア組織20人規模から数百人規模、そしてプロダクトの急成長に貢献し、18年IPO。19年4月からは複数の会社でエンジェル投資や技術顧問を務め、20年2月よりスターフェスティバル株式会社にて取締役CTOとして技術開発組織を統括。現在は、20年に共同創業した Almoha でプロダクト開発中。25年1月株式会社Acompanyおよび、同4月株式会社TAIANの社外取締役に就任。</a:t>
              </a:r>
              <a:endParaRPr sz="1400" b="0" i="0" u="none" strike="noStrike" cap="none">
                <a:solidFill>
                  <a:srgbClr val="000000"/>
                </a:solidFill>
                <a:latin typeface="+mj-ea"/>
                <a:ea typeface="+mj-ea"/>
                <a:cs typeface="Arial"/>
                <a:sym typeface="Arial"/>
              </a:endParaRPr>
            </a:p>
          </p:txBody>
        </p:sp>
        <p:sp>
          <p:nvSpPr>
            <p:cNvPr id="530" name="Google Shape;530;p6"/>
            <p:cNvSpPr txBox="1"/>
            <p:nvPr/>
          </p:nvSpPr>
          <p:spPr>
            <a:xfrm>
              <a:off x="-2193616" y="4761820"/>
              <a:ext cx="5840838" cy="5716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ja-JP" sz="1100" b="0" i="0" u="none" strike="noStrike" cap="none">
                  <a:solidFill>
                    <a:srgbClr val="000000"/>
                  </a:solidFill>
                  <a:latin typeface="+mj-ea"/>
                  <a:ea typeface="+mj-ea"/>
                  <a:cs typeface="Arial"/>
                  <a:sym typeface="Arial"/>
                </a:rPr>
                <a:t>【略歴】</a:t>
              </a:r>
              <a:endParaRPr sz="1400" b="0" i="0" u="none" strike="noStrike" cap="none">
                <a:solidFill>
                  <a:srgbClr val="000000"/>
                </a:solidFill>
                <a:latin typeface="+mj-ea"/>
                <a:ea typeface="+mj-ea"/>
                <a:cs typeface="Arial"/>
                <a:sym typeface="Arial"/>
              </a:endParaRPr>
            </a:p>
          </p:txBody>
        </p:sp>
      </p:grpSp>
      <p:sp>
        <p:nvSpPr>
          <p:cNvPr id="531" name="Google Shape;531;p6"/>
          <p:cNvSpPr txBox="1"/>
          <p:nvPr/>
        </p:nvSpPr>
        <p:spPr>
          <a:xfrm>
            <a:off x="411433" y="3310754"/>
            <a:ext cx="2167092" cy="307777"/>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ja-JP" sz="1400" b="0" i="0" u="none" strike="noStrike" cap="none">
                <a:solidFill>
                  <a:srgbClr val="000000"/>
                </a:solidFill>
                <a:latin typeface="+mj-ea"/>
                <a:ea typeface="+mj-ea"/>
                <a:cs typeface="Arial"/>
                <a:sym typeface="Arial"/>
              </a:rPr>
              <a:t>岸田 崇志</a:t>
            </a:r>
            <a:endParaRPr sz="1400" b="0" i="0" u="none" strike="noStrike" cap="none">
              <a:solidFill>
                <a:srgbClr val="000000"/>
              </a:solidFill>
              <a:latin typeface="+mj-ea"/>
              <a:ea typeface="+mj-ea"/>
              <a:cs typeface="Arial"/>
              <a:sym typeface="Arial"/>
            </a:endParaRPr>
          </a:p>
        </p:txBody>
      </p:sp>
      <p:sp>
        <p:nvSpPr>
          <p:cNvPr id="532" name="Google Shape;532;p6"/>
          <p:cNvSpPr txBox="1"/>
          <p:nvPr/>
        </p:nvSpPr>
        <p:spPr>
          <a:xfrm>
            <a:off x="6216656" y="3310753"/>
            <a:ext cx="2167092" cy="307777"/>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ja-JP" sz="1400" b="0" i="0" u="none" strike="noStrike" cap="none">
                <a:solidFill>
                  <a:srgbClr val="000000"/>
                </a:solidFill>
                <a:latin typeface="+mj-ea"/>
                <a:ea typeface="+mj-ea"/>
                <a:cs typeface="Arial"/>
                <a:sym typeface="Arial"/>
              </a:rPr>
              <a:t>藤門 千明</a:t>
            </a:r>
            <a:endParaRPr sz="1400" b="0" i="0" u="none" strike="noStrike" cap="none">
              <a:solidFill>
                <a:srgbClr val="000000"/>
              </a:solidFill>
              <a:latin typeface="+mj-ea"/>
              <a:ea typeface="+mj-ea"/>
              <a:cs typeface="Arial"/>
              <a:sym typeface="Arial"/>
            </a:endParaRPr>
          </a:p>
        </p:txBody>
      </p:sp>
      <p:sp>
        <p:nvSpPr>
          <p:cNvPr id="533" name="Google Shape;533;p6"/>
          <p:cNvSpPr txBox="1"/>
          <p:nvPr/>
        </p:nvSpPr>
        <p:spPr>
          <a:xfrm>
            <a:off x="411433" y="6293972"/>
            <a:ext cx="2167092" cy="307777"/>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ja-JP" sz="1400" b="0" i="0" u="none" strike="noStrike" cap="none">
                <a:solidFill>
                  <a:srgbClr val="000000"/>
                </a:solidFill>
                <a:latin typeface="+mj-ea"/>
                <a:ea typeface="+mj-ea"/>
                <a:cs typeface="Arial"/>
                <a:sym typeface="Arial"/>
              </a:rPr>
              <a:t>伊藤 直也</a:t>
            </a:r>
            <a:endParaRPr sz="1400" b="0" i="0" u="none" strike="noStrike" cap="none">
              <a:solidFill>
                <a:srgbClr val="000000"/>
              </a:solidFill>
              <a:latin typeface="+mj-ea"/>
              <a:ea typeface="+mj-ea"/>
              <a:cs typeface="Arial"/>
              <a:sym typeface="Arial"/>
            </a:endParaRPr>
          </a:p>
        </p:txBody>
      </p:sp>
      <p:sp>
        <p:nvSpPr>
          <p:cNvPr id="534" name="Google Shape;534;p6"/>
          <p:cNvSpPr txBox="1"/>
          <p:nvPr/>
        </p:nvSpPr>
        <p:spPr>
          <a:xfrm>
            <a:off x="6216656" y="6278418"/>
            <a:ext cx="2167092" cy="307777"/>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ja-JP" sz="1400" b="0" i="0" u="none" strike="noStrike" cap="none">
                <a:solidFill>
                  <a:srgbClr val="000000"/>
                </a:solidFill>
                <a:latin typeface="+mj-ea"/>
                <a:ea typeface="+mj-ea"/>
                <a:cs typeface="Arial"/>
                <a:sym typeface="Arial"/>
              </a:rPr>
              <a:t>柄沢 聡太郎</a:t>
            </a:r>
            <a:endParaRPr sz="1400" b="0" i="0" u="none" strike="noStrike" cap="none">
              <a:solidFill>
                <a:srgbClr val="000000"/>
              </a:solidFill>
              <a:latin typeface="+mj-ea"/>
              <a:ea typeface="+mj-ea"/>
              <a:cs typeface="Arial"/>
              <a:sym typeface="Arial"/>
            </a:endParaRPr>
          </a:p>
        </p:txBody>
      </p:sp>
      <p:sp>
        <p:nvSpPr>
          <p:cNvPr id="535" name="Google Shape;535;p6"/>
          <p:cNvSpPr txBox="1"/>
          <p:nvPr/>
        </p:nvSpPr>
        <p:spPr>
          <a:xfrm>
            <a:off x="329245" y="362988"/>
            <a:ext cx="4794902"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ja-JP" sz="2000" b="1" i="0" u="none" strike="noStrike" cap="none" dirty="0">
                <a:solidFill>
                  <a:srgbClr val="000000"/>
                </a:solidFill>
                <a:latin typeface="+mj-ea"/>
                <a:ea typeface="+mj-ea"/>
                <a:cs typeface="Arial"/>
                <a:sym typeface="Arial"/>
              </a:rPr>
              <a:t>テクニカルフェロー（AIエキスパート）</a:t>
            </a:r>
            <a:endParaRPr sz="2000" b="1" i="0" u="none" strike="noStrike" cap="none" dirty="0">
              <a:solidFill>
                <a:srgbClr val="000000"/>
              </a:solidFill>
              <a:latin typeface="+mj-ea"/>
              <a:ea typeface="+mj-ea"/>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Google Shape;547;p8">
            <a:extLst>
              <a:ext uri="{FF2B5EF4-FFF2-40B4-BE49-F238E27FC236}">
                <a16:creationId xmlns:a16="http://schemas.microsoft.com/office/drawing/2014/main" id="{D0F5144A-5D69-573D-031D-C2C213F17133}"/>
              </a:ext>
            </a:extLst>
          </p:cNvPr>
          <p:cNvGraphicFramePr/>
          <p:nvPr>
            <p:extLst>
              <p:ext uri="{D42A27DB-BD31-4B8C-83A1-F6EECF244321}">
                <p14:modId xmlns:p14="http://schemas.microsoft.com/office/powerpoint/2010/main" val="416966725"/>
              </p:ext>
            </p:extLst>
          </p:nvPr>
        </p:nvGraphicFramePr>
        <p:xfrm>
          <a:off x="5153892" y="1668857"/>
          <a:ext cx="6450625" cy="4000675"/>
        </p:xfrm>
        <a:graphic>
          <a:graphicData uri="http://schemas.openxmlformats.org/drawingml/2006/table">
            <a:tbl>
              <a:tblPr>
                <a:noFill/>
              </a:tblPr>
              <a:tblGrid>
                <a:gridCol w="1743750">
                  <a:extLst>
                    <a:ext uri="{9D8B030D-6E8A-4147-A177-3AD203B41FA5}">
                      <a16:colId xmlns:a16="http://schemas.microsoft.com/office/drawing/2014/main" val="20000"/>
                    </a:ext>
                  </a:extLst>
                </a:gridCol>
                <a:gridCol w="4706875">
                  <a:extLst>
                    <a:ext uri="{9D8B030D-6E8A-4147-A177-3AD203B41FA5}">
                      <a16:colId xmlns:a16="http://schemas.microsoft.com/office/drawing/2014/main" val="20001"/>
                    </a:ext>
                  </a:extLst>
                </a:gridCol>
              </a:tblGrid>
              <a:tr h="504650">
                <a:tc>
                  <a:txBody>
                    <a:bodyPr/>
                    <a:lstStyle/>
                    <a:p>
                      <a:pPr marL="0" marR="0" lvl="0" indent="0" algn="l" rtl="0">
                        <a:lnSpc>
                          <a:spcPct val="100000"/>
                        </a:lnSpc>
                        <a:spcBef>
                          <a:spcPts val="0"/>
                        </a:spcBef>
                        <a:spcAft>
                          <a:spcPts val="0"/>
                        </a:spcAft>
                        <a:buClr>
                          <a:srgbClr val="000000"/>
                        </a:buClr>
                        <a:buSzPts val="2000"/>
                        <a:buFont typeface="Arial"/>
                        <a:buNone/>
                      </a:pPr>
                      <a:r>
                        <a:rPr lang="ja-JP" sz="2000" b="0" u="none" strike="noStrike" cap="none">
                          <a:solidFill>
                            <a:schemeClr val="dk1"/>
                          </a:solidFill>
                          <a:latin typeface="+mn-ea"/>
                          <a:ea typeface="+mn-ea"/>
                        </a:rPr>
                        <a:t>社名</a:t>
                      </a:r>
                      <a:endParaRPr sz="1400" u="none" strike="noStrike" cap="none">
                        <a:latin typeface="+mn-ea"/>
                        <a:ea typeface="+mn-ea"/>
                      </a:endParaRPr>
                    </a:p>
                  </a:txBody>
                  <a:tcPr marL="91450" marR="91450" marT="45725" marB="45725"/>
                </a:tc>
                <a:tc>
                  <a:txBody>
                    <a:bodyPr/>
                    <a:lstStyle/>
                    <a:p>
                      <a:pPr marL="0" marR="0" lvl="0" indent="0" algn="l" rtl="0">
                        <a:lnSpc>
                          <a:spcPct val="100000"/>
                        </a:lnSpc>
                        <a:spcBef>
                          <a:spcPts val="0"/>
                        </a:spcBef>
                        <a:spcAft>
                          <a:spcPts val="0"/>
                        </a:spcAft>
                        <a:buClr>
                          <a:schemeClr val="dk1"/>
                        </a:buClr>
                        <a:buSzPts val="2000"/>
                        <a:buFont typeface="Arial"/>
                        <a:buNone/>
                      </a:pPr>
                      <a:r>
                        <a:rPr lang="ja-JP" sz="2000" b="0" u="none" strike="noStrike" cap="none">
                          <a:solidFill>
                            <a:schemeClr val="dk1"/>
                          </a:solidFill>
                          <a:latin typeface="+mn-ea"/>
                          <a:ea typeface="+mn-ea"/>
                        </a:rPr>
                        <a:t>ブーストコンサルティング株式会社</a:t>
                      </a:r>
                      <a:endParaRPr sz="1400" u="none" strike="noStrike" cap="none">
                        <a:latin typeface="+mn-ea"/>
                        <a:ea typeface="+mn-ea"/>
                      </a:endParaRPr>
                    </a:p>
                  </a:txBody>
                  <a:tcPr marL="91450" marR="91450" marT="45725" marB="45725"/>
                </a:tc>
                <a:extLst>
                  <a:ext uri="{0D108BD9-81ED-4DB2-BD59-A6C34878D82A}">
                    <a16:rowId xmlns:a16="http://schemas.microsoft.com/office/drawing/2014/main" val="10000"/>
                  </a:ext>
                </a:extLst>
              </a:tr>
              <a:tr h="504650">
                <a:tc>
                  <a:txBody>
                    <a:bodyPr/>
                    <a:lstStyle/>
                    <a:p>
                      <a:pPr marL="0" marR="0" lvl="0" indent="0" algn="l" rtl="0">
                        <a:lnSpc>
                          <a:spcPct val="100000"/>
                        </a:lnSpc>
                        <a:spcBef>
                          <a:spcPts val="0"/>
                        </a:spcBef>
                        <a:spcAft>
                          <a:spcPts val="0"/>
                        </a:spcAft>
                        <a:buClr>
                          <a:srgbClr val="000000"/>
                        </a:buClr>
                        <a:buSzPts val="2000"/>
                        <a:buFont typeface="Arial"/>
                        <a:buNone/>
                      </a:pPr>
                      <a:r>
                        <a:rPr lang="ja-JP" sz="2000" b="0" u="none" strike="noStrike" cap="none">
                          <a:solidFill>
                            <a:schemeClr val="dk1"/>
                          </a:solidFill>
                          <a:latin typeface="+mn-ea"/>
                          <a:ea typeface="+mn-ea"/>
                        </a:rPr>
                        <a:t>設立年月日</a:t>
                      </a:r>
                      <a:endParaRPr sz="1400" u="none" strike="noStrike" cap="none">
                        <a:latin typeface="+mn-ea"/>
                        <a:ea typeface="+mn-ea"/>
                      </a:endParaRPr>
                    </a:p>
                  </a:txBody>
                  <a:tcPr marL="91450" marR="91450" marT="45725" marB="45725"/>
                </a:tc>
                <a:tc>
                  <a:txBody>
                    <a:bodyPr/>
                    <a:lstStyle/>
                    <a:p>
                      <a:pPr marL="0" marR="0" lvl="0" indent="0" algn="l" rtl="0">
                        <a:lnSpc>
                          <a:spcPct val="100000"/>
                        </a:lnSpc>
                        <a:spcBef>
                          <a:spcPts val="0"/>
                        </a:spcBef>
                        <a:spcAft>
                          <a:spcPts val="0"/>
                        </a:spcAft>
                        <a:buClr>
                          <a:schemeClr val="dk1"/>
                        </a:buClr>
                        <a:buSzPts val="2000"/>
                        <a:buFont typeface="Arial"/>
                        <a:buNone/>
                      </a:pPr>
                      <a:r>
                        <a:rPr lang="ja-JP" sz="2000" b="0" u="none" strike="noStrike" cap="none">
                          <a:solidFill>
                            <a:schemeClr val="dk1"/>
                          </a:solidFill>
                          <a:latin typeface="+mn-ea"/>
                          <a:ea typeface="+mn-ea"/>
                        </a:rPr>
                        <a:t>2025年4月4日</a:t>
                      </a:r>
                      <a:endParaRPr sz="1400" u="none" strike="noStrike" cap="none" dirty="0">
                        <a:latin typeface="+mn-ea"/>
                        <a:ea typeface="+mn-ea"/>
                      </a:endParaRPr>
                    </a:p>
                  </a:txBody>
                  <a:tcPr marL="91450" marR="91450" marT="45725" marB="45725"/>
                </a:tc>
                <a:extLst>
                  <a:ext uri="{0D108BD9-81ED-4DB2-BD59-A6C34878D82A}">
                    <a16:rowId xmlns:a16="http://schemas.microsoft.com/office/drawing/2014/main" val="10001"/>
                  </a:ext>
                </a:extLst>
              </a:tr>
              <a:tr h="504650">
                <a:tc>
                  <a:txBody>
                    <a:bodyPr/>
                    <a:lstStyle/>
                    <a:p>
                      <a:pPr marL="0" marR="0" lvl="0" indent="0" algn="l" rtl="0">
                        <a:lnSpc>
                          <a:spcPct val="100000"/>
                        </a:lnSpc>
                        <a:spcBef>
                          <a:spcPts val="0"/>
                        </a:spcBef>
                        <a:spcAft>
                          <a:spcPts val="0"/>
                        </a:spcAft>
                        <a:buClr>
                          <a:srgbClr val="000000"/>
                        </a:buClr>
                        <a:buSzPts val="2000"/>
                        <a:buFont typeface="Arial"/>
                        <a:buNone/>
                      </a:pPr>
                      <a:r>
                        <a:rPr lang="ja-JP" sz="2000" b="0" u="none" strike="noStrike" cap="none">
                          <a:solidFill>
                            <a:schemeClr val="dk1"/>
                          </a:solidFill>
                          <a:latin typeface="+mn-ea"/>
                          <a:ea typeface="+mn-ea"/>
                        </a:rPr>
                        <a:t>資本金</a:t>
                      </a:r>
                      <a:endParaRPr sz="1400" u="none" strike="noStrike" cap="none">
                        <a:latin typeface="+mn-ea"/>
                        <a:ea typeface="+mn-ea"/>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2000"/>
                        <a:buFont typeface="Arial"/>
                        <a:buNone/>
                      </a:pPr>
                      <a:r>
                        <a:rPr lang="ja-JP" sz="2000" b="0" u="none" strike="noStrike" cap="none">
                          <a:solidFill>
                            <a:schemeClr val="dk1"/>
                          </a:solidFill>
                          <a:latin typeface="+mn-ea"/>
                          <a:ea typeface="+mn-ea"/>
                        </a:rPr>
                        <a:t>1.9億円</a:t>
                      </a:r>
                      <a:endParaRPr sz="1400" u="none" strike="noStrike" cap="none">
                        <a:latin typeface="+mn-ea"/>
                        <a:ea typeface="+mn-ea"/>
                      </a:endParaRPr>
                    </a:p>
                  </a:txBody>
                  <a:tcPr marL="91450" marR="91450" marT="45725" marB="45725"/>
                </a:tc>
                <a:extLst>
                  <a:ext uri="{0D108BD9-81ED-4DB2-BD59-A6C34878D82A}">
                    <a16:rowId xmlns:a16="http://schemas.microsoft.com/office/drawing/2014/main" val="10002"/>
                  </a:ext>
                </a:extLst>
              </a:tr>
              <a:tr h="504650">
                <a:tc>
                  <a:txBody>
                    <a:bodyPr/>
                    <a:lstStyle/>
                    <a:p>
                      <a:pPr marL="0" marR="0" lvl="0" indent="0" algn="l" rtl="0">
                        <a:lnSpc>
                          <a:spcPct val="100000"/>
                        </a:lnSpc>
                        <a:spcBef>
                          <a:spcPts val="0"/>
                        </a:spcBef>
                        <a:spcAft>
                          <a:spcPts val="0"/>
                        </a:spcAft>
                        <a:buClr>
                          <a:srgbClr val="000000"/>
                        </a:buClr>
                        <a:buSzPts val="2000"/>
                        <a:buFont typeface="Arial"/>
                        <a:buNone/>
                      </a:pPr>
                      <a:r>
                        <a:rPr lang="ja-JP" sz="2000" b="0" u="none" strike="noStrike" cap="none">
                          <a:solidFill>
                            <a:schemeClr val="dk1"/>
                          </a:solidFill>
                          <a:latin typeface="+mn-ea"/>
                          <a:ea typeface="+mn-ea"/>
                        </a:rPr>
                        <a:t>住所</a:t>
                      </a:r>
                      <a:endParaRPr sz="1400" u="none" strike="noStrike" cap="none">
                        <a:latin typeface="+mn-ea"/>
                        <a:ea typeface="+mn-ea"/>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2000"/>
                        <a:buFont typeface="Arial"/>
                        <a:buNone/>
                      </a:pPr>
                      <a:r>
                        <a:rPr lang="ja-JP" sz="2000" b="0" u="none" strike="noStrike" cap="none">
                          <a:solidFill>
                            <a:schemeClr val="dk1"/>
                          </a:solidFill>
                          <a:latin typeface="+mn-ea"/>
                          <a:ea typeface="+mn-ea"/>
                        </a:rPr>
                        <a:t>東京都港区虎ノ門５−９−１</a:t>
                      </a:r>
                      <a:endParaRPr sz="1400" u="none" strike="noStrike" cap="none">
                        <a:latin typeface="+mn-ea"/>
                        <a:ea typeface="+mn-ea"/>
                      </a:endParaRPr>
                    </a:p>
                  </a:txBody>
                  <a:tcPr marL="91450" marR="91450" marT="45725" marB="45725"/>
                </a:tc>
                <a:extLst>
                  <a:ext uri="{0D108BD9-81ED-4DB2-BD59-A6C34878D82A}">
                    <a16:rowId xmlns:a16="http://schemas.microsoft.com/office/drawing/2014/main" val="10003"/>
                  </a:ext>
                </a:extLst>
              </a:tr>
              <a:tr h="504650">
                <a:tc>
                  <a:txBody>
                    <a:bodyPr/>
                    <a:lstStyle/>
                    <a:p>
                      <a:pPr marL="0" marR="0" lvl="0" indent="0" algn="l" rtl="0">
                        <a:lnSpc>
                          <a:spcPct val="100000"/>
                        </a:lnSpc>
                        <a:spcBef>
                          <a:spcPts val="0"/>
                        </a:spcBef>
                        <a:spcAft>
                          <a:spcPts val="0"/>
                        </a:spcAft>
                        <a:buClr>
                          <a:srgbClr val="000000"/>
                        </a:buClr>
                        <a:buSzPts val="2000"/>
                        <a:buFont typeface="Arial"/>
                        <a:buNone/>
                      </a:pPr>
                      <a:r>
                        <a:rPr lang="ja-JP" sz="2000" b="0" u="none" strike="noStrike" cap="none">
                          <a:solidFill>
                            <a:schemeClr val="dk1"/>
                          </a:solidFill>
                          <a:latin typeface="+mn-ea"/>
                          <a:ea typeface="+mn-ea"/>
                        </a:rPr>
                        <a:t>株主</a:t>
                      </a:r>
                      <a:endParaRPr sz="1400" u="none" strike="noStrike" cap="none">
                        <a:latin typeface="+mn-ea"/>
                        <a:ea typeface="+mn-ea"/>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2000"/>
                        <a:buFont typeface="Arial"/>
                        <a:buNone/>
                      </a:pPr>
                      <a:r>
                        <a:rPr lang="ja-JP" sz="2000" b="0" u="none" strike="noStrike" cap="none">
                          <a:solidFill>
                            <a:schemeClr val="dk1"/>
                          </a:solidFill>
                          <a:latin typeface="+mn-ea"/>
                          <a:ea typeface="+mn-ea"/>
                        </a:rPr>
                        <a:t>ブーストキャピタル1号ファンド</a:t>
                      </a:r>
                      <a:br>
                        <a:rPr lang="ja-JP" sz="2000" b="0" u="none" strike="noStrike" cap="none">
                          <a:solidFill>
                            <a:schemeClr val="dk1"/>
                          </a:solidFill>
                          <a:latin typeface="+mn-ea"/>
                          <a:ea typeface="+mn-ea"/>
                        </a:rPr>
                      </a:br>
                      <a:r>
                        <a:rPr lang="ja-JP" sz="2000" b="0" u="none" strike="noStrike" cap="none">
                          <a:solidFill>
                            <a:schemeClr val="dk1"/>
                          </a:solidFill>
                          <a:latin typeface="+mn-ea"/>
                          <a:ea typeface="+mn-ea"/>
                        </a:rPr>
                        <a:t>創業メンバー</a:t>
                      </a:r>
                      <a:endParaRPr sz="1400" u="none" strike="noStrike" cap="none">
                        <a:latin typeface="+mn-ea"/>
                        <a:ea typeface="+mn-ea"/>
                      </a:endParaRPr>
                    </a:p>
                  </a:txBody>
                  <a:tcPr marL="91450" marR="91450" marT="45725" marB="45725"/>
                </a:tc>
                <a:extLst>
                  <a:ext uri="{0D108BD9-81ED-4DB2-BD59-A6C34878D82A}">
                    <a16:rowId xmlns:a16="http://schemas.microsoft.com/office/drawing/2014/main" val="10004"/>
                  </a:ext>
                </a:extLst>
              </a:tr>
              <a:tr h="1281025">
                <a:tc>
                  <a:txBody>
                    <a:bodyPr/>
                    <a:lstStyle/>
                    <a:p>
                      <a:pPr marL="0" marR="0" lvl="0" indent="0" algn="l" rtl="0">
                        <a:lnSpc>
                          <a:spcPct val="100000"/>
                        </a:lnSpc>
                        <a:spcBef>
                          <a:spcPts val="0"/>
                        </a:spcBef>
                        <a:spcAft>
                          <a:spcPts val="0"/>
                        </a:spcAft>
                        <a:buClr>
                          <a:srgbClr val="000000"/>
                        </a:buClr>
                        <a:buSzPts val="2000"/>
                        <a:buFont typeface="Arial"/>
                        <a:buNone/>
                      </a:pPr>
                      <a:r>
                        <a:rPr lang="ja-JP" sz="2000" b="0" u="none" strike="noStrike" cap="none">
                          <a:solidFill>
                            <a:schemeClr val="dk1"/>
                          </a:solidFill>
                          <a:latin typeface="+mn-ea"/>
                          <a:ea typeface="+mn-ea"/>
                        </a:rPr>
                        <a:t>経営陣</a:t>
                      </a:r>
                      <a:endParaRPr sz="1400" u="none" strike="noStrike" cap="none">
                        <a:latin typeface="+mn-ea"/>
                        <a:ea typeface="+mn-ea"/>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2000"/>
                        <a:buFont typeface="Arial"/>
                        <a:buNone/>
                      </a:pPr>
                      <a:r>
                        <a:rPr lang="ja-JP" sz="2000" b="0" u="none" strike="noStrike" cap="none">
                          <a:solidFill>
                            <a:schemeClr val="dk1"/>
                          </a:solidFill>
                          <a:latin typeface="+mn-ea"/>
                          <a:ea typeface="+mn-ea"/>
                        </a:rPr>
                        <a:t>代表取締役　堀 新一郎</a:t>
                      </a:r>
                      <a:endParaRPr sz="2000" b="0" u="none" strike="noStrike" cap="none" dirty="0">
                        <a:solidFill>
                          <a:schemeClr val="dk1"/>
                        </a:solidFill>
                        <a:latin typeface="+mn-ea"/>
                        <a:ea typeface="+mn-ea"/>
                      </a:endParaRPr>
                    </a:p>
                    <a:p>
                      <a:pPr marL="0" marR="0" lvl="0" indent="0" algn="l" rtl="0">
                        <a:lnSpc>
                          <a:spcPct val="100000"/>
                        </a:lnSpc>
                        <a:spcBef>
                          <a:spcPts val="0"/>
                        </a:spcBef>
                        <a:spcAft>
                          <a:spcPts val="0"/>
                        </a:spcAft>
                        <a:buClr>
                          <a:srgbClr val="000000"/>
                        </a:buClr>
                        <a:buSzPts val="2000"/>
                        <a:buFont typeface="Arial"/>
                        <a:buNone/>
                      </a:pPr>
                      <a:r>
                        <a:rPr lang="ja-JP" sz="2000" b="0" u="none" strike="noStrike" cap="none">
                          <a:solidFill>
                            <a:schemeClr val="dk1"/>
                          </a:solidFill>
                          <a:latin typeface="+mn-ea"/>
                          <a:ea typeface="+mn-ea"/>
                        </a:rPr>
                        <a:t>取締役　　　小澤 隆生</a:t>
                      </a:r>
                      <a:endParaRPr sz="2000" b="0" u="none" strike="noStrike" cap="none" dirty="0">
                        <a:solidFill>
                          <a:schemeClr val="dk1"/>
                        </a:solidFill>
                        <a:latin typeface="+mn-ea"/>
                        <a:ea typeface="+mn-ea"/>
                      </a:endParaRPr>
                    </a:p>
                    <a:p>
                      <a:pPr marL="0" marR="0" lvl="0" indent="0" algn="l" rtl="0">
                        <a:lnSpc>
                          <a:spcPct val="100000"/>
                        </a:lnSpc>
                        <a:spcBef>
                          <a:spcPts val="0"/>
                        </a:spcBef>
                        <a:spcAft>
                          <a:spcPts val="0"/>
                        </a:spcAft>
                        <a:buClr>
                          <a:srgbClr val="000000"/>
                        </a:buClr>
                        <a:buSzPts val="2000"/>
                        <a:buFont typeface="Arial"/>
                        <a:buNone/>
                      </a:pPr>
                      <a:r>
                        <a:rPr lang="ja-JP" sz="2000" b="0" u="none" strike="noStrike" cap="none">
                          <a:solidFill>
                            <a:schemeClr val="dk1"/>
                          </a:solidFill>
                          <a:latin typeface="+mn-ea"/>
                          <a:ea typeface="+mn-ea"/>
                        </a:rPr>
                        <a:t>取締役　　　髙橋 健太</a:t>
                      </a:r>
                      <a:endParaRPr sz="1400" u="none" strike="noStrike" cap="none" dirty="0">
                        <a:latin typeface="+mn-ea"/>
                        <a:ea typeface="+mn-ea"/>
                      </a:endParaRPr>
                    </a:p>
                  </a:txBody>
                  <a:tcPr marL="91450" marR="91450" marT="45725" marB="45725"/>
                </a:tc>
                <a:extLst>
                  <a:ext uri="{0D108BD9-81ED-4DB2-BD59-A6C34878D82A}">
                    <a16:rowId xmlns:a16="http://schemas.microsoft.com/office/drawing/2014/main" val="10005"/>
                  </a:ext>
                </a:extLst>
              </a:tr>
            </a:tbl>
          </a:graphicData>
        </a:graphic>
      </p:graphicFrame>
      <p:pic>
        <p:nvPicPr>
          <p:cNvPr id="8" name="Google Shape;548;p8" descr="テキスト&#10;&#10;AI 生成コンテンツは誤りを含む可能性があります。">
            <a:extLst>
              <a:ext uri="{FF2B5EF4-FFF2-40B4-BE49-F238E27FC236}">
                <a16:creationId xmlns:a16="http://schemas.microsoft.com/office/drawing/2014/main" id="{89F14B57-9119-10BB-64E0-68183D7454B9}"/>
              </a:ext>
            </a:extLst>
          </p:cNvPr>
          <p:cNvPicPr preferRelativeResize="0"/>
          <p:nvPr/>
        </p:nvPicPr>
        <p:blipFill rotWithShape="1">
          <a:blip r:embed="rId2">
            <a:alphaModFix/>
          </a:blip>
          <a:srcRect/>
          <a:stretch/>
        </p:blipFill>
        <p:spPr>
          <a:xfrm>
            <a:off x="790930" y="1668857"/>
            <a:ext cx="3804247" cy="3804247"/>
          </a:xfrm>
          <a:prstGeom prst="rect">
            <a:avLst/>
          </a:prstGeom>
          <a:noFill/>
          <a:ln>
            <a:noFill/>
          </a:ln>
        </p:spPr>
      </p:pic>
      <p:sp>
        <p:nvSpPr>
          <p:cNvPr id="2" name="フッター プレースホルダー 13">
            <a:extLst>
              <a:ext uri="{FF2B5EF4-FFF2-40B4-BE49-F238E27FC236}">
                <a16:creationId xmlns:a16="http://schemas.microsoft.com/office/drawing/2014/main" id="{647E6E40-CA70-9B52-1446-F2097C148D52}"/>
              </a:ext>
            </a:extLst>
          </p:cNvPr>
          <p:cNvSpPr>
            <a:spLocks noGrp="1"/>
          </p:cNvSpPr>
          <p:nvPr>
            <p:ph type="ftr" sz="quarter" idx="11"/>
          </p:nvPr>
        </p:nvSpPr>
        <p:spPr>
          <a:xfrm>
            <a:off x="9877808" y="6514831"/>
            <a:ext cx="1919585" cy="216000"/>
          </a:xfrm>
        </p:spPr>
        <p:txBody>
          <a:bodyPr/>
          <a:lstStyle>
            <a:lvl1pPr algn="l">
              <a:defRPr sz="1000">
                <a:latin typeface="+mn-lt"/>
                <a:ea typeface="+mn-ea"/>
              </a:defRPr>
            </a:lvl1pPr>
          </a:lstStyle>
          <a:p>
            <a:pPr>
              <a:defRPr/>
            </a:pPr>
            <a:r>
              <a:rPr kumimoji="1" lang="en-US" altLang="ja-JP" dirty="0">
                <a:solidFill>
                  <a:srgbClr val="FFFFFF">
                    <a:lumMod val="75000"/>
                  </a:srgbClr>
                </a:solidFill>
              </a:rPr>
              <a:t>©️ 2026 Boost Consulting, Inc.</a:t>
            </a:r>
            <a:endParaRPr kumimoji="1" lang="ja-JP" altLang="en-US" dirty="0">
              <a:solidFill>
                <a:srgbClr val="FFFFFF">
                  <a:lumMod val="75000"/>
                </a:srgbClr>
              </a:solidFill>
              <a:latin typeface="+mn-lt"/>
            </a:endParaRPr>
          </a:p>
        </p:txBody>
      </p:sp>
      <p:sp>
        <p:nvSpPr>
          <p:cNvPr id="4" name="コンテンツ プレースホルダー 3">
            <a:extLst>
              <a:ext uri="{FF2B5EF4-FFF2-40B4-BE49-F238E27FC236}">
                <a16:creationId xmlns:a16="http://schemas.microsoft.com/office/drawing/2014/main" id="{B456CE69-E5AD-C1E9-8EB4-5C2250C0F5D9}"/>
              </a:ext>
            </a:extLst>
          </p:cNvPr>
          <p:cNvSpPr>
            <a:spLocks noGrp="1"/>
          </p:cNvSpPr>
          <p:nvPr>
            <p:ph idx="12"/>
          </p:nvPr>
        </p:nvSpPr>
        <p:spPr/>
        <p:txBody>
          <a:bodyPr/>
          <a:lstStyle/>
          <a:p>
            <a:r>
              <a:rPr lang="ja-JP" altLang="en-US"/>
              <a:t>会社概要</a:t>
            </a:r>
          </a:p>
        </p:txBody>
      </p:sp>
    </p:spTree>
    <p:extLst>
      <p:ext uri="{BB962C8B-B14F-4D97-AF65-F5344CB8AC3E}">
        <p14:creationId xmlns:p14="http://schemas.microsoft.com/office/powerpoint/2010/main" val="20305547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フッター プレースホルダー 13">
            <a:extLst>
              <a:ext uri="{FF2B5EF4-FFF2-40B4-BE49-F238E27FC236}">
                <a16:creationId xmlns:a16="http://schemas.microsoft.com/office/drawing/2014/main" id="{561920A0-6B8E-6A06-1D0F-4F3FC57AE158}"/>
              </a:ext>
            </a:extLst>
          </p:cNvPr>
          <p:cNvSpPr>
            <a:spLocks noGrp="1"/>
          </p:cNvSpPr>
          <p:nvPr>
            <p:ph type="ftr" sz="quarter" idx="11"/>
          </p:nvPr>
        </p:nvSpPr>
        <p:spPr>
          <a:xfrm>
            <a:off x="9877808" y="6514831"/>
            <a:ext cx="1919585" cy="216000"/>
          </a:xfrm>
        </p:spPr>
        <p:txBody>
          <a:bodyPr/>
          <a:lstStyle>
            <a:lvl1pPr algn="l">
              <a:defRPr sz="1000">
                <a:latin typeface="+mn-lt"/>
                <a:ea typeface="+mn-ea"/>
              </a:defRPr>
            </a:lvl1pPr>
          </a:lstStyle>
          <a:p>
            <a:pPr>
              <a:defRPr/>
            </a:pPr>
            <a:r>
              <a:rPr kumimoji="1" lang="en-US" altLang="ja-JP" dirty="0">
                <a:solidFill>
                  <a:srgbClr val="FFFFFF">
                    <a:lumMod val="75000"/>
                  </a:srgbClr>
                </a:solidFill>
              </a:rPr>
              <a:t>©️ 2026 Boost Consulting, Inc.</a:t>
            </a:r>
            <a:endParaRPr kumimoji="1" lang="ja-JP" altLang="en-US" dirty="0">
              <a:solidFill>
                <a:srgbClr val="FFFFFF">
                  <a:lumMod val="75000"/>
                </a:srgbClr>
              </a:solidFill>
              <a:latin typeface="+mn-lt"/>
            </a:endParaRPr>
          </a:p>
        </p:txBody>
      </p:sp>
    </p:spTree>
    <p:extLst>
      <p:ext uri="{BB962C8B-B14F-4D97-AF65-F5344CB8AC3E}">
        <p14:creationId xmlns:p14="http://schemas.microsoft.com/office/powerpoint/2010/main" val="33480444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80816583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8224&quot;&gt;&lt;version val=&quot;35339&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1&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d/%#m/%Y&lt;/m_strFormatTime&gt;&lt;m_yearfmt&gt;&lt;begin val=&quot;0&quot;/&gt;&lt;end val=&quot;0&quot;/&gt;&lt;/m_yearfmt&gt;&lt;/m_precDefaultDate&gt;&lt;m_precDefaultDay&gt;&lt;m_bNumberIsYear val=&quot;0&quot;/&gt;&lt;m_strFormatTime&gt;%#d&lt;/m_strFormatTime&gt;&lt;m_yearfmt&gt;&lt;begin val=&quot;0&quot;/&gt;&lt;end val=&quot;4&quot;/&gt;&lt;/m_yearfmt&gt;&lt;/m_precDefaultDay&gt;&lt;m_precDefaultWeek&gt;&lt;m_bNumberIsYear val=&quot;0&quot;/&gt;&lt;m_strFormatTime&gt;%d&lt;/m_strFormatTime&gt;&lt;m_yearfmt&gt;&lt;begin val=&quot;0&quot;/&gt;&lt;end val=&quot;4&quot;/&gt;&lt;/m_yearfmt&gt;&lt;/m_precDefaultWeek&gt;&lt;m_precDefaultMonth&gt;&lt;m_bNumberIsYear val=&quot;0&quot;/&gt;&lt;m_strFormatTime&gt;%1&lt;/m_strFormatTime&gt;&lt;m_yearfmt&gt;&lt;begin val=&quot;0&quot;/&gt;&lt;end val=&quot;4&quot;/&gt;&lt;/m_yearfmt&gt;&lt;/m_precDefaultMonth&gt;&lt;m_precDefaultQuarter&gt;&lt;m_bNumberIsYear val=&quot;0&quot;/&gt;&lt;m_strFormatTime&gt;Q%5&lt;/m_strFormatTime&gt;&lt;m_yearfmt&gt;&lt;begin val=&quot;0&quot;/&gt;&lt;end val=&quot;4&quot;/&gt;&lt;/m_yearfmt&gt;&lt;/m_precDefaultQuarter&gt;&lt;m_precDefaultYear&gt;&lt;m_bNumberIsYear val=&quot;0&quot;/&gt;&lt;m_strFormatTime&gt;%Y&lt;/m_strFormatTime&gt;&lt;m_yearfmt&gt;&lt;begin val=&quot;0&quot;/&gt;&lt;end val=&quot;0&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0&quot;/&gt;&lt;/m_mruColor&gt;&lt;m_eweekdayFirstOfWeek val=&quot;1&quot;/&gt;&lt;m_eweekdayFirstOfWorkweek val=&quot;2&quot;/&gt;&lt;m_eweekdayFirstOfWeekend val=&quot;7&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Slide Science Default">
      <a:dk1>
        <a:srgbClr val="000000"/>
      </a:dk1>
      <a:lt1>
        <a:srgbClr val="FFFFFF"/>
      </a:lt1>
      <a:dk2>
        <a:srgbClr val="FFFFFF"/>
      </a:dk2>
      <a:lt2>
        <a:srgbClr val="FFFFFF"/>
      </a:lt2>
      <a:accent1>
        <a:srgbClr val="061F44"/>
      </a:accent1>
      <a:accent2>
        <a:srgbClr val="B7472A"/>
      </a:accent2>
      <a:accent3>
        <a:srgbClr val="F5E3DF"/>
      </a:accent3>
      <a:accent4>
        <a:srgbClr val="424242"/>
      </a:accent4>
      <a:accent5>
        <a:srgbClr val="D9D9D9"/>
      </a:accent5>
      <a:accent6>
        <a:srgbClr val="F0F0F0"/>
      </a:accent6>
      <a:hlink>
        <a:srgbClr val="555555"/>
      </a:hlink>
      <a:folHlink>
        <a:srgbClr val="333333"/>
      </a:folHlink>
    </a:clrScheme>
    <a:fontScheme name="ユーザー定義_v1">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1F302F"/>
        </a:solidFill>
        <a:ln>
          <a:noFill/>
        </a:ln>
      </a:spPr>
      <a:bodyPr rtlCol="0" anchor="ctr"/>
      <a:lstStyle>
        <a:defPPr algn="ctr">
          <a:defRPr kumimoji="1" sz="1400" b="1" dirty="0" smtClean="0">
            <a:latin typeface="Arial" panose="020B0604020202020204" pitchFamily="34" charset="0"/>
            <a:cs typeface="Arial" panose="020B0604020202020204" pitchFamily="34" charset="0"/>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48824</TotalTime>
  <Words>1699</Words>
  <Application>Microsoft Macintosh PowerPoint</Application>
  <PresentationFormat>ワイド画面</PresentationFormat>
  <Paragraphs>146</Paragraphs>
  <Slides>11</Slides>
  <Notes>2</Notes>
  <HiddenSlides>0</HiddenSlides>
  <MMClips>0</MMClips>
  <ScaleCrop>false</ScaleCrop>
  <HeadingPairs>
    <vt:vector size="8" baseType="variant">
      <vt:variant>
        <vt:lpstr>使用されているフォント</vt:lpstr>
      </vt:variant>
      <vt:variant>
        <vt:i4>5</vt:i4>
      </vt:variant>
      <vt:variant>
        <vt:lpstr>テーマ</vt:lpstr>
      </vt:variant>
      <vt:variant>
        <vt:i4>1</vt:i4>
      </vt:variant>
      <vt:variant>
        <vt:lpstr>埋め込まれた OLE サーバー</vt:lpstr>
      </vt:variant>
      <vt:variant>
        <vt:i4>1</vt:i4>
      </vt:variant>
      <vt:variant>
        <vt:lpstr>スライド タイトル</vt:lpstr>
      </vt:variant>
      <vt:variant>
        <vt:i4>11</vt:i4>
      </vt:variant>
    </vt:vector>
  </HeadingPairs>
  <TitlesOfParts>
    <vt:vector size="18" baseType="lpstr">
      <vt:lpstr>Meiryo UI</vt:lpstr>
      <vt:lpstr>Noto Sans Symbols</vt:lpstr>
      <vt:lpstr>Aptos</vt:lpstr>
      <vt:lpstr>Arial</vt:lpstr>
      <vt:lpstr>Wingdings</vt:lpstr>
      <vt:lpstr>Office Theme</vt:lpstr>
      <vt:lpstr>think-cellスライド</vt:lpstr>
      <vt:lpstr>PowerPoint プレゼンテーション</vt:lpstr>
      <vt:lpstr>AIを用いてビジネスインパクトを創出するコンサルティングを提供 コンサルティング会社が“不要“になる状態を目指して、クライアントの内製化・自走を支援する</vt:lpstr>
      <vt:lpstr>戦略／オペレーション／組織の3つの分野でご支援を提供する</vt:lpstr>
      <vt:lpstr>AIによる企業変革に必要な技術力ｘ実行力ｘ事業経験を有するプロフェッショナルファーム</vt:lpstr>
      <vt:lpstr>（議論用）前回ディスカッションを踏まえた課題仮説</vt:lpstr>
      <vt:lpstr>（議論用）本日お伺いしたいこと</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Daniel Galletta</dc:creator>
  <cp:lastModifiedBy>鬼澤 輔</cp:lastModifiedBy>
  <cp:revision>985</cp:revision>
  <cp:lastPrinted>2024-04-18T08:26:05Z</cp:lastPrinted>
  <dcterms:created xsi:type="dcterms:W3CDTF">2024-03-24T02:23:38Z</dcterms:created>
  <dcterms:modified xsi:type="dcterms:W3CDTF">2026-03-09T01:19:23Z</dcterms:modified>
</cp:coreProperties>
</file>