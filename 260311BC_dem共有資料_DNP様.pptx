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68" r:id="rId2"/>
    <p:sldId id="2147471060" r:id="rId3"/>
    <p:sldId id="256" r:id="rId4"/>
    <p:sldId id="257" r:id="rId5"/>
    <p:sldId id="258" r:id="rId6"/>
    <p:sldId id="259" r:id="rId7"/>
    <p:sldId id="2147471062" r:id="rId8"/>
    <p:sldId id="282" r:id="rId9"/>
    <p:sldId id="283" r:id="rId10"/>
    <p:sldId id="284" r:id="rId11"/>
    <p:sldId id="285" r:id="rId12"/>
    <p:sldId id="286" r:id="rId13"/>
    <p:sldId id="287" r:id="rId14"/>
    <p:sldId id="2147471127" r:id="rId15"/>
    <p:sldId id="2147471128" r:id="rId16"/>
    <p:sldId id="2147471129" r:id="rId17"/>
    <p:sldId id="276" r:id="rId18"/>
    <p:sldId id="2147471130" r:id="rId19"/>
    <p:sldId id="2147471041" r:id="rId20"/>
    <p:sldId id="2147471057" r:id="rId21"/>
    <p:sldId id="2147471058" r:id="rId22"/>
    <p:sldId id="260" r:id="rId23"/>
    <p:sldId id="261" r:id="rId24"/>
    <p:sldId id="2147471059" r:id="rId25"/>
    <p:sldId id="2147471056" r:id="rId26"/>
    <p:sldId id="2147471054" r:id="rId27"/>
  </p:sldIdLst>
  <p:sldSz cx="12192000" cy="6858000"/>
  <p:notesSz cx="6858000" cy="9144000"/>
  <p:custDataLst>
    <p:tags r:id="rId2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F7556"/>
    <a:srgbClr val="2D5A42"/>
    <a:srgbClr val="1F302F"/>
    <a:srgbClr val="B8935F"/>
    <a:srgbClr val="E6B788"/>
    <a:srgbClr val="D4A574"/>
    <a:srgbClr val="120B10"/>
    <a:srgbClr val="77B991"/>
    <a:srgbClr val="5A957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2" autoAdjust="0"/>
    <p:restoredTop sz="96946"/>
  </p:normalViewPr>
  <p:slideViewPr>
    <p:cSldViewPr snapToGrid="0">
      <p:cViewPr varScale="1">
        <p:scale>
          <a:sx n="141" d="100"/>
          <a:sy n="141" d="100"/>
        </p:scale>
        <p:origin x="200" y="568"/>
      </p:cViewPr>
      <p:guideLst/>
    </p:cSldViewPr>
  </p:slideViewPr>
  <p:notesTextViewPr>
    <p:cViewPr>
      <p:scale>
        <a:sx n="1" d="1"/>
        <a:sy n="1" d="1"/>
      </p:scale>
      <p:origin x="0" y="0"/>
    </p:cViewPr>
  </p:notesTextViewPr>
  <p:sorterViewPr>
    <p:cViewPr>
      <p:scale>
        <a:sx n="65" d="100"/>
        <a:sy n="65" d="100"/>
      </p:scale>
      <p:origin x="0" y="0"/>
    </p:cViewPr>
  </p:sorterViewPr>
  <p:notesViewPr>
    <p:cSldViewPr snapToGrid="0" showGuides="1">
      <p:cViewPr varScale="1">
        <p:scale>
          <a:sx n="54" d="100"/>
          <a:sy n="54" d="100"/>
        </p:scale>
        <p:origin x="2564"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AFC9E3-96D9-6441-B695-7D785BEC125E}" type="datetimeFigureOut">
              <a:rPr lang="en-AU" smtClean="0"/>
              <a:t>11/3/2026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6E9FA3-4DF7-7341-B0BB-21C1509A63FE}" type="slidenum">
              <a:rPr lang="en-AU" smtClean="0"/>
              <a:t>‹#›</a:t>
            </a:fld>
            <a:endParaRPr lang="en-AU"/>
          </a:p>
        </p:txBody>
      </p:sp>
    </p:spTree>
    <p:extLst>
      <p:ext uri="{BB962C8B-B14F-4D97-AF65-F5344CB8AC3E}">
        <p14:creationId xmlns:p14="http://schemas.microsoft.com/office/powerpoint/2010/main" val="1741508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12:notes"/>
          <p:cNvSpPr txBox="1">
            <a:spLocks noGrp="1"/>
          </p:cNvSpPr>
          <p:nvPr>
            <p:ph type="body" idx="1"/>
          </p:nvPr>
        </p:nvSpPr>
        <p:spPr>
          <a:xfrm>
            <a:off x="673577" y="4748163"/>
            <a:ext cx="5388610" cy="388502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565" name="Google Shape;565;p12: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950685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13:notes"/>
          <p:cNvSpPr txBox="1">
            <a:spLocks noGrp="1"/>
          </p:cNvSpPr>
          <p:nvPr>
            <p:ph type="body" idx="1"/>
          </p:nvPr>
        </p:nvSpPr>
        <p:spPr>
          <a:xfrm>
            <a:off x="673577" y="4748163"/>
            <a:ext cx="5388610" cy="388502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634" name="Google Shape;634;p13: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74753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p14:notes"/>
          <p:cNvSpPr txBox="1">
            <a:spLocks noGrp="1"/>
          </p:cNvSpPr>
          <p:nvPr>
            <p:ph type="body" idx="1"/>
          </p:nvPr>
        </p:nvSpPr>
        <p:spPr>
          <a:xfrm>
            <a:off x="673577" y="4748163"/>
            <a:ext cx="5388610" cy="388502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706" name="Google Shape;706;p14: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333013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p15:notes"/>
          <p:cNvSpPr txBox="1">
            <a:spLocks noGrp="1"/>
          </p:cNvSpPr>
          <p:nvPr>
            <p:ph type="body" idx="1"/>
          </p:nvPr>
        </p:nvSpPr>
        <p:spPr>
          <a:xfrm>
            <a:off x="673577" y="4748163"/>
            <a:ext cx="5388610" cy="388502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767" name="Google Shape;767;p15: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713370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p16:notes"/>
          <p:cNvSpPr txBox="1">
            <a:spLocks noGrp="1"/>
          </p:cNvSpPr>
          <p:nvPr>
            <p:ph type="body" idx="1"/>
          </p:nvPr>
        </p:nvSpPr>
        <p:spPr>
          <a:xfrm>
            <a:off x="673577" y="4748163"/>
            <a:ext cx="5388610" cy="388502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833" name="Google Shape;833;p16: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4305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p17:notes"/>
          <p:cNvSpPr txBox="1">
            <a:spLocks noGrp="1"/>
          </p:cNvSpPr>
          <p:nvPr>
            <p:ph type="body" idx="1"/>
          </p:nvPr>
        </p:nvSpPr>
        <p:spPr>
          <a:xfrm>
            <a:off x="673577" y="4748163"/>
            <a:ext cx="5388610" cy="388502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889" name="Google Shape;889;p17: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176173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p18:notes"/>
          <p:cNvSpPr txBox="1">
            <a:spLocks noGrp="1"/>
          </p:cNvSpPr>
          <p:nvPr>
            <p:ph type="body" idx="1"/>
          </p:nvPr>
        </p:nvSpPr>
        <p:spPr>
          <a:xfrm>
            <a:off x="673577" y="4748163"/>
            <a:ext cx="5388610" cy="388502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941" name="Google Shape;941;p18: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066222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p19:notes"/>
          <p:cNvSpPr txBox="1">
            <a:spLocks noGrp="1"/>
          </p:cNvSpPr>
          <p:nvPr>
            <p:ph type="body" idx="1"/>
          </p:nvPr>
        </p:nvSpPr>
        <p:spPr>
          <a:xfrm>
            <a:off x="673577" y="4748163"/>
            <a:ext cx="5388610" cy="388502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1009" name="Google Shape;1009;p19: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35555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p20:notes"/>
          <p:cNvSpPr txBox="1">
            <a:spLocks noGrp="1"/>
          </p:cNvSpPr>
          <p:nvPr>
            <p:ph type="body" idx="1"/>
          </p:nvPr>
        </p:nvSpPr>
        <p:spPr>
          <a:xfrm>
            <a:off x="673577" y="4748163"/>
            <a:ext cx="5388610" cy="388502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Arial"/>
              <a:buNone/>
            </a:pPr>
            <a:endParaRPr/>
          </a:p>
        </p:txBody>
      </p:sp>
      <p:sp>
        <p:nvSpPr>
          <p:cNvPr id="1086" name="Google Shape;1086;p20: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39362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1"/>
        <p:cNvGrpSpPr/>
        <p:nvPr/>
      </p:nvGrpSpPr>
      <p:grpSpPr>
        <a:xfrm>
          <a:off x="0" y="0"/>
          <a:ext cx="0" cy="0"/>
          <a:chOff x="0" y="0"/>
          <a:chExt cx="0" cy="0"/>
        </a:xfrm>
      </p:grpSpPr>
      <p:sp>
        <p:nvSpPr>
          <p:cNvPr id="1162" name="Google Shape;1162;p21: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3" name="Google Shape;1163;p21: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1201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5: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6" name="Google Shape;476;p5: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6: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6: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6.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6.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シンプル）">
    <p:spTree>
      <p:nvGrpSpPr>
        <p:cNvPr id="1" name=""/>
        <p:cNvGrpSpPr/>
        <p:nvPr/>
      </p:nvGrpSpPr>
      <p:grpSpPr>
        <a:xfrm>
          <a:off x="0" y="0"/>
          <a:ext cx="0" cy="0"/>
          <a:chOff x="0" y="0"/>
          <a:chExt cx="0" cy="0"/>
        </a:xfrm>
      </p:grpSpPr>
      <p:pic>
        <p:nvPicPr>
          <p:cNvPr id="2" name="図 1" descr="ロゴ&#10;&#10;AI によって生成されたコンテンツは間違っている可能性があります。">
            <a:extLst>
              <a:ext uri="{FF2B5EF4-FFF2-40B4-BE49-F238E27FC236}">
                <a16:creationId xmlns:a16="http://schemas.microsoft.com/office/drawing/2014/main" id="{3B568656-F914-6CE9-9C8A-9BCE79EF32C2}"/>
              </a:ext>
            </a:extLst>
          </p:cNvPr>
          <p:cNvPicPr>
            <a:picLocks noChangeAspect="1"/>
          </p:cNvPicPr>
          <p:nvPr userDrawn="1"/>
        </p:nvPicPr>
        <p:blipFill>
          <a:blip r:embed="rId2"/>
          <a:stretch>
            <a:fillRect/>
          </a:stretch>
        </p:blipFill>
        <p:spPr>
          <a:xfrm>
            <a:off x="711591" y="549275"/>
            <a:ext cx="1288887" cy="967812"/>
          </a:xfrm>
          <a:prstGeom prst="rect">
            <a:avLst/>
          </a:prstGeom>
        </p:spPr>
      </p:pic>
      <p:cxnSp>
        <p:nvCxnSpPr>
          <p:cNvPr id="16" name="直線コネクタ 15">
            <a:extLst>
              <a:ext uri="{FF2B5EF4-FFF2-40B4-BE49-F238E27FC236}">
                <a16:creationId xmlns:a16="http://schemas.microsoft.com/office/drawing/2014/main" id="{C82B2505-C0FD-D886-C735-43FAF7637A83}"/>
              </a:ext>
            </a:extLst>
          </p:cNvPr>
          <p:cNvCxnSpPr>
            <a:cxnSpLocks/>
          </p:cNvCxnSpPr>
          <p:nvPr userDrawn="1"/>
        </p:nvCxnSpPr>
        <p:spPr>
          <a:xfrm>
            <a:off x="810067" y="3944351"/>
            <a:ext cx="512297" cy="0"/>
          </a:xfrm>
          <a:prstGeom prst="line">
            <a:avLst/>
          </a:prstGeom>
          <a:ln w="57150">
            <a:solidFill>
              <a:srgbClr val="7E8C8D"/>
            </a:solidFill>
          </a:ln>
        </p:spPr>
        <p:style>
          <a:lnRef idx="2">
            <a:schemeClr val="accent1"/>
          </a:lnRef>
          <a:fillRef idx="0">
            <a:schemeClr val="accent1"/>
          </a:fillRef>
          <a:effectRef idx="1">
            <a:schemeClr val="accent1"/>
          </a:effectRef>
          <a:fontRef idx="minor">
            <a:schemeClr val="tx1"/>
          </a:fontRef>
        </p:style>
      </p:cxnSp>
      <p:grpSp>
        <p:nvGrpSpPr>
          <p:cNvPr id="11" name="グループ化 10">
            <a:extLst>
              <a:ext uri="{FF2B5EF4-FFF2-40B4-BE49-F238E27FC236}">
                <a16:creationId xmlns:a16="http://schemas.microsoft.com/office/drawing/2014/main" id="{2F6B72CA-3EE2-860B-CD36-7CC63F037BF2}"/>
              </a:ext>
            </a:extLst>
          </p:cNvPr>
          <p:cNvGrpSpPr/>
          <p:nvPr userDrawn="1"/>
        </p:nvGrpSpPr>
        <p:grpSpPr>
          <a:xfrm>
            <a:off x="-790684" y="2588774"/>
            <a:ext cx="616229" cy="1587897"/>
            <a:chOff x="-790684" y="26356"/>
            <a:chExt cx="616229" cy="1587897"/>
          </a:xfrm>
        </p:grpSpPr>
        <p:sp>
          <p:nvSpPr>
            <p:cNvPr id="12" name="正方形/長方形 11">
              <a:extLst>
                <a:ext uri="{FF2B5EF4-FFF2-40B4-BE49-F238E27FC236}">
                  <a16:creationId xmlns:a16="http://schemas.microsoft.com/office/drawing/2014/main" id="{BEFAE69D-9EB3-304E-89E2-52359AFFEE9A}"/>
                </a:ext>
              </a:extLst>
            </p:cNvPr>
            <p:cNvSpPr/>
            <p:nvPr/>
          </p:nvSpPr>
          <p:spPr>
            <a:xfrm>
              <a:off x="-420676" y="27573"/>
              <a:ext cx="246221" cy="2462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43E5CD46-0D2D-23CC-520C-DB0891B4FC99}"/>
                </a:ext>
              </a:extLst>
            </p:cNvPr>
            <p:cNvSpPr/>
            <p:nvPr/>
          </p:nvSpPr>
          <p:spPr>
            <a:xfrm>
              <a:off x="-420677" y="272577"/>
              <a:ext cx="246221" cy="246221"/>
            </a:xfrm>
            <a:prstGeom prst="rect">
              <a:avLst/>
            </a:prstGeom>
            <a:solidFill>
              <a:srgbClr val="1F30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03B710E8-D026-FEE0-2C9A-2D4DAB07553D}"/>
                </a:ext>
              </a:extLst>
            </p:cNvPr>
            <p:cNvSpPr/>
            <p:nvPr/>
          </p:nvSpPr>
          <p:spPr>
            <a:xfrm>
              <a:off x="-422027" y="740515"/>
              <a:ext cx="246221" cy="246221"/>
            </a:xfrm>
            <a:prstGeom prst="rect">
              <a:avLst/>
            </a:prstGeom>
            <a:solidFill>
              <a:srgbClr val="3F75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C43A92BF-6A20-57A4-A349-AA9ABB420366}"/>
                </a:ext>
              </a:extLst>
            </p:cNvPr>
            <p:cNvSpPr/>
            <p:nvPr/>
          </p:nvSpPr>
          <p:spPr>
            <a:xfrm>
              <a:off x="-422027" y="984911"/>
              <a:ext cx="246221" cy="246221"/>
            </a:xfrm>
            <a:prstGeom prst="rect">
              <a:avLst/>
            </a:prstGeom>
            <a:solidFill>
              <a:srgbClr val="5A957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2243BBE6-70AA-8F19-FAFC-8BC2C2B593E4}"/>
                </a:ext>
              </a:extLst>
            </p:cNvPr>
            <p:cNvSpPr/>
            <p:nvPr/>
          </p:nvSpPr>
          <p:spPr>
            <a:xfrm>
              <a:off x="-790009" y="26356"/>
              <a:ext cx="246221" cy="246221"/>
            </a:xfrm>
            <a:prstGeom prst="rect">
              <a:avLst/>
            </a:prstGeom>
            <a:solidFill>
              <a:srgbClr val="B893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 name="正方形/長方形 17">
              <a:extLst>
                <a:ext uri="{FF2B5EF4-FFF2-40B4-BE49-F238E27FC236}">
                  <a16:creationId xmlns:a16="http://schemas.microsoft.com/office/drawing/2014/main" id="{EEB5DBE9-3C2A-03EC-39AF-FC12A600B8DC}"/>
                </a:ext>
              </a:extLst>
            </p:cNvPr>
            <p:cNvSpPr/>
            <p:nvPr/>
          </p:nvSpPr>
          <p:spPr>
            <a:xfrm>
              <a:off x="-790009" y="248073"/>
              <a:ext cx="246221" cy="246221"/>
            </a:xfrm>
            <a:prstGeom prst="rect">
              <a:avLst/>
            </a:prstGeom>
            <a:solidFill>
              <a:srgbClr val="D4A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925428AA-BAD4-ED29-E406-49E517B93022}"/>
                </a:ext>
              </a:extLst>
            </p:cNvPr>
            <p:cNvSpPr/>
            <p:nvPr/>
          </p:nvSpPr>
          <p:spPr>
            <a:xfrm>
              <a:off x="-790684" y="494294"/>
              <a:ext cx="246221" cy="246221"/>
            </a:xfrm>
            <a:prstGeom prst="rect">
              <a:avLst/>
            </a:prstGeom>
            <a:solidFill>
              <a:srgbClr val="E6B7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7DBDC69D-B14B-ACF2-C0DC-5AB7C2D0A48C}"/>
                </a:ext>
              </a:extLst>
            </p:cNvPr>
            <p:cNvSpPr/>
            <p:nvPr/>
          </p:nvSpPr>
          <p:spPr>
            <a:xfrm>
              <a:off x="-420678" y="518190"/>
              <a:ext cx="246221" cy="246221"/>
            </a:xfrm>
            <a:prstGeom prst="rect">
              <a:avLst/>
            </a:prstGeom>
            <a:solidFill>
              <a:srgbClr val="2D5A4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9301F06C-3998-A8C5-5F6E-21046CAD213F}"/>
                </a:ext>
              </a:extLst>
            </p:cNvPr>
            <p:cNvSpPr/>
            <p:nvPr/>
          </p:nvSpPr>
          <p:spPr>
            <a:xfrm>
              <a:off x="-422027" y="1223588"/>
              <a:ext cx="246221" cy="246221"/>
            </a:xfrm>
            <a:prstGeom prst="rect">
              <a:avLst/>
            </a:prstGeom>
            <a:solidFill>
              <a:srgbClr val="77B99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5FD43ACD-F916-40B2-8BA4-64831774B948}"/>
                </a:ext>
              </a:extLst>
            </p:cNvPr>
            <p:cNvSpPr/>
            <p:nvPr/>
          </p:nvSpPr>
          <p:spPr>
            <a:xfrm>
              <a:off x="-790009" y="900094"/>
              <a:ext cx="246221" cy="246221"/>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正方形/長方形 22">
              <a:extLst>
                <a:ext uri="{FF2B5EF4-FFF2-40B4-BE49-F238E27FC236}">
                  <a16:creationId xmlns:a16="http://schemas.microsoft.com/office/drawing/2014/main" id="{9E084702-E14F-2712-9238-E61A90B2EE43}"/>
                </a:ext>
              </a:extLst>
            </p:cNvPr>
            <p:cNvSpPr/>
            <p:nvPr/>
          </p:nvSpPr>
          <p:spPr>
            <a:xfrm>
              <a:off x="-790009" y="1121811"/>
              <a:ext cx="246221" cy="246221"/>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8E5B64D-A52B-2792-2C80-F822101A5950}"/>
                </a:ext>
              </a:extLst>
            </p:cNvPr>
            <p:cNvSpPr/>
            <p:nvPr/>
          </p:nvSpPr>
          <p:spPr>
            <a:xfrm>
              <a:off x="-790684" y="1368032"/>
              <a:ext cx="246221" cy="246221"/>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794616727"/>
      </p:ext>
    </p:extLst>
  </p:cSld>
  <p:clrMapOvr>
    <a:masterClrMapping/>
  </p:clrMapOvr>
  <p:extLst>
    <p:ext uri="{DCECCB84-F9BA-43D5-87BE-67443E8EF086}">
      <p15:sldGuideLst xmlns:p15="http://schemas.microsoft.com/office/powerpoint/2012/main">
        <p15:guide id="1" orient="horz" pos="2160">
          <p15:clr>
            <a:srgbClr val="FBAE40"/>
          </p15:clr>
        </p15:guide>
        <p15:guide id="2" pos="438">
          <p15:clr>
            <a:srgbClr val="FBAE40"/>
          </p15:clr>
        </p15:guide>
        <p15:guide id="3" pos="7242">
          <p15:clr>
            <a:srgbClr val="FBAE40"/>
          </p15:clr>
        </p15:guide>
        <p15:guide id="4" orient="horz" pos="346">
          <p15:clr>
            <a:srgbClr val="FBAE40"/>
          </p15:clr>
        </p15:guide>
        <p15:guide id="5" orient="horz" pos="397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5_Title Slide">
    <p:bg>
      <p:bgPr>
        <a:solidFill>
          <a:schemeClr val="accent1"/>
        </a:solidFill>
        <a:effectLst/>
      </p:bgPr>
    </p:bg>
    <p:spTree>
      <p:nvGrpSpPr>
        <p:cNvPr id="1" name=""/>
        <p:cNvGrpSpPr/>
        <p:nvPr/>
      </p:nvGrpSpPr>
      <p:grpSpPr>
        <a:xfrm>
          <a:off x="0" y="0"/>
          <a:ext cx="0" cy="0"/>
          <a:chOff x="0" y="0"/>
          <a:chExt cx="0" cy="0"/>
        </a:xfrm>
      </p:grpSpPr>
      <p:pic>
        <p:nvPicPr>
          <p:cNvPr id="4" name="図 3" descr="グラフィカル ユーザー インターフェイス, アプリケーション&#10;&#10;AI 生成コンテンツは誤りを含む可能性があります。">
            <a:extLst>
              <a:ext uri="{FF2B5EF4-FFF2-40B4-BE49-F238E27FC236}">
                <a16:creationId xmlns:a16="http://schemas.microsoft.com/office/drawing/2014/main" id="{035024A9-CCCC-E2CD-A46F-633AA0BB3EB3}"/>
              </a:ext>
            </a:extLst>
          </p:cNvPr>
          <p:cNvPicPr>
            <a:picLocks noChangeAspect="1"/>
          </p:cNvPicPr>
          <p:nvPr userDrawn="1"/>
        </p:nvPicPr>
        <p:blipFill>
          <a:blip r:embed="rId3"/>
          <a:stretch>
            <a:fillRect/>
          </a:stretch>
        </p:blipFill>
        <p:spPr>
          <a:xfrm>
            <a:off x="0" y="0"/>
            <a:ext cx="12217340" cy="6858000"/>
          </a:xfrm>
          <a:prstGeom prst="rect">
            <a:avLst/>
          </a:prstGeom>
        </p:spPr>
      </p:pic>
      <p:graphicFrame>
        <p:nvGraphicFramePr>
          <p:cNvPr id="11" name="think-cell data - do not delete" hidden="1">
            <a:extLst>
              <a:ext uri="{FF2B5EF4-FFF2-40B4-BE49-F238E27FC236}">
                <a16:creationId xmlns:a16="http://schemas.microsoft.com/office/drawing/2014/main" id="{D1454B03-F5D1-4A45-4582-E583F045D877}"/>
              </a:ext>
            </a:extLst>
          </p:cNvPr>
          <p:cNvGraphicFramePr>
            <a:graphicFrameLocks/>
          </p:cNvGraphicFramePr>
          <p:nvPr userDrawn="1">
            <p:custDataLst>
              <p:tags r:id="rId1"/>
            </p:custDataLst>
            <p:extLst>
              <p:ext uri="{D42A27DB-BD31-4B8C-83A1-F6EECF244321}">
                <p14:modId xmlns:p14="http://schemas.microsoft.com/office/powerpoint/2010/main" val="100136978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スライド" r:id="rId4" imgW="7772400" imgH="10058400" progId="TCLayout.ActiveDocument.1">
                  <p:embed/>
                </p:oleObj>
              </mc:Choice>
              <mc:Fallback>
                <p:oleObj name="think-cellスライド" r:id="rId4" imgW="7772400" imgH="10058400" progId="TCLayout.ActiveDocument.1">
                  <p:embed/>
                  <p:pic>
                    <p:nvPicPr>
                      <p:cNvPr id="11" name="think-cell data - do not delete" hidden="1">
                        <a:extLst>
                          <a:ext uri="{FF2B5EF4-FFF2-40B4-BE49-F238E27FC236}">
                            <a16:creationId xmlns:a16="http://schemas.microsoft.com/office/drawing/2014/main" id="{D1454B03-F5D1-4A45-4582-E583F045D87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CA79D51-549C-6393-7572-894BC0EB9070}"/>
              </a:ext>
            </a:extLst>
          </p:cNvPr>
          <p:cNvSpPr>
            <a:spLocks noGrp="1"/>
          </p:cNvSpPr>
          <p:nvPr>
            <p:ph type="ctrTitle" hasCustomPrompt="1"/>
          </p:nvPr>
        </p:nvSpPr>
        <p:spPr>
          <a:xfrm>
            <a:off x="416380" y="1698572"/>
            <a:ext cx="7801789" cy="1800000"/>
          </a:xfrm>
        </p:spPr>
        <p:txBody>
          <a:bodyPr vert="horz" anchor="b">
            <a:normAutofit/>
          </a:bodyPr>
          <a:lstStyle>
            <a:lvl1pPr algn="l">
              <a:defRPr sz="4000" b="1">
                <a:latin typeface="+mn-ea"/>
                <a:ea typeface="+mn-ea"/>
              </a:defRPr>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8048B0BA-F35D-5176-C6AE-6669B2C15A70}"/>
              </a:ext>
            </a:extLst>
          </p:cNvPr>
          <p:cNvSpPr>
            <a:spLocks noGrp="1"/>
          </p:cNvSpPr>
          <p:nvPr>
            <p:ph type="subTitle" idx="1" hasCustomPrompt="1"/>
          </p:nvPr>
        </p:nvSpPr>
        <p:spPr>
          <a:xfrm>
            <a:off x="416381" y="3671607"/>
            <a:ext cx="7801789" cy="1800000"/>
          </a:xfrm>
        </p:spPr>
        <p:txBody>
          <a:bodyPr/>
          <a:lstStyle>
            <a:lvl1pPr marL="0" indent="0" algn="l">
              <a:buNone/>
              <a:defRPr sz="2400">
                <a:latin typeface="+mn-ea"/>
                <a:ea typeface="+mn-ea"/>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5" name="正方形/長方形 4">
            <a:extLst>
              <a:ext uri="{FF2B5EF4-FFF2-40B4-BE49-F238E27FC236}">
                <a16:creationId xmlns:a16="http://schemas.microsoft.com/office/drawing/2014/main" id="{342777B7-53F1-C8C7-9373-36B90445DD71}"/>
              </a:ext>
            </a:extLst>
          </p:cNvPr>
          <p:cNvSpPr/>
          <p:nvPr userDrawn="1"/>
        </p:nvSpPr>
        <p:spPr>
          <a:xfrm>
            <a:off x="8316686" y="0"/>
            <a:ext cx="3900654" cy="6858000"/>
          </a:xfrm>
          <a:prstGeom prst="rect">
            <a:avLst/>
          </a:prstGeom>
          <a:solidFill>
            <a:srgbClr val="2D5A42"/>
          </a:solidFill>
          <a:ln>
            <a:solidFill>
              <a:srgbClr val="2D5A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6" name="図 5" descr="テキスト&#10;&#10;AI 生成コンテンツは誤りを含む可能性があります。">
            <a:extLst>
              <a:ext uri="{FF2B5EF4-FFF2-40B4-BE49-F238E27FC236}">
                <a16:creationId xmlns:a16="http://schemas.microsoft.com/office/drawing/2014/main" id="{60568F41-C9F2-72A4-011F-24636F712401}"/>
              </a:ext>
            </a:extLst>
          </p:cNvPr>
          <p:cNvPicPr>
            <a:picLocks noChangeAspect="1"/>
          </p:cNvPicPr>
          <p:nvPr userDrawn="1"/>
        </p:nvPicPr>
        <p:blipFill>
          <a:blip r:embed="rId6"/>
          <a:stretch>
            <a:fillRect/>
          </a:stretch>
        </p:blipFill>
        <p:spPr>
          <a:xfrm>
            <a:off x="7937470" y="1099457"/>
            <a:ext cx="4659086" cy="4659086"/>
          </a:xfrm>
          <a:prstGeom prst="rect">
            <a:avLst/>
          </a:prstGeom>
          <a:ln>
            <a:noFill/>
          </a:ln>
        </p:spPr>
      </p:pic>
      <p:grpSp>
        <p:nvGrpSpPr>
          <p:cNvPr id="7" name="グループ化 6">
            <a:extLst>
              <a:ext uri="{FF2B5EF4-FFF2-40B4-BE49-F238E27FC236}">
                <a16:creationId xmlns:a16="http://schemas.microsoft.com/office/drawing/2014/main" id="{86412136-85D5-CF81-3AE5-BAED78D185F1}"/>
              </a:ext>
            </a:extLst>
          </p:cNvPr>
          <p:cNvGrpSpPr/>
          <p:nvPr userDrawn="1"/>
        </p:nvGrpSpPr>
        <p:grpSpPr>
          <a:xfrm>
            <a:off x="-790684" y="2588774"/>
            <a:ext cx="616229" cy="1587897"/>
            <a:chOff x="-790684" y="26356"/>
            <a:chExt cx="616229" cy="1587897"/>
          </a:xfrm>
        </p:grpSpPr>
        <p:sp>
          <p:nvSpPr>
            <p:cNvPr id="8" name="正方形/長方形 7">
              <a:extLst>
                <a:ext uri="{FF2B5EF4-FFF2-40B4-BE49-F238E27FC236}">
                  <a16:creationId xmlns:a16="http://schemas.microsoft.com/office/drawing/2014/main" id="{439F9D38-350F-67D9-933A-B99AB9AB0B68}"/>
                </a:ext>
              </a:extLst>
            </p:cNvPr>
            <p:cNvSpPr/>
            <p:nvPr/>
          </p:nvSpPr>
          <p:spPr>
            <a:xfrm>
              <a:off x="-420676" y="27573"/>
              <a:ext cx="246221" cy="2462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58411B78-019B-7C33-616E-5AFC1BF6F29B}"/>
                </a:ext>
              </a:extLst>
            </p:cNvPr>
            <p:cNvSpPr/>
            <p:nvPr/>
          </p:nvSpPr>
          <p:spPr>
            <a:xfrm>
              <a:off x="-420677" y="272577"/>
              <a:ext cx="246221" cy="246221"/>
            </a:xfrm>
            <a:prstGeom prst="rect">
              <a:avLst/>
            </a:prstGeom>
            <a:solidFill>
              <a:srgbClr val="1F30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151C99F8-DD18-08E8-7A8F-E8251F2E5388}"/>
                </a:ext>
              </a:extLst>
            </p:cNvPr>
            <p:cNvSpPr/>
            <p:nvPr/>
          </p:nvSpPr>
          <p:spPr>
            <a:xfrm>
              <a:off x="-422027" y="740515"/>
              <a:ext cx="246221" cy="246221"/>
            </a:xfrm>
            <a:prstGeom prst="rect">
              <a:avLst/>
            </a:prstGeom>
            <a:solidFill>
              <a:srgbClr val="3F75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CA2B1A71-3DAC-BECC-96CC-D067AA770051}"/>
                </a:ext>
              </a:extLst>
            </p:cNvPr>
            <p:cNvSpPr/>
            <p:nvPr/>
          </p:nvSpPr>
          <p:spPr>
            <a:xfrm>
              <a:off x="-422027" y="984911"/>
              <a:ext cx="246221" cy="246221"/>
            </a:xfrm>
            <a:prstGeom prst="rect">
              <a:avLst/>
            </a:prstGeom>
            <a:solidFill>
              <a:srgbClr val="5A957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5818EBE-9A8D-4F50-F671-1D23C9601F07}"/>
                </a:ext>
              </a:extLst>
            </p:cNvPr>
            <p:cNvSpPr/>
            <p:nvPr/>
          </p:nvSpPr>
          <p:spPr>
            <a:xfrm>
              <a:off x="-790009" y="26356"/>
              <a:ext cx="246221" cy="246221"/>
            </a:xfrm>
            <a:prstGeom prst="rect">
              <a:avLst/>
            </a:prstGeom>
            <a:solidFill>
              <a:srgbClr val="B893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正方形/長方形 13">
              <a:extLst>
                <a:ext uri="{FF2B5EF4-FFF2-40B4-BE49-F238E27FC236}">
                  <a16:creationId xmlns:a16="http://schemas.microsoft.com/office/drawing/2014/main" id="{BE524F3B-B2D2-8565-0F1C-767A2C179F07}"/>
                </a:ext>
              </a:extLst>
            </p:cNvPr>
            <p:cNvSpPr/>
            <p:nvPr/>
          </p:nvSpPr>
          <p:spPr>
            <a:xfrm>
              <a:off x="-790009" y="248073"/>
              <a:ext cx="246221" cy="246221"/>
            </a:xfrm>
            <a:prstGeom prst="rect">
              <a:avLst/>
            </a:prstGeom>
            <a:solidFill>
              <a:srgbClr val="D4A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EC14562E-ED8C-791A-89E1-EE1562CFF3A2}"/>
                </a:ext>
              </a:extLst>
            </p:cNvPr>
            <p:cNvSpPr/>
            <p:nvPr/>
          </p:nvSpPr>
          <p:spPr>
            <a:xfrm>
              <a:off x="-790684" y="494294"/>
              <a:ext cx="246221" cy="246221"/>
            </a:xfrm>
            <a:prstGeom prst="rect">
              <a:avLst/>
            </a:prstGeom>
            <a:solidFill>
              <a:srgbClr val="E6B7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295A5539-F7B4-C01F-3976-D4A9CC8C5240}"/>
                </a:ext>
              </a:extLst>
            </p:cNvPr>
            <p:cNvSpPr/>
            <p:nvPr/>
          </p:nvSpPr>
          <p:spPr>
            <a:xfrm>
              <a:off x="-420678" y="518190"/>
              <a:ext cx="246221" cy="246221"/>
            </a:xfrm>
            <a:prstGeom prst="rect">
              <a:avLst/>
            </a:prstGeom>
            <a:solidFill>
              <a:srgbClr val="2D5A4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B27E76E9-D0DE-354D-586A-5809C86368F5}"/>
                </a:ext>
              </a:extLst>
            </p:cNvPr>
            <p:cNvSpPr/>
            <p:nvPr/>
          </p:nvSpPr>
          <p:spPr>
            <a:xfrm>
              <a:off x="-422027" y="1223588"/>
              <a:ext cx="246221" cy="246221"/>
            </a:xfrm>
            <a:prstGeom prst="rect">
              <a:avLst/>
            </a:prstGeom>
            <a:solidFill>
              <a:srgbClr val="77B99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A0D002E1-1D4A-69FF-CC0B-407B1A7850AD}"/>
                </a:ext>
              </a:extLst>
            </p:cNvPr>
            <p:cNvSpPr/>
            <p:nvPr/>
          </p:nvSpPr>
          <p:spPr>
            <a:xfrm>
              <a:off x="-790009" y="900094"/>
              <a:ext cx="246221" cy="246221"/>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正方形/長方形 18">
              <a:extLst>
                <a:ext uri="{FF2B5EF4-FFF2-40B4-BE49-F238E27FC236}">
                  <a16:creationId xmlns:a16="http://schemas.microsoft.com/office/drawing/2014/main" id="{1F86F08F-41F4-2C8E-3F03-3326010FC589}"/>
                </a:ext>
              </a:extLst>
            </p:cNvPr>
            <p:cNvSpPr/>
            <p:nvPr/>
          </p:nvSpPr>
          <p:spPr>
            <a:xfrm>
              <a:off x="-790009" y="1121811"/>
              <a:ext cx="246221" cy="246221"/>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AD058665-4BE6-FF37-1CC4-E72BFD14A381}"/>
                </a:ext>
              </a:extLst>
            </p:cNvPr>
            <p:cNvSpPr/>
            <p:nvPr/>
          </p:nvSpPr>
          <p:spPr>
            <a:xfrm>
              <a:off x="-790684" y="1368032"/>
              <a:ext cx="246221" cy="246221"/>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9100408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表紙（ゴールド）">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34AB7BFA-2D9C-B971-DFD7-A410190BA221}"/>
              </a:ext>
            </a:extLst>
          </p:cNvPr>
          <p:cNvSpPr/>
          <p:nvPr userDrawn="1"/>
        </p:nvSpPr>
        <p:spPr>
          <a:xfrm>
            <a:off x="8265694" y="-1"/>
            <a:ext cx="3926305" cy="6858001"/>
          </a:xfrm>
          <a:prstGeom prst="rect">
            <a:avLst/>
          </a:prstGeom>
          <a:solidFill>
            <a:srgbClr val="B7925F"/>
          </a:solidFill>
          <a:ln>
            <a:solidFill>
              <a:srgbClr val="B792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3" name="図 2" descr="ロゴ&#10;&#10;AI によって生成されたコンテンツは間違っている可能性があります。">
            <a:extLst>
              <a:ext uri="{FF2B5EF4-FFF2-40B4-BE49-F238E27FC236}">
                <a16:creationId xmlns:a16="http://schemas.microsoft.com/office/drawing/2014/main" id="{F17D1277-6C33-2F18-56B8-A1E9D25DB61A}"/>
              </a:ext>
            </a:extLst>
          </p:cNvPr>
          <p:cNvPicPr>
            <a:picLocks noChangeAspect="1"/>
          </p:cNvPicPr>
          <p:nvPr userDrawn="1"/>
        </p:nvPicPr>
        <p:blipFill>
          <a:blip r:embed="rId2">
            <a:lum bright="70000" contrast="-70000"/>
          </a:blip>
          <a:stretch>
            <a:fillRect/>
          </a:stretch>
        </p:blipFill>
        <p:spPr>
          <a:xfrm>
            <a:off x="9121492" y="2590857"/>
            <a:ext cx="2214709" cy="1663002"/>
          </a:xfrm>
          <a:prstGeom prst="rect">
            <a:avLst/>
          </a:prstGeom>
        </p:spPr>
      </p:pic>
      <p:sp>
        <p:nvSpPr>
          <p:cNvPr id="12" name="Title 1">
            <a:extLst>
              <a:ext uri="{FF2B5EF4-FFF2-40B4-BE49-F238E27FC236}">
                <a16:creationId xmlns:a16="http://schemas.microsoft.com/office/drawing/2014/main" id="{DD9F96B5-7603-19A9-5651-41D0B7E0F877}"/>
              </a:ext>
            </a:extLst>
          </p:cNvPr>
          <p:cNvSpPr>
            <a:spLocks noGrp="1"/>
          </p:cNvSpPr>
          <p:nvPr>
            <p:ph type="ctrTitle" hasCustomPrompt="1"/>
          </p:nvPr>
        </p:nvSpPr>
        <p:spPr>
          <a:xfrm>
            <a:off x="416380" y="1698572"/>
            <a:ext cx="7801789" cy="1800000"/>
          </a:xfrm>
        </p:spPr>
        <p:txBody>
          <a:bodyPr vert="horz" anchor="b">
            <a:normAutofit/>
          </a:bodyPr>
          <a:lstStyle>
            <a:lvl1pPr algn="l">
              <a:defRPr sz="4000" b="1">
                <a:latin typeface="+mn-ea"/>
                <a:ea typeface="+mn-ea"/>
              </a:defRPr>
            </a:lvl1pPr>
          </a:lstStyle>
          <a:p>
            <a:r>
              <a:rPr lang="en-GB" dirty="0"/>
              <a:t>Click to edit Master title style</a:t>
            </a:r>
            <a:endParaRPr lang="en-US" dirty="0"/>
          </a:p>
        </p:txBody>
      </p:sp>
      <p:sp>
        <p:nvSpPr>
          <p:cNvPr id="13" name="Subtitle 2">
            <a:extLst>
              <a:ext uri="{FF2B5EF4-FFF2-40B4-BE49-F238E27FC236}">
                <a16:creationId xmlns:a16="http://schemas.microsoft.com/office/drawing/2014/main" id="{4B0365E4-C432-C772-884D-59E714920804}"/>
              </a:ext>
            </a:extLst>
          </p:cNvPr>
          <p:cNvSpPr>
            <a:spLocks noGrp="1"/>
          </p:cNvSpPr>
          <p:nvPr>
            <p:ph type="subTitle" idx="1" hasCustomPrompt="1"/>
          </p:nvPr>
        </p:nvSpPr>
        <p:spPr>
          <a:xfrm>
            <a:off x="416381" y="3671607"/>
            <a:ext cx="7801789" cy="1800000"/>
          </a:xfrm>
        </p:spPr>
        <p:txBody>
          <a:bodyPr/>
          <a:lstStyle>
            <a:lvl1pPr marL="0" indent="0" algn="l">
              <a:buNone/>
              <a:defRPr sz="2400">
                <a:latin typeface="+mn-ea"/>
                <a:ea typeface="+mn-ea"/>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grpSp>
        <p:nvGrpSpPr>
          <p:cNvPr id="14" name="グループ化 13">
            <a:extLst>
              <a:ext uri="{FF2B5EF4-FFF2-40B4-BE49-F238E27FC236}">
                <a16:creationId xmlns:a16="http://schemas.microsoft.com/office/drawing/2014/main" id="{358B02DE-DF1D-1471-7D9A-FCBBDA9965B1}"/>
              </a:ext>
            </a:extLst>
          </p:cNvPr>
          <p:cNvGrpSpPr/>
          <p:nvPr userDrawn="1"/>
        </p:nvGrpSpPr>
        <p:grpSpPr>
          <a:xfrm>
            <a:off x="-790684" y="2588774"/>
            <a:ext cx="616229" cy="1587897"/>
            <a:chOff x="-790684" y="26356"/>
            <a:chExt cx="616229" cy="1587897"/>
          </a:xfrm>
        </p:grpSpPr>
        <p:sp>
          <p:nvSpPr>
            <p:cNvPr id="15" name="正方形/長方形 14">
              <a:extLst>
                <a:ext uri="{FF2B5EF4-FFF2-40B4-BE49-F238E27FC236}">
                  <a16:creationId xmlns:a16="http://schemas.microsoft.com/office/drawing/2014/main" id="{FEB05FF0-5654-B27C-D162-1DD0EB35303F}"/>
                </a:ext>
              </a:extLst>
            </p:cNvPr>
            <p:cNvSpPr/>
            <p:nvPr/>
          </p:nvSpPr>
          <p:spPr>
            <a:xfrm>
              <a:off x="-420676" y="27573"/>
              <a:ext cx="246221" cy="2462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1720DEB7-8EEA-2CBF-5111-800C0F4D0463}"/>
                </a:ext>
              </a:extLst>
            </p:cNvPr>
            <p:cNvSpPr/>
            <p:nvPr/>
          </p:nvSpPr>
          <p:spPr>
            <a:xfrm>
              <a:off x="-420677" y="272577"/>
              <a:ext cx="246221" cy="246221"/>
            </a:xfrm>
            <a:prstGeom prst="rect">
              <a:avLst/>
            </a:prstGeom>
            <a:solidFill>
              <a:srgbClr val="1F30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32EC9F12-27ED-9189-8F99-A3537B6115C6}"/>
                </a:ext>
              </a:extLst>
            </p:cNvPr>
            <p:cNvSpPr/>
            <p:nvPr/>
          </p:nvSpPr>
          <p:spPr>
            <a:xfrm>
              <a:off x="-422027" y="740515"/>
              <a:ext cx="246221" cy="246221"/>
            </a:xfrm>
            <a:prstGeom prst="rect">
              <a:avLst/>
            </a:prstGeom>
            <a:solidFill>
              <a:srgbClr val="3F75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E5FFD1AB-77D7-65BD-6C35-4D1BD7391CD8}"/>
                </a:ext>
              </a:extLst>
            </p:cNvPr>
            <p:cNvSpPr/>
            <p:nvPr/>
          </p:nvSpPr>
          <p:spPr>
            <a:xfrm>
              <a:off x="-422027" y="984911"/>
              <a:ext cx="246221" cy="246221"/>
            </a:xfrm>
            <a:prstGeom prst="rect">
              <a:avLst/>
            </a:prstGeom>
            <a:solidFill>
              <a:srgbClr val="5A957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5ED073F0-502B-7DB0-F675-661132D54191}"/>
                </a:ext>
              </a:extLst>
            </p:cNvPr>
            <p:cNvSpPr/>
            <p:nvPr/>
          </p:nvSpPr>
          <p:spPr>
            <a:xfrm>
              <a:off x="-790009" y="26356"/>
              <a:ext cx="246221" cy="246221"/>
            </a:xfrm>
            <a:prstGeom prst="rect">
              <a:avLst/>
            </a:prstGeom>
            <a:solidFill>
              <a:srgbClr val="B893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0" name="正方形/長方形 19">
              <a:extLst>
                <a:ext uri="{FF2B5EF4-FFF2-40B4-BE49-F238E27FC236}">
                  <a16:creationId xmlns:a16="http://schemas.microsoft.com/office/drawing/2014/main" id="{31FFB41F-C260-334A-807C-3E7A010EF5CD}"/>
                </a:ext>
              </a:extLst>
            </p:cNvPr>
            <p:cNvSpPr/>
            <p:nvPr/>
          </p:nvSpPr>
          <p:spPr>
            <a:xfrm>
              <a:off x="-790009" y="248073"/>
              <a:ext cx="246221" cy="246221"/>
            </a:xfrm>
            <a:prstGeom prst="rect">
              <a:avLst/>
            </a:prstGeom>
            <a:solidFill>
              <a:srgbClr val="D4A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3F90572C-912E-C6A3-A34F-2A7D6E016829}"/>
                </a:ext>
              </a:extLst>
            </p:cNvPr>
            <p:cNvSpPr/>
            <p:nvPr/>
          </p:nvSpPr>
          <p:spPr>
            <a:xfrm>
              <a:off x="-790684" y="494294"/>
              <a:ext cx="246221" cy="246221"/>
            </a:xfrm>
            <a:prstGeom prst="rect">
              <a:avLst/>
            </a:prstGeom>
            <a:solidFill>
              <a:srgbClr val="E6B7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D7881A61-DD4E-F140-97EB-775398A18930}"/>
                </a:ext>
              </a:extLst>
            </p:cNvPr>
            <p:cNvSpPr/>
            <p:nvPr/>
          </p:nvSpPr>
          <p:spPr>
            <a:xfrm>
              <a:off x="-420678" y="518190"/>
              <a:ext cx="246221" cy="246221"/>
            </a:xfrm>
            <a:prstGeom prst="rect">
              <a:avLst/>
            </a:prstGeom>
            <a:solidFill>
              <a:srgbClr val="2D5A4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3392BFCD-8E13-7389-E401-B1607D9F04B4}"/>
                </a:ext>
              </a:extLst>
            </p:cNvPr>
            <p:cNvSpPr/>
            <p:nvPr/>
          </p:nvSpPr>
          <p:spPr>
            <a:xfrm>
              <a:off x="-422027" y="1223588"/>
              <a:ext cx="246221" cy="246221"/>
            </a:xfrm>
            <a:prstGeom prst="rect">
              <a:avLst/>
            </a:prstGeom>
            <a:solidFill>
              <a:srgbClr val="77B99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EBEE2A76-B6D0-9CC4-8ABF-EECCFA5ECCA3}"/>
                </a:ext>
              </a:extLst>
            </p:cNvPr>
            <p:cNvSpPr/>
            <p:nvPr/>
          </p:nvSpPr>
          <p:spPr>
            <a:xfrm>
              <a:off x="-790009" y="900094"/>
              <a:ext cx="246221" cy="246221"/>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正方形/長方形 24">
              <a:extLst>
                <a:ext uri="{FF2B5EF4-FFF2-40B4-BE49-F238E27FC236}">
                  <a16:creationId xmlns:a16="http://schemas.microsoft.com/office/drawing/2014/main" id="{002D0689-E01F-0782-93EF-86719DC1270C}"/>
                </a:ext>
              </a:extLst>
            </p:cNvPr>
            <p:cNvSpPr/>
            <p:nvPr/>
          </p:nvSpPr>
          <p:spPr>
            <a:xfrm>
              <a:off x="-790009" y="1121811"/>
              <a:ext cx="246221" cy="246221"/>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23BAAF1E-51D0-3924-5426-ECEEADEB95EE}"/>
                </a:ext>
              </a:extLst>
            </p:cNvPr>
            <p:cNvSpPr/>
            <p:nvPr/>
          </p:nvSpPr>
          <p:spPr>
            <a:xfrm>
              <a:off x="-790684" y="1368032"/>
              <a:ext cx="246221" cy="246221"/>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465792633"/>
      </p:ext>
    </p:extLst>
  </p:cSld>
  <p:clrMapOvr>
    <a:masterClrMapping/>
  </p:clrMapOvr>
  <p:extLst>
    <p:ext uri="{DCECCB84-F9BA-43D5-87BE-67443E8EF086}">
      <p15:sldGuideLst xmlns:p15="http://schemas.microsoft.com/office/powerpoint/2012/main">
        <p15:guide id="1" orient="horz" pos="2160">
          <p15:clr>
            <a:srgbClr val="FBAE40"/>
          </p15:clr>
        </p15:guide>
        <p15:guide id="2" pos="438">
          <p15:clr>
            <a:srgbClr val="FBAE40"/>
          </p15:clr>
        </p15:guide>
        <p15:guide id="3" pos="7242">
          <p15:clr>
            <a:srgbClr val="FBAE40"/>
          </p15:clr>
        </p15:guide>
        <p15:guide id="4" orient="horz" pos="346">
          <p15:clr>
            <a:srgbClr val="FBAE40"/>
          </p15:clr>
        </p15:guide>
        <p15:guide id="5" orient="horz" pos="397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次（グリーン01）">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CD89F18-DEA5-CFAE-AFF3-C458A8F6F6B6}"/>
              </a:ext>
            </a:extLst>
          </p:cNvPr>
          <p:cNvSpPr/>
          <p:nvPr userDrawn="1"/>
        </p:nvSpPr>
        <p:spPr>
          <a:xfrm>
            <a:off x="1" y="-1"/>
            <a:ext cx="2525486" cy="6858001"/>
          </a:xfrm>
          <a:prstGeom prst="rect">
            <a:avLst/>
          </a:prstGeom>
          <a:solidFill>
            <a:srgbClr val="1F302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11" name="テキスト ボックス 10">
            <a:extLst>
              <a:ext uri="{FF2B5EF4-FFF2-40B4-BE49-F238E27FC236}">
                <a16:creationId xmlns:a16="http://schemas.microsoft.com/office/drawing/2014/main" id="{144EC2DC-CD04-37D4-5C5F-A02A4F51E271}"/>
              </a:ext>
            </a:extLst>
          </p:cNvPr>
          <p:cNvSpPr txBox="1"/>
          <p:nvPr userDrawn="1"/>
        </p:nvSpPr>
        <p:spPr>
          <a:xfrm>
            <a:off x="9717722" y="136525"/>
            <a:ext cx="2154555" cy="246221"/>
          </a:xfrm>
          <a:prstGeom prst="rect">
            <a:avLst/>
          </a:prstGeom>
          <a:noFill/>
          <a:ln>
            <a:noFill/>
          </a:ln>
        </p:spPr>
        <p:txBody>
          <a:bodyPr wrap="square">
            <a:spAutoFit/>
          </a:bodyPr>
          <a:lstStyle/>
          <a:p>
            <a:pPr algn="r"/>
            <a:r>
              <a:rPr lang="ja-JP" altLang="en-US" sz="1000">
                <a:solidFill>
                  <a:schemeClr val="bg1">
                    <a:lumMod val="75000"/>
                  </a:schemeClr>
                </a:solidFill>
              </a:rPr>
              <a:t>Strictly confidential</a:t>
            </a:r>
            <a:endParaRPr lang="en-US" altLang="ja-JP" sz="1000" dirty="0">
              <a:solidFill>
                <a:schemeClr val="bg1">
                  <a:lumMod val="75000"/>
                </a:schemeClr>
              </a:solidFill>
            </a:endParaRPr>
          </a:p>
        </p:txBody>
      </p:sp>
      <p:grpSp>
        <p:nvGrpSpPr>
          <p:cNvPr id="2" name="グループ化 1">
            <a:extLst>
              <a:ext uri="{FF2B5EF4-FFF2-40B4-BE49-F238E27FC236}">
                <a16:creationId xmlns:a16="http://schemas.microsoft.com/office/drawing/2014/main" id="{37A7538E-8D44-DB02-AF00-6E5BB43ECE00}"/>
              </a:ext>
            </a:extLst>
          </p:cNvPr>
          <p:cNvGrpSpPr/>
          <p:nvPr userDrawn="1"/>
        </p:nvGrpSpPr>
        <p:grpSpPr>
          <a:xfrm>
            <a:off x="-790684" y="2588774"/>
            <a:ext cx="616229" cy="1587897"/>
            <a:chOff x="-790684" y="26356"/>
            <a:chExt cx="616229" cy="1587897"/>
          </a:xfrm>
        </p:grpSpPr>
        <p:sp>
          <p:nvSpPr>
            <p:cNvPr id="3" name="正方形/長方形 2">
              <a:extLst>
                <a:ext uri="{FF2B5EF4-FFF2-40B4-BE49-F238E27FC236}">
                  <a16:creationId xmlns:a16="http://schemas.microsoft.com/office/drawing/2014/main" id="{CDD377C3-4ACA-6B4C-A613-35A006A0B6ED}"/>
                </a:ext>
              </a:extLst>
            </p:cNvPr>
            <p:cNvSpPr/>
            <p:nvPr/>
          </p:nvSpPr>
          <p:spPr>
            <a:xfrm>
              <a:off x="-420676" y="27573"/>
              <a:ext cx="246221" cy="2462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88FB55F4-F4F2-3F18-D684-FC5A1B7676FA}"/>
                </a:ext>
              </a:extLst>
            </p:cNvPr>
            <p:cNvSpPr/>
            <p:nvPr/>
          </p:nvSpPr>
          <p:spPr>
            <a:xfrm>
              <a:off x="-420677" y="272577"/>
              <a:ext cx="246221" cy="246221"/>
            </a:xfrm>
            <a:prstGeom prst="rect">
              <a:avLst/>
            </a:prstGeom>
            <a:solidFill>
              <a:srgbClr val="1F30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1D1C9FAC-ED14-25DA-A575-52D5CA9B4484}"/>
                </a:ext>
              </a:extLst>
            </p:cNvPr>
            <p:cNvSpPr/>
            <p:nvPr/>
          </p:nvSpPr>
          <p:spPr>
            <a:xfrm>
              <a:off x="-422027" y="740515"/>
              <a:ext cx="246221" cy="246221"/>
            </a:xfrm>
            <a:prstGeom prst="rect">
              <a:avLst/>
            </a:prstGeom>
            <a:solidFill>
              <a:srgbClr val="3F75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E19967CE-2BE3-8CC9-1487-35F02C338F2B}"/>
                </a:ext>
              </a:extLst>
            </p:cNvPr>
            <p:cNvSpPr/>
            <p:nvPr/>
          </p:nvSpPr>
          <p:spPr>
            <a:xfrm>
              <a:off x="-422027" y="984911"/>
              <a:ext cx="246221" cy="246221"/>
            </a:xfrm>
            <a:prstGeom prst="rect">
              <a:avLst/>
            </a:prstGeom>
            <a:solidFill>
              <a:srgbClr val="5A957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0838A74F-B5F7-DCE6-F9C7-0ADC95BA62AD}"/>
                </a:ext>
              </a:extLst>
            </p:cNvPr>
            <p:cNvSpPr/>
            <p:nvPr/>
          </p:nvSpPr>
          <p:spPr>
            <a:xfrm>
              <a:off x="-790009" y="26356"/>
              <a:ext cx="246221" cy="246221"/>
            </a:xfrm>
            <a:prstGeom prst="rect">
              <a:avLst/>
            </a:prstGeom>
            <a:solidFill>
              <a:srgbClr val="B893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29865CF5-B975-BF66-96B2-D79633A3A123}"/>
                </a:ext>
              </a:extLst>
            </p:cNvPr>
            <p:cNvSpPr/>
            <p:nvPr/>
          </p:nvSpPr>
          <p:spPr>
            <a:xfrm>
              <a:off x="-790009" y="248073"/>
              <a:ext cx="246221" cy="246221"/>
            </a:xfrm>
            <a:prstGeom prst="rect">
              <a:avLst/>
            </a:prstGeom>
            <a:solidFill>
              <a:srgbClr val="D4A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AC5A376F-6C04-9AEC-6F7B-55E65DADE70C}"/>
                </a:ext>
              </a:extLst>
            </p:cNvPr>
            <p:cNvSpPr/>
            <p:nvPr/>
          </p:nvSpPr>
          <p:spPr>
            <a:xfrm>
              <a:off x="-790684" y="494294"/>
              <a:ext cx="246221" cy="246221"/>
            </a:xfrm>
            <a:prstGeom prst="rect">
              <a:avLst/>
            </a:prstGeom>
            <a:solidFill>
              <a:srgbClr val="E6B7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FB23181B-430D-3DDD-AB94-EB8E5A76BCF3}"/>
                </a:ext>
              </a:extLst>
            </p:cNvPr>
            <p:cNvSpPr/>
            <p:nvPr/>
          </p:nvSpPr>
          <p:spPr>
            <a:xfrm>
              <a:off x="-420678" y="518190"/>
              <a:ext cx="246221" cy="246221"/>
            </a:xfrm>
            <a:prstGeom prst="rect">
              <a:avLst/>
            </a:prstGeom>
            <a:solidFill>
              <a:srgbClr val="2D5A4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F8A8F73F-CBD7-59B7-08C3-53387FE2F063}"/>
                </a:ext>
              </a:extLst>
            </p:cNvPr>
            <p:cNvSpPr/>
            <p:nvPr/>
          </p:nvSpPr>
          <p:spPr>
            <a:xfrm>
              <a:off x="-422027" y="1223588"/>
              <a:ext cx="246221" cy="246221"/>
            </a:xfrm>
            <a:prstGeom prst="rect">
              <a:avLst/>
            </a:prstGeom>
            <a:solidFill>
              <a:srgbClr val="77B99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9FDFBA5D-FF9C-62B1-FD83-AEBF8253E56B}"/>
                </a:ext>
              </a:extLst>
            </p:cNvPr>
            <p:cNvSpPr/>
            <p:nvPr/>
          </p:nvSpPr>
          <p:spPr>
            <a:xfrm>
              <a:off x="-790009" y="900094"/>
              <a:ext cx="246221" cy="246221"/>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正方形/長方形 18">
              <a:extLst>
                <a:ext uri="{FF2B5EF4-FFF2-40B4-BE49-F238E27FC236}">
                  <a16:creationId xmlns:a16="http://schemas.microsoft.com/office/drawing/2014/main" id="{F8F43F2C-5F76-9C7E-C33F-D388C2F7CB24}"/>
                </a:ext>
              </a:extLst>
            </p:cNvPr>
            <p:cNvSpPr/>
            <p:nvPr/>
          </p:nvSpPr>
          <p:spPr>
            <a:xfrm>
              <a:off x="-790009" y="1121811"/>
              <a:ext cx="246221" cy="246221"/>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4338796F-176A-206E-BBB5-3D214D9B10CF}"/>
                </a:ext>
              </a:extLst>
            </p:cNvPr>
            <p:cNvSpPr/>
            <p:nvPr/>
          </p:nvSpPr>
          <p:spPr>
            <a:xfrm>
              <a:off x="-790684" y="1368032"/>
              <a:ext cx="246221" cy="246221"/>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TextBox 41">
            <a:extLst>
              <a:ext uri="{FF2B5EF4-FFF2-40B4-BE49-F238E27FC236}">
                <a16:creationId xmlns:a16="http://schemas.microsoft.com/office/drawing/2014/main" id="{DFDD0045-FF86-909F-CF20-481E431B26E0}"/>
              </a:ext>
            </a:extLst>
          </p:cNvPr>
          <p:cNvSpPr txBox="1"/>
          <p:nvPr userDrawn="1"/>
        </p:nvSpPr>
        <p:spPr>
          <a:xfrm>
            <a:off x="11105812" y="6514831"/>
            <a:ext cx="983573" cy="216000"/>
          </a:xfrm>
          <a:prstGeom prst="rect">
            <a:avLst/>
          </a:prstGeom>
          <a:noFill/>
        </p:spPr>
        <p:txBody>
          <a:bodyPr wrap="square" rtlCol="0" anchor="ctr">
            <a:noAutofit/>
          </a:bodyPr>
          <a:lstStyle/>
          <a:p>
            <a:pPr algn="r"/>
            <a:fld id="{345173B5-5526-C040-8550-97FCE61EEC3A}" type="slidenum">
              <a:rPr lang="en-AU" sz="1200" smtClean="0">
                <a:solidFill>
                  <a:schemeClr val="accent6">
                    <a:lumMod val="50000"/>
                  </a:schemeClr>
                </a:solidFill>
                <a:latin typeface="+mn-lt"/>
                <a:cs typeface="Arial" panose="020B0604020202020204" pitchFamily="34" charset="0"/>
              </a:rPr>
              <a:pPr algn="r"/>
              <a:t>‹#›</a:t>
            </a:fld>
            <a:endParaRPr lang="en-AU" sz="1200" dirty="0">
              <a:solidFill>
                <a:schemeClr val="accent6">
                  <a:lumMod val="50000"/>
                </a:schemeClr>
              </a:solidFill>
              <a:latin typeface="+mn-lt"/>
              <a:cs typeface="Arial" panose="020B0604020202020204" pitchFamily="34" charset="0"/>
            </a:endParaRPr>
          </a:p>
        </p:txBody>
      </p:sp>
      <p:sp>
        <p:nvSpPr>
          <p:cNvPr id="25" name="フッター プレースホルダー 13">
            <a:extLst>
              <a:ext uri="{FF2B5EF4-FFF2-40B4-BE49-F238E27FC236}">
                <a16:creationId xmlns:a16="http://schemas.microsoft.com/office/drawing/2014/main" id="{2104882E-0366-BE09-552D-B078DCD1AE3B}"/>
              </a:ext>
            </a:extLst>
          </p:cNvPr>
          <p:cNvSpPr>
            <a:spLocks noGrp="1"/>
          </p:cNvSpPr>
          <p:nvPr>
            <p:ph type="ftr" sz="quarter" idx="11"/>
          </p:nvPr>
        </p:nvSpPr>
        <p:spPr>
          <a:xfrm>
            <a:off x="9877808" y="6514831"/>
            <a:ext cx="1919585" cy="216000"/>
          </a:xfrm>
        </p:spPr>
        <p:txBody>
          <a:bodyPr/>
          <a:lstStyle>
            <a:lvl1pPr algn="l">
              <a:defRPr sz="1000">
                <a:latin typeface="+mn-lt"/>
                <a:ea typeface="+mn-ea"/>
              </a:defRPr>
            </a:lvl1pPr>
          </a:lstStyle>
          <a:p>
            <a:pPr>
              <a:defRPr/>
            </a:pPr>
            <a:r>
              <a:rPr kumimoji="1" lang="en-US" altLang="ja-JP" dirty="0">
                <a:solidFill>
                  <a:srgbClr val="FFFFFF">
                    <a:lumMod val="75000"/>
                  </a:srgbClr>
                </a:solidFill>
              </a:rPr>
              <a:t>©️ 2026 </a:t>
            </a:r>
            <a:r>
              <a:rPr kumimoji="1" lang="en-US" altLang="ja-JP" dirty="0" err="1">
                <a:solidFill>
                  <a:srgbClr val="FFFFFF">
                    <a:lumMod val="75000"/>
                  </a:srgbClr>
                </a:solidFill>
              </a:rPr>
              <a:t>boostconsulting</a:t>
            </a:r>
            <a:r>
              <a:rPr kumimoji="1" lang="en-US" altLang="ja-JP" dirty="0">
                <a:solidFill>
                  <a:srgbClr val="FFFFFF">
                    <a:lumMod val="75000"/>
                  </a:srgbClr>
                </a:solidFill>
              </a:rPr>
              <a:t> Inc.</a:t>
            </a:r>
            <a:endParaRPr kumimoji="1" lang="ja-JP" altLang="en-US" dirty="0">
              <a:solidFill>
                <a:srgbClr val="FFFFFF">
                  <a:lumMod val="75000"/>
                </a:srgbClr>
              </a:solidFill>
              <a:latin typeface="+mn-lt"/>
            </a:endParaRPr>
          </a:p>
        </p:txBody>
      </p:sp>
      <p:sp>
        <p:nvSpPr>
          <p:cNvPr id="28" name="テキスト ボックス 27">
            <a:extLst>
              <a:ext uri="{FF2B5EF4-FFF2-40B4-BE49-F238E27FC236}">
                <a16:creationId xmlns:a16="http://schemas.microsoft.com/office/drawing/2014/main" id="{97278520-9DA2-593D-6467-A9F9A8DD90C8}"/>
              </a:ext>
            </a:extLst>
          </p:cNvPr>
          <p:cNvSpPr txBox="1"/>
          <p:nvPr userDrawn="1"/>
        </p:nvSpPr>
        <p:spPr>
          <a:xfrm>
            <a:off x="913930" y="3228945"/>
            <a:ext cx="697627" cy="400110"/>
          </a:xfrm>
          <a:prstGeom prst="rect">
            <a:avLst/>
          </a:prstGeom>
          <a:noFill/>
        </p:spPr>
        <p:txBody>
          <a:bodyPr wrap="none" rtlCol="0">
            <a:spAutoFit/>
          </a:bodyPr>
          <a:lstStyle/>
          <a:p>
            <a:r>
              <a:rPr kumimoji="1" lang="ja-JP" altLang="en-US" sz="2000" b="1" dirty="0">
                <a:solidFill>
                  <a:schemeClr val="bg1"/>
                </a:solidFill>
              </a:rPr>
              <a:t>目次</a:t>
            </a:r>
          </a:p>
        </p:txBody>
      </p:sp>
    </p:spTree>
    <p:extLst>
      <p:ext uri="{BB962C8B-B14F-4D97-AF65-F5344CB8AC3E}">
        <p14:creationId xmlns:p14="http://schemas.microsoft.com/office/powerpoint/2010/main" val="17371393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15">
          <p15:clr>
            <a:srgbClr val="FBAE40"/>
          </p15:clr>
        </p15:guide>
        <p15:guide id="4" pos="7265">
          <p15:clr>
            <a:srgbClr val="FBAE40"/>
          </p15:clr>
        </p15:guide>
        <p15:guide id="5" orient="horz" pos="3974">
          <p15:clr>
            <a:srgbClr val="FBAE40"/>
          </p15:clr>
        </p15:guide>
        <p15:guide id="6" orient="horz" pos="34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目次（グリーン02）">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CD89F18-DEA5-CFAE-AFF3-C458A8F6F6B6}"/>
              </a:ext>
            </a:extLst>
          </p:cNvPr>
          <p:cNvSpPr/>
          <p:nvPr userDrawn="1"/>
        </p:nvSpPr>
        <p:spPr>
          <a:xfrm>
            <a:off x="1" y="-1"/>
            <a:ext cx="2525486" cy="6858001"/>
          </a:xfrm>
          <a:prstGeom prst="rect">
            <a:avLst/>
          </a:prstGeom>
          <a:solidFill>
            <a:srgbClr val="2D5A42"/>
          </a:solidFill>
          <a:ln>
            <a:solidFill>
              <a:srgbClr val="2D5A4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6" name="テキスト ボックス 5">
            <a:extLst>
              <a:ext uri="{FF2B5EF4-FFF2-40B4-BE49-F238E27FC236}">
                <a16:creationId xmlns:a16="http://schemas.microsoft.com/office/drawing/2014/main" id="{41A21F22-C5F9-B70F-E2A3-1B032AA9052B}"/>
              </a:ext>
            </a:extLst>
          </p:cNvPr>
          <p:cNvSpPr txBox="1"/>
          <p:nvPr userDrawn="1"/>
        </p:nvSpPr>
        <p:spPr>
          <a:xfrm>
            <a:off x="913930" y="3228945"/>
            <a:ext cx="697627" cy="400110"/>
          </a:xfrm>
          <a:prstGeom prst="rect">
            <a:avLst/>
          </a:prstGeom>
          <a:noFill/>
        </p:spPr>
        <p:txBody>
          <a:bodyPr wrap="none" rtlCol="0">
            <a:spAutoFit/>
          </a:bodyPr>
          <a:lstStyle/>
          <a:p>
            <a:r>
              <a:rPr kumimoji="1" lang="ja-JP" altLang="en-US" sz="2000" b="1" dirty="0">
                <a:solidFill>
                  <a:schemeClr val="bg1"/>
                </a:solidFill>
              </a:rPr>
              <a:t>目次</a:t>
            </a:r>
          </a:p>
        </p:txBody>
      </p:sp>
      <p:sp>
        <p:nvSpPr>
          <p:cNvPr id="11" name="テキスト ボックス 10">
            <a:extLst>
              <a:ext uri="{FF2B5EF4-FFF2-40B4-BE49-F238E27FC236}">
                <a16:creationId xmlns:a16="http://schemas.microsoft.com/office/drawing/2014/main" id="{144EC2DC-CD04-37D4-5C5F-A02A4F51E271}"/>
              </a:ext>
            </a:extLst>
          </p:cNvPr>
          <p:cNvSpPr txBox="1"/>
          <p:nvPr userDrawn="1"/>
        </p:nvSpPr>
        <p:spPr>
          <a:xfrm>
            <a:off x="9717722" y="136525"/>
            <a:ext cx="2154555" cy="246221"/>
          </a:xfrm>
          <a:prstGeom prst="rect">
            <a:avLst/>
          </a:prstGeom>
          <a:noFill/>
          <a:ln>
            <a:noFill/>
          </a:ln>
        </p:spPr>
        <p:txBody>
          <a:bodyPr wrap="square">
            <a:spAutoFit/>
          </a:bodyPr>
          <a:lstStyle/>
          <a:p>
            <a:pPr algn="r"/>
            <a:r>
              <a:rPr lang="ja-JP" altLang="en-US" sz="1000">
                <a:solidFill>
                  <a:schemeClr val="bg1">
                    <a:lumMod val="75000"/>
                  </a:schemeClr>
                </a:solidFill>
              </a:rPr>
              <a:t>Strictly confidential</a:t>
            </a:r>
            <a:endParaRPr lang="en-US" altLang="ja-JP" sz="1000" dirty="0">
              <a:solidFill>
                <a:schemeClr val="bg1">
                  <a:lumMod val="75000"/>
                </a:schemeClr>
              </a:solidFill>
            </a:endParaRPr>
          </a:p>
        </p:txBody>
      </p:sp>
      <p:grpSp>
        <p:nvGrpSpPr>
          <p:cNvPr id="2" name="グループ化 1">
            <a:extLst>
              <a:ext uri="{FF2B5EF4-FFF2-40B4-BE49-F238E27FC236}">
                <a16:creationId xmlns:a16="http://schemas.microsoft.com/office/drawing/2014/main" id="{37A7538E-8D44-DB02-AF00-6E5BB43ECE00}"/>
              </a:ext>
            </a:extLst>
          </p:cNvPr>
          <p:cNvGrpSpPr/>
          <p:nvPr userDrawn="1"/>
        </p:nvGrpSpPr>
        <p:grpSpPr>
          <a:xfrm>
            <a:off x="-790684" y="2588774"/>
            <a:ext cx="616229" cy="1587897"/>
            <a:chOff x="-790684" y="26356"/>
            <a:chExt cx="616229" cy="1587897"/>
          </a:xfrm>
        </p:grpSpPr>
        <p:sp>
          <p:nvSpPr>
            <p:cNvPr id="3" name="正方形/長方形 2">
              <a:extLst>
                <a:ext uri="{FF2B5EF4-FFF2-40B4-BE49-F238E27FC236}">
                  <a16:creationId xmlns:a16="http://schemas.microsoft.com/office/drawing/2014/main" id="{CDD377C3-4ACA-6B4C-A613-35A006A0B6ED}"/>
                </a:ext>
              </a:extLst>
            </p:cNvPr>
            <p:cNvSpPr/>
            <p:nvPr/>
          </p:nvSpPr>
          <p:spPr>
            <a:xfrm>
              <a:off x="-420676" y="27573"/>
              <a:ext cx="246221" cy="2462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88FB55F4-F4F2-3F18-D684-FC5A1B7676FA}"/>
                </a:ext>
              </a:extLst>
            </p:cNvPr>
            <p:cNvSpPr/>
            <p:nvPr/>
          </p:nvSpPr>
          <p:spPr>
            <a:xfrm>
              <a:off x="-420677" y="272577"/>
              <a:ext cx="246221" cy="246221"/>
            </a:xfrm>
            <a:prstGeom prst="rect">
              <a:avLst/>
            </a:prstGeom>
            <a:solidFill>
              <a:srgbClr val="1F30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1D1C9FAC-ED14-25DA-A575-52D5CA9B4484}"/>
                </a:ext>
              </a:extLst>
            </p:cNvPr>
            <p:cNvSpPr/>
            <p:nvPr/>
          </p:nvSpPr>
          <p:spPr>
            <a:xfrm>
              <a:off x="-422027" y="740515"/>
              <a:ext cx="246221" cy="246221"/>
            </a:xfrm>
            <a:prstGeom prst="rect">
              <a:avLst/>
            </a:prstGeom>
            <a:solidFill>
              <a:srgbClr val="3F75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E19967CE-2BE3-8CC9-1487-35F02C338F2B}"/>
                </a:ext>
              </a:extLst>
            </p:cNvPr>
            <p:cNvSpPr/>
            <p:nvPr/>
          </p:nvSpPr>
          <p:spPr>
            <a:xfrm>
              <a:off x="-422027" y="984911"/>
              <a:ext cx="246221" cy="246221"/>
            </a:xfrm>
            <a:prstGeom prst="rect">
              <a:avLst/>
            </a:prstGeom>
            <a:solidFill>
              <a:srgbClr val="5A957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0838A74F-B5F7-DCE6-F9C7-0ADC95BA62AD}"/>
                </a:ext>
              </a:extLst>
            </p:cNvPr>
            <p:cNvSpPr/>
            <p:nvPr/>
          </p:nvSpPr>
          <p:spPr>
            <a:xfrm>
              <a:off x="-790009" y="26356"/>
              <a:ext cx="246221" cy="246221"/>
            </a:xfrm>
            <a:prstGeom prst="rect">
              <a:avLst/>
            </a:prstGeom>
            <a:solidFill>
              <a:srgbClr val="B893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29865CF5-B975-BF66-96B2-D79633A3A123}"/>
                </a:ext>
              </a:extLst>
            </p:cNvPr>
            <p:cNvSpPr/>
            <p:nvPr/>
          </p:nvSpPr>
          <p:spPr>
            <a:xfrm>
              <a:off x="-790009" y="248073"/>
              <a:ext cx="246221" cy="246221"/>
            </a:xfrm>
            <a:prstGeom prst="rect">
              <a:avLst/>
            </a:prstGeom>
            <a:solidFill>
              <a:srgbClr val="D4A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AC5A376F-6C04-9AEC-6F7B-55E65DADE70C}"/>
                </a:ext>
              </a:extLst>
            </p:cNvPr>
            <p:cNvSpPr/>
            <p:nvPr/>
          </p:nvSpPr>
          <p:spPr>
            <a:xfrm>
              <a:off x="-790684" y="494294"/>
              <a:ext cx="246221" cy="246221"/>
            </a:xfrm>
            <a:prstGeom prst="rect">
              <a:avLst/>
            </a:prstGeom>
            <a:solidFill>
              <a:srgbClr val="E6B7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FB23181B-430D-3DDD-AB94-EB8E5A76BCF3}"/>
                </a:ext>
              </a:extLst>
            </p:cNvPr>
            <p:cNvSpPr/>
            <p:nvPr/>
          </p:nvSpPr>
          <p:spPr>
            <a:xfrm>
              <a:off x="-420678" y="518190"/>
              <a:ext cx="246221" cy="246221"/>
            </a:xfrm>
            <a:prstGeom prst="rect">
              <a:avLst/>
            </a:prstGeom>
            <a:solidFill>
              <a:srgbClr val="2D5A4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F8A8F73F-CBD7-59B7-08C3-53387FE2F063}"/>
                </a:ext>
              </a:extLst>
            </p:cNvPr>
            <p:cNvSpPr/>
            <p:nvPr/>
          </p:nvSpPr>
          <p:spPr>
            <a:xfrm>
              <a:off x="-422027" y="1223588"/>
              <a:ext cx="246221" cy="246221"/>
            </a:xfrm>
            <a:prstGeom prst="rect">
              <a:avLst/>
            </a:prstGeom>
            <a:solidFill>
              <a:srgbClr val="77B99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9FDFBA5D-FF9C-62B1-FD83-AEBF8253E56B}"/>
                </a:ext>
              </a:extLst>
            </p:cNvPr>
            <p:cNvSpPr/>
            <p:nvPr/>
          </p:nvSpPr>
          <p:spPr>
            <a:xfrm>
              <a:off x="-790009" y="900094"/>
              <a:ext cx="246221" cy="246221"/>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正方形/長方形 18">
              <a:extLst>
                <a:ext uri="{FF2B5EF4-FFF2-40B4-BE49-F238E27FC236}">
                  <a16:creationId xmlns:a16="http://schemas.microsoft.com/office/drawing/2014/main" id="{F8F43F2C-5F76-9C7E-C33F-D388C2F7CB24}"/>
                </a:ext>
              </a:extLst>
            </p:cNvPr>
            <p:cNvSpPr/>
            <p:nvPr/>
          </p:nvSpPr>
          <p:spPr>
            <a:xfrm>
              <a:off x="-790009" y="1121811"/>
              <a:ext cx="246221" cy="246221"/>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4338796F-176A-206E-BBB5-3D214D9B10CF}"/>
                </a:ext>
              </a:extLst>
            </p:cNvPr>
            <p:cNvSpPr/>
            <p:nvPr/>
          </p:nvSpPr>
          <p:spPr>
            <a:xfrm>
              <a:off x="-790684" y="1368032"/>
              <a:ext cx="246221" cy="246221"/>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TextBox 41">
            <a:extLst>
              <a:ext uri="{FF2B5EF4-FFF2-40B4-BE49-F238E27FC236}">
                <a16:creationId xmlns:a16="http://schemas.microsoft.com/office/drawing/2014/main" id="{DFDD0045-FF86-909F-CF20-481E431B26E0}"/>
              </a:ext>
            </a:extLst>
          </p:cNvPr>
          <p:cNvSpPr txBox="1"/>
          <p:nvPr userDrawn="1"/>
        </p:nvSpPr>
        <p:spPr>
          <a:xfrm>
            <a:off x="11105812" y="6514831"/>
            <a:ext cx="983573" cy="216000"/>
          </a:xfrm>
          <a:prstGeom prst="rect">
            <a:avLst/>
          </a:prstGeom>
          <a:noFill/>
        </p:spPr>
        <p:txBody>
          <a:bodyPr wrap="square" rtlCol="0" anchor="ctr">
            <a:noAutofit/>
          </a:bodyPr>
          <a:lstStyle/>
          <a:p>
            <a:pPr algn="r"/>
            <a:fld id="{345173B5-5526-C040-8550-97FCE61EEC3A}" type="slidenum">
              <a:rPr lang="en-AU" sz="1200" smtClean="0">
                <a:solidFill>
                  <a:schemeClr val="accent6">
                    <a:lumMod val="50000"/>
                  </a:schemeClr>
                </a:solidFill>
                <a:latin typeface="+mn-lt"/>
                <a:cs typeface="Arial" panose="020B0604020202020204" pitchFamily="34" charset="0"/>
              </a:rPr>
              <a:pPr algn="r"/>
              <a:t>‹#›</a:t>
            </a:fld>
            <a:endParaRPr lang="en-AU" sz="1200" dirty="0">
              <a:solidFill>
                <a:schemeClr val="accent6">
                  <a:lumMod val="50000"/>
                </a:schemeClr>
              </a:solidFill>
              <a:latin typeface="+mn-lt"/>
              <a:cs typeface="Arial" panose="020B0604020202020204" pitchFamily="34" charset="0"/>
            </a:endParaRPr>
          </a:p>
        </p:txBody>
      </p:sp>
      <p:sp>
        <p:nvSpPr>
          <p:cNvPr id="25" name="フッター プレースホルダー 13">
            <a:extLst>
              <a:ext uri="{FF2B5EF4-FFF2-40B4-BE49-F238E27FC236}">
                <a16:creationId xmlns:a16="http://schemas.microsoft.com/office/drawing/2014/main" id="{2104882E-0366-BE09-552D-B078DCD1AE3B}"/>
              </a:ext>
            </a:extLst>
          </p:cNvPr>
          <p:cNvSpPr>
            <a:spLocks noGrp="1"/>
          </p:cNvSpPr>
          <p:nvPr>
            <p:ph type="ftr" sz="quarter" idx="11"/>
          </p:nvPr>
        </p:nvSpPr>
        <p:spPr>
          <a:xfrm>
            <a:off x="9877808" y="6514831"/>
            <a:ext cx="1919585" cy="216000"/>
          </a:xfrm>
        </p:spPr>
        <p:txBody>
          <a:bodyPr/>
          <a:lstStyle>
            <a:lvl1pPr algn="l">
              <a:defRPr sz="1000">
                <a:latin typeface="+mn-lt"/>
                <a:ea typeface="+mn-ea"/>
              </a:defRPr>
            </a:lvl1pPr>
          </a:lstStyle>
          <a:p>
            <a:pPr>
              <a:defRPr/>
            </a:pPr>
            <a:r>
              <a:rPr kumimoji="1" lang="en-US" altLang="ja-JP" dirty="0">
                <a:solidFill>
                  <a:srgbClr val="FFFFFF">
                    <a:lumMod val="75000"/>
                  </a:srgbClr>
                </a:solidFill>
              </a:rPr>
              <a:t>©️ 2026 </a:t>
            </a:r>
            <a:r>
              <a:rPr kumimoji="1" lang="en-US" altLang="ja-JP" dirty="0" err="1">
                <a:solidFill>
                  <a:srgbClr val="FFFFFF">
                    <a:lumMod val="75000"/>
                  </a:srgbClr>
                </a:solidFill>
              </a:rPr>
              <a:t>boostconsulting</a:t>
            </a:r>
            <a:r>
              <a:rPr kumimoji="1" lang="en-US" altLang="ja-JP" dirty="0">
                <a:solidFill>
                  <a:srgbClr val="FFFFFF">
                    <a:lumMod val="75000"/>
                  </a:srgbClr>
                </a:solidFill>
              </a:rPr>
              <a:t> Inc.</a:t>
            </a:r>
            <a:endParaRPr kumimoji="1" lang="ja-JP" altLang="en-US" dirty="0">
              <a:solidFill>
                <a:srgbClr val="FFFFFF">
                  <a:lumMod val="75000"/>
                </a:srgbClr>
              </a:solidFill>
              <a:latin typeface="+mn-lt"/>
            </a:endParaRPr>
          </a:p>
        </p:txBody>
      </p:sp>
    </p:spTree>
    <p:extLst>
      <p:ext uri="{BB962C8B-B14F-4D97-AF65-F5344CB8AC3E}">
        <p14:creationId xmlns:p14="http://schemas.microsoft.com/office/powerpoint/2010/main" val="2653240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15">
          <p15:clr>
            <a:srgbClr val="FBAE40"/>
          </p15:clr>
        </p15:guide>
        <p15:guide id="4" pos="7265">
          <p15:clr>
            <a:srgbClr val="FBAE40"/>
          </p15:clr>
        </p15:guide>
        <p15:guide id="5" orient="horz" pos="3974">
          <p15:clr>
            <a:srgbClr val="FBAE40"/>
          </p15:clr>
        </p15:guide>
        <p15:guide id="6" orient="horz" pos="34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中表紙（ゴールド01）">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CD89F18-DEA5-CFAE-AFF3-C458A8F6F6B6}"/>
              </a:ext>
            </a:extLst>
          </p:cNvPr>
          <p:cNvSpPr/>
          <p:nvPr userDrawn="1"/>
        </p:nvSpPr>
        <p:spPr>
          <a:xfrm>
            <a:off x="1" y="-1"/>
            <a:ext cx="2525486" cy="6858001"/>
          </a:xfrm>
          <a:prstGeom prst="rect">
            <a:avLst/>
          </a:prstGeom>
          <a:solidFill>
            <a:srgbClr val="B8935F"/>
          </a:solidFill>
          <a:ln>
            <a:solidFill>
              <a:srgbClr val="B8935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6" name="テキスト ボックス 5">
            <a:extLst>
              <a:ext uri="{FF2B5EF4-FFF2-40B4-BE49-F238E27FC236}">
                <a16:creationId xmlns:a16="http://schemas.microsoft.com/office/drawing/2014/main" id="{41A21F22-C5F9-B70F-E2A3-1B032AA9052B}"/>
              </a:ext>
            </a:extLst>
          </p:cNvPr>
          <p:cNvSpPr txBox="1"/>
          <p:nvPr userDrawn="1"/>
        </p:nvSpPr>
        <p:spPr>
          <a:xfrm>
            <a:off x="913930" y="3228945"/>
            <a:ext cx="697627" cy="400110"/>
          </a:xfrm>
          <a:prstGeom prst="rect">
            <a:avLst/>
          </a:prstGeom>
          <a:noFill/>
        </p:spPr>
        <p:txBody>
          <a:bodyPr wrap="none" rtlCol="0">
            <a:spAutoFit/>
          </a:bodyPr>
          <a:lstStyle/>
          <a:p>
            <a:r>
              <a:rPr kumimoji="1" lang="ja-JP" altLang="en-US" sz="2000" b="1">
                <a:solidFill>
                  <a:schemeClr val="bg1"/>
                </a:solidFill>
              </a:rPr>
              <a:t>目次</a:t>
            </a:r>
          </a:p>
        </p:txBody>
      </p:sp>
      <p:sp>
        <p:nvSpPr>
          <p:cNvPr id="11" name="テキスト ボックス 10">
            <a:extLst>
              <a:ext uri="{FF2B5EF4-FFF2-40B4-BE49-F238E27FC236}">
                <a16:creationId xmlns:a16="http://schemas.microsoft.com/office/drawing/2014/main" id="{144EC2DC-CD04-37D4-5C5F-A02A4F51E271}"/>
              </a:ext>
            </a:extLst>
          </p:cNvPr>
          <p:cNvSpPr txBox="1"/>
          <p:nvPr userDrawn="1"/>
        </p:nvSpPr>
        <p:spPr>
          <a:xfrm>
            <a:off x="9717722" y="136525"/>
            <a:ext cx="2154555" cy="246221"/>
          </a:xfrm>
          <a:prstGeom prst="rect">
            <a:avLst/>
          </a:prstGeom>
          <a:noFill/>
          <a:ln>
            <a:noFill/>
          </a:ln>
        </p:spPr>
        <p:txBody>
          <a:bodyPr wrap="square">
            <a:spAutoFit/>
          </a:bodyPr>
          <a:lstStyle/>
          <a:p>
            <a:pPr algn="r"/>
            <a:r>
              <a:rPr lang="ja-JP" altLang="en-US" sz="1000">
                <a:solidFill>
                  <a:schemeClr val="bg1">
                    <a:lumMod val="75000"/>
                  </a:schemeClr>
                </a:solidFill>
              </a:rPr>
              <a:t>Strictly confidential</a:t>
            </a:r>
            <a:endParaRPr lang="en-US" altLang="ja-JP" sz="1000" dirty="0">
              <a:solidFill>
                <a:schemeClr val="bg1">
                  <a:lumMod val="75000"/>
                </a:schemeClr>
              </a:solidFill>
            </a:endParaRPr>
          </a:p>
        </p:txBody>
      </p:sp>
      <p:sp>
        <p:nvSpPr>
          <p:cNvPr id="16" name="正方形/長方形 15">
            <a:extLst>
              <a:ext uri="{FF2B5EF4-FFF2-40B4-BE49-F238E27FC236}">
                <a16:creationId xmlns:a16="http://schemas.microsoft.com/office/drawing/2014/main" id="{64B7C196-FD95-7F9B-B9B9-39DAD2FB1827}"/>
              </a:ext>
            </a:extLst>
          </p:cNvPr>
          <p:cNvSpPr/>
          <p:nvPr userDrawn="1"/>
        </p:nvSpPr>
        <p:spPr>
          <a:xfrm>
            <a:off x="12115800" y="231265"/>
            <a:ext cx="76200" cy="60693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E53763EF-3DFA-67F8-AE8A-78BA7C98CF5B}"/>
              </a:ext>
            </a:extLst>
          </p:cNvPr>
          <p:cNvSpPr/>
          <p:nvPr userDrawn="1"/>
        </p:nvSpPr>
        <p:spPr>
          <a:xfrm>
            <a:off x="12115800" y="838201"/>
            <a:ext cx="76200" cy="302563"/>
          </a:xfrm>
          <a:prstGeom prst="rect">
            <a:avLst/>
          </a:prstGeom>
          <a:solidFill>
            <a:srgbClr val="ECDFBE"/>
          </a:solidFill>
          <a:ln>
            <a:solidFill>
              <a:srgbClr val="ECDFBE"/>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grpSp>
        <p:nvGrpSpPr>
          <p:cNvPr id="2" name="グループ化 1">
            <a:extLst>
              <a:ext uri="{FF2B5EF4-FFF2-40B4-BE49-F238E27FC236}">
                <a16:creationId xmlns:a16="http://schemas.microsoft.com/office/drawing/2014/main" id="{37A7538E-8D44-DB02-AF00-6E5BB43ECE00}"/>
              </a:ext>
            </a:extLst>
          </p:cNvPr>
          <p:cNvGrpSpPr/>
          <p:nvPr userDrawn="1"/>
        </p:nvGrpSpPr>
        <p:grpSpPr>
          <a:xfrm>
            <a:off x="-790684" y="2588774"/>
            <a:ext cx="616229" cy="1587897"/>
            <a:chOff x="-790684" y="26356"/>
            <a:chExt cx="616229" cy="1587897"/>
          </a:xfrm>
        </p:grpSpPr>
        <p:sp>
          <p:nvSpPr>
            <p:cNvPr id="3" name="正方形/長方形 2">
              <a:extLst>
                <a:ext uri="{FF2B5EF4-FFF2-40B4-BE49-F238E27FC236}">
                  <a16:creationId xmlns:a16="http://schemas.microsoft.com/office/drawing/2014/main" id="{CDD377C3-4ACA-6B4C-A613-35A006A0B6ED}"/>
                </a:ext>
              </a:extLst>
            </p:cNvPr>
            <p:cNvSpPr/>
            <p:nvPr/>
          </p:nvSpPr>
          <p:spPr>
            <a:xfrm>
              <a:off x="-420676" y="27573"/>
              <a:ext cx="246221" cy="2462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88FB55F4-F4F2-3F18-D684-FC5A1B7676FA}"/>
                </a:ext>
              </a:extLst>
            </p:cNvPr>
            <p:cNvSpPr/>
            <p:nvPr/>
          </p:nvSpPr>
          <p:spPr>
            <a:xfrm>
              <a:off x="-420677" y="272577"/>
              <a:ext cx="246221" cy="246221"/>
            </a:xfrm>
            <a:prstGeom prst="rect">
              <a:avLst/>
            </a:prstGeom>
            <a:solidFill>
              <a:srgbClr val="1F30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1D1C9FAC-ED14-25DA-A575-52D5CA9B4484}"/>
                </a:ext>
              </a:extLst>
            </p:cNvPr>
            <p:cNvSpPr/>
            <p:nvPr/>
          </p:nvSpPr>
          <p:spPr>
            <a:xfrm>
              <a:off x="-422027" y="740515"/>
              <a:ext cx="246221" cy="246221"/>
            </a:xfrm>
            <a:prstGeom prst="rect">
              <a:avLst/>
            </a:prstGeom>
            <a:solidFill>
              <a:srgbClr val="3F75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E19967CE-2BE3-8CC9-1487-35F02C338F2B}"/>
                </a:ext>
              </a:extLst>
            </p:cNvPr>
            <p:cNvSpPr/>
            <p:nvPr/>
          </p:nvSpPr>
          <p:spPr>
            <a:xfrm>
              <a:off x="-422027" y="984911"/>
              <a:ext cx="246221" cy="246221"/>
            </a:xfrm>
            <a:prstGeom prst="rect">
              <a:avLst/>
            </a:prstGeom>
            <a:solidFill>
              <a:srgbClr val="5A957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0838A74F-B5F7-DCE6-F9C7-0ADC95BA62AD}"/>
                </a:ext>
              </a:extLst>
            </p:cNvPr>
            <p:cNvSpPr/>
            <p:nvPr/>
          </p:nvSpPr>
          <p:spPr>
            <a:xfrm>
              <a:off x="-790009" y="26356"/>
              <a:ext cx="246221" cy="246221"/>
            </a:xfrm>
            <a:prstGeom prst="rect">
              <a:avLst/>
            </a:prstGeom>
            <a:solidFill>
              <a:srgbClr val="B893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29865CF5-B975-BF66-96B2-D79633A3A123}"/>
                </a:ext>
              </a:extLst>
            </p:cNvPr>
            <p:cNvSpPr/>
            <p:nvPr/>
          </p:nvSpPr>
          <p:spPr>
            <a:xfrm>
              <a:off x="-790009" y="248073"/>
              <a:ext cx="246221" cy="246221"/>
            </a:xfrm>
            <a:prstGeom prst="rect">
              <a:avLst/>
            </a:prstGeom>
            <a:solidFill>
              <a:srgbClr val="D4A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AC5A376F-6C04-9AEC-6F7B-55E65DADE70C}"/>
                </a:ext>
              </a:extLst>
            </p:cNvPr>
            <p:cNvSpPr/>
            <p:nvPr/>
          </p:nvSpPr>
          <p:spPr>
            <a:xfrm>
              <a:off x="-790684" y="494294"/>
              <a:ext cx="246221" cy="246221"/>
            </a:xfrm>
            <a:prstGeom prst="rect">
              <a:avLst/>
            </a:prstGeom>
            <a:solidFill>
              <a:srgbClr val="E6B7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FB23181B-430D-3DDD-AB94-EB8E5A76BCF3}"/>
                </a:ext>
              </a:extLst>
            </p:cNvPr>
            <p:cNvSpPr/>
            <p:nvPr/>
          </p:nvSpPr>
          <p:spPr>
            <a:xfrm>
              <a:off x="-420678" y="518190"/>
              <a:ext cx="246221" cy="246221"/>
            </a:xfrm>
            <a:prstGeom prst="rect">
              <a:avLst/>
            </a:prstGeom>
            <a:solidFill>
              <a:srgbClr val="2D5A4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F8A8F73F-CBD7-59B7-08C3-53387FE2F063}"/>
                </a:ext>
              </a:extLst>
            </p:cNvPr>
            <p:cNvSpPr/>
            <p:nvPr/>
          </p:nvSpPr>
          <p:spPr>
            <a:xfrm>
              <a:off x="-422027" y="1223588"/>
              <a:ext cx="246221" cy="246221"/>
            </a:xfrm>
            <a:prstGeom prst="rect">
              <a:avLst/>
            </a:prstGeom>
            <a:solidFill>
              <a:srgbClr val="77B99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9FDFBA5D-FF9C-62B1-FD83-AEBF8253E56B}"/>
                </a:ext>
              </a:extLst>
            </p:cNvPr>
            <p:cNvSpPr/>
            <p:nvPr/>
          </p:nvSpPr>
          <p:spPr>
            <a:xfrm>
              <a:off x="-790009" y="900094"/>
              <a:ext cx="246221" cy="246221"/>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正方形/長方形 18">
              <a:extLst>
                <a:ext uri="{FF2B5EF4-FFF2-40B4-BE49-F238E27FC236}">
                  <a16:creationId xmlns:a16="http://schemas.microsoft.com/office/drawing/2014/main" id="{F8F43F2C-5F76-9C7E-C33F-D388C2F7CB24}"/>
                </a:ext>
              </a:extLst>
            </p:cNvPr>
            <p:cNvSpPr/>
            <p:nvPr/>
          </p:nvSpPr>
          <p:spPr>
            <a:xfrm>
              <a:off x="-790009" y="1121811"/>
              <a:ext cx="246221" cy="246221"/>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4338796F-176A-206E-BBB5-3D214D9B10CF}"/>
                </a:ext>
              </a:extLst>
            </p:cNvPr>
            <p:cNvSpPr/>
            <p:nvPr/>
          </p:nvSpPr>
          <p:spPr>
            <a:xfrm>
              <a:off x="-790684" y="1368032"/>
              <a:ext cx="246221" cy="246221"/>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TextBox 41">
            <a:extLst>
              <a:ext uri="{FF2B5EF4-FFF2-40B4-BE49-F238E27FC236}">
                <a16:creationId xmlns:a16="http://schemas.microsoft.com/office/drawing/2014/main" id="{DFDD0045-FF86-909F-CF20-481E431B26E0}"/>
              </a:ext>
            </a:extLst>
          </p:cNvPr>
          <p:cNvSpPr txBox="1"/>
          <p:nvPr userDrawn="1"/>
        </p:nvSpPr>
        <p:spPr>
          <a:xfrm>
            <a:off x="11105812" y="6514831"/>
            <a:ext cx="983573" cy="216000"/>
          </a:xfrm>
          <a:prstGeom prst="rect">
            <a:avLst/>
          </a:prstGeom>
          <a:noFill/>
        </p:spPr>
        <p:txBody>
          <a:bodyPr wrap="square" rtlCol="0" anchor="ctr">
            <a:noAutofit/>
          </a:bodyPr>
          <a:lstStyle/>
          <a:p>
            <a:pPr algn="r"/>
            <a:fld id="{345173B5-5526-C040-8550-97FCE61EEC3A}" type="slidenum">
              <a:rPr lang="en-AU" sz="1200" smtClean="0">
                <a:solidFill>
                  <a:schemeClr val="accent6">
                    <a:lumMod val="50000"/>
                  </a:schemeClr>
                </a:solidFill>
                <a:latin typeface="+mn-lt"/>
                <a:cs typeface="Arial" panose="020B0604020202020204" pitchFamily="34" charset="0"/>
              </a:rPr>
              <a:pPr algn="r"/>
              <a:t>‹#›</a:t>
            </a:fld>
            <a:endParaRPr lang="en-AU" sz="1200" dirty="0">
              <a:solidFill>
                <a:schemeClr val="accent6">
                  <a:lumMod val="50000"/>
                </a:schemeClr>
              </a:solidFill>
              <a:latin typeface="+mn-lt"/>
              <a:cs typeface="Arial" panose="020B0604020202020204" pitchFamily="34" charset="0"/>
            </a:endParaRPr>
          </a:p>
        </p:txBody>
      </p:sp>
      <p:sp>
        <p:nvSpPr>
          <p:cNvPr id="14" name="フッター プレースホルダー 13">
            <a:extLst>
              <a:ext uri="{FF2B5EF4-FFF2-40B4-BE49-F238E27FC236}">
                <a16:creationId xmlns:a16="http://schemas.microsoft.com/office/drawing/2014/main" id="{6CF235BE-0447-D9AC-B742-1A25E93262EB}"/>
              </a:ext>
            </a:extLst>
          </p:cNvPr>
          <p:cNvSpPr>
            <a:spLocks noGrp="1"/>
          </p:cNvSpPr>
          <p:nvPr>
            <p:ph type="ftr" sz="quarter" idx="11"/>
          </p:nvPr>
        </p:nvSpPr>
        <p:spPr>
          <a:xfrm>
            <a:off x="9877808" y="6514831"/>
            <a:ext cx="1919585" cy="216000"/>
          </a:xfrm>
        </p:spPr>
        <p:txBody>
          <a:bodyPr/>
          <a:lstStyle>
            <a:lvl1pPr algn="l">
              <a:defRPr sz="1000">
                <a:latin typeface="+mn-lt"/>
                <a:ea typeface="+mn-ea"/>
              </a:defRPr>
            </a:lvl1pPr>
          </a:lstStyle>
          <a:p>
            <a:pPr>
              <a:defRPr/>
            </a:pPr>
            <a:r>
              <a:rPr kumimoji="1" lang="en-US" altLang="ja-JP" dirty="0">
                <a:solidFill>
                  <a:srgbClr val="FFFFFF">
                    <a:lumMod val="75000"/>
                  </a:srgbClr>
                </a:solidFill>
              </a:rPr>
              <a:t>©️ 2026 Boost Consulting, Inc.</a:t>
            </a:r>
            <a:endParaRPr kumimoji="1" lang="ja-JP" altLang="en-US" dirty="0">
              <a:solidFill>
                <a:srgbClr val="FFFFFF">
                  <a:lumMod val="75000"/>
                </a:srgbClr>
              </a:solidFill>
              <a:latin typeface="+mn-lt"/>
            </a:endParaRPr>
          </a:p>
        </p:txBody>
      </p:sp>
    </p:spTree>
    <p:extLst>
      <p:ext uri="{BB962C8B-B14F-4D97-AF65-F5344CB8AC3E}">
        <p14:creationId xmlns:p14="http://schemas.microsoft.com/office/powerpoint/2010/main" val="17834856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415">
          <p15:clr>
            <a:srgbClr val="FBAE40"/>
          </p15:clr>
        </p15:guide>
        <p15:guide id="4" pos="7265">
          <p15:clr>
            <a:srgbClr val="FBAE40"/>
          </p15:clr>
        </p15:guide>
        <p15:guide id="5" orient="horz" pos="3974">
          <p15:clr>
            <a:srgbClr val="FBAE40"/>
          </p15:clr>
        </p15:guide>
        <p15:guide id="6" orient="horz" pos="34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基本スライド">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DF83123-36BC-1C61-A329-96A9244857C7}"/>
              </a:ext>
            </a:extLst>
          </p:cNvPr>
          <p:cNvGraphicFramePr>
            <a:graphicFrameLocks/>
          </p:cNvGraphicFramePr>
          <p:nvPr userDrawn="1">
            <p:custDataLst>
              <p:tags r:id="rId1"/>
            </p:custDataLst>
            <p:extLst>
              <p:ext uri="{D42A27DB-BD31-4B8C-83A1-F6EECF244321}">
                <p14:modId xmlns:p14="http://schemas.microsoft.com/office/powerpoint/2010/main" val="368571631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スライド" r:id="rId3" imgW="7772400" imgH="10058400" progId="TCLayout.ActiveDocument.1">
                  <p:embed/>
                </p:oleObj>
              </mc:Choice>
              <mc:Fallback>
                <p:oleObj name="think-cellスライド" r:id="rId3" imgW="7772400" imgH="10058400" progId="TCLayout.ActiveDocument.1">
                  <p:embed/>
                  <p:pic>
                    <p:nvPicPr>
                      <p:cNvPr id="0" nam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DF80C98-7B3F-C583-158F-6747F216A46F}"/>
              </a:ext>
            </a:extLst>
          </p:cNvPr>
          <p:cNvSpPr>
            <a:spLocks noGrp="1"/>
          </p:cNvSpPr>
          <p:nvPr>
            <p:ph type="title" hasCustomPrompt="1"/>
          </p:nvPr>
        </p:nvSpPr>
        <p:spPr>
          <a:xfrm>
            <a:off x="340659" y="658641"/>
            <a:ext cx="11520000" cy="888036"/>
          </a:xfrm>
        </p:spPr>
        <p:txBody>
          <a:bodyPr vert="horz" anchor="t">
            <a:noAutofit/>
          </a:bodyPr>
          <a:lstStyle>
            <a:lvl1pPr>
              <a:defRPr sz="2400" b="1">
                <a:latin typeface="+mn-lt"/>
                <a:cs typeface="Arial" panose="020B0604020202020204" pitchFamily="34" charset="0"/>
              </a:defRPr>
            </a:lvl1pPr>
          </a:lstStyle>
          <a:p>
            <a:r>
              <a:rPr lang="en-US" altLang="ja-JP" dirty="0"/>
              <a:t>Main Message</a:t>
            </a:r>
            <a:r>
              <a:rPr lang="ja-JP" altLang="en-US" dirty="0"/>
              <a:t>を入力（本スライドで最も伝えたいこと＜名詞止め・体言止め不可＞）</a:t>
            </a:r>
            <a:br>
              <a:rPr lang="en-US" altLang="ja-JP" dirty="0"/>
            </a:br>
            <a:r>
              <a:rPr lang="en-US" altLang="ja-JP" dirty="0"/>
              <a:t>※</a:t>
            </a:r>
            <a:r>
              <a:rPr lang="ja-JP" altLang="en-US" dirty="0"/>
              <a:t>：ボディに記載されていることと一致しているか？に留意すること</a:t>
            </a:r>
            <a:endParaRPr lang="en-US" dirty="0"/>
          </a:p>
        </p:txBody>
      </p:sp>
      <p:sp>
        <p:nvSpPr>
          <p:cNvPr id="3" name="Content Placeholder 2">
            <a:extLst>
              <a:ext uri="{FF2B5EF4-FFF2-40B4-BE49-F238E27FC236}">
                <a16:creationId xmlns:a16="http://schemas.microsoft.com/office/drawing/2014/main" id="{E9339DB8-95A7-9FC6-6530-517458EE7AE7}"/>
              </a:ext>
            </a:extLst>
          </p:cNvPr>
          <p:cNvSpPr>
            <a:spLocks noGrp="1"/>
          </p:cNvSpPr>
          <p:nvPr>
            <p:ph idx="1" hasCustomPrompt="1"/>
          </p:nvPr>
        </p:nvSpPr>
        <p:spPr>
          <a:xfrm>
            <a:off x="340659" y="1649506"/>
            <a:ext cx="11520000" cy="4608000"/>
          </a:xfrm>
        </p:spPr>
        <p:txBody>
          <a:bodyPr>
            <a:noAutofit/>
          </a:bodyPr>
          <a:lstStyle>
            <a:lvl1pPr>
              <a:lnSpc>
                <a:spcPct val="100000"/>
              </a:lnSpc>
              <a:buFont typeface="Wingdings" panose="05000000000000000000" pitchFamily="2" charset="2"/>
              <a:buChar char="n"/>
              <a:defRPr sz="1400">
                <a:latin typeface="+mn-lt"/>
                <a:cs typeface="Arial" panose="020B0604020202020204" pitchFamily="34" charset="0"/>
              </a:defRPr>
            </a:lvl1pPr>
            <a:lvl2pPr>
              <a:lnSpc>
                <a:spcPct val="100000"/>
              </a:lnSpc>
              <a:buFont typeface="Wingdings" panose="05000000000000000000" pitchFamily="2" charset="2"/>
              <a:buChar char="Ø"/>
              <a:defRPr sz="1400">
                <a:latin typeface="+mn-lt"/>
                <a:cs typeface="Arial" panose="020B0604020202020204" pitchFamily="34" charset="0"/>
              </a:defRPr>
            </a:lvl2pPr>
            <a:lvl3pPr>
              <a:lnSpc>
                <a:spcPct val="100000"/>
              </a:lnSpc>
              <a:buFont typeface="Wingdings" panose="05000000000000000000" pitchFamily="2" charset="2"/>
              <a:buChar char="ü"/>
              <a:defRPr sz="1400">
                <a:latin typeface="+mn-lt"/>
                <a:cs typeface="Arial" panose="020B0604020202020204" pitchFamily="34" charset="0"/>
              </a:defRPr>
            </a:lvl3pPr>
            <a:lvl4pPr>
              <a:lnSpc>
                <a:spcPct val="100000"/>
              </a:lnSpc>
              <a:defRPr sz="1400">
                <a:latin typeface="+mn-lt"/>
                <a:cs typeface="Arial" panose="020B0604020202020204" pitchFamily="34" charset="0"/>
              </a:defRPr>
            </a:lvl4pPr>
            <a:lvl5pPr>
              <a:lnSpc>
                <a:spcPct val="100000"/>
              </a:lnSpc>
              <a:defRPr sz="1400">
                <a:latin typeface="+mn-lt"/>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cxnSp>
        <p:nvCxnSpPr>
          <p:cNvPr id="18" name="Straight Connector 17">
            <a:extLst>
              <a:ext uri="{FF2B5EF4-FFF2-40B4-BE49-F238E27FC236}">
                <a16:creationId xmlns:a16="http://schemas.microsoft.com/office/drawing/2014/main" id="{92FAB67E-B991-C1DB-AF95-0067ED4270E7}"/>
              </a:ext>
            </a:extLst>
          </p:cNvPr>
          <p:cNvCxnSpPr>
            <a:cxnSpLocks/>
          </p:cNvCxnSpPr>
          <p:nvPr userDrawn="1"/>
        </p:nvCxnSpPr>
        <p:spPr>
          <a:xfrm>
            <a:off x="334961" y="575733"/>
            <a:ext cx="11525345" cy="0"/>
          </a:xfrm>
          <a:prstGeom prst="line">
            <a:avLst/>
          </a:prstGeom>
          <a:ln>
            <a:solidFill>
              <a:schemeClr val="accent5"/>
            </a:solidFill>
          </a:ln>
        </p:spPr>
        <p:style>
          <a:lnRef idx="2">
            <a:schemeClr val="accent5"/>
          </a:lnRef>
          <a:fillRef idx="0">
            <a:schemeClr val="accent5"/>
          </a:fillRef>
          <a:effectRef idx="1">
            <a:schemeClr val="accent5"/>
          </a:effectRef>
          <a:fontRef idx="minor">
            <a:schemeClr val="tx1"/>
          </a:fontRef>
        </p:style>
      </p:cxnSp>
      <p:sp>
        <p:nvSpPr>
          <p:cNvPr id="40" name="Content Placeholder 39">
            <a:extLst>
              <a:ext uri="{FF2B5EF4-FFF2-40B4-BE49-F238E27FC236}">
                <a16:creationId xmlns:a16="http://schemas.microsoft.com/office/drawing/2014/main" id="{08ABB455-6DE7-F23D-0144-AC1725389E78}"/>
              </a:ext>
            </a:extLst>
          </p:cNvPr>
          <p:cNvSpPr>
            <a:spLocks noGrp="1"/>
          </p:cNvSpPr>
          <p:nvPr>
            <p:ph sz="quarter" idx="10" hasCustomPrompt="1"/>
          </p:nvPr>
        </p:nvSpPr>
        <p:spPr>
          <a:xfrm>
            <a:off x="340659" y="6352338"/>
            <a:ext cx="11520000" cy="380155"/>
          </a:xfrm>
        </p:spPr>
        <p:txBody>
          <a:bodyPr wrap="square" anchor="t">
            <a:noAutofit/>
          </a:bodyPr>
          <a:lstStyle>
            <a:lvl1pPr marL="0" indent="0" algn="l">
              <a:buNone/>
              <a:defRPr sz="1000">
                <a:solidFill>
                  <a:schemeClr val="accent6">
                    <a:lumMod val="50000"/>
                  </a:schemeClr>
                </a:solidFill>
                <a:latin typeface="+mn-lt"/>
                <a:cs typeface="Arial" panose="020B0604020202020204" pitchFamily="34" charset="0"/>
              </a:defRPr>
            </a:lvl1pPr>
          </a:lstStyle>
          <a:p>
            <a:pPr lvl="0"/>
            <a:r>
              <a:rPr lang="en-GB" dirty="0"/>
              <a:t>[Footer]</a:t>
            </a:r>
            <a:endParaRPr lang="en-AU" dirty="0"/>
          </a:p>
        </p:txBody>
      </p:sp>
      <p:sp>
        <p:nvSpPr>
          <p:cNvPr id="42" name="TextBox 41">
            <a:extLst>
              <a:ext uri="{FF2B5EF4-FFF2-40B4-BE49-F238E27FC236}">
                <a16:creationId xmlns:a16="http://schemas.microsoft.com/office/drawing/2014/main" id="{BD120B55-2644-75BC-9973-61F9A42698D1}"/>
              </a:ext>
            </a:extLst>
          </p:cNvPr>
          <p:cNvSpPr txBox="1"/>
          <p:nvPr userDrawn="1"/>
        </p:nvSpPr>
        <p:spPr>
          <a:xfrm>
            <a:off x="11105812" y="6514831"/>
            <a:ext cx="983573" cy="216000"/>
          </a:xfrm>
          <a:prstGeom prst="rect">
            <a:avLst/>
          </a:prstGeom>
          <a:noFill/>
        </p:spPr>
        <p:txBody>
          <a:bodyPr wrap="square" rtlCol="0" anchor="ctr">
            <a:noAutofit/>
          </a:bodyPr>
          <a:lstStyle/>
          <a:p>
            <a:pPr algn="r"/>
            <a:fld id="{345173B5-5526-C040-8550-97FCE61EEC3A}" type="slidenum">
              <a:rPr lang="en-AU" sz="1200" smtClean="0">
                <a:solidFill>
                  <a:schemeClr val="accent6">
                    <a:lumMod val="50000"/>
                  </a:schemeClr>
                </a:solidFill>
                <a:latin typeface="+mn-lt"/>
                <a:cs typeface="Arial" panose="020B0604020202020204" pitchFamily="34" charset="0"/>
              </a:rPr>
              <a:pPr algn="r"/>
              <a:t>‹#›</a:t>
            </a:fld>
            <a:endParaRPr lang="en-AU" sz="1200" dirty="0">
              <a:solidFill>
                <a:schemeClr val="accent6">
                  <a:lumMod val="50000"/>
                </a:schemeClr>
              </a:solidFill>
              <a:latin typeface="+mn-lt"/>
              <a:cs typeface="Arial" panose="020B0604020202020204" pitchFamily="34" charset="0"/>
            </a:endParaRPr>
          </a:p>
        </p:txBody>
      </p:sp>
      <p:sp>
        <p:nvSpPr>
          <p:cNvPr id="14" name="フッター プレースホルダー 13">
            <a:extLst>
              <a:ext uri="{FF2B5EF4-FFF2-40B4-BE49-F238E27FC236}">
                <a16:creationId xmlns:a16="http://schemas.microsoft.com/office/drawing/2014/main" id="{5722D2F0-0373-262B-C267-DA18008BC6A4}"/>
              </a:ext>
            </a:extLst>
          </p:cNvPr>
          <p:cNvSpPr>
            <a:spLocks noGrp="1"/>
          </p:cNvSpPr>
          <p:nvPr>
            <p:ph type="ftr" sz="quarter" idx="11"/>
          </p:nvPr>
        </p:nvSpPr>
        <p:spPr>
          <a:xfrm>
            <a:off x="9877808" y="6514831"/>
            <a:ext cx="1919585" cy="216000"/>
          </a:xfrm>
        </p:spPr>
        <p:txBody>
          <a:bodyPr/>
          <a:lstStyle>
            <a:lvl1pPr algn="l">
              <a:defRPr sz="1000">
                <a:latin typeface="+mn-lt"/>
                <a:ea typeface="+mn-ea"/>
              </a:defRPr>
            </a:lvl1pPr>
          </a:lstStyle>
          <a:p>
            <a:pPr>
              <a:defRPr/>
            </a:pPr>
            <a:r>
              <a:rPr kumimoji="1" lang="en-US" altLang="ja-JP" dirty="0">
                <a:solidFill>
                  <a:srgbClr val="FFFFFF">
                    <a:lumMod val="75000"/>
                  </a:srgbClr>
                </a:solidFill>
              </a:rPr>
              <a:t>©️ 2026 Boost Consulting, Inc.</a:t>
            </a:r>
            <a:endParaRPr kumimoji="1" lang="ja-JP" altLang="en-US" dirty="0">
              <a:solidFill>
                <a:srgbClr val="FFFFFF">
                  <a:lumMod val="75000"/>
                </a:srgbClr>
              </a:solidFill>
              <a:latin typeface="+mn-lt"/>
            </a:endParaRPr>
          </a:p>
        </p:txBody>
      </p:sp>
      <p:sp>
        <p:nvSpPr>
          <p:cNvPr id="5" name="Content Placeholder 2">
            <a:extLst>
              <a:ext uri="{FF2B5EF4-FFF2-40B4-BE49-F238E27FC236}">
                <a16:creationId xmlns:a16="http://schemas.microsoft.com/office/drawing/2014/main" id="{3BD292E6-BE6F-C93B-E930-DA2C705FD579}"/>
              </a:ext>
            </a:extLst>
          </p:cNvPr>
          <p:cNvSpPr>
            <a:spLocks noGrp="1"/>
          </p:cNvSpPr>
          <p:nvPr>
            <p:ph idx="12" hasCustomPrompt="1"/>
          </p:nvPr>
        </p:nvSpPr>
        <p:spPr>
          <a:xfrm>
            <a:off x="340306" y="233891"/>
            <a:ext cx="11520000" cy="258947"/>
          </a:xfrm>
        </p:spPr>
        <p:txBody>
          <a:bodyPr anchor="ctr">
            <a:noAutofit/>
          </a:bodyPr>
          <a:lstStyle>
            <a:lvl1pPr>
              <a:lnSpc>
                <a:spcPct val="100000"/>
              </a:lnSpc>
              <a:buNone/>
              <a:defRPr sz="1400" b="1">
                <a:solidFill>
                  <a:srgbClr val="2D5A42"/>
                </a:solidFill>
                <a:latin typeface="+mn-lt"/>
                <a:cs typeface="Arial" panose="020B0604020202020204" pitchFamily="34" charset="0"/>
              </a:defRPr>
            </a:lvl1pPr>
            <a:lvl2pPr>
              <a:lnSpc>
                <a:spcPct val="100000"/>
              </a:lnSpc>
              <a:defRPr sz="1400">
                <a:latin typeface="+mn-lt"/>
                <a:cs typeface="Arial" panose="020B0604020202020204" pitchFamily="34" charset="0"/>
              </a:defRPr>
            </a:lvl2pPr>
            <a:lvl3pPr>
              <a:lnSpc>
                <a:spcPct val="100000"/>
              </a:lnSpc>
              <a:defRPr sz="1400">
                <a:latin typeface="+mn-lt"/>
                <a:cs typeface="Arial" panose="020B0604020202020204" pitchFamily="34" charset="0"/>
              </a:defRPr>
            </a:lvl3pPr>
            <a:lvl4pPr>
              <a:lnSpc>
                <a:spcPct val="100000"/>
              </a:lnSpc>
              <a:defRPr sz="1400">
                <a:latin typeface="+mn-lt"/>
                <a:cs typeface="Arial" panose="020B0604020202020204" pitchFamily="34" charset="0"/>
              </a:defRPr>
            </a:lvl4pPr>
            <a:lvl5pPr>
              <a:lnSpc>
                <a:spcPct val="100000"/>
              </a:lnSpc>
              <a:defRPr sz="1400">
                <a:latin typeface="+mn-lt"/>
                <a:cs typeface="Arial" panose="020B0604020202020204" pitchFamily="34" charset="0"/>
              </a:defRPr>
            </a:lvl5pPr>
          </a:lstStyle>
          <a:p>
            <a:pPr lvl="0"/>
            <a:r>
              <a:rPr lang="en-US" altLang="ja-JP" dirty="0"/>
              <a:t>Title</a:t>
            </a:r>
            <a:endParaRPr lang="en-US" dirty="0"/>
          </a:p>
        </p:txBody>
      </p:sp>
      <p:grpSp>
        <p:nvGrpSpPr>
          <p:cNvPr id="15" name="グループ化 14">
            <a:extLst>
              <a:ext uri="{FF2B5EF4-FFF2-40B4-BE49-F238E27FC236}">
                <a16:creationId xmlns:a16="http://schemas.microsoft.com/office/drawing/2014/main" id="{4166F895-DEAD-3F3D-E109-15DDB5E3A606}"/>
              </a:ext>
            </a:extLst>
          </p:cNvPr>
          <p:cNvGrpSpPr/>
          <p:nvPr userDrawn="1"/>
        </p:nvGrpSpPr>
        <p:grpSpPr>
          <a:xfrm>
            <a:off x="-790684" y="2588774"/>
            <a:ext cx="616229" cy="1587897"/>
            <a:chOff x="-790684" y="26356"/>
            <a:chExt cx="616229" cy="1587897"/>
          </a:xfrm>
        </p:grpSpPr>
        <p:sp>
          <p:nvSpPr>
            <p:cNvPr id="16" name="正方形/長方形 15">
              <a:extLst>
                <a:ext uri="{FF2B5EF4-FFF2-40B4-BE49-F238E27FC236}">
                  <a16:creationId xmlns:a16="http://schemas.microsoft.com/office/drawing/2014/main" id="{B73E7798-E71A-B674-252D-74D58D960E22}"/>
                </a:ext>
              </a:extLst>
            </p:cNvPr>
            <p:cNvSpPr/>
            <p:nvPr/>
          </p:nvSpPr>
          <p:spPr>
            <a:xfrm>
              <a:off x="-420676" y="27573"/>
              <a:ext cx="246221" cy="2462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8FFB0C95-6B21-CF4C-6B62-DA9BCA281FE1}"/>
                </a:ext>
              </a:extLst>
            </p:cNvPr>
            <p:cNvSpPr/>
            <p:nvPr/>
          </p:nvSpPr>
          <p:spPr>
            <a:xfrm>
              <a:off x="-420677" y="272577"/>
              <a:ext cx="246221" cy="246221"/>
            </a:xfrm>
            <a:prstGeom prst="rect">
              <a:avLst/>
            </a:prstGeom>
            <a:solidFill>
              <a:srgbClr val="1F30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31B1E487-7143-E64F-DDC5-047BE7A94EA0}"/>
                </a:ext>
              </a:extLst>
            </p:cNvPr>
            <p:cNvSpPr/>
            <p:nvPr/>
          </p:nvSpPr>
          <p:spPr>
            <a:xfrm>
              <a:off x="-422027" y="740515"/>
              <a:ext cx="246221" cy="246221"/>
            </a:xfrm>
            <a:prstGeom prst="rect">
              <a:avLst/>
            </a:prstGeom>
            <a:solidFill>
              <a:srgbClr val="3F75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CD308889-F11B-B001-58DC-FBFCC6EB21A3}"/>
                </a:ext>
              </a:extLst>
            </p:cNvPr>
            <p:cNvSpPr/>
            <p:nvPr/>
          </p:nvSpPr>
          <p:spPr>
            <a:xfrm>
              <a:off x="-422027" y="984911"/>
              <a:ext cx="246221" cy="246221"/>
            </a:xfrm>
            <a:prstGeom prst="rect">
              <a:avLst/>
            </a:prstGeom>
            <a:solidFill>
              <a:srgbClr val="5A957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6EF31A2D-CF2F-5C1C-ECCB-D5D89B1DC8EB}"/>
                </a:ext>
              </a:extLst>
            </p:cNvPr>
            <p:cNvSpPr/>
            <p:nvPr/>
          </p:nvSpPr>
          <p:spPr>
            <a:xfrm>
              <a:off x="-790009" y="26356"/>
              <a:ext cx="246221" cy="246221"/>
            </a:xfrm>
            <a:prstGeom prst="rect">
              <a:avLst/>
            </a:prstGeom>
            <a:solidFill>
              <a:srgbClr val="B893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正方形/長方形 21">
              <a:extLst>
                <a:ext uri="{FF2B5EF4-FFF2-40B4-BE49-F238E27FC236}">
                  <a16:creationId xmlns:a16="http://schemas.microsoft.com/office/drawing/2014/main" id="{DE3822D4-07B9-FC71-C96D-CDC44CD82D05}"/>
                </a:ext>
              </a:extLst>
            </p:cNvPr>
            <p:cNvSpPr/>
            <p:nvPr/>
          </p:nvSpPr>
          <p:spPr>
            <a:xfrm>
              <a:off x="-790009" y="248073"/>
              <a:ext cx="246221" cy="246221"/>
            </a:xfrm>
            <a:prstGeom prst="rect">
              <a:avLst/>
            </a:prstGeom>
            <a:solidFill>
              <a:srgbClr val="D4A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2ABDA808-7BFA-4D35-C307-55036B23759E}"/>
                </a:ext>
              </a:extLst>
            </p:cNvPr>
            <p:cNvSpPr/>
            <p:nvPr/>
          </p:nvSpPr>
          <p:spPr>
            <a:xfrm>
              <a:off x="-790684" y="494294"/>
              <a:ext cx="246221" cy="246221"/>
            </a:xfrm>
            <a:prstGeom prst="rect">
              <a:avLst/>
            </a:prstGeom>
            <a:solidFill>
              <a:srgbClr val="E6B7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5B2FACD0-801B-BF9E-C0A3-3C8DFC6A2C24}"/>
                </a:ext>
              </a:extLst>
            </p:cNvPr>
            <p:cNvSpPr/>
            <p:nvPr/>
          </p:nvSpPr>
          <p:spPr>
            <a:xfrm>
              <a:off x="-420678" y="518190"/>
              <a:ext cx="246221" cy="246221"/>
            </a:xfrm>
            <a:prstGeom prst="rect">
              <a:avLst/>
            </a:prstGeom>
            <a:solidFill>
              <a:srgbClr val="2D5A4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E474745D-97CA-0FC2-2EA5-83FF932CEF9A}"/>
                </a:ext>
              </a:extLst>
            </p:cNvPr>
            <p:cNvSpPr/>
            <p:nvPr/>
          </p:nvSpPr>
          <p:spPr>
            <a:xfrm>
              <a:off x="-422027" y="1223588"/>
              <a:ext cx="246221" cy="246221"/>
            </a:xfrm>
            <a:prstGeom prst="rect">
              <a:avLst/>
            </a:prstGeom>
            <a:solidFill>
              <a:srgbClr val="77B99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ED1CE230-918B-64CA-DEC6-E4DA57ABCD58}"/>
                </a:ext>
              </a:extLst>
            </p:cNvPr>
            <p:cNvSpPr/>
            <p:nvPr/>
          </p:nvSpPr>
          <p:spPr>
            <a:xfrm>
              <a:off x="-790009" y="900094"/>
              <a:ext cx="246221" cy="246221"/>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正方形/長方形 26">
              <a:extLst>
                <a:ext uri="{FF2B5EF4-FFF2-40B4-BE49-F238E27FC236}">
                  <a16:creationId xmlns:a16="http://schemas.microsoft.com/office/drawing/2014/main" id="{B42BBC51-7AF4-615A-2D55-3717B28F329D}"/>
                </a:ext>
              </a:extLst>
            </p:cNvPr>
            <p:cNvSpPr/>
            <p:nvPr/>
          </p:nvSpPr>
          <p:spPr>
            <a:xfrm>
              <a:off x="-790009" y="1121811"/>
              <a:ext cx="246221" cy="246221"/>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7D5C4773-1B43-068D-3659-E18E7A5024E8}"/>
                </a:ext>
              </a:extLst>
            </p:cNvPr>
            <p:cNvSpPr/>
            <p:nvPr/>
          </p:nvSpPr>
          <p:spPr>
            <a:xfrm>
              <a:off x="-790684" y="1368032"/>
              <a:ext cx="246221" cy="246221"/>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9050098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142" userDrawn="1">
          <p15:clr>
            <a:srgbClr val="FBAE40"/>
          </p15:clr>
        </p15:guide>
        <p15:guide id="4" pos="3940" userDrawn="1">
          <p15:clr>
            <a:srgbClr val="FBAE40"/>
          </p15:clr>
        </p15:guide>
        <p15:guide id="5" pos="3727" userDrawn="1">
          <p15:clr>
            <a:srgbClr val="FBAE40"/>
          </p15:clr>
        </p15:guide>
        <p15:guide id="6" orient="horz" pos="323" userDrawn="1">
          <p15:clr>
            <a:srgbClr val="FBAE40"/>
          </p15:clr>
        </p15:guide>
        <p15:guide id="7" orient="horz" pos="3952" userDrawn="1">
          <p15:clr>
            <a:srgbClr val="FBAE40"/>
          </p15:clr>
        </p15:guide>
        <p15:guide id="8" pos="7469" userDrawn="1">
          <p15:clr>
            <a:srgbClr val="FBAE40"/>
          </p15:clr>
        </p15:guide>
        <p15:guide id="9" pos="211" userDrawn="1">
          <p15:clr>
            <a:srgbClr val="FBAE40"/>
          </p15:clr>
        </p15:guide>
        <p15:guide id="10" orient="horz" pos="4247" userDrawn="1">
          <p15:clr>
            <a:srgbClr val="FBAE40"/>
          </p15:clr>
        </p15:guide>
        <p15:guide id="11" orient="horz" pos="407" userDrawn="1">
          <p15:clr>
            <a:srgbClr val="FBAE40"/>
          </p15:clr>
        </p15:guide>
        <p15:guide id="12" orient="horz" pos="3987" userDrawn="1">
          <p15:clr>
            <a:srgbClr val="FBAE40"/>
          </p15:clr>
        </p15:guide>
        <p15:guide id="13" orient="horz" pos="981" userDrawn="1">
          <p15:clr>
            <a:srgbClr val="FBAE40"/>
          </p15:clr>
        </p15:guide>
        <p15:guide id="14" orient="horz" pos="102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基本スライド">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DF83123-36BC-1C61-A329-96A9244857C7}"/>
              </a:ext>
            </a:extLst>
          </p:cNvPr>
          <p:cNvGraphicFramePr>
            <a:graphicFrameLocks/>
          </p:cNvGraphicFramePr>
          <p:nvPr userDrawn="1">
            <p:custDataLst>
              <p:tags r:id="rId1"/>
            </p:custDataLst>
            <p:extLst>
              <p:ext uri="{D42A27DB-BD31-4B8C-83A1-F6EECF244321}">
                <p14:modId xmlns:p14="http://schemas.microsoft.com/office/powerpoint/2010/main" val="368571631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スライド" r:id="rId3" imgW="7772400" imgH="10058400" progId="TCLayout.ActiveDocument.1">
                  <p:embed/>
                </p:oleObj>
              </mc:Choice>
              <mc:Fallback>
                <p:oleObj name="think-cellスライド" r:id="rId3" imgW="7772400" imgH="10058400" progId="TCLayout.ActiveDocument.1">
                  <p:embed/>
                  <p:pic>
                    <p:nvPicPr>
                      <p:cNvPr id="8" name="think-cell data - do not delete" hidden="1">
                        <a:extLst>
                          <a:ext uri="{FF2B5EF4-FFF2-40B4-BE49-F238E27FC236}">
                            <a16:creationId xmlns:a16="http://schemas.microsoft.com/office/drawing/2014/main" id="{7DF83123-36BC-1C61-A329-96A9244857C7}"/>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42" name="TextBox 41">
            <a:extLst>
              <a:ext uri="{FF2B5EF4-FFF2-40B4-BE49-F238E27FC236}">
                <a16:creationId xmlns:a16="http://schemas.microsoft.com/office/drawing/2014/main" id="{BD120B55-2644-75BC-9973-61F9A42698D1}"/>
              </a:ext>
            </a:extLst>
          </p:cNvPr>
          <p:cNvSpPr txBox="1"/>
          <p:nvPr userDrawn="1"/>
        </p:nvSpPr>
        <p:spPr>
          <a:xfrm>
            <a:off x="11105812" y="6514831"/>
            <a:ext cx="983573" cy="216000"/>
          </a:xfrm>
          <a:prstGeom prst="rect">
            <a:avLst/>
          </a:prstGeom>
          <a:noFill/>
        </p:spPr>
        <p:txBody>
          <a:bodyPr wrap="square" rtlCol="0" anchor="ctr">
            <a:noAutofit/>
          </a:bodyPr>
          <a:lstStyle/>
          <a:p>
            <a:pPr algn="r"/>
            <a:fld id="{345173B5-5526-C040-8550-97FCE61EEC3A}" type="slidenum">
              <a:rPr lang="en-AU" sz="1200" smtClean="0">
                <a:solidFill>
                  <a:schemeClr val="accent6">
                    <a:lumMod val="50000"/>
                  </a:schemeClr>
                </a:solidFill>
                <a:latin typeface="+mn-lt"/>
                <a:cs typeface="Arial" panose="020B0604020202020204" pitchFamily="34" charset="0"/>
              </a:rPr>
              <a:pPr algn="r"/>
              <a:t>‹#›</a:t>
            </a:fld>
            <a:endParaRPr lang="en-AU" sz="1200" dirty="0">
              <a:solidFill>
                <a:schemeClr val="accent6">
                  <a:lumMod val="50000"/>
                </a:schemeClr>
              </a:solidFill>
              <a:latin typeface="+mn-lt"/>
              <a:cs typeface="Arial" panose="020B0604020202020204" pitchFamily="34" charset="0"/>
            </a:endParaRPr>
          </a:p>
        </p:txBody>
      </p:sp>
      <p:sp>
        <p:nvSpPr>
          <p:cNvPr id="14" name="フッター プレースホルダー 13">
            <a:extLst>
              <a:ext uri="{FF2B5EF4-FFF2-40B4-BE49-F238E27FC236}">
                <a16:creationId xmlns:a16="http://schemas.microsoft.com/office/drawing/2014/main" id="{5722D2F0-0373-262B-C267-DA18008BC6A4}"/>
              </a:ext>
            </a:extLst>
          </p:cNvPr>
          <p:cNvSpPr>
            <a:spLocks noGrp="1"/>
          </p:cNvSpPr>
          <p:nvPr>
            <p:ph type="ftr" sz="quarter" idx="11"/>
          </p:nvPr>
        </p:nvSpPr>
        <p:spPr>
          <a:xfrm>
            <a:off x="9877808" y="6514831"/>
            <a:ext cx="1919585" cy="216000"/>
          </a:xfrm>
        </p:spPr>
        <p:txBody>
          <a:bodyPr/>
          <a:lstStyle>
            <a:lvl1pPr algn="l">
              <a:defRPr sz="1000">
                <a:latin typeface="+mn-lt"/>
                <a:ea typeface="+mn-ea"/>
              </a:defRPr>
            </a:lvl1pPr>
          </a:lstStyle>
          <a:p>
            <a:pPr>
              <a:defRPr/>
            </a:pPr>
            <a:r>
              <a:rPr kumimoji="1" lang="en-US" altLang="ja-JP" dirty="0">
                <a:solidFill>
                  <a:srgbClr val="FFFFFF">
                    <a:lumMod val="75000"/>
                  </a:srgbClr>
                </a:solidFill>
              </a:rPr>
              <a:t>©️ 2026 Boost Consulting, Inc.</a:t>
            </a:r>
            <a:endParaRPr kumimoji="1" lang="ja-JP" altLang="en-US" dirty="0">
              <a:solidFill>
                <a:srgbClr val="FFFFFF">
                  <a:lumMod val="75000"/>
                </a:srgbClr>
              </a:solidFill>
              <a:latin typeface="+mn-lt"/>
            </a:endParaRPr>
          </a:p>
        </p:txBody>
      </p:sp>
      <p:grpSp>
        <p:nvGrpSpPr>
          <p:cNvPr id="15" name="グループ化 14">
            <a:extLst>
              <a:ext uri="{FF2B5EF4-FFF2-40B4-BE49-F238E27FC236}">
                <a16:creationId xmlns:a16="http://schemas.microsoft.com/office/drawing/2014/main" id="{4166F895-DEAD-3F3D-E109-15DDB5E3A606}"/>
              </a:ext>
            </a:extLst>
          </p:cNvPr>
          <p:cNvGrpSpPr/>
          <p:nvPr userDrawn="1"/>
        </p:nvGrpSpPr>
        <p:grpSpPr>
          <a:xfrm>
            <a:off x="-790684" y="2588774"/>
            <a:ext cx="616229" cy="1587897"/>
            <a:chOff x="-790684" y="26356"/>
            <a:chExt cx="616229" cy="1587897"/>
          </a:xfrm>
        </p:grpSpPr>
        <p:sp>
          <p:nvSpPr>
            <p:cNvPr id="16" name="正方形/長方形 15">
              <a:extLst>
                <a:ext uri="{FF2B5EF4-FFF2-40B4-BE49-F238E27FC236}">
                  <a16:creationId xmlns:a16="http://schemas.microsoft.com/office/drawing/2014/main" id="{B73E7798-E71A-B674-252D-74D58D960E22}"/>
                </a:ext>
              </a:extLst>
            </p:cNvPr>
            <p:cNvSpPr/>
            <p:nvPr/>
          </p:nvSpPr>
          <p:spPr>
            <a:xfrm>
              <a:off x="-420676" y="27573"/>
              <a:ext cx="246221" cy="2462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8FFB0C95-6B21-CF4C-6B62-DA9BCA281FE1}"/>
                </a:ext>
              </a:extLst>
            </p:cNvPr>
            <p:cNvSpPr/>
            <p:nvPr/>
          </p:nvSpPr>
          <p:spPr>
            <a:xfrm>
              <a:off x="-420677" y="272577"/>
              <a:ext cx="246221" cy="246221"/>
            </a:xfrm>
            <a:prstGeom prst="rect">
              <a:avLst/>
            </a:prstGeom>
            <a:solidFill>
              <a:srgbClr val="1F30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31B1E487-7143-E64F-DDC5-047BE7A94EA0}"/>
                </a:ext>
              </a:extLst>
            </p:cNvPr>
            <p:cNvSpPr/>
            <p:nvPr/>
          </p:nvSpPr>
          <p:spPr>
            <a:xfrm>
              <a:off x="-422027" y="740515"/>
              <a:ext cx="246221" cy="246221"/>
            </a:xfrm>
            <a:prstGeom prst="rect">
              <a:avLst/>
            </a:prstGeom>
            <a:solidFill>
              <a:srgbClr val="3F75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CD308889-F11B-B001-58DC-FBFCC6EB21A3}"/>
                </a:ext>
              </a:extLst>
            </p:cNvPr>
            <p:cNvSpPr/>
            <p:nvPr/>
          </p:nvSpPr>
          <p:spPr>
            <a:xfrm>
              <a:off x="-422027" y="984911"/>
              <a:ext cx="246221" cy="246221"/>
            </a:xfrm>
            <a:prstGeom prst="rect">
              <a:avLst/>
            </a:prstGeom>
            <a:solidFill>
              <a:srgbClr val="5A957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6EF31A2D-CF2F-5C1C-ECCB-D5D89B1DC8EB}"/>
                </a:ext>
              </a:extLst>
            </p:cNvPr>
            <p:cNvSpPr/>
            <p:nvPr/>
          </p:nvSpPr>
          <p:spPr>
            <a:xfrm>
              <a:off x="-790009" y="26356"/>
              <a:ext cx="246221" cy="246221"/>
            </a:xfrm>
            <a:prstGeom prst="rect">
              <a:avLst/>
            </a:prstGeom>
            <a:solidFill>
              <a:srgbClr val="B893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正方形/長方形 21">
              <a:extLst>
                <a:ext uri="{FF2B5EF4-FFF2-40B4-BE49-F238E27FC236}">
                  <a16:creationId xmlns:a16="http://schemas.microsoft.com/office/drawing/2014/main" id="{DE3822D4-07B9-FC71-C96D-CDC44CD82D05}"/>
                </a:ext>
              </a:extLst>
            </p:cNvPr>
            <p:cNvSpPr/>
            <p:nvPr/>
          </p:nvSpPr>
          <p:spPr>
            <a:xfrm>
              <a:off x="-790009" y="248073"/>
              <a:ext cx="246221" cy="246221"/>
            </a:xfrm>
            <a:prstGeom prst="rect">
              <a:avLst/>
            </a:prstGeom>
            <a:solidFill>
              <a:srgbClr val="D4A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2ABDA808-7BFA-4D35-C307-55036B23759E}"/>
                </a:ext>
              </a:extLst>
            </p:cNvPr>
            <p:cNvSpPr/>
            <p:nvPr/>
          </p:nvSpPr>
          <p:spPr>
            <a:xfrm>
              <a:off x="-790684" y="494294"/>
              <a:ext cx="246221" cy="246221"/>
            </a:xfrm>
            <a:prstGeom prst="rect">
              <a:avLst/>
            </a:prstGeom>
            <a:solidFill>
              <a:srgbClr val="E6B7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5B2FACD0-801B-BF9E-C0A3-3C8DFC6A2C24}"/>
                </a:ext>
              </a:extLst>
            </p:cNvPr>
            <p:cNvSpPr/>
            <p:nvPr/>
          </p:nvSpPr>
          <p:spPr>
            <a:xfrm>
              <a:off x="-420678" y="518190"/>
              <a:ext cx="246221" cy="246221"/>
            </a:xfrm>
            <a:prstGeom prst="rect">
              <a:avLst/>
            </a:prstGeom>
            <a:solidFill>
              <a:srgbClr val="2D5A4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E474745D-97CA-0FC2-2EA5-83FF932CEF9A}"/>
                </a:ext>
              </a:extLst>
            </p:cNvPr>
            <p:cNvSpPr/>
            <p:nvPr/>
          </p:nvSpPr>
          <p:spPr>
            <a:xfrm>
              <a:off x="-422027" y="1223588"/>
              <a:ext cx="246221" cy="246221"/>
            </a:xfrm>
            <a:prstGeom prst="rect">
              <a:avLst/>
            </a:prstGeom>
            <a:solidFill>
              <a:srgbClr val="77B99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ED1CE230-918B-64CA-DEC6-E4DA57ABCD58}"/>
                </a:ext>
              </a:extLst>
            </p:cNvPr>
            <p:cNvSpPr/>
            <p:nvPr/>
          </p:nvSpPr>
          <p:spPr>
            <a:xfrm>
              <a:off x="-790009" y="900094"/>
              <a:ext cx="246221" cy="246221"/>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正方形/長方形 26">
              <a:extLst>
                <a:ext uri="{FF2B5EF4-FFF2-40B4-BE49-F238E27FC236}">
                  <a16:creationId xmlns:a16="http://schemas.microsoft.com/office/drawing/2014/main" id="{B42BBC51-7AF4-615A-2D55-3717B28F329D}"/>
                </a:ext>
              </a:extLst>
            </p:cNvPr>
            <p:cNvSpPr/>
            <p:nvPr/>
          </p:nvSpPr>
          <p:spPr>
            <a:xfrm>
              <a:off x="-790009" y="1121811"/>
              <a:ext cx="246221" cy="246221"/>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7D5C4773-1B43-068D-3659-E18E7A5024E8}"/>
                </a:ext>
              </a:extLst>
            </p:cNvPr>
            <p:cNvSpPr/>
            <p:nvPr/>
          </p:nvSpPr>
          <p:spPr>
            <a:xfrm>
              <a:off x="-790684" y="1368032"/>
              <a:ext cx="246221" cy="246221"/>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37802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142" userDrawn="1">
          <p15:clr>
            <a:srgbClr val="FBAE40"/>
          </p15:clr>
        </p15:guide>
        <p15:guide id="4" pos="3940" userDrawn="1">
          <p15:clr>
            <a:srgbClr val="FBAE40"/>
          </p15:clr>
        </p15:guide>
        <p15:guide id="5" pos="3727" userDrawn="1">
          <p15:clr>
            <a:srgbClr val="FBAE40"/>
          </p15:clr>
        </p15:guide>
        <p15:guide id="6" orient="horz" pos="323" userDrawn="1">
          <p15:clr>
            <a:srgbClr val="FBAE40"/>
          </p15:clr>
        </p15:guide>
        <p15:guide id="7" orient="horz" pos="3952" userDrawn="1">
          <p15:clr>
            <a:srgbClr val="FBAE40"/>
          </p15:clr>
        </p15:guide>
        <p15:guide id="8" pos="7469" userDrawn="1">
          <p15:clr>
            <a:srgbClr val="FBAE40"/>
          </p15:clr>
        </p15:guide>
        <p15:guide id="9" pos="211" userDrawn="1">
          <p15:clr>
            <a:srgbClr val="FBAE40"/>
          </p15:clr>
        </p15:guide>
        <p15:guide id="10" orient="horz" pos="4247" userDrawn="1">
          <p15:clr>
            <a:srgbClr val="FBAE40"/>
          </p15:clr>
        </p15:guide>
        <p15:guide id="11" orient="horz" pos="407" userDrawn="1">
          <p15:clr>
            <a:srgbClr val="FBAE40"/>
          </p15:clr>
        </p15:guide>
        <p15:guide id="12" orient="horz" pos="3987" userDrawn="1">
          <p15:clr>
            <a:srgbClr val="FBAE40"/>
          </p15:clr>
        </p15:guide>
        <p15:guide id="13" orient="horz" pos="981" userDrawn="1">
          <p15:clr>
            <a:srgbClr val="FBAE40"/>
          </p15:clr>
        </p15:guide>
        <p15:guide id="14" orient="horz" pos="102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ONFIDENTIAL">
    <p:spTree>
      <p:nvGrpSpPr>
        <p:cNvPr id="1" name=""/>
        <p:cNvGrpSpPr/>
        <p:nvPr/>
      </p:nvGrpSpPr>
      <p:grpSpPr>
        <a:xfrm>
          <a:off x="0" y="0"/>
          <a:ext cx="0" cy="0"/>
          <a:chOff x="0" y="0"/>
          <a:chExt cx="0" cy="0"/>
        </a:xfrm>
      </p:grpSpPr>
      <p:sp>
        <p:nvSpPr>
          <p:cNvPr id="10" name="テキスト ボックス 9">
            <a:extLst>
              <a:ext uri="{FF2B5EF4-FFF2-40B4-BE49-F238E27FC236}">
                <a16:creationId xmlns:a16="http://schemas.microsoft.com/office/drawing/2014/main" id="{82699696-9B15-3CD6-BBE8-B725E3FACC29}"/>
              </a:ext>
            </a:extLst>
          </p:cNvPr>
          <p:cNvSpPr txBox="1"/>
          <p:nvPr userDrawn="1"/>
        </p:nvSpPr>
        <p:spPr>
          <a:xfrm>
            <a:off x="9717722" y="136525"/>
            <a:ext cx="2154555" cy="246221"/>
          </a:xfrm>
          <a:prstGeom prst="rect">
            <a:avLst/>
          </a:prstGeom>
          <a:noFill/>
          <a:ln>
            <a:noFill/>
          </a:ln>
        </p:spPr>
        <p:txBody>
          <a:bodyPr wrap="square">
            <a:spAutoFit/>
          </a:bodyPr>
          <a:lstStyle/>
          <a:p>
            <a:pPr algn="r"/>
            <a:r>
              <a:rPr lang="ja-JP" altLang="en-US" sz="1000">
                <a:solidFill>
                  <a:schemeClr val="bg1">
                    <a:lumMod val="75000"/>
                  </a:schemeClr>
                </a:solidFill>
              </a:rPr>
              <a:t>Strictly confidential</a:t>
            </a:r>
            <a:endParaRPr lang="en-US" altLang="ja-JP" sz="1000" dirty="0">
              <a:solidFill>
                <a:schemeClr val="bg1">
                  <a:lumMod val="75000"/>
                </a:schemeClr>
              </a:solidFill>
            </a:endParaRPr>
          </a:p>
        </p:txBody>
      </p:sp>
      <p:sp>
        <p:nvSpPr>
          <p:cNvPr id="15" name="Shape 108">
            <a:extLst>
              <a:ext uri="{FF2B5EF4-FFF2-40B4-BE49-F238E27FC236}">
                <a16:creationId xmlns:a16="http://schemas.microsoft.com/office/drawing/2014/main" id="{8175DEE8-974A-80BD-8971-38A0C4A1846B}"/>
              </a:ext>
            </a:extLst>
          </p:cNvPr>
          <p:cNvSpPr/>
          <p:nvPr userDrawn="1"/>
        </p:nvSpPr>
        <p:spPr>
          <a:xfrm>
            <a:off x="3555999" y="1778049"/>
            <a:ext cx="5080000" cy="297517"/>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lvl1pPr>
              <a:defRPr sz="3200" b="1">
                <a:solidFill>
                  <a:srgbClr val="2A378F"/>
                </a:solidFill>
              </a:defRPr>
            </a:lvl1pPr>
          </a:lstStyle>
          <a:p>
            <a:pPr algn="ctr"/>
            <a:r>
              <a:rPr sz="1600" b="0" dirty="0">
                <a:solidFill>
                  <a:srgbClr val="2C3D50"/>
                </a:solidFill>
                <a:latin typeface="+mn-ea"/>
                <a:ea typeface="+mn-ea"/>
              </a:rPr>
              <a:t>CONFIDENTIAL</a:t>
            </a:r>
          </a:p>
        </p:txBody>
      </p:sp>
      <p:sp>
        <p:nvSpPr>
          <p:cNvPr id="16" name="Shape 109">
            <a:extLst>
              <a:ext uri="{FF2B5EF4-FFF2-40B4-BE49-F238E27FC236}">
                <a16:creationId xmlns:a16="http://schemas.microsoft.com/office/drawing/2014/main" id="{2E3ED6EC-6BC3-23C8-7408-B1483559B6FE}"/>
              </a:ext>
            </a:extLst>
          </p:cNvPr>
          <p:cNvSpPr/>
          <p:nvPr userDrawn="1"/>
        </p:nvSpPr>
        <p:spPr>
          <a:xfrm>
            <a:off x="3480676" y="2556293"/>
            <a:ext cx="5230648" cy="1745414"/>
          </a:xfrm>
          <a:prstGeom prst="rect">
            <a:avLst/>
          </a:prstGeom>
          <a:solidFill>
            <a:schemeClr val="bg1"/>
          </a:solidFill>
          <a:ln w="12700">
            <a:miter lim="400000"/>
          </a:ln>
          <a:extLst>
            <a:ext uri="{C572A759-6A51-4108-AA02-DFA0A04FC94B}">
              <ma14:wrappingTextBoxFlag xmlns:ma14="http://schemas.microsoft.com/office/mac/drawingml/2011/main" xmlns="" val="1"/>
            </a:ext>
          </a:extLst>
        </p:spPr>
        <p:txBody>
          <a:bodyPr wrap="square" lIns="25400" tIns="25400" rIns="25400" bIns="25400" anchor="ctr">
            <a:spAutoFit/>
          </a:bodyPr>
          <a:lstStyle/>
          <a:p>
            <a:pPr algn="l">
              <a:lnSpc>
                <a:spcPct val="120000"/>
              </a:lnSpc>
              <a:spcBef>
                <a:spcPts val="2250"/>
              </a:spcBef>
              <a:defRPr sz="2200">
                <a:solidFill>
                  <a:srgbClr val="4C4C4C"/>
                </a:solidFill>
                <a:latin typeface="ヒラギノ角ゴ ProN W3"/>
                <a:ea typeface="ヒラギノ角ゴ ProN W3"/>
                <a:cs typeface="ヒラギノ角ゴ ProN W3"/>
                <a:sym typeface="ヒラギノ角ゴ ProN W3"/>
              </a:defRPr>
            </a:pPr>
            <a:r>
              <a:rPr sz="1100" b="0" i="0" dirty="0">
                <a:solidFill>
                  <a:srgbClr val="7E8C8D"/>
                </a:solidFill>
                <a:latin typeface="+mn-ea"/>
                <a:ea typeface="+mn-ea"/>
                <a:cs typeface="Hiragino Kaku Gothic Pro W3" charset="-128"/>
              </a:rPr>
              <a:t>本文書（添付資料を含む）は、</a:t>
            </a:r>
            <a:r>
              <a:rPr lang="en-US" sz="1100" b="0" i="0" dirty="0">
                <a:solidFill>
                  <a:srgbClr val="7E8C8D"/>
                </a:solidFill>
                <a:latin typeface="+mn-ea"/>
                <a:ea typeface="+mn-ea"/>
                <a:cs typeface="Hiragino Kaku Gothic Pro W3" charset="-128"/>
              </a:rPr>
              <a:t>ブーストコンサルティング株式会社</a:t>
            </a:r>
            <a:r>
              <a:rPr sz="1100" b="0" i="0" dirty="0">
                <a:solidFill>
                  <a:srgbClr val="7E8C8D"/>
                </a:solidFill>
                <a:latin typeface="+mn-ea"/>
                <a:ea typeface="+mn-ea"/>
                <a:cs typeface="Hiragino Kaku Gothic Pro W3" charset="-128"/>
              </a:rPr>
              <a:t>が著作権その他の権利を有する営業秘密（含サプライヤ等第三者が権利を有するもの）です。当社の許可なく複製し利用すること、また漏洩することは「著作権法」「不正競争防止法」によって禁じられております。本資料内の社名・製品名は各社の登録商標です。</a:t>
            </a:r>
          </a:p>
          <a:p>
            <a:pPr algn="l">
              <a:lnSpc>
                <a:spcPct val="120000"/>
              </a:lnSpc>
              <a:spcBef>
                <a:spcPts val="2250"/>
              </a:spcBef>
              <a:defRPr sz="2200">
                <a:solidFill>
                  <a:srgbClr val="4C4C4C"/>
                </a:solidFill>
                <a:latin typeface="ヒラギノ角ゴ ProN W3"/>
                <a:ea typeface="ヒラギノ角ゴ ProN W3"/>
                <a:cs typeface="ヒラギノ角ゴ ProN W3"/>
                <a:sym typeface="ヒラギノ角ゴ ProN W3"/>
              </a:defRPr>
            </a:pPr>
            <a:r>
              <a:rPr sz="1100" b="0" i="0" dirty="0" err="1">
                <a:solidFill>
                  <a:srgbClr val="7E8C8D"/>
                </a:solidFill>
                <a:latin typeface="+mn-ea"/>
                <a:ea typeface="+mn-ea"/>
                <a:cs typeface="Hiragino Kaku Gothic Pro W3" charset="-128"/>
              </a:rPr>
              <a:t>また、本資料は</a:t>
            </a:r>
            <a:r>
              <a:rPr lang="ja-JP" altLang="en-US" sz="1100" b="0" i="0">
                <a:solidFill>
                  <a:srgbClr val="7E8C8D"/>
                </a:solidFill>
                <a:latin typeface="+mn-ea"/>
                <a:ea typeface="+mn-ea"/>
                <a:cs typeface="Hiragino Kaku Gothic Pro W3" charset="-128"/>
              </a:rPr>
              <a:t>ブーストコンサルティング</a:t>
            </a:r>
            <a:r>
              <a:rPr lang="en-US" altLang="ja-JP" sz="1100" b="0" i="0" dirty="0">
                <a:solidFill>
                  <a:srgbClr val="7E8C8D"/>
                </a:solidFill>
                <a:latin typeface="+mn-ea"/>
                <a:ea typeface="+mn-ea"/>
                <a:cs typeface="Hiragino Kaku Gothic Pro W3" charset="-128"/>
              </a:rPr>
              <a:t>株式会社</a:t>
            </a:r>
            <a:r>
              <a:rPr sz="1100" b="0" i="0" dirty="0">
                <a:solidFill>
                  <a:srgbClr val="7E8C8D"/>
                </a:solidFill>
                <a:latin typeface="+mn-ea"/>
                <a:ea typeface="+mn-ea"/>
                <a:cs typeface="Hiragino Kaku Gothic Pro W3" charset="-128"/>
              </a:rPr>
              <a:t>による口頭の説明を補助するために使用されるものであって、本件に関する検討内容や議論の過程を網羅的に掲載しているものではありません。</a:t>
            </a:r>
          </a:p>
        </p:txBody>
      </p:sp>
      <p:sp>
        <p:nvSpPr>
          <p:cNvPr id="18" name="正方形/長方形 17">
            <a:extLst>
              <a:ext uri="{FF2B5EF4-FFF2-40B4-BE49-F238E27FC236}">
                <a16:creationId xmlns:a16="http://schemas.microsoft.com/office/drawing/2014/main" id="{B198F1EA-ECF6-4655-0360-6AB727FA0689}"/>
              </a:ext>
            </a:extLst>
          </p:cNvPr>
          <p:cNvSpPr/>
          <p:nvPr userDrawn="1"/>
        </p:nvSpPr>
        <p:spPr>
          <a:xfrm>
            <a:off x="3147848" y="2320639"/>
            <a:ext cx="5896303" cy="2228193"/>
          </a:xfrm>
          <a:prstGeom prst="rect">
            <a:avLst/>
          </a:prstGeom>
          <a:noFill/>
          <a:ln w="9525">
            <a:solidFill>
              <a:srgbClr val="7E8C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 name="グループ化 5">
            <a:extLst>
              <a:ext uri="{FF2B5EF4-FFF2-40B4-BE49-F238E27FC236}">
                <a16:creationId xmlns:a16="http://schemas.microsoft.com/office/drawing/2014/main" id="{ADEAFD2B-3636-AB11-2954-F32C0A6E9C83}"/>
              </a:ext>
            </a:extLst>
          </p:cNvPr>
          <p:cNvGrpSpPr/>
          <p:nvPr userDrawn="1"/>
        </p:nvGrpSpPr>
        <p:grpSpPr>
          <a:xfrm>
            <a:off x="-790684" y="2588774"/>
            <a:ext cx="616229" cy="1587897"/>
            <a:chOff x="-790684" y="26356"/>
            <a:chExt cx="616229" cy="1587897"/>
          </a:xfrm>
        </p:grpSpPr>
        <p:sp>
          <p:nvSpPr>
            <p:cNvPr id="14" name="正方形/長方形 13">
              <a:extLst>
                <a:ext uri="{FF2B5EF4-FFF2-40B4-BE49-F238E27FC236}">
                  <a16:creationId xmlns:a16="http://schemas.microsoft.com/office/drawing/2014/main" id="{D3B3D0E1-4351-6895-25CB-3690460C32EA}"/>
                </a:ext>
              </a:extLst>
            </p:cNvPr>
            <p:cNvSpPr/>
            <p:nvPr/>
          </p:nvSpPr>
          <p:spPr>
            <a:xfrm>
              <a:off x="-420676" y="27573"/>
              <a:ext cx="246221" cy="2462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F379D470-FC86-A949-BB52-6DD0C8FBE297}"/>
                </a:ext>
              </a:extLst>
            </p:cNvPr>
            <p:cNvSpPr/>
            <p:nvPr/>
          </p:nvSpPr>
          <p:spPr>
            <a:xfrm>
              <a:off x="-420677" y="272577"/>
              <a:ext cx="246221" cy="246221"/>
            </a:xfrm>
            <a:prstGeom prst="rect">
              <a:avLst/>
            </a:prstGeom>
            <a:solidFill>
              <a:srgbClr val="1F30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73EB795C-EB3A-21AF-E074-F923F067C819}"/>
                </a:ext>
              </a:extLst>
            </p:cNvPr>
            <p:cNvSpPr/>
            <p:nvPr/>
          </p:nvSpPr>
          <p:spPr>
            <a:xfrm>
              <a:off x="-422027" y="740515"/>
              <a:ext cx="246221" cy="246221"/>
            </a:xfrm>
            <a:prstGeom prst="rect">
              <a:avLst/>
            </a:prstGeom>
            <a:solidFill>
              <a:srgbClr val="3F755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71032DD5-02E2-79DD-5EBB-AC682E91C309}"/>
                </a:ext>
              </a:extLst>
            </p:cNvPr>
            <p:cNvSpPr/>
            <p:nvPr/>
          </p:nvSpPr>
          <p:spPr>
            <a:xfrm>
              <a:off x="-422027" y="984911"/>
              <a:ext cx="246221" cy="246221"/>
            </a:xfrm>
            <a:prstGeom prst="rect">
              <a:avLst/>
            </a:prstGeom>
            <a:solidFill>
              <a:srgbClr val="5A957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F09BC46A-C37D-AE4D-AFC5-B19855839B00}"/>
                </a:ext>
              </a:extLst>
            </p:cNvPr>
            <p:cNvSpPr/>
            <p:nvPr/>
          </p:nvSpPr>
          <p:spPr>
            <a:xfrm>
              <a:off x="-790009" y="26356"/>
              <a:ext cx="246221" cy="246221"/>
            </a:xfrm>
            <a:prstGeom prst="rect">
              <a:avLst/>
            </a:prstGeom>
            <a:solidFill>
              <a:srgbClr val="B893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正方形/長方形 21">
              <a:extLst>
                <a:ext uri="{FF2B5EF4-FFF2-40B4-BE49-F238E27FC236}">
                  <a16:creationId xmlns:a16="http://schemas.microsoft.com/office/drawing/2014/main" id="{7F2228BC-EAE5-2797-D30A-76D3ECFD9045}"/>
                </a:ext>
              </a:extLst>
            </p:cNvPr>
            <p:cNvSpPr/>
            <p:nvPr/>
          </p:nvSpPr>
          <p:spPr>
            <a:xfrm>
              <a:off x="-790009" y="248073"/>
              <a:ext cx="246221" cy="246221"/>
            </a:xfrm>
            <a:prstGeom prst="rect">
              <a:avLst/>
            </a:prstGeom>
            <a:solidFill>
              <a:srgbClr val="D4A57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90AD0715-D754-4077-B0A1-61B8791718F7}"/>
                </a:ext>
              </a:extLst>
            </p:cNvPr>
            <p:cNvSpPr/>
            <p:nvPr/>
          </p:nvSpPr>
          <p:spPr>
            <a:xfrm>
              <a:off x="-790684" y="494294"/>
              <a:ext cx="246221" cy="246221"/>
            </a:xfrm>
            <a:prstGeom prst="rect">
              <a:avLst/>
            </a:prstGeom>
            <a:solidFill>
              <a:srgbClr val="E6B78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330824C3-B43B-B312-C13A-960922CF4B87}"/>
                </a:ext>
              </a:extLst>
            </p:cNvPr>
            <p:cNvSpPr/>
            <p:nvPr/>
          </p:nvSpPr>
          <p:spPr>
            <a:xfrm>
              <a:off x="-420678" y="518190"/>
              <a:ext cx="246221" cy="246221"/>
            </a:xfrm>
            <a:prstGeom prst="rect">
              <a:avLst/>
            </a:prstGeom>
            <a:solidFill>
              <a:srgbClr val="2D5A42"/>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26623F78-076C-B3E1-C853-0C089F638E50}"/>
                </a:ext>
              </a:extLst>
            </p:cNvPr>
            <p:cNvSpPr/>
            <p:nvPr/>
          </p:nvSpPr>
          <p:spPr>
            <a:xfrm>
              <a:off x="-422027" y="1223588"/>
              <a:ext cx="246221" cy="246221"/>
            </a:xfrm>
            <a:prstGeom prst="rect">
              <a:avLst/>
            </a:prstGeom>
            <a:solidFill>
              <a:srgbClr val="77B99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7D21409A-DC3E-4119-CB31-5B7D7C7D05F4}"/>
                </a:ext>
              </a:extLst>
            </p:cNvPr>
            <p:cNvSpPr/>
            <p:nvPr/>
          </p:nvSpPr>
          <p:spPr>
            <a:xfrm>
              <a:off x="-790009" y="900094"/>
              <a:ext cx="246221" cy="246221"/>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正方形/長方形 26">
              <a:extLst>
                <a:ext uri="{FF2B5EF4-FFF2-40B4-BE49-F238E27FC236}">
                  <a16:creationId xmlns:a16="http://schemas.microsoft.com/office/drawing/2014/main" id="{E5C1F557-A34B-4B79-1BA7-FA5D088F6428}"/>
                </a:ext>
              </a:extLst>
            </p:cNvPr>
            <p:cNvSpPr/>
            <p:nvPr/>
          </p:nvSpPr>
          <p:spPr>
            <a:xfrm>
              <a:off x="-790009" y="1121811"/>
              <a:ext cx="246221" cy="246221"/>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AFA4F27A-2627-0A02-A4DC-C0AA10B74947}"/>
                </a:ext>
              </a:extLst>
            </p:cNvPr>
            <p:cNvSpPr/>
            <p:nvPr/>
          </p:nvSpPr>
          <p:spPr>
            <a:xfrm>
              <a:off x="-790684" y="1368032"/>
              <a:ext cx="246221" cy="246221"/>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0" name="TextBox 41">
            <a:extLst>
              <a:ext uri="{FF2B5EF4-FFF2-40B4-BE49-F238E27FC236}">
                <a16:creationId xmlns:a16="http://schemas.microsoft.com/office/drawing/2014/main" id="{5913EFFE-C8B9-9CE7-BEAF-1F42EA659347}"/>
              </a:ext>
            </a:extLst>
          </p:cNvPr>
          <p:cNvSpPr txBox="1"/>
          <p:nvPr userDrawn="1"/>
        </p:nvSpPr>
        <p:spPr>
          <a:xfrm>
            <a:off x="11105812" y="6514831"/>
            <a:ext cx="983573" cy="216000"/>
          </a:xfrm>
          <a:prstGeom prst="rect">
            <a:avLst/>
          </a:prstGeom>
          <a:noFill/>
        </p:spPr>
        <p:txBody>
          <a:bodyPr wrap="square" rtlCol="0" anchor="ctr">
            <a:noAutofit/>
          </a:bodyPr>
          <a:lstStyle/>
          <a:p>
            <a:pPr algn="r"/>
            <a:fld id="{345173B5-5526-C040-8550-97FCE61EEC3A}" type="slidenum">
              <a:rPr lang="en-AU" sz="1200" smtClean="0">
                <a:solidFill>
                  <a:schemeClr val="accent6">
                    <a:lumMod val="50000"/>
                  </a:schemeClr>
                </a:solidFill>
                <a:latin typeface="+mn-lt"/>
                <a:cs typeface="Arial" panose="020B0604020202020204" pitchFamily="34" charset="0"/>
              </a:rPr>
              <a:pPr algn="r"/>
              <a:t>‹#›</a:t>
            </a:fld>
            <a:endParaRPr lang="en-AU" sz="1200" dirty="0">
              <a:solidFill>
                <a:schemeClr val="accent6">
                  <a:lumMod val="50000"/>
                </a:schemeClr>
              </a:solidFill>
              <a:latin typeface="+mn-lt"/>
              <a:cs typeface="Arial" panose="020B0604020202020204" pitchFamily="34" charset="0"/>
            </a:endParaRPr>
          </a:p>
        </p:txBody>
      </p:sp>
      <p:sp>
        <p:nvSpPr>
          <p:cNvPr id="2" name="フッター プレースホルダー 13">
            <a:extLst>
              <a:ext uri="{FF2B5EF4-FFF2-40B4-BE49-F238E27FC236}">
                <a16:creationId xmlns:a16="http://schemas.microsoft.com/office/drawing/2014/main" id="{351FA5B7-4DF9-BE3F-40BE-6A3C048346DF}"/>
              </a:ext>
            </a:extLst>
          </p:cNvPr>
          <p:cNvSpPr>
            <a:spLocks noGrp="1"/>
          </p:cNvSpPr>
          <p:nvPr>
            <p:ph type="ftr" sz="quarter" idx="11"/>
          </p:nvPr>
        </p:nvSpPr>
        <p:spPr>
          <a:xfrm>
            <a:off x="9877808" y="6514831"/>
            <a:ext cx="1919585" cy="216000"/>
          </a:xfrm>
        </p:spPr>
        <p:txBody>
          <a:bodyPr/>
          <a:lstStyle>
            <a:lvl1pPr algn="l">
              <a:defRPr sz="1000">
                <a:latin typeface="+mn-lt"/>
                <a:ea typeface="+mn-ea"/>
              </a:defRPr>
            </a:lvl1pPr>
          </a:lstStyle>
          <a:p>
            <a:pPr>
              <a:defRPr/>
            </a:pPr>
            <a:r>
              <a:rPr kumimoji="1" lang="en-US" altLang="ja-JP" dirty="0">
                <a:solidFill>
                  <a:srgbClr val="FFFFFF">
                    <a:lumMod val="75000"/>
                  </a:srgbClr>
                </a:solidFill>
              </a:rPr>
              <a:t>©️ 2026 Boost Consulting, Inc.</a:t>
            </a:r>
            <a:endParaRPr kumimoji="1" lang="ja-JP" altLang="en-US" dirty="0">
              <a:solidFill>
                <a:srgbClr val="FFFFFF">
                  <a:lumMod val="75000"/>
                </a:srgbClr>
              </a:solidFill>
              <a:latin typeface="+mn-lt"/>
            </a:endParaRPr>
          </a:p>
        </p:txBody>
      </p:sp>
    </p:spTree>
    <p:extLst>
      <p:ext uri="{BB962C8B-B14F-4D97-AF65-F5344CB8AC3E}">
        <p14:creationId xmlns:p14="http://schemas.microsoft.com/office/powerpoint/2010/main" val="3102217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END">
    <p:spTree>
      <p:nvGrpSpPr>
        <p:cNvPr id="1" name=""/>
        <p:cNvGrpSpPr/>
        <p:nvPr/>
      </p:nvGrpSpPr>
      <p:grpSpPr>
        <a:xfrm>
          <a:off x="0" y="0"/>
          <a:ext cx="0" cy="0"/>
          <a:chOff x="0" y="0"/>
          <a:chExt cx="0" cy="0"/>
        </a:xfrm>
      </p:grpSpPr>
      <p:sp>
        <p:nvSpPr>
          <p:cNvPr id="10" name="テキスト ボックス 9">
            <a:extLst>
              <a:ext uri="{FF2B5EF4-FFF2-40B4-BE49-F238E27FC236}">
                <a16:creationId xmlns:a16="http://schemas.microsoft.com/office/drawing/2014/main" id="{82699696-9B15-3CD6-BBE8-B725E3FACC29}"/>
              </a:ext>
            </a:extLst>
          </p:cNvPr>
          <p:cNvSpPr txBox="1"/>
          <p:nvPr userDrawn="1"/>
        </p:nvSpPr>
        <p:spPr>
          <a:xfrm>
            <a:off x="9717722" y="136525"/>
            <a:ext cx="2154555" cy="246221"/>
          </a:xfrm>
          <a:prstGeom prst="rect">
            <a:avLst/>
          </a:prstGeom>
          <a:noFill/>
          <a:ln>
            <a:noFill/>
          </a:ln>
        </p:spPr>
        <p:txBody>
          <a:bodyPr wrap="square">
            <a:spAutoFit/>
          </a:bodyPr>
          <a:lstStyle/>
          <a:p>
            <a:pPr algn="r"/>
            <a:r>
              <a:rPr lang="ja-JP" altLang="en-US" sz="1000">
                <a:solidFill>
                  <a:schemeClr val="bg1">
                    <a:lumMod val="75000"/>
                  </a:schemeClr>
                </a:solidFill>
              </a:rPr>
              <a:t>Strictly confidential</a:t>
            </a:r>
            <a:endParaRPr lang="en-US" altLang="ja-JP" sz="1000" dirty="0">
              <a:solidFill>
                <a:schemeClr val="bg1">
                  <a:lumMod val="75000"/>
                </a:schemeClr>
              </a:solidFill>
            </a:endParaRPr>
          </a:p>
        </p:txBody>
      </p:sp>
      <p:sp>
        <p:nvSpPr>
          <p:cNvPr id="2" name="正方形/長方形 1">
            <a:extLst>
              <a:ext uri="{FF2B5EF4-FFF2-40B4-BE49-F238E27FC236}">
                <a16:creationId xmlns:a16="http://schemas.microsoft.com/office/drawing/2014/main" id="{D801113C-D15D-EEB8-367A-DAF32447D218}"/>
              </a:ext>
            </a:extLst>
          </p:cNvPr>
          <p:cNvSpPr/>
          <p:nvPr userDrawn="1"/>
        </p:nvSpPr>
        <p:spPr>
          <a:xfrm>
            <a:off x="-420676" y="27573"/>
            <a:ext cx="246221" cy="246221"/>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53F8F977-E297-17D4-0A3E-DF7ECE73491E}"/>
              </a:ext>
            </a:extLst>
          </p:cNvPr>
          <p:cNvSpPr/>
          <p:nvPr userDrawn="1"/>
        </p:nvSpPr>
        <p:spPr>
          <a:xfrm>
            <a:off x="-420677" y="272577"/>
            <a:ext cx="246221" cy="246221"/>
          </a:xfrm>
          <a:prstGeom prst="rect">
            <a:avLst/>
          </a:prstGeom>
          <a:solidFill>
            <a:srgbClr val="2C3D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C63B8C8F-4D7E-A640-A40A-44B6C03A81B6}"/>
              </a:ext>
            </a:extLst>
          </p:cNvPr>
          <p:cNvSpPr/>
          <p:nvPr userDrawn="1"/>
        </p:nvSpPr>
        <p:spPr>
          <a:xfrm>
            <a:off x="-422027" y="740515"/>
            <a:ext cx="246221" cy="246221"/>
          </a:xfrm>
          <a:prstGeom prst="rect">
            <a:avLst/>
          </a:prstGeom>
          <a:solidFill>
            <a:srgbClr val="B400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57558606-D021-6763-3C48-C6987F20BA9D}"/>
              </a:ext>
            </a:extLst>
          </p:cNvPr>
          <p:cNvSpPr/>
          <p:nvPr userDrawn="1"/>
        </p:nvSpPr>
        <p:spPr>
          <a:xfrm>
            <a:off x="-422027" y="984911"/>
            <a:ext cx="246221" cy="246221"/>
          </a:xfrm>
          <a:prstGeom prst="rect">
            <a:avLst/>
          </a:prstGeom>
          <a:solidFill>
            <a:schemeClr val="bg1"/>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A5EEF839-A49A-E541-5D35-2E7F009C7E64}"/>
              </a:ext>
            </a:extLst>
          </p:cNvPr>
          <p:cNvSpPr/>
          <p:nvPr userDrawn="1"/>
        </p:nvSpPr>
        <p:spPr>
          <a:xfrm>
            <a:off x="-790009" y="26356"/>
            <a:ext cx="246221" cy="246221"/>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16583140-9F93-FA4D-D645-726A17853450}"/>
              </a:ext>
            </a:extLst>
          </p:cNvPr>
          <p:cNvSpPr/>
          <p:nvPr userDrawn="1"/>
        </p:nvSpPr>
        <p:spPr>
          <a:xfrm>
            <a:off x="-790009" y="248073"/>
            <a:ext cx="246221" cy="246221"/>
          </a:xfrm>
          <a:prstGeom prst="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FE8A8672-50D6-E5D4-D04B-CAC986EAA226}"/>
              </a:ext>
            </a:extLst>
          </p:cNvPr>
          <p:cNvSpPr/>
          <p:nvPr userDrawn="1"/>
        </p:nvSpPr>
        <p:spPr>
          <a:xfrm>
            <a:off x="-790684" y="494294"/>
            <a:ext cx="246221" cy="246221"/>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92050E20-E619-9D0A-4DE0-F5613E4DE751}"/>
              </a:ext>
            </a:extLst>
          </p:cNvPr>
          <p:cNvSpPr/>
          <p:nvPr userDrawn="1"/>
        </p:nvSpPr>
        <p:spPr>
          <a:xfrm>
            <a:off x="-420678" y="518190"/>
            <a:ext cx="246221" cy="246221"/>
          </a:xfrm>
          <a:prstGeom prst="rect">
            <a:avLst/>
          </a:prstGeom>
          <a:solidFill>
            <a:srgbClr val="7E8C8D"/>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A5DE7C36-A0E1-6BC7-AEA0-9A999631D176}"/>
              </a:ext>
            </a:extLst>
          </p:cNvPr>
          <p:cNvSpPr txBox="1"/>
          <p:nvPr userDrawn="1"/>
        </p:nvSpPr>
        <p:spPr>
          <a:xfrm>
            <a:off x="4933662" y="3136612"/>
            <a:ext cx="2278188" cy="584775"/>
          </a:xfrm>
          <a:prstGeom prst="rect">
            <a:avLst/>
          </a:prstGeom>
          <a:noFill/>
        </p:spPr>
        <p:txBody>
          <a:bodyPr wrap="none" rtlCol="0">
            <a:spAutoFit/>
          </a:bodyPr>
          <a:lstStyle/>
          <a:p>
            <a:r>
              <a:rPr kumimoji="1" lang="en-US" altLang="ja-JP" sz="3200" b="1" dirty="0">
                <a:solidFill>
                  <a:srgbClr val="1F302F"/>
                </a:solidFill>
              </a:rPr>
              <a:t>End of File</a:t>
            </a:r>
            <a:endParaRPr kumimoji="1" lang="ja-JP" altLang="en-US" sz="3200" b="1" dirty="0">
              <a:solidFill>
                <a:srgbClr val="1F302F"/>
              </a:solidFill>
            </a:endParaRPr>
          </a:p>
        </p:txBody>
      </p:sp>
      <p:pic>
        <p:nvPicPr>
          <p:cNvPr id="14" name="図 13" descr="ロゴ&#10;&#10;AI によって生成されたコンテンツは間違っている可能性があります。">
            <a:extLst>
              <a:ext uri="{FF2B5EF4-FFF2-40B4-BE49-F238E27FC236}">
                <a16:creationId xmlns:a16="http://schemas.microsoft.com/office/drawing/2014/main" id="{574F2406-0D8E-8487-07C0-08FA571ABDE1}"/>
              </a:ext>
            </a:extLst>
          </p:cNvPr>
          <p:cNvPicPr>
            <a:picLocks noChangeAspect="1"/>
          </p:cNvPicPr>
          <p:nvPr userDrawn="1"/>
        </p:nvPicPr>
        <p:blipFill>
          <a:blip r:embed="rId2"/>
          <a:stretch>
            <a:fillRect/>
          </a:stretch>
        </p:blipFill>
        <p:spPr>
          <a:xfrm>
            <a:off x="5662081" y="5435590"/>
            <a:ext cx="867838" cy="651650"/>
          </a:xfrm>
          <a:prstGeom prst="rect">
            <a:avLst/>
          </a:prstGeom>
        </p:spPr>
      </p:pic>
      <p:cxnSp>
        <p:nvCxnSpPr>
          <p:cNvPr id="15" name="直線コネクタ 14">
            <a:extLst>
              <a:ext uri="{FF2B5EF4-FFF2-40B4-BE49-F238E27FC236}">
                <a16:creationId xmlns:a16="http://schemas.microsoft.com/office/drawing/2014/main" id="{734FFB27-6086-7FE3-657B-BEDD7777672B}"/>
              </a:ext>
            </a:extLst>
          </p:cNvPr>
          <p:cNvCxnSpPr>
            <a:cxnSpLocks/>
          </p:cNvCxnSpPr>
          <p:nvPr userDrawn="1"/>
        </p:nvCxnSpPr>
        <p:spPr>
          <a:xfrm>
            <a:off x="5839852" y="3721387"/>
            <a:ext cx="512297" cy="0"/>
          </a:xfrm>
          <a:prstGeom prst="line">
            <a:avLst/>
          </a:prstGeom>
          <a:ln w="57150">
            <a:solidFill>
              <a:srgbClr val="1F302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2740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基本スライド">
  <p:cSld name="1_基本スライド">
    <p:spTree>
      <p:nvGrpSpPr>
        <p:cNvPr id="1" name="Shape 32"/>
        <p:cNvGrpSpPr/>
        <p:nvPr/>
      </p:nvGrpSpPr>
      <p:grpSpPr>
        <a:xfrm>
          <a:off x="0" y="0"/>
          <a:ext cx="0" cy="0"/>
          <a:chOff x="0" y="0"/>
          <a:chExt cx="0" cy="0"/>
        </a:xfrm>
      </p:grpSpPr>
      <p:sp>
        <p:nvSpPr>
          <p:cNvPr id="33" name="Google Shape;33;p24"/>
          <p:cNvSpPr txBox="1">
            <a:spLocks noGrp="1"/>
          </p:cNvSpPr>
          <p:nvPr>
            <p:ph type="title"/>
          </p:nvPr>
        </p:nvSpPr>
        <p:spPr>
          <a:xfrm>
            <a:off x="340659" y="658641"/>
            <a:ext cx="11520000" cy="888036"/>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dk1"/>
              </a:buClr>
              <a:buSzPts val="2400"/>
              <a:buFont typeface="Arial"/>
              <a:buNone/>
              <a:defRPr sz="2400" b="1">
                <a:latin typeface="Meiryo UI" panose="020B0604030504040204" pitchFamily="50" charset="-128"/>
                <a:ea typeface="Meiryo UI" panose="020B0604030504040204" pitchFamily="50" charset="-128"/>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34" name="Google Shape;34;p24"/>
          <p:cNvSpPr txBox="1">
            <a:spLocks noGrp="1"/>
          </p:cNvSpPr>
          <p:nvPr>
            <p:ph type="body" idx="1"/>
          </p:nvPr>
        </p:nvSpPr>
        <p:spPr>
          <a:xfrm>
            <a:off x="340659" y="1649506"/>
            <a:ext cx="11520000" cy="4608000"/>
          </a:xfrm>
          <a:prstGeom prst="rect">
            <a:avLst/>
          </a:prstGeom>
          <a:noFill/>
          <a:ln>
            <a:noFill/>
          </a:ln>
        </p:spPr>
        <p:txBody>
          <a:bodyPr spcFirstLastPara="1" wrap="square" lIns="91425" tIns="45700" rIns="91425" bIns="45700" anchor="t" anchorCtr="0">
            <a:noAutofit/>
          </a:bodyPr>
          <a:lstStyle>
            <a:lvl1pPr marL="457200" lvl="0" indent="-317500" algn="l">
              <a:lnSpc>
                <a:spcPct val="100000"/>
              </a:lnSpc>
              <a:spcBef>
                <a:spcPts val="1000"/>
              </a:spcBef>
              <a:spcAft>
                <a:spcPts val="0"/>
              </a:spcAft>
              <a:buClr>
                <a:schemeClr val="dk1"/>
              </a:buClr>
              <a:buSzPts val="1400"/>
              <a:buFont typeface="Noto Sans Symbols"/>
              <a:buChar char="■"/>
              <a:defRPr sz="1400">
                <a:latin typeface="Meiryo UI" panose="020B0604030504040204" pitchFamily="50" charset="-128"/>
                <a:ea typeface="Meiryo UI" panose="020B0604030504040204" pitchFamily="50" charset="-128"/>
                <a:cs typeface="Arial"/>
                <a:sym typeface="Arial"/>
              </a:defRPr>
            </a:lvl1pPr>
            <a:lvl2pPr marL="914400" lvl="1" indent="-317500" algn="l">
              <a:lnSpc>
                <a:spcPct val="100000"/>
              </a:lnSpc>
              <a:spcBef>
                <a:spcPts val="500"/>
              </a:spcBef>
              <a:spcAft>
                <a:spcPts val="0"/>
              </a:spcAft>
              <a:buClr>
                <a:schemeClr val="dk1"/>
              </a:buClr>
              <a:buSzPts val="1400"/>
              <a:buFont typeface="Noto Sans Symbols"/>
              <a:buChar char="⮚"/>
              <a:defRPr sz="1400">
                <a:latin typeface="Arial"/>
                <a:ea typeface="Arial"/>
                <a:cs typeface="Arial"/>
                <a:sym typeface="Arial"/>
              </a:defRPr>
            </a:lvl2pPr>
            <a:lvl3pPr marL="1371600" lvl="2" indent="-317500" algn="l">
              <a:lnSpc>
                <a:spcPct val="100000"/>
              </a:lnSpc>
              <a:spcBef>
                <a:spcPts val="500"/>
              </a:spcBef>
              <a:spcAft>
                <a:spcPts val="0"/>
              </a:spcAft>
              <a:buClr>
                <a:schemeClr val="dk1"/>
              </a:buClr>
              <a:buSzPts val="1400"/>
              <a:buFont typeface="Noto Sans Symbols"/>
              <a:buChar char="✔"/>
              <a:defRPr sz="1400">
                <a:latin typeface="Arial"/>
                <a:ea typeface="Arial"/>
                <a:cs typeface="Arial"/>
                <a:sym typeface="Arial"/>
              </a:defRPr>
            </a:lvl3pPr>
            <a:lvl4pPr marL="1828800" lvl="3" indent="-317500" algn="l">
              <a:lnSpc>
                <a:spcPct val="100000"/>
              </a:lnSpc>
              <a:spcBef>
                <a:spcPts val="500"/>
              </a:spcBef>
              <a:spcAft>
                <a:spcPts val="0"/>
              </a:spcAft>
              <a:buClr>
                <a:schemeClr val="dk1"/>
              </a:buClr>
              <a:buSzPts val="1400"/>
              <a:buChar char="•"/>
              <a:defRPr sz="1400">
                <a:latin typeface="Arial"/>
                <a:ea typeface="Arial"/>
                <a:cs typeface="Arial"/>
                <a:sym typeface="Arial"/>
              </a:defRPr>
            </a:lvl4pPr>
            <a:lvl5pPr marL="2286000" lvl="4" indent="-317500" algn="l">
              <a:lnSpc>
                <a:spcPct val="100000"/>
              </a:lnSpc>
              <a:spcBef>
                <a:spcPts val="500"/>
              </a:spcBef>
              <a:spcAft>
                <a:spcPts val="0"/>
              </a:spcAft>
              <a:buClr>
                <a:schemeClr val="dk1"/>
              </a:buClr>
              <a:buSzPts val="1400"/>
              <a:buChar char="•"/>
              <a:defRPr sz="14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35" name="Google Shape;35;p24"/>
          <p:cNvCxnSpPr/>
          <p:nvPr/>
        </p:nvCxnSpPr>
        <p:spPr>
          <a:xfrm>
            <a:off x="334961" y="575733"/>
            <a:ext cx="11525345" cy="0"/>
          </a:xfrm>
          <a:prstGeom prst="straightConnector1">
            <a:avLst/>
          </a:prstGeom>
          <a:noFill/>
          <a:ln w="19050" cap="flat" cmpd="sng">
            <a:solidFill>
              <a:schemeClr val="accent5"/>
            </a:solidFill>
            <a:prstDash val="solid"/>
            <a:miter lim="800000"/>
            <a:headEnd type="none" w="sm" len="sm"/>
            <a:tailEnd type="none" w="sm" len="sm"/>
          </a:ln>
        </p:spPr>
      </p:cxnSp>
      <p:sp>
        <p:nvSpPr>
          <p:cNvPr id="36" name="Google Shape;36;p24"/>
          <p:cNvSpPr txBox="1">
            <a:spLocks noGrp="1"/>
          </p:cNvSpPr>
          <p:nvPr>
            <p:ph type="body" idx="2"/>
          </p:nvPr>
        </p:nvSpPr>
        <p:spPr>
          <a:xfrm>
            <a:off x="340659" y="6352338"/>
            <a:ext cx="11520000" cy="38015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787878"/>
              </a:buClr>
              <a:buSzPts val="1000"/>
              <a:buNone/>
              <a:defRPr sz="1000">
                <a:solidFill>
                  <a:srgbClr val="787878"/>
                </a:solidFill>
                <a:latin typeface="Arial"/>
                <a:ea typeface="Arial"/>
                <a:cs typeface="Arial"/>
                <a:sym typeface="Aria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4"/>
          <p:cNvSpPr txBox="1"/>
          <p:nvPr/>
        </p:nvSpPr>
        <p:spPr>
          <a:xfrm>
            <a:off x="11105812" y="6514831"/>
            <a:ext cx="983573" cy="2160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ja-JP" sz="1200">
                <a:solidFill>
                  <a:srgbClr val="787878"/>
                </a:solidFill>
                <a:latin typeface="Arial"/>
                <a:ea typeface="Arial"/>
                <a:cs typeface="Arial"/>
                <a:sym typeface="Arial"/>
              </a:rPr>
              <a:t>‹#›</a:t>
            </a:fld>
            <a:endParaRPr sz="1200">
              <a:solidFill>
                <a:srgbClr val="787878"/>
              </a:solidFill>
              <a:latin typeface="Arial"/>
              <a:ea typeface="Arial"/>
              <a:cs typeface="Arial"/>
              <a:sym typeface="Arial"/>
            </a:endParaRPr>
          </a:p>
        </p:txBody>
      </p:sp>
      <p:sp>
        <p:nvSpPr>
          <p:cNvPr id="38" name="Google Shape;38;p24"/>
          <p:cNvSpPr txBox="1">
            <a:spLocks noGrp="1"/>
          </p:cNvSpPr>
          <p:nvPr>
            <p:ph type="ftr" idx="11"/>
          </p:nvPr>
        </p:nvSpPr>
        <p:spPr>
          <a:xfrm>
            <a:off x="9877808" y="6514831"/>
            <a:ext cx="1919585" cy="216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1000">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4"/>
          <p:cNvSpPr txBox="1">
            <a:spLocks noGrp="1"/>
          </p:cNvSpPr>
          <p:nvPr>
            <p:ph type="body" idx="3" hasCustomPrompt="1"/>
          </p:nvPr>
        </p:nvSpPr>
        <p:spPr>
          <a:xfrm>
            <a:off x="340306" y="233891"/>
            <a:ext cx="11520000" cy="258947"/>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000"/>
              </a:spcBef>
              <a:spcAft>
                <a:spcPts val="0"/>
              </a:spcAft>
              <a:buClr>
                <a:srgbClr val="2D5A42"/>
              </a:buClr>
              <a:buSzPts val="1400"/>
              <a:buNone/>
              <a:defRPr sz="1400" b="1">
                <a:solidFill>
                  <a:srgbClr val="2D5A42"/>
                </a:solidFill>
                <a:latin typeface="Meiryo UI" panose="020B0604030504040204" pitchFamily="50" charset="-128"/>
                <a:ea typeface="Meiryo UI" panose="020B0604030504040204" pitchFamily="50" charset="-128"/>
                <a:cs typeface="Arial"/>
                <a:sym typeface="Arial"/>
              </a:defRPr>
            </a:lvl1pPr>
            <a:lvl2pPr marL="914400" lvl="1" indent="-317500" algn="l">
              <a:lnSpc>
                <a:spcPct val="100000"/>
              </a:lnSpc>
              <a:spcBef>
                <a:spcPts val="500"/>
              </a:spcBef>
              <a:spcAft>
                <a:spcPts val="0"/>
              </a:spcAft>
              <a:buClr>
                <a:schemeClr val="dk1"/>
              </a:buClr>
              <a:buSzPts val="1400"/>
              <a:buChar char="•"/>
              <a:defRPr sz="1400">
                <a:latin typeface="Arial"/>
                <a:ea typeface="Arial"/>
                <a:cs typeface="Arial"/>
                <a:sym typeface="Arial"/>
              </a:defRPr>
            </a:lvl2pPr>
            <a:lvl3pPr marL="1371600" lvl="2" indent="-317500" algn="l">
              <a:lnSpc>
                <a:spcPct val="100000"/>
              </a:lnSpc>
              <a:spcBef>
                <a:spcPts val="500"/>
              </a:spcBef>
              <a:spcAft>
                <a:spcPts val="0"/>
              </a:spcAft>
              <a:buClr>
                <a:schemeClr val="dk1"/>
              </a:buClr>
              <a:buSzPts val="1400"/>
              <a:buChar char="•"/>
              <a:defRPr sz="1400">
                <a:latin typeface="Arial"/>
                <a:ea typeface="Arial"/>
                <a:cs typeface="Arial"/>
                <a:sym typeface="Arial"/>
              </a:defRPr>
            </a:lvl3pPr>
            <a:lvl4pPr marL="1828800" lvl="3" indent="-317500" algn="l">
              <a:lnSpc>
                <a:spcPct val="100000"/>
              </a:lnSpc>
              <a:spcBef>
                <a:spcPts val="500"/>
              </a:spcBef>
              <a:spcAft>
                <a:spcPts val="0"/>
              </a:spcAft>
              <a:buClr>
                <a:schemeClr val="dk1"/>
              </a:buClr>
              <a:buSzPts val="1400"/>
              <a:buChar char="•"/>
              <a:defRPr sz="1400">
                <a:latin typeface="Arial"/>
                <a:ea typeface="Arial"/>
                <a:cs typeface="Arial"/>
                <a:sym typeface="Arial"/>
              </a:defRPr>
            </a:lvl4pPr>
            <a:lvl5pPr marL="2286000" lvl="4" indent="-317500" algn="l">
              <a:lnSpc>
                <a:spcPct val="100000"/>
              </a:lnSpc>
              <a:spcBef>
                <a:spcPts val="500"/>
              </a:spcBef>
              <a:spcAft>
                <a:spcPts val="0"/>
              </a:spcAft>
              <a:buClr>
                <a:schemeClr val="dk1"/>
              </a:buClr>
              <a:buSzPts val="1400"/>
              <a:buChar char="•"/>
              <a:defRPr sz="1400">
                <a:latin typeface="Arial"/>
                <a:ea typeface="Arial"/>
                <a:cs typeface="Arial"/>
                <a:sym typeface="Aria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dirty="0"/>
              <a:t>xxx</a:t>
            </a:r>
            <a:endParaRPr dirty="0"/>
          </a:p>
        </p:txBody>
      </p:sp>
      <p:grpSp>
        <p:nvGrpSpPr>
          <p:cNvPr id="40" name="Google Shape;40;p24"/>
          <p:cNvGrpSpPr/>
          <p:nvPr/>
        </p:nvGrpSpPr>
        <p:grpSpPr>
          <a:xfrm>
            <a:off x="-790684" y="2588774"/>
            <a:ext cx="616229" cy="1587897"/>
            <a:chOff x="-790684" y="26356"/>
            <a:chExt cx="616229" cy="1587897"/>
          </a:xfrm>
        </p:grpSpPr>
        <p:sp>
          <p:nvSpPr>
            <p:cNvPr id="41" name="Google Shape;41;p24"/>
            <p:cNvSpPr/>
            <p:nvPr/>
          </p:nvSpPr>
          <p:spPr>
            <a:xfrm>
              <a:off x="-420676" y="27573"/>
              <a:ext cx="246221" cy="246221"/>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2" name="Google Shape;42;p24"/>
            <p:cNvSpPr/>
            <p:nvPr/>
          </p:nvSpPr>
          <p:spPr>
            <a:xfrm>
              <a:off x="-420677" y="272577"/>
              <a:ext cx="246221" cy="246221"/>
            </a:xfrm>
            <a:prstGeom prst="rect">
              <a:avLst/>
            </a:prstGeom>
            <a:solidFill>
              <a:srgbClr val="1F302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3" name="Google Shape;43;p24"/>
            <p:cNvSpPr/>
            <p:nvPr/>
          </p:nvSpPr>
          <p:spPr>
            <a:xfrm>
              <a:off x="-422027" y="740515"/>
              <a:ext cx="246221" cy="246221"/>
            </a:xfrm>
            <a:prstGeom prst="rect">
              <a:avLst/>
            </a:prstGeom>
            <a:solidFill>
              <a:srgbClr val="3F755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4" name="Google Shape;44;p24"/>
            <p:cNvSpPr/>
            <p:nvPr/>
          </p:nvSpPr>
          <p:spPr>
            <a:xfrm>
              <a:off x="-422027" y="984911"/>
              <a:ext cx="246221" cy="246221"/>
            </a:xfrm>
            <a:prstGeom prst="rect">
              <a:avLst/>
            </a:prstGeom>
            <a:solidFill>
              <a:srgbClr val="5A957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5" name="Google Shape;45;p24"/>
            <p:cNvSpPr/>
            <p:nvPr/>
          </p:nvSpPr>
          <p:spPr>
            <a:xfrm>
              <a:off x="-790009" y="26356"/>
              <a:ext cx="246221" cy="246221"/>
            </a:xfrm>
            <a:prstGeom prst="rect">
              <a:avLst/>
            </a:prstGeom>
            <a:solidFill>
              <a:srgbClr val="B8935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 name="Google Shape;46;p24"/>
            <p:cNvSpPr/>
            <p:nvPr/>
          </p:nvSpPr>
          <p:spPr>
            <a:xfrm>
              <a:off x="-790009" y="248073"/>
              <a:ext cx="246221" cy="246221"/>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7" name="Google Shape;47;p24"/>
            <p:cNvSpPr/>
            <p:nvPr/>
          </p:nvSpPr>
          <p:spPr>
            <a:xfrm>
              <a:off x="-790684" y="494294"/>
              <a:ext cx="246221" cy="246221"/>
            </a:xfrm>
            <a:prstGeom prst="rect">
              <a:avLst/>
            </a:prstGeom>
            <a:solidFill>
              <a:srgbClr val="E6B7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8" name="Google Shape;48;p24"/>
            <p:cNvSpPr/>
            <p:nvPr/>
          </p:nvSpPr>
          <p:spPr>
            <a:xfrm>
              <a:off x="-420678" y="518190"/>
              <a:ext cx="246221" cy="246221"/>
            </a:xfrm>
            <a:prstGeom prst="rect">
              <a:avLst/>
            </a:prstGeom>
            <a:solidFill>
              <a:srgbClr val="2D5A4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9" name="Google Shape;49;p24"/>
            <p:cNvSpPr/>
            <p:nvPr/>
          </p:nvSpPr>
          <p:spPr>
            <a:xfrm>
              <a:off x="-422027" y="1223588"/>
              <a:ext cx="246221" cy="246221"/>
            </a:xfrm>
            <a:prstGeom prst="rect">
              <a:avLst/>
            </a:prstGeom>
            <a:solidFill>
              <a:srgbClr val="77B99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 name="Google Shape;50;p24"/>
            <p:cNvSpPr/>
            <p:nvPr/>
          </p:nvSpPr>
          <p:spPr>
            <a:xfrm>
              <a:off x="-790009" y="900094"/>
              <a:ext cx="246221" cy="246221"/>
            </a:xfrm>
            <a:prstGeom prst="rect">
              <a:avLst/>
            </a:prstGeom>
            <a:solidFill>
              <a:srgbClr val="7F7F7F"/>
            </a:solidFill>
            <a:ln w="1905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 name="Google Shape;51;p24"/>
            <p:cNvSpPr/>
            <p:nvPr/>
          </p:nvSpPr>
          <p:spPr>
            <a:xfrm>
              <a:off x="-790009" y="1121811"/>
              <a:ext cx="246221" cy="246221"/>
            </a:xfrm>
            <a:prstGeom prst="rect">
              <a:avLst/>
            </a:prstGeom>
            <a:solidFill>
              <a:srgbClr val="BFBFBF"/>
            </a:soli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 name="Google Shape;52;p24"/>
            <p:cNvSpPr/>
            <p:nvPr/>
          </p:nvSpPr>
          <p:spPr>
            <a:xfrm>
              <a:off x="-790684" y="1368032"/>
              <a:ext cx="246221" cy="246221"/>
            </a:xfrm>
            <a:prstGeom prst="rect">
              <a:avLst/>
            </a:prstGeom>
            <a:solidFill>
              <a:srgbClr val="F2F2F2"/>
            </a:solidFill>
            <a:ln w="19050" cap="flat" cmpd="sng">
              <a:solidFill>
                <a:srgbClr val="F2F2F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Tree>
    <p:extLst>
      <p:ext uri="{BB962C8B-B14F-4D97-AF65-F5344CB8AC3E}">
        <p14:creationId xmlns:p14="http://schemas.microsoft.com/office/powerpoint/2010/main" val="16882023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42">
          <p15:clr>
            <a:srgbClr val="FBAE40"/>
          </p15:clr>
        </p15:guide>
        <p15:guide id="4" pos="3953">
          <p15:clr>
            <a:srgbClr val="FBAE40"/>
          </p15:clr>
        </p15:guide>
        <p15:guide id="5" pos="3727">
          <p15:clr>
            <a:srgbClr val="FBAE40"/>
          </p15:clr>
        </p15:guide>
        <p15:guide id="6" orient="horz" pos="323">
          <p15:clr>
            <a:srgbClr val="FBAE40"/>
          </p15:clr>
        </p15:guide>
        <p15:guide id="7" orient="horz" pos="3952">
          <p15:clr>
            <a:srgbClr val="FBAE40"/>
          </p15:clr>
        </p15:guide>
        <p15:guide id="8" pos="7469">
          <p15:clr>
            <a:srgbClr val="FBAE40"/>
          </p15:clr>
        </p15:guide>
        <p15:guide id="9" pos="211">
          <p15:clr>
            <a:srgbClr val="FBAE40"/>
          </p15:clr>
        </p15:guide>
        <p15:guide id="10" orient="horz" pos="4247">
          <p15:clr>
            <a:srgbClr val="FBAE40"/>
          </p15:clr>
        </p15:guide>
        <p15:guide id="11" orient="horz" pos="407">
          <p15:clr>
            <a:srgbClr val="FBAE40"/>
          </p15:clr>
        </p15:guide>
        <p15:guide id="12" orient="horz" pos="3987">
          <p15:clr>
            <a:srgbClr val="FBAE40"/>
          </p15:clr>
        </p15:guide>
        <p15:guide id="13" orient="horz" pos="981">
          <p15:clr>
            <a:srgbClr val="FBAE40"/>
          </p15:clr>
        </p15:guide>
        <p15:guide id="14" orient="horz" pos="102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164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30E7F0F-E018-30EE-33DE-1664BD871672}"/>
              </a:ext>
            </a:extLst>
          </p:cNvPr>
          <p:cNvGraphicFramePr>
            <a:graphicFrameLocks/>
          </p:cNvGraphicFramePr>
          <p:nvPr userDrawn="1">
            <p:custDataLst>
              <p:tags r:id="rId14"/>
            </p:custDataLst>
            <p:extLst>
              <p:ext uri="{D42A27DB-BD31-4B8C-83A1-F6EECF244321}">
                <p14:modId xmlns:p14="http://schemas.microsoft.com/office/powerpoint/2010/main" val="91253361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スライド" r:id="rId15" imgW="7772400" imgH="10058400" progId="TCLayout.ActiveDocument.1">
                  <p:embed/>
                </p:oleObj>
              </mc:Choice>
              <mc:Fallback>
                <p:oleObj name="think-cellスライド" r:id="rId15" imgW="7772400" imgH="10058400" progId="TCLayout.ActiveDocument.1">
                  <p:embed/>
                  <p:pic>
                    <p:nvPicPr>
                      <p:cNvPr id="0" name=""/>
                      <p:cNvPicPr/>
                      <p:nvPr/>
                    </p:nvPicPr>
                    <p:blipFill>
                      <a:blip r:embed="rId16"/>
                      <a:stretch>
                        <a:fillRect/>
                      </a:stretch>
                    </p:blipFill>
                    <p:spPr>
                      <a:xfrm>
                        <a:off x="1588" y="1588"/>
                        <a:ext cx="1227"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E8693852-EDA2-F937-8832-DE418A88F6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7B045977-3D1E-EADF-E9A3-44FAC2629A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フッター プレースホルダー 6">
            <a:extLst>
              <a:ext uri="{FF2B5EF4-FFF2-40B4-BE49-F238E27FC236}">
                <a16:creationId xmlns:a16="http://schemas.microsoft.com/office/drawing/2014/main" id="{1E3FB325-DB18-F612-4747-BDF002EF3A13}"/>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kumimoji="1" lang="en-US" altLang="ja-JP" dirty="0"/>
              <a:t>Boost Consulting, Inc.</a:t>
            </a:r>
            <a:endParaRPr kumimoji="1" lang="ja-JP" altLang="en-US"/>
          </a:p>
        </p:txBody>
      </p:sp>
      <p:sp>
        <p:nvSpPr>
          <p:cNvPr id="4" name="スライド番号プレースホルダー 3">
            <a:extLst>
              <a:ext uri="{FF2B5EF4-FFF2-40B4-BE49-F238E27FC236}">
                <a16:creationId xmlns:a16="http://schemas.microsoft.com/office/drawing/2014/main" id="{2605EFEC-8A27-668A-723D-6EC9B36E3C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0CFDC3F-3EA4-40A0-B69B-E08060D05F31}" type="slidenum">
              <a:rPr kumimoji="1" lang="ja-JP" altLang="en-US" smtClean="0"/>
              <a:t>‹#›</a:t>
            </a:fld>
            <a:endParaRPr kumimoji="1" lang="ja-JP" altLang="en-US"/>
          </a:p>
        </p:txBody>
      </p:sp>
    </p:spTree>
    <p:extLst>
      <p:ext uri="{BB962C8B-B14F-4D97-AF65-F5344CB8AC3E}">
        <p14:creationId xmlns:p14="http://schemas.microsoft.com/office/powerpoint/2010/main" val="1613692388"/>
      </p:ext>
    </p:extLst>
  </p:cSld>
  <p:clrMap bg1="lt1" tx1="dk1" bg2="lt2" tx2="dk2" accent1="accent1" accent2="accent2" accent3="accent3" accent4="accent4" accent5="accent5" accent6="accent6" hlink="hlink" folHlink="folHlink"/>
  <p:sldLayoutIdLst>
    <p:sldLayoutId id="2147483688" r:id="rId1"/>
    <p:sldLayoutId id="2147483682" r:id="rId2"/>
    <p:sldLayoutId id="2147483684" r:id="rId3"/>
    <p:sldLayoutId id="2147483685" r:id="rId4"/>
    <p:sldLayoutId id="2147483689" r:id="rId5"/>
    <p:sldLayoutId id="2147483686" r:id="rId6"/>
    <p:sldLayoutId id="2147483650" r:id="rId7"/>
    <p:sldLayoutId id="2147483706" r:id="rId8"/>
    <p:sldLayoutId id="2147483703" r:id="rId9"/>
    <p:sldLayoutId id="2147483687" r:id="rId10"/>
    <p:sldLayoutId id="2147483704" r:id="rId11"/>
    <p:sldLayoutId id="2147483705" r:id="rId12"/>
  </p:sldLayoutIdLst>
  <p:hf hdr="0" dt="0"/>
  <p:txStyles>
    <p:titleStyle>
      <a:lvl1pPr algn="l" defTabSz="914400" rtl="0" eaLnBrk="1" latinLnBrk="0" hangingPunct="1">
        <a:lnSpc>
          <a:spcPct val="90000"/>
        </a:lnSpc>
        <a:spcBef>
          <a:spcPct val="0"/>
        </a:spcBef>
        <a:buNone/>
        <a:defRPr sz="4400" b="1"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notesSlide" Target="../notesSlides/notesSlide5.xml"/><Relationship Id="rId16" Type="http://schemas.openxmlformats.org/officeDocument/2006/relationships/image" Target="../media/image21.png"/><Relationship Id="rId1" Type="http://schemas.openxmlformats.org/officeDocument/2006/relationships/slideLayout" Target="../slideLayouts/slideLayout1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3.png"/><Relationship Id="rId7"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27.png"/><Relationship Id="rId5" Type="http://schemas.openxmlformats.org/officeDocument/2006/relationships/image" Target="../media/image25.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1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3.png"/><Relationship Id="rId7"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35.png"/><Relationship Id="rId5" Type="http://schemas.openxmlformats.org/officeDocument/2006/relationships/image" Target="../media/image28.png"/><Relationship Id="rId4" Type="http://schemas.openxmlformats.org/officeDocument/2006/relationships/image" Target="../media/image25.png"/><Relationship Id="rId9" Type="http://schemas.openxmlformats.org/officeDocument/2006/relationships/image" Target="../media/image38.png"/></Relationships>
</file>

<file path=ppt/slides/_rels/slide1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9.png"/><Relationship Id="rId7" Type="http://schemas.openxmlformats.org/officeDocument/2006/relationships/image" Target="../media/image25.png"/><Relationship Id="rId12" Type="http://schemas.openxmlformats.org/officeDocument/2006/relationships/image" Target="../media/image47.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42.png"/><Relationship Id="rId11" Type="http://schemas.openxmlformats.org/officeDocument/2006/relationships/image" Target="../media/image46.png"/><Relationship Id="rId5" Type="http://schemas.openxmlformats.org/officeDocument/2006/relationships/image" Target="../media/image41.png"/><Relationship Id="rId10" Type="http://schemas.openxmlformats.org/officeDocument/2006/relationships/image" Target="../media/image45.png"/><Relationship Id="rId4" Type="http://schemas.openxmlformats.org/officeDocument/2006/relationships/image" Target="../media/image40.png"/><Relationship Id="rId9" Type="http://schemas.openxmlformats.org/officeDocument/2006/relationships/image" Target="../media/image44.png"/></Relationships>
</file>

<file path=ppt/slides/_rels/slide13.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3.png"/><Relationship Id="rId7" Type="http://schemas.openxmlformats.org/officeDocument/2006/relationships/image" Target="../media/image56.png"/><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image" Target="../media/image55.png"/><Relationship Id="rId11" Type="http://schemas.openxmlformats.org/officeDocument/2006/relationships/image" Target="../media/image59.png"/><Relationship Id="rId5" Type="http://schemas.openxmlformats.org/officeDocument/2006/relationships/image" Target="../media/image54.png"/><Relationship Id="rId10" Type="http://schemas.openxmlformats.org/officeDocument/2006/relationships/image" Target="../media/image58.png"/><Relationship Id="rId4" Type="http://schemas.openxmlformats.org/officeDocument/2006/relationships/image" Target="../media/image28.png"/><Relationship Id="rId9" Type="http://schemas.openxmlformats.org/officeDocument/2006/relationships/image" Target="../media/image57.png"/></Relationships>
</file>

<file path=ppt/slides/_rels/slide15.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23.png"/><Relationship Id="rId7" Type="http://schemas.openxmlformats.org/officeDocument/2006/relationships/image" Target="../media/image62.png"/><Relationship Id="rId12"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61.png"/><Relationship Id="rId11" Type="http://schemas.openxmlformats.org/officeDocument/2006/relationships/image" Target="../media/image65.png"/><Relationship Id="rId5" Type="http://schemas.openxmlformats.org/officeDocument/2006/relationships/image" Target="../media/image60.png"/><Relationship Id="rId10" Type="http://schemas.openxmlformats.org/officeDocument/2006/relationships/image" Target="../media/image64.png"/><Relationship Id="rId4" Type="http://schemas.openxmlformats.org/officeDocument/2006/relationships/image" Target="../media/image28.png"/><Relationship Id="rId9" Type="http://schemas.openxmlformats.org/officeDocument/2006/relationships/image" Target="../media/image63.png"/></Relationships>
</file>

<file path=ppt/slides/_rels/slide16.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70.pn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29.png"/><Relationship Id="rId11" Type="http://schemas.openxmlformats.org/officeDocument/2006/relationships/image" Target="../media/image69.png"/><Relationship Id="rId5" Type="http://schemas.openxmlformats.org/officeDocument/2006/relationships/image" Target="../media/image28.png"/><Relationship Id="rId10" Type="http://schemas.openxmlformats.org/officeDocument/2006/relationships/image" Target="../media/image68.png"/><Relationship Id="rId4" Type="http://schemas.openxmlformats.org/officeDocument/2006/relationships/image" Target="../media/image25.png"/><Relationship Id="rId9" Type="http://schemas.openxmlformats.org/officeDocument/2006/relationships/image" Target="../media/image67.png"/></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71.png"/><Relationship Id="rId7" Type="http://schemas.openxmlformats.org/officeDocument/2006/relationships/image" Target="../media/image73.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72.png"/><Relationship Id="rId5" Type="http://schemas.openxmlformats.org/officeDocument/2006/relationships/image" Target="../media/image26.png"/><Relationship Id="rId4" Type="http://schemas.openxmlformats.org/officeDocument/2006/relationships/image" Target="../media/image58.png"/><Relationship Id="rId9" Type="http://schemas.openxmlformats.org/officeDocument/2006/relationships/image" Target="../media/image7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tags" Target="../tags/tag6.xml"/><Relationship Id="rId4" Type="http://schemas.openxmlformats.org/officeDocument/2006/relationships/image" Target="../media/image75.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tags" Target="../tags/tag7.xml"/><Relationship Id="rId4" Type="http://schemas.openxmlformats.org/officeDocument/2006/relationships/image" Target="../media/image76.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80.jpg"/><Relationship Id="rId5" Type="http://schemas.openxmlformats.org/officeDocument/2006/relationships/image" Target="../media/image79.png"/><Relationship Id="rId4" Type="http://schemas.openxmlformats.org/officeDocument/2006/relationships/image" Target="../media/image78.png"/></Relationships>
</file>

<file path=ppt/slides/_rels/slide2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2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a:extLst>
              <a:ext uri="{FF2B5EF4-FFF2-40B4-BE49-F238E27FC236}">
                <a16:creationId xmlns:a16="http://schemas.microsoft.com/office/drawing/2014/main" id="{FC66EE7B-64D5-43B6-33D1-48C39410C4C3}"/>
              </a:ext>
            </a:extLst>
          </p:cNvPr>
          <p:cNvSpPr/>
          <p:nvPr/>
        </p:nvSpPr>
        <p:spPr>
          <a:xfrm>
            <a:off x="338328" y="1371600"/>
            <a:ext cx="7589520" cy="365760"/>
          </a:xfrm>
          <a:prstGeom prst="rect">
            <a:avLst/>
          </a:prstGeom>
          <a:noFill/>
          <a:ln/>
        </p:spPr>
        <p:txBody>
          <a:bodyPr wrap="square" lIns="177800" tIns="177800" rIns="177800" bIns="177800" rtlCol="0" anchor="ctr"/>
          <a:lstStyle/>
          <a:p>
            <a:r>
              <a:rPr lang="ja-JP" altLang="en-US" sz="1600"/>
              <a:t>大日本印刷株式会社</a:t>
            </a:r>
            <a:r>
              <a:rPr lang="en-US" altLang="ja-JP" sz="1600" dirty="0"/>
              <a:t> </a:t>
            </a:r>
            <a:r>
              <a:rPr lang="ja-JP" altLang="en-US" sz="1600"/>
              <a:t>御中</a:t>
            </a:r>
            <a:endParaRPr lang="en-US" sz="1600" dirty="0"/>
          </a:p>
        </p:txBody>
      </p:sp>
      <p:sp>
        <p:nvSpPr>
          <p:cNvPr id="5" name="Text 2">
            <a:extLst>
              <a:ext uri="{FF2B5EF4-FFF2-40B4-BE49-F238E27FC236}">
                <a16:creationId xmlns:a16="http://schemas.microsoft.com/office/drawing/2014/main" id="{B5E487F7-5C2D-982B-E87B-D2E188A46650}"/>
              </a:ext>
            </a:extLst>
          </p:cNvPr>
          <p:cNvSpPr/>
          <p:nvPr/>
        </p:nvSpPr>
        <p:spPr>
          <a:xfrm>
            <a:off x="338328" y="2743200"/>
            <a:ext cx="7589520" cy="548640"/>
          </a:xfrm>
          <a:prstGeom prst="rect">
            <a:avLst/>
          </a:prstGeom>
          <a:noFill/>
          <a:ln/>
        </p:spPr>
        <p:txBody>
          <a:bodyPr wrap="square" lIns="177800" tIns="177800" rIns="177800" bIns="177800" rtlCol="0" anchor="ctr"/>
          <a:lstStyle/>
          <a:p>
            <a:pPr marL="0" indent="0">
              <a:buNone/>
            </a:pPr>
            <a:r>
              <a:rPr lang="en-US" sz="3200" b="1" dirty="0">
                <a:solidFill>
                  <a:srgbClr val="1A1A1A"/>
                </a:solidFill>
                <a:latin typeface="Meiryo UI" pitchFamily="34" charset="0"/>
                <a:ea typeface="Meiryo UI" pitchFamily="34" charset="-122"/>
                <a:cs typeface="Meiryo UI" pitchFamily="34" charset="-120"/>
              </a:rPr>
              <a:t>AI </a:t>
            </a:r>
            <a:r>
              <a:rPr lang="en-US" sz="3200" b="1" dirty="0" err="1">
                <a:solidFill>
                  <a:srgbClr val="1A1A1A"/>
                </a:solidFill>
                <a:latin typeface="Meiryo UI" pitchFamily="34" charset="0"/>
                <a:ea typeface="Meiryo UI" pitchFamily="34" charset="-122"/>
                <a:cs typeface="Meiryo UI" pitchFamily="34" charset="-120"/>
              </a:rPr>
              <a:t>OCRモジュールのご紹介</a:t>
            </a:r>
            <a:endParaRPr lang="en-US" sz="3200" dirty="0"/>
          </a:p>
        </p:txBody>
      </p:sp>
      <p:sp>
        <p:nvSpPr>
          <p:cNvPr id="7" name="Text 4">
            <a:extLst>
              <a:ext uri="{FF2B5EF4-FFF2-40B4-BE49-F238E27FC236}">
                <a16:creationId xmlns:a16="http://schemas.microsoft.com/office/drawing/2014/main" id="{5E346885-55DB-13AA-16BB-4EF6E6B86819}"/>
              </a:ext>
            </a:extLst>
          </p:cNvPr>
          <p:cNvSpPr/>
          <p:nvPr/>
        </p:nvSpPr>
        <p:spPr>
          <a:xfrm>
            <a:off x="338328" y="6035040"/>
            <a:ext cx="7589520" cy="274320"/>
          </a:xfrm>
          <a:prstGeom prst="rect">
            <a:avLst/>
          </a:prstGeom>
          <a:noFill/>
          <a:ln/>
        </p:spPr>
        <p:txBody>
          <a:bodyPr wrap="square" lIns="177800" tIns="177800" rIns="177800" bIns="177800" rtlCol="0" anchor="ctr"/>
          <a:lstStyle/>
          <a:p>
            <a:pPr marL="0" indent="0">
              <a:buNone/>
            </a:pPr>
            <a:r>
              <a:rPr lang="en-US" sz="1400" dirty="0">
                <a:solidFill>
                  <a:srgbClr val="666666"/>
                </a:solidFill>
                <a:latin typeface="Meiryo UI" pitchFamily="34" charset="0"/>
                <a:ea typeface="Meiryo UI" pitchFamily="34" charset="-122"/>
                <a:cs typeface="Meiryo UI" pitchFamily="34" charset="-120"/>
              </a:rPr>
              <a:t>2026年 3月11日 | </a:t>
            </a:r>
            <a:r>
              <a:rPr lang="en-US" sz="1400" dirty="0" err="1">
                <a:solidFill>
                  <a:srgbClr val="666666"/>
                </a:solidFill>
                <a:latin typeface="Meiryo UI" pitchFamily="34" charset="0"/>
                <a:ea typeface="Meiryo UI" pitchFamily="34" charset="-122"/>
                <a:cs typeface="Meiryo UI" pitchFamily="34" charset="-120"/>
              </a:rPr>
              <a:t>ブーストコンサルティング株式会社</a:t>
            </a:r>
            <a:endParaRPr lang="en-US" sz="1400" dirty="0"/>
          </a:p>
        </p:txBody>
      </p:sp>
    </p:spTree>
    <p:extLst>
      <p:ext uri="{BB962C8B-B14F-4D97-AF65-F5344CB8AC3E}">
        <p14:creationId xmlns:p14="http://schemas.microsoft.com/office/powerpoint/2010/main" val="1442450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DFF90DA-D7BA-CD2C-15C5-43762E4E32BB}"/>
              </a:ext>
            </a:extLst>
          </p:cNvPr>
          <p:cNvSpPr>
            <a:spLocks noGrp="1"/>
          </p:cNvSpPr>
          <p:nvPr>
            <p:ph type="ftr" sz="quarter" idx="11"/>
          </p:nvPr>
        </p:nvSpPr>
        <p:spPr/>
        <p:txBody>
          <a:bodyPr/>
          <a:lstStyle/>
          <a:p>
            <a:pPr>
              <a:defRPr/>
            </a:pPr>
            <a:r>
              <a:rPr kumimoji="1" lang="en-US" altLang="ja-JP">
                <a:solidFill>
                  <a:srgbClr val="FFFFFF">
                    <a:lumMod val="75000"/>
                  </a:srgbClr>
                </a:solidFill>
              </a:rPr>
              <a:t>©️ 2026 boostconsulting Inc.</a:t>
            </a:r>
            <a:endParaRPr kumimoji="1" lang="ja-JP" altLang="en-US" dirty="0">
              <a:solidFill>
                <a:srgbClr val="FFFFFF">
                  <a:lumMod val="75000"/>
                </a:srgbClr>
              </a:solidFill>
              <a:latin typeface="+mn-lt"/>
            </a:endParaRPr>
          </a:p>
        </p:txBody>
      </p:sp>
      <p:sp>
        <p:nvSpPr>
          <p:cNvPr id="3" name="Google Shape;401;p2">
            <a:extLst>
              <a:ext uri="{FF2B5EF4-FFF2-40B4-BE49-F238E27FC236}">
                <a16:creationId xmlns:a16="http://schemas.microsoft.com/office/drawing/2014/main" id="{85027239-BFD0-C1EA-190B-1103864C85AC}"/>
              </a:ext>
            </a:extLst>
          </p:cNvPr>
          <p:cNvSpPr/>
          <p:nvPr/>
        </p:nvSpPr>
        <p:spPr>
          <a:xfrm>
            <a:off x="3091068" y="1423607"/>
            <a:ext cx="6786739" cy="4010785"/>
          </a:xfrm>
          <a:prstGeom prst="rect">
            <a:avLst/>
          </a:prstGeom>
          <a:noFill/>
          <a:ln>
            <a:noFill/>
          </a:ln>
        </p:spPr>
        <p:txBody>
          <a:bodyPr spcFirstLastPara="1" wrap="square" lIns="91425" tIns="45700" rIns="91425" bIns="45700" anchor="ctr" anchorCtr="0">
            <a:noAutofit/>
          </a:bodyPr>
          <a:lstStyle/>
          <a:p>
            <a:pPr marL="514350" marR="0" lvl="0" indent="-514350" algn="l" rtl="0">
              <a:lnSpc>
                <a:spcPct val="150000"/>
              </a:lnSpc>
              <a:spcBef>
                <a:spcPts val="0"/>
              </a:spcBef>
              <a:spcAft>
                <a:spcPts val="0"/>
              </a:spcAft>
              <a:buClr>
                <a:schemeClr val="dk1"/>
              </a:buClr>
              <a:buSzPts val="1400"/>
              <a:buFont typeface="+mj-lt"/>
              <a:buAutoNum type="romanLcPeriod"/>
            </a:pPr>
            <a:r>
              <a:rPr lang="ja-JP" altLang="en-US" sz="2400" b="1">
                <a:solidFill>
                  <a:schemeClr val="dk1"/>
                </a:solidFill>
                <a:latin typeface="Meiryo UI" panose="020B0604030504040204" pitchFamily="50" charset="-128"/>
                <a:ea typeface="Meiryo UI" panose="020B0604030504040204" pitchFamily="50" charset="-128"/>
                <a:sym typeface="Arial"/>
              </a:rPr>
              <a:t>課題認識の整理</a:t>
            </a:r>
            <a:endParaRPr sz="2400" b="1" dirty="0">
              <a:solidFill>
                <a:schemeClr val="dk1"/>
              </a:solidFill>
              <a:latin typeface="Meiryo UI" panose="020B0604030504040204" pitchFamily="50" charset="-128"/>
              <a:ea typeface="Meiryo UI" panose="020B0604030504040204" pitchFamily="50" charset="-128"/>
              <a:sym typeface="Arial"/>
            </a:endParaRPr>
          </a:p>
          <a:p>
            <a:pPr marL="514350" marR="0" lvl="0" indent="-514350" algn="l" rtl="0">
              <a:lnSpc>
                <a:spcPct val="150000"/>
              </a:lnSpc>
              <a:spcBef>
                <a:spcPts val="0"/>
              </a:spcBef>
              <a:spcAft>
                <a:spcPts val="0"/>
              </a:spcAft>
              <a:buClr>
                <a:schemeClr val="dk1"/>
              </a:buClr>
              <a:buSzPts val="1400"/>
              <a:buFont typeface="+mj-lt"/>
              <a:buAutoNum type="romanLcPeriod"/>
            </a:pPr>
            <a:r>
              <a:rPr lang="ja-JP" altLang="en-US" sz="2400" b="1">
                <a:solidFill>
                  <a:schemeClr val="dk1"/>
                </a:solidFill>
                <a:latin typeface="Meiryo UI" panose="020B0604030504040204" pitchFamily="50" charset="-128"/>
                <a:ea typeface="Meiryo UI" panose="020B0604030504040204" pitchFamily="50" charset="-128"/>
                <a:sym typeface="Arial"/>
              </a:rPr>
              <a:t>従来</a:t>
            </a:r>
            <a:r>
              <a:rPr lang="en-US" altLang="ja-JP" sz="2400" b="1" dirty="0">
                <a:solidFill>
                  <a:schemeClr val="dk1"/>
                </a:solidFill>
                <a:latin typeface="Meiryo UI" panose="020B0604030504040204" pitchFamily="50" charset="-128"/>
                <a:ea typeface="Meiryo UI" panose="020B0604030504040204" pitchFamily="50" charset="-128"/>
                <a:sym typeface="Arial"/>
              </a:rPr>
              <a:t>OCR vs MLLM-OCR</a:t>
            </a:r>
          </a:p>
          <a:p>
            <a:pPr marL="514350" lvl="0" indent="-514350">
              <a:lnSpc>
                <a:spcPct val="150000"/>
              </a:lnSpc>
              <a:buClr>
                <a:schemeClr val="dk1"/>
              </a:buClr>
              <a:buSzPts val="1400"/>
              <a:buFont typeface="+mj-lt"/>
              <a:buAutoNum type="romanLcPeriod"/>
            </a:pPr>
            <a:r>
              <a:rPr lang="en-US" altLang="ja-JP" sz="2400" b="1" dirty="0">
                <a:solidFill>
                  <a:schemeClr val="dk1"/>
                </a:solidFill>
                <a:latin typeface="Meiryo UI" panose="020B0604030504040204" pitchFamily="50" charset="-128"/>
                <a:ea typeface="Meiryo UI" panose="020B0604030504040204" pitchFamily="50" charset="-128"/>
                <a:sym typeface="Arial"/>
              </a:rPr>
              <a:t>MLLM-OCR</a:t>
            </a:r>
            <a:r>
              <a:rPr lang="ja-JP" altLang="en-US" sz="2400" b="1">
                <a:solidFill>
                  <a:schemeClr val="dk1"/>
                </a:solidFill>
                <a:latin typeface="Meiryo UI" panose="020B0604030504040204" pitchFamily="50" charset="-128"/>
                <a:ea typeface="Meiryo UI" panose="020B0604030504040204" pitchFamily="50" charset="-128"/>
                <a:sym typeface="Arial"/>
              </a:rPr>
              <a:t>の</a:t>
            </a:r>
            <a:r>
              <a:rPr lang="en-US" altLang="ja-JP" sz="2400" b="1" dirty="0">
                <a:solidFill>
                  <a:schemeClr val="dk1"/>
                </a:solidFill>
                <a:latin typeface="Meiryo UI" panose="020B0604030504040204" pitchFamily="50" charset="-128"/>
                <a:ea typeface="Meiryo UI" panose="020B0604030504040204" pitchFamily="50" charset="-128"/>
                <a:sym typeface="Arial"/>
              </a:rPr>
              <a:t>3</a:t>
            </a:r>
            <a:r>
              <a:rPr lang="ja-JP" altLang="en-US" sz="2400" b="1">
                <a:solidFill>
                  <a:schemeClr val="dk1"/>
                </a:solidFill>
                <a:latin typeface="Meiryo UI" panose="020B0604030504040204" pitchFamily="50" charset="-128"/>
                <a:ea typeface="Meiryo UI" panose="020B0604030504040204" pitchFamily="50" charset="-128"/>
                <a:sym typeface="Arial"/>
              </a:rPr>
              <a:t>ステップ処理フロー</a:t>
            </a:r>
          </a:p>
          <a:p>
            <a:pPr marL="514350" marR="0" lvl="0" indent="-514350" algn="l" rtl="0">
              <a:lnSpc>
                <a:spcPct val="150000"/>
              </a:lnSpc>
              <a:spcBef>
                <a:spcPts val="0"/>
              </a:spcBef>
              <a:spcAft>
                <a:spcPts val="0"/>
              </a:spcAft>
              <a:buClr>
                <a:schemeClr val="dk1"/>
              </a:buClr>
              <a:buSzPts val="1400"/>
              <a:buFont typeface="+mj-lt"/>
              <a:buAutoNum type="romanLcPeriod"/>
            </a:pPr>
            <a:r>
              <a:rPr lang="en-US" sz="2400" b="1" dirty="0" err="1">
                <a:solidFill>
                  <a:schemeClr val="dk1"/>
                </a:solidFill>
                <a:latin typeface="Meiryo UI" panose="020B0604030504040204" pitchFamily="50" charset="-128"/>
                <a:ea typeface="Meiryo UI" panose="020B0604030504040204" pitchFamily="50" charset="-128"/>
                <a:sym typeface="Arial"/>
              </a:rPr>
              <a:t>デモのご紹介</a:t>
            </a:r>
            <a:endParaRPr sz="2400" b="1" dirty="0">
              <a:solidFill>
                <a:schemeClr val="dk1"/>
              </a:solidFill>
              <a:latin typeface="Meiryo UI" panose="020B0604030504040204" pitchFamily="50" charset="-128"/>
              <a:ea typeface="Meiryo UI" panose="020B0604030504040204" pitchFamily="50" charset="-128"/>
              <a:sym typeface="Arial"/>
            </a:endParaRPr>
          </a:p>
        </p:txBody>
      </p:sp>
    </p:spTree>
    <p:extLst>
      <p:ext uri="{BB962C8B-B14F-4D97-AF65-F5344CB8AC3E}">
        <p14:creationId xmlns:p14="http://schemas.microsoft.com/office/powerpoint/2010/main" val="2441804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38328" y="237744"/>
            <a:ext cx="11521440" cy="256032"/>
          </a:xfrm>
          <a:prstGeom prst="rect">
            <a:avLst/>
          </a:prstGeom>
          <a:noFill/>
          <a:ln/>
        </p:spPr>
        <p:txBody>
          <a:bodyPr wrap="square" lIns="0" tIns="0" rIns="0" bIns="0" rtlCol="0" anchor="ctr"/>
          <a:lstStyle/>
          <a:p>
            <a:pPr marL="0" indent="0">
              <a:buNone/>
            </a:pPr>
            <a:r>
              <a:rPr lang="en-US" sz="1400" b="1" dirty="0" err="1">
                <a:solidFill>
                  <a:srgbClr val="2D5A42"/>
                </a:solidFill>
                <a:latin typeface="Meiryo UI" pitchFamily="34" charset="0"/>
                <a:ea typeface="Meiryo UI" pitchFamily="34" charset="-122"/>
                <a:cs typeface="Meiryo UI" pitchFamily="34" charset="-120"/>
              </a:rPr>
              <a:t>課題認識の整理</a:t>
            </a:r>
            <a:endParaRPr lang="en-US" sz="1400" dirty="0"/>
          </a:p>
        </p:txBody>
      </p:sp>
      <p:sp>
        <p:nvSpPr>
          <p:cNvPr id="3" name="Shape 1"/>
          <p:cNvSpPr/>
          <p:nvPr/>
        </p:nvSpPr>
        <p:spPr>
          <a:xfrm>
            <a:off x="338328" y="576072"/>
            <a:ext cx="11521440" cy="0"/>
          </a:xfrm>
          <a:prstGeom prst="line">
            <a:avLst/>
          </a:prstGeom>
          <a:noFill/>
          <a:ln w="25400">
            <a:solidFill>
              <a:srgbClr val="D9D9D9"/>
            </a:solidFill>
            <a:prstDash val="solid"/>
          </a:ln>
        </p:spPr>
        <p:txBody>
          <a:bodyPr/>
          <a:lstStyle/>
          <a:p>
            <a:endParaRPr lang="ja-JP" altLang="en-US"/>
          </a:p>
        </p:txBody>
      </p:sp>
      <p:sp>
        <p:nvSpPr>
          <p:cNvPr id="4" name="Text 2"/>
          <p:cNvSpPr/>
          <p:nvPr/>
        </p:nvSpPr>
        <p:spPr>
          <a:xfrm>
            <a:off x="338328" y="658368"/>
            <a:ext cx="11521440" cy="886968"/>
          </a:xfrm>
          <a:prstGeom prst="rect">
            <a:avLst/>
          </a:prstGeom>
          <a:noFill/>
          <a:ln/>
        </p:spPr>
        <p:txBody>
          <a:bodyPr wrap="square" lIns="88900" tIns="88900" rIns="88900" bIns="88900" rtlCol="0" anchor="t"/>
          <a:lstStyle/>
          <a:p>
            <a:pPr marL="0" indent="0">
              <a:buNone/>
            </a:pPr>
            <a:r>
              <a:rPr lang="en-US" sz="2400" b="1" dirty="0" err="1">
                <a:solidFill>
                  <a:srgbClr val="1A1A1A"/>
                </a:solidFill>
                <a:latin typeface="Meiryo UI" pitchFamily="34" charset="0"/>
                <a:ea typeface="Meiryo UI" pitchFamily="34" charset="-122"/>
                <a:cs typeface="Meiryo UI" pitchFamily="34" charset="-120"/>
              </a:rPr>
              <a:t>発注書の手入力業務は「形式のバラつき」と「手書き対応」が根本原因であり</a:t>
            </a:r>
            <a:r>
              <a:rPr lang="en-US" sz="2400" b="1" dirty="0">
                <a:solidFill>
                  <a:srgbClr val="1A1A1A"/>
                </a:solidFill>
                <a:latin typeface="Meiryo UI" pitchFamily="34" charset="0"/>
                <a:ea typeface="Meiryo UI" pitchFamily="34" charset="-122"/>
                <a:cs typeface="Meiryo UI" pitchFamily="34" charset="-120"/>
              </a:rPr>
              <a:t>、</a:t>
            </a:r>
          </a:p>
          <a:p>
            <a:pPr marL="0" indent="0">
              <a:buNone/>
            </a:pPr>
            <a:r>
              <a:rPr lang="en-US" sz="2400" b="1" dirty="0" err="1">
                <a:solidFill>
                  <a:srgbClr val="1A1A1A"/>
                </a:solidFill>
                <a:latin typeface="Meiryo UI" pitchFamily="34" charset="0"/>
                <a:ea typeface="Meiryo UI" pitchFamily="34" charset="-122"/>
                <a:cs typeface="Meiryo UI" pitchFamily="34" charset="-120"/>
              </a:rPr>
              <a:t>従来OCRでは解決できなかった</a:t>
            </a:r>
            <a:endParaRPr lang="en-US" sz="2400" dirty="0"/>
          </a:p>
        </p:txBody>
      </p:sp>
      <p:sp>
        <p:nvSpPr>
          <p:cNvPr id="5" name="Text 3"/>
          <p:cNvSpPr/>
          <p:nvPr/>
        </p:nvSpPr>
        <p:spPr>
          <a:xfrm>
            <a:off x="338328" y="2212848"/>
            <a:ext cx="5577840" cy="411480"/>
          </a:xfrm>
          <a:prstGeom prst="rect">
            <a:avLst/>
          </a:prstGeom>
          <a:solidFill>
            <a:srgbClr val="2D5A42"/>
          </a:solidFill>
          <a:ln/>
        </p:spPr>
        <p:txBody>
          <a:bodyPr wrap="square" lIns="88900" tIns="88900" rIns="88900" bIns="88900" rtlCol="0" anchor="ctr"/>
          <a:lstStyle/>
          <a:p>
            <a:pPr marL="0" indent="0">
              <a:buNone/>
            </a:pPr>
            <a:r>
              <a:rPr lang="en-US" sz="1600" b="1" dirty="0">
                <a:solidFill>
                  <a:srgbClr val="FFFFFF"/>
                </a:solidFill>
                <a:latin typeface="Meiryo UI" pitchFamily="34" charset="0"/>
                <a:ea typeface="Meiryo UI" pitchFamily="34" charset="-122"/>
                <a:cs typeface="Meiryo UI" pitchFamily="34" charset="-120"/>
              </a:rPr>
              <a:t>現状の課題</a:t>
            </a:r>
            <a:endParaRPr lang="en-US" sz="1600" dirty="0"/>
          </a:p>
        </p:txBody>
      </p:sp>
      <p:sp>
        <p:nvSpPr>
          <p:cNvPr id="6" name="Text 4"/>
          <p:cNvSpPr/>
          <p:nvPr/>
        </p:nvSpPr>
        <p:spPr>
          <a:xfrm>
            <a:off x="338328" y="2624328"/>
            <a:ext cx="5577840" cy="2788921"/>
          </a:xfrm>
          <a:prstGeom prst="rect">
            <a:avLst/>
          </a:prstGeom>
          <a:solidFill>
            <a:srgbClr val="F2F2F2"/>
          </a:solidFill>
          <a:ln/>
        </p:spPr>
        <p:txBody>
          <a:bodyPr wrap="square" lIns="88900" tIns="88900" rIns="88900" bIns="88900" rtlCol="0" anchor="t"/>
          <a:lstStyle/>
          <a:p>
            <a:pPr marL="342900" indent="-342900">
              <a:buSzPct val="100000"/>
              <a:buChar char="■"/>
            </a:pPr>
            <a:endParaRPr lang="en-US" dirty="0">
              <a:solidFill>
                <a:srgbClr val="1A1A1A"/>
              </a:solidFill>
              <a:latin typeface="Meiryo UI" pitchFamily="34" charset="0"/>
              <a:ea typeface="Meiryo UI" pitchFamily="34" charset="-122"/>
              <a:cs typeface="Meiryo UI" pitchFamily="34" charset="-120"/>
            </a:endParaRPr>
          </a:p>
          <a:p>
            <a:pPr marL="342900" indent="-342900">
              <a:buSzPct val="100000"/>
              <a:buChar char="■"/>
            </a:pPr>
            <a:r>
              <a:rPr lang="en-US" dirty="0" err="1">
                <a:solidFill>
                  <a:srgbClr val="1A1A1A"/>
                </a:solidFill>
                <a:latin typeface="Meiryo UI" pitchFamily="34" charset="0"/>
                <a:ea typeface="Meiryo UI" pitchFamily="34" charset="-122"/>
                <a:cs typeface="Meiryo UI" pitchFamily="34" charset="-120"/>
              </a:rPr>
              <a:t>顧客からの発注書にテンプレートがなく、形式がバラバラ</a:t>
            </a:r>
            <a:br>
              <a:rPr lang="en-US" dirty="0">
                <a:solidFill>
                  <a:srgbClr val="1A1A1A"/>
                </a:solidFill>
                <a:latin typeface="Meiryo UI" pitchFamily="34" charset="0"/>
                <a:ea typeface="Meiryo UI" pitchFamily="34" charset="-122"/>
                <a:cs typeface="Meiryo UI" pitchFamily="34" charset="-120"/>
              </a:rPr>
            </a:br>
            <a:endParaRPr lang="en-US" dirty="0"/>
          </a:p>
          <a:p>
            <a:pPr marL="342900" indent="-342900">
              <a:buSzPct val="100000"/>
              <a:buChar char="■"/>
            </a:pPr>
            <a:r>
              <a:rPr lang="en-US" dirty="0" err="1">
                <a:solidFill>
                  <a:srgbClr val="1A1A1A"/>
                </a:solidFill>
                <a:latin typeface="Meiryo UI" pitchFamily="34" charset="0"/>
                <a:ea typeface="Meiryo UI" pitchFamily="34" charset="-122"/>
                <a:cs typeface="Meiryo UI" pitchFamily="34" charset="-120"/>
              </a:rPr>
              <a:t>手書きで送られてくるケースも多い</a:t>
            </a:r>
            <a:br>
              <a:rPr lang="en-US" dirty="0">
                <a:solidFill>
                  <a:srgbClr val="1A1A1A"/>
                </a:solidFill>
                <a:latin typeface="Meiryo UI" pitchFamily="34" charset="0"/>
                <a:ea typeface="Meiryo UI" pitchFamily="34" charset="-122"/>
                <a:cs typeface="Meiryo UI" pitchFamily="34" charset="-120"/>
              </a:rPr>
            </a:br>
            <a:endParaRPr lang="en-US" dirty="0"/>
          </a:p>
          <a:p>
            <a:pPr marL="342900" indent="-342900">
              <a:buSzPct val="100000"/>
              <a:buChar char="■"/>
            </a:pPr>
            <a:r>
              <a:rPr lang="en-US" dirty="0">
                <a:solidFill>
                  <a:srgbClr val="1A1A1A"/>
                </a:solidFill>
                <a:latin typeface="Meiryo UI" pitchFamily="34" charset="0"/>
                <a:ea typeface="Meiryo UI" pitchFamily="34" charset="-122"/>
                <a:cs typeface="Meiryo UI" pitchFamily="34" charset="-120"/>
              </a:rPr>
              <a:t>入力項目が多く、1件ずつエクセルに手入力</a:t>
            </a:r>
            <a:endParaRPr lang="en-US" dirty="0"/>
          </a:p>
          <a:p>
            <a:pPr marL="0" lvl="1" indent="0">
              <a:buNone/>
            </a:pPr>
            <a:br>
              <a:rPr lang="en-US" dirty="0">
                <a:solidFill>
                  <a:srgbClr val="666666"/>
                </a:solidFill>
                <a:latin typeface="Meiryo UI" pitchFamily="34" charset="0"/>
                <a:ea typeface="Meiryo UI" pitchFamily="34" charset="-122"/>
                <a:cs typeface="Meiryo UI" pitchFamily="34" charset="-120"/>
              </a:rPr>
            </a:br>
            <a:r>
              <a:rPr lang="en-US" b="1" dirty="0">
                <a:solidFill>
                  <a:srgbClr val="2C5A42"/>
                </a:solidFill>
                <a:latin typeface="Meiryo UI" pitchFamily="34" charset="0"/>
                <a:ea typeface="Meiryo UI" pitchFamily="34" charset="-122"/>
                <a:cs typeface="Meiryo UI" pitchFamily="34" charset="-120"/>
              </a:rPr>
              <a:t>→ 作業負荷が高い / ヒューマンエラーのリスク</a:t>
            </a:r>
            <a:endParaRPr lang="en-US" b="1" dirty="0">
              <a:solidFill>
                <a:srgbClr val="2C5A42"/>
              </a:solidFill>
            </a:endParaRPr>
          </a:p>
        </p:txBody>
      </p:sp>
      <p:sp>
        <p:nvSpPr>
          <p:cNvPr id="7" name="Text 5"/>
          <p:cNvSpPr/>
          <p:nvPr/>
        </p:nvSpPr>
        <p:spPr>
          <a:xfrm>
            <a:off x="6281928" y="2212848"/>
            <a:ext cx="5577840" cy="411480"/>
          </a:xfrm>
          <a:prstGeom prst="rect">
            <a:avLst/>
          </a:prstGeom>
          <a:solidFill>
            <a:srgbClr val="2D5A42"/>
          </a:solidFill>
          <a:ln/>
        </p:spPr>
        <p:txBody>
          <a:bodyPr wrap="square" lIns="88900" tIns="88900" rIns="88900" bIns="88900" rtlCol="0" anchor="ctr"/>
          <a:lstStyle/>
          <a:p>
            <a:pPr marL="0" indent="0">
              <a:buNone/>
            </a:pPr>
            <a:r>
              <a:rPr lang="en-US" sz="1600" b="1" dirty="0">
                <a:solidFill>
                  <a:srgbClr val="FFFFFF"/>
                </a:solidFill>
                <a:latin typeface="Meiryo UI" pitchFamily="34" charset="0"/>
                <a:ea typeface="Meiryo UI" pitchFamily="34" charset="-122"/>
                <a:cs typeface="Meiryo UI" pitchFamily="34" charset="-120"/>
              </a:rPr>
              <a:t>過去のOCR検討が見送りになった理由</a:t>
            </a:r>
            <a:endParaRPr lang="en-US" sz="1600" dirty="0"/>
          </a:p>
        </p:txBody>
      </p:sp>
      <p:sp>
        <p:nvSpPr>
          <p:cNvPr id="8" name="Text 6"/>
          <p:cNvSpPr/>
          <p:nvPr/>
        </p:nvSpPr>
        <p:spPr>
          <a:xfrm>
            <a:off x="6281928" y="2624328"/>
            <a:ext cx="5577840" cy="2788921"/>
          </a:xfrm>
          <a:prstGeom prst="rect">
            <a:avLst/>
          </a:prstGeom>
          <a:solidFill>
            <a:srgbClr val="F2F2F2"/>
          </a:solidFill>
          <a:ln/>
        </p:spPr>
        <p:txBody>
          <a:bodyPr wrap="square" lIns="88900" tIns="88900" rIns="88900" bIns="88900" rtlCol="0" anchor="t"/>
          <a:lstStyle/>
          <a:p>
            <a:pPr marL="342900" indent="-342900">
              <a:buSzPct val="100000"/>
              <a:buChar char="■"/>
            </a:pPr>
            <a:endParaRPr lang="en-US" dirty="0">
              <a:solidFill>
                <a:srgbClr val="1A1A1A"/>
              </a:solidFill>
              <a:latin typeface="Meiryo UI" pitchFamily="34" charset="0"/>
              <a:ea typeface="Meiryo UI" pitchFamily="34" charset="-122"/>
              <a:cs typeface="Meiryo UI" pitchFamily="34" charset="-120"/>
            </a:endParaRPr>
          </a:p>
          <a:p>
            <a:pPr marL="342900" indent="-342900">
              <a:buSzPct val="100000"/>
              <a:buChar char="■"/>
            </a:pPr>
            <a:r>
              <a:rPr lang="en-US" dirty="0" err="1">
                <a:solidFill>
                  <a:srgbClr val="1A1A1A"/>
                </a:solidFill>
                <a:latin typeface="Meiryo UI" pitchFamily="34" charset="0"/>
                <a:ea typeface="Meiryo UI" pitchFamily="34" charset="-122"/>
                <a:cs typeface="Meiryo UI" pitchFamily="34" charset="-120"/>
              </a:rPr>
              <a:t>読み取り結果の「目視確認業務」が新たに発生</a:t>
            </a:r>
            <a:br>
              <a:rPr lang="en-US" dirty="0">
                <a:solidFill>
                  <a:srgbClr val="1A1A1A"/>
                </a:solidFill>
                <a:latin typeface="Meiryo UI" pitchFamily="34" charset="0"/>
                <a:ea typeface="Meiryo UI" pitchFamily="34" charset="-122"/>
                <a:cs typeface="Meiryo UI" pitchFamily="34" charset="-120"/>
              </a:rPr>
            </a:br>
            <a:endParaRPr lang="en-US" dirty="0"/>
          </a:p>
          <a:p>
            <a:pPr marL="342900" indent="-342900">
              <a:buSzPct val="100000"/>
              <a:buChar char="■"/>
            </a:pPr>
            <a:r>
              <a:rPr lang="en-US" dirty="0">
                <a:solidFill>
                  <a:srgbClr val="1A1A1A"/>
                </a:solidFill>
                <a:latin typeface="Meiryo UI" pitchFamily="34" charset="0"/>
                <a:ea typeface="Meiryo UI" pitchFamily="34" charset="-122"/>
                <a:cs typeface="Meiryo UI" pitchFamily="34" charset="-120"/>
              </a:rPr>
              <a:t>かえって見落としリスクが増えるのでは？という現場の懸念</a:t>
            </a:r>
            <a:endParaRPr lang="en-US" dirty="0"/>
          </a:p>
          <a:p>
            <a:pPr marL="0" indent="0">
              <a:buNone/>
            </a:pPr>
            <a:r>
              <a:rPr lang="en-US" dirty="0">
                <a:solidFill>
                  <a:srgbClr val="1A1A1A"/>
                </a:solidFill>
                <a:latin typeface="Meiryo UI" pitchFamily="34" charset="0"/>
                <a:ea typeface="Meiryo UI" pitchFamily="34" charset="-122"/>
                <a:cs typeface="Meiryo UI" pitchFamily="34" charset="-120"/>
              </a:rPr>
              <a:t> </a:t>
            </a:r>
            <a:endParaRPr lang="en-US" dirty="0"/>
          </a:p>
          <a:p>
            <a:pPr marL="0" indent="0">
              <a:buNone/>
            </a:pPr>
            <a:r>
              <a:rPr lang="en-US" b="1" dirty="0">
                <a:solidFill>
                  <a:srgbClr val="1A1A1A"/>
                </a:solidFill>
                <a:latin typeface="Meiryo UI" pitchFamily="34" charset="0"/>
                <a:ea typeface="Meiryo UI" pitchFamily="34" charset="-122"/>
                <a:cs typeface="Meiryo UI" pitchFamily="34" charset="-120"/>
              </a:rPr>
              <a:t>→ 従来OCRは「人の目視チェック前提」だったため、現場の負担軽減にならなかった</a:t>
            </a:r>
            <a:endParaRPr lang="en-US" dirty="0"/>
          </a:p>
        </p:txBody>
      </p:sp>
      <p:sp>
        <p:nvSpPr>
          <p:cNvPr id="9" name="Text 7"/>
          <p:cNvSpPr/>
          <p:nvPr/>
        </p:nvSpPr>
        <p:spPr>
          <a:xfrm>
            <a:off x="9875520" y="6510528"/>
            <a:ext cx="1920240" cy="219456"/>
          </a:xfrm>
          <a:prstGeom prst="rect">
            <a:avLst/>
          </a:prstGeom>
          <a:noFill/>
          <a:ln/>
        </p:spPr>
        <p:txBody>
          <a:bodyPr wrap="square" rtlCol="0" anchor="ctr"/>
          <a:lstStyle/>
          <a:p>
            <a:pPr marL="0" indent="0" algn="l">
              <a:buNone/>
            </a:pPr>
            <a:r>
              <a:rPr lang="en-US" sz="1000" dirty="0">
                <a:solidFill>
                  <a:srgbClr val="BFBFBF"/>
                </a:solidFill>
                <a:latin typeface="Arial" pitchFamily="34" charset="0"/>
                <a:ea typeface="Arial" pitchFamily="34" charset="-122"/>
                <a:cs typeface="Arial" pitchFamily="34" charset="-120"/>
              </a:rPr>
              <a:t>© 2026 Boost Consulting, Inc.</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38328" y="237744"/>
            <a:ext cx="11521440" cy="256032"/>
          </a:xfrm>
          <a:prstGeom prst="rect">
            <a:avLst/>
          </a:prstGeom>
          <a:noFill/>
          <a:ln/>
        </p:spPr>
        <p:txBody>
          <a:bodyPr wrap="square" lIns="0" tIns="0" rIns="0" bIns="0" rtlCol="0" anchor="ctr"/>
          <a:lstStyle/>
          <a:p>
            <a:pPr marL="0" indent="0">
              <a:buNone/>
            </a:pPr>
            <a:r>
              <a:rPr lang="en-US" sz="1400" b="1" dirty="0">
                <a:solidFill>
                  <a:srgbClr val="2D5A42"/>
                </a:solidFill>
                <a:latin typeface="Meiryo UI" pitchFamily="34" charset="0"/>
                <a:ea typeface="Meiryo UI" pitchFamily="34" charset="-122"/>
                <a:cs typeface="Meiryo UI" pitchFamily="34" charset="-120"/>
              </a:rPr>
              <a:t>従来OCR vs MLLM-OCR</a:t>
            </a:r>
            <a:endParaRPr lang="en-US" sz="1400" dirty="0"/>
          </a:p>
        </p:txBody>
      </p:sp>
      <p:sp>
        <p:nvSpPr>
          <p:cNvPr id="3" name="Shape 1"/>
          <p:cNvSpPr/>
          <p:nvPr/>
        </p:nvSpPr>
        <p:spPr>
          <a:xfrm>
            <a:off x="338328" y="576072"/>
            <a:ext cx="11521440" cy="0"/>
          </a:xfrm>
          <a:prstGeom prst="line">
            <a:avLst/>
          </a:prstGeom>
          <a:noFill/>
          <a:ln w="25400">
            <a:solidFill>
              <a:srgbClr val="D9D9D9"/>
            </a:solidFill>
            <a:prstDash val="solid"/>
          </a:ln>
        </p:spPr>
        <p:txBody>
          <a:bodyPr/>
          <a:lstStyle/>
          <a:p>
            <a:endParaRPr lang="ja-JP" altLang="en-US"/>
          </a:p>
        </p:txBody>
      </p:sp>
      <p:sp>
        <p:nvSpPr>
          <p:cNvPr id="4" name="Text 2"/>
          <p:cNvSpPr/>
          <p:nvPr/>
        </p:nvSpPr>
        <p:spPr>
          <a:xfrm>
            <a:off x="338328" y="658368"/>
            <a:ext cx="11521440" cy="886968"/>
          </a:xfrm>
          <a:prstGeom prst="rect">
            <a:avLst/>
          </a:prstGeom>
          <a:noFill/>
          <a:ln/>
        </p:spPr>
        <p:txBody>
          <a:bodyPr wrap="square" lIns="88900" tIns="88900" rIns="88900" bIns="88900" rtlCol="0" anchor="t"/>
          <a:lstStyle/>
          <a:p>
            <a:pPr marL="0" indent="0">
              <a:buNone/>
            </a:pPr>
            <a:r>
              <a:rPr lang="en-US" sz="2400" b="1" dirty="0">
                <a:solidFill>
                  <a:srgbClr val="1A1A1A"/>
                </a:solidFill>
                <a:latin typeface="Meiryo UI" pitchFamily="34" charset="0"/>
                <a:ea typeface="Meiryo UI" pitchFamily="34" charset="-122"/>
                <a:cs typeface="Meiryo UI" pitchFamily="34" charset="-120"/>
              </a:rPr>
              <a:t>AIが「読み取り → 検証 → </a:t>
            </a:r>
            <a:r>
              <a:rPr lang="en-US" sz="2400" b="1" dirty="0" err="1">
                <a:solidFill>
                  <a:srgbClr val="1A1A1A"/>
                </a:solidFill>
                <a:latin typeface="Meiryo UI" pitchFamily="34" charset="0"/>
                <a:ea typeface="Meiryo UI" pitchFamily="34" charset="-122"/>
                <a:cs typeface="Meiryo UI" pitchFamily="34" charset="-120"/>
              </a:rPr>
              <a:t>確認箇所の可視化」まで一貫して行うため</a:t>
            </a:r>
            <a:r>
              <a:rPr lang="en-US" sz="2400" b="1" dirty="0">
                <a:solidFill>
                  <a:srgbClr val="1A1A1A"/>
                </a:solidFill>
                <a:latin typeface="Meiryo UI" pitchFamily="34" charset="0"/>
                <a:ea typeface="Meiryo UI" pitchFamily="34" charset="-122"/>
                <a:cs typeface="Meiryo UI" pitchFamily="34" charset="-120"/>
              </a:rPr>
              <a:t>、</a:t>
            </a:r>
          </a:p>
          <a:p>
            <a:pPr marL="0" indent="0">
              <a:buNone/>
            </a:pPr>
            <a:r>
              <a:rPr lang="en-US" sz="2400" b="1" dirty="0" err="1">
                <a:solidFill>
                  <a:srgbClr val="1A1A1A"/>
                </a:solidFill>
                <a:latin typeface="Meiryo UI" pitchFamily="34" charset="0"/>
                <a:ea typeface="Meiryo UI" pitchFamily="34" charset="-122"/>
                <a:cs typeface="Meiryo UI" pitchFamily="34" charset="-120"/>
              </a:rPr>
              <a:t>人の確認作業を最小限にできる</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430598043"/>
              </p:ext>
            </p:extLst>
          </p:nvPr>
        </p:nvGraphicFramePr>
        <p:xfrm>
          <a:off x="338328" y="1876507"/>
          <a:ext cx="11521440" cy="3511296"/>
        </p:xfrm>
        <a:graphic>
          <a:graphicData uri="http://schemas.openxmlformats.org/drawingml/2006/table">
            <a:tbl>
              <a:tblPr/>
              <a:tblGrid>
                <a:gridCol w="192024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585216">
                <a:tc>
                  <a:txBody>
                    <a:bodyPr/>
                    <a:lstStyle/>
                    <a:p>
                      <a:pPr marL="0" indent="0">
                        <a:buNone/>
                      </a:pPr>
                      <a:r>
                        <a:rPr lang="en-US" sz="1400" b="1" dirty="0">
                          <a:solidFill>
                            <a:srgbClr val="FFFFFF"/>
                          </a:solidFill>
                          <a:latin typeface="Meiryo UI" pitchFamily="34" charset="0"/>
                          <a:ea typeface="Meiryo UI" pitchFamily="34" charset="-122"/>
                          <a:cs typeface="Meiryo UI" pitchFamily="34" charset="-120"/>
                        </a:rPr>
                        <a:t>観点</a:t>
                      </a:r>
                      <a:endParaRPr lang="en-US" sz="1400" dirty="0">
                        <a:latin typeface="Meiryo UI" charset="0"/>
                        <a:ea typeface="Meiryo UI" charset="0"/>
                        <a:cs typeface="Meiryo UI" charset="0"/>
                      </a:endParaRPr>
                    </a:p>
                  </a:txBody>
                  <a:tcPr marL="88900" marR="88900" marT="88900" marB="889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D5A42"/>
                    </a:solidFill>
                  </a:tcPr>
                </a:tc>
                <a:tc>
                  <a:txBody>
                    <a:bodyPr/>
                    <a:lstStyle/>
                    <a:p>
                      <a:pPr marL="0" indent="0">
                        <a:buNone/>
                      </a:pPr>
                      <a:r>
                        <a:rPr lang="en-US" sz="1400" b="1" dirty="0">
                          <a:solidFill>
                            <a:srgbClr val="FFFFFF"/>
                          </a:solidFill>
                          <a:latin typeface="Meiryo UI" pitchFamily="34" charset="0"/>
                          <a:ea typeface="Meiryo UI" pitchFamily="34" charset="-122"/>
                          <a:cs typeface="Meiryo UI" pitchFamily="34" charset="-120"/>
                        </a:rPr>
                        <a:t>従来OCR</a:t>
                      </a:r>
                      <a:endParaRPr lang="en-US" sz="1400" dirty="0">
                        <a:latin typeface="Meiryo UI" charset="0"/>
                        <a:ea typeface="Meiryo UI" charset="0"/>
                        <a:cs typeface="Meiryo UI" charset="0"/>
                      </a:endParaRPr>
                    </a:p>
                  </a:txBody>
                  <a:tcPr marL="88900" marR="88900" marT="88900" marB="889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D5A42"/>
                    </a:solidFill>
                  </a:tcPr>
                </a:tc>
                <a:tc>
                  <a:txBody>
                    <a:bodyPr/>
                    <a:lstStyle/>
                    <a:p>
                      <a:pPr marL="0" indent="0">
                        <a:buNone/>
                      </a:pPr>
                      <a:r>
                        <a:rPr lang="en-US" sz="1400" b="1" dirty="0" err="1">
                          <a:solidFill>
                            <a:srgbClr val="FFFFFF"/>
                          </a:solidFill>
                          <a:latin typeface="Meiryo UI" pitchFamily="34" charset="0"/>
                          <a:ea typeface="Meiryo UI" pitchFamily="34" charset="-122"/>
                          <a:cs typeface="Meiryo UI" pitchFamily="34" charset="-120"/>
                        </a:rPr>
                        <a:t>MLLM-OCR（本提案</a:t>
                      </a:r>
                      <a:r>
                        <a:rPr lang="en-US" sz="1400" b="1" dirty="0">
                          <a:solidFill>
                            <a:srgbClr val="FFFFFF"/>
                          </a:solidFill>
                          <a:latin typeface="Meiryo UI" pitchFamily="34" charset="0"/>
                          <a:ea typeface="Meiryo UI" pitchFamily="34" charset="-122"/>
                          <a:cs typeface="Meiryo UI" pitchFamily="34" charset="-120"/>
                        </a:rPr>
                        <a:t>）</a:t>
                      </a:r>
                      <a:endParaRPr lang="en-US" sz="1400" dirty="0">
                        <a:latin typeface="Meiryo UI" charset="0"/>
                        <a:ea typeface="Meiryo UI" charset="0"/>
                        <a:cs typeface="Meiryo UI" charset="0"/>
                      </a:endParaRPr>
                    </a:p>
                  </a:txBody>
                  <a:tcPr marL="88900" marR="88900" marT="88900" marB="889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2D5A42"/>
                    </a:solidFill>
                  </a:tcPr>
                </a:tc>
                <a:extLst>
                  <a:ext uri="{0D108BD9-81ED-4DB2-BD59-A6C34878D82A}">
                    <a16:rowId xmlns:a16="http://schemas.microsoft.com/office/drawing/2014/main" val="10000"/>
                  </a:ext>
                </a:extLst>
              </a:tr>
              <a:tr h="585216">
                <a:tc>
                  <a:txBody>
                    <a:bodyPr/>
                    <a:lstStyle/>
                    <a:p>
                      <a:pPr marL="0" indent="0">
                        <a:buNone/>
                      </a:pPr>
                      <a:r>
                        <a:rPr lang="en-US" sz="1400" dirty="0">
                          <a:solidFill>
                            <a:srgbClr val="1A1A1A"/>
                          </a:solidFill>
                          <a:latin typeface="Meiryo UI" pitchFamily="34" charset="0"/>
                          <a:ea typeface="Meiryo UI" pitchFamily="34" charset="-122"/>
                          <a:cs typeface="Meiryo UI" pitchFamily="34" charset="-120"/>
                        </a:rPr>
                        <a:t>手書き対応</a:t>
                      </a:r>
                      <a:endParaRPr lang="en-US" sz="1400" dirty="0">
                        <a:latin typeface="Meiryo UI" charset="0"/>
                        <a:ea typeface="Meiryo UI" charset="0"/>
                        <a:cs typeface="Meiryo UI" charset="0"/>
                      </a:endParaRPr>
                    </a:p>
                  </a:txBody>
                  <a:tcPr marL="88900" marR="88900" marT="88900" marB="889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Meiryo UI" pitchFamily="34" charset="0"/>
                          <a:ea typeface="Meiryo UI" pitchFamily="34" charset="-122"/>
                          <a:cs typeface="Meiryo UI" pitchFamily="34" charset="-120"/>
                        </a:rPr>
                        <a:t>精度が低い</a:t>
                      </a:r>
                      <a:endParaRPr lang="en-US" sz="1400" dirty="0">
                        <a:latin typeface="Meiryo UI" charset="0"/>
                        <a:ea typeface="Meiryo UI" charset="0"/>
                        <a:cs typeface="Meiryo UI" charset="0"/>
                      </a:endParaRPr>
                    </a:p>
                  </a:txBody>
                  <a:tcPr marL="88900" marR="88900" marT="88900" marB="889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400" b="1" dirty="0" err="1">
                          <a:solidFill>
                            <a:srgbClr val="1A1A1A"/>
                          </a:solidFill>
                          <a:latin typeface="Meiryo UI" pitchFamily="34" charset="0"/>
                          <a:ea typeface="Meiryo UI" pitchFamily="34" charset="-122"/>
                          <a:cs typeface="Meiryo UI" pitchFamily="34" charset="-120"/>
                        </a:rPr>
                        <a:t>文脈を理解し高精度で認識</a:t>
                      </a:r>
                      <a:endParaRPr lang="en-US" sz="1400" dirty="0">
                        <a:latin typeface="Meiryo UI" charset="0"/>
                        <a:ea typeface="Meiryo UI" charset="0"/>
                        <a:cs typeface="Meiryo UI" charset="0"/>
                      </a:endParaRPr>
                    </a:p>
                  </a:txBody>
                  <a:tcPr marL="88900" marR="88900" marT="88900" marB="889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5216">
                <a:tc>
                  <a:txBody>
                    <a:bodyPr/>
                    <a:lstStyle/>
                    <a:p>
                      <a:pPr marL="0" indent="0">
                        <a:buNone/>
                      </a:pPr>
                      <a:r>
                        <a:rPr lang="en-US" sz="1400" dirty="0">
                          <a:solidFill>
                            <a:srgbClr val="1A1A1A"/>
                          </a:solidFill>
                          <a:latin typeface="Meiryo UI" pitchFamily="34" charset="0"/>
                          <a:ea typeface="Meiryo UI" pitchFamily="34" charset="-122"/>
                          <a:cs typeface="Meiryo UI" pitchFamily="34" charset="-120"/>
                        </a:rPr>
                        <a:t>フォーマット対応</a:t>
                      </a:r>
                      <a:endParaRPr lang="en-US" sz="1400" dirty="0">
                        <a:latin typeface="Meiryo UI" charset="0"/>
                        <a:ea typeface="Meiryo UI" charset="0"/>
                        <a:cs typeface="Meiryo UI" charset="0"/>
                      </a:endParaRPr>
                    </a:p>
                  </a:txBody>
                  <a:tcPr marL="88900" marR="88900" marT="88900" marB="889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2F2F2"/>
                    </a:solidFill>
                  </a:tcPr>
                </a:tc>
                <a:tc>
                  <a:txBody>
                    <a:bodyPr/>
                    <a:lstStyle/>
                    <a:p>
                      <a:pPr marL="0" indent="0">
                        <a:buNone/>
                      </a:pPr>
                      <a:r>
                        <a:rPr lang="en-US" sz="1400" dirty="0">
                          <a:solidFill>
                            <a:srgbClr val="1A1A1A"/>
                          </a:solidFill>
                          <a:latin typeface="Meiryo UI" pitchFamily="34" charset="0"/>
                          <a:ea typeface="Meiryo UI" pitchFamily="34" charset="-122"/>
                          <a:cs typeface="Meiryo UI" pitchFamily="34" charset="-120"/>
                        </a:rPr>
                        <a:t>テンプレート固定が前提</a:t>
                      </a:r>
                      <a:endParaRPr lang="en-US" sz="1400" dirty="0">
                        <a:latin typeface="Meiryo UI" charset="0"/>
                        <a:ea typeface="Meiryo UI" charset="0"/>
                        <a:cs typeface="Meiryo UI" charset="0"/>
                      </a:endParaRPr>
                    </a:p>
                  </a:txBody>
                  <a:tcPr marL="88900" marR="88900" marT="88900" marB="889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2F2F2"/>
                    </a:solidFill>
                  </a:tcPr>
                </a:tc>
                <a:tc>
                  <a:txBody>
                    <a:bodyPr/>
                    <a:lstStyle/>
                    <a:p>
                      <a:pPr marL="0" indent="0">
                        <a:buNone/>
                      </a:pPr>
                      <a:r>
                        <a:rPr lang="en-US" sz="1400" b="1" dirty="0" err="1">
                          <a:solidFill>
                            <a:srgbClr val="1A1A1A"/>
                          </a:solidFill>
                          <a:latin typeface="Meiryo UI" pitchFamily="34" charset="0"/>
                          <a:ea typeface="Meiryo UI" pitchFamily="34" charset="-122"/>
                          <a:cs typeface="Meiryo UI" pitchFamily="34" charset="-120"/>
                        </a:rPr>
                        <a:t>形式がバラバラでも項目を自動判別</a:t>
                      </a:r>
                      <a:endParaRPr lang="en-US" sz="1400" dirty="0">
                        <a:latin typeface="Meiryo UI" charset="0"/>
                        <a:ea typeface="Meiryo UI" charset="0"/>
                        <a:cs typeface="Meiryo UI" charset="0"/>
                      </a:endParaRPr>
                    </a:p>
                  </a:txBody>
                  <a:tcPr marL="88900" marR="88900" marT="88900" marB="889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85216">
                <a:tc>
                  <a:txBody>
                    <a:bodyPr/>
                    <a:lstStyle/>
                    <a:p>
                      <a:pPr marL="0" indent="0">
                        <a:buNone/>
                      </a:pPr>
                      <a:r>
                        <a:rPr lang="en-US" sz="1400" dirty="0">
                          <a:solidFill>
                            <a:srgbClr val="1A1A1A"/>
                          </a:solidFill>
                          <a:latin typeface="Meiryo UI" pitchFamily="34" charset="0"/>
                          <a:ea typeface="Meiryo UI" pitchFamily="34" charset="-122"/>
                          <a:cs typeface="Meiryo UI" pitchFamily="34" charset="-120"/>
                        </a:rPr>
                        <a:t>確認作業</a:t>
                      </a:r>
                      <a:endParaRPr lang="en-US" sz="1400" dirty="0">
                        <a:latin typeface="Meiryo UI" charset="0"/>
                        <a:ea typeface="Meiryo UI" charset="0"/>
                        <a:cs typeface="Meiryo UI" charset="0"/>
                      </a:endParaRPr>
                    </a:p>
                  </a:txBody>
                  <a:tcPr marL="88900" marR="88900" marT="88900" marB="889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400" b="1" dirty="0">
                          <a:solidFill>
                            <a:srgbClr val="CC0000"/>
                          </a:solidFill>
                          <a:latin typeface="Meiryo UI" pitchFamily="34" charset="0"/>
                          <a:ea typeface="Meiryo UI" pitchFamily="34" charset="-122"/>
                          <a:cs typeface="Meiryo UI" pitchFamily="34" charset="-120"/>
                        </a:rPr>
                        <a:t>全件目視が必要</a:t>
                      </a:r>
                      <a:endParaRPr lang="en-US" sz="1400" dirty="0">
                        <a:latin typeface="Meiryo UI" charset="0"/>
                        <a:ea typeface="Meiryo UI" charset="0"/>
                        <a:cs typeface="Meiryo UI" charset="0"/>
                      </a:endParaRPr>
                    </a:p>
                  </a:txBody>
                  <a:tcPr marL="88900" marR="88900" marT="88900" marB="889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400" b="1" dirty="0" err="1">
                          <a:solidFill>
                            <a:srgbClr val="1A1A1A"/>
                          </a:solidFill>
                          <a:latin typeface="Meiryo UI" pitchFamily="34" charset="0"/>
                          <a:ea typeface="Meiryo UI" pitchFamily="34" charset="-122"/>
                          <a:cs typeface="Meiryo UI" pitchFamily="34" charset="-120"/>
                        </a:rPr>
                        <a:t>AIが不確かな箇所だけ赤枠で表示</a:t>
                      </a:r>
                      <a:r>
                        <a:rPr lang="en-US" sz="1400" b="1" dirty="0">
                          <a:solidFill>
                            <a:srgbClr val="1A1A1A"/>
                          </a:solidFill>
                          <a:latin typeface="Meiryo UI" pitchFamily="34" charset="0"/>
                          <a:ea typeface="Meiryo UI" pitchFamily="34" charset="-122"/>
                          <a:cs typeface="Meiryo UI" pitchFamily="34" charset="-120"/>
                        </a:rPr>
                        <a:t> → ピンポイント確認</a:t>
                      </a:r>
                      <a:endParaRPr lang="en-US" sz="1400" dirty="0">
                        <a:latin typeface="Meiryo UI" charset="0"/>
                        <a:ea typeface="Meiryo UI" charset="0"/>
                        <a:cs typeface="Meiryo UI" charset="0"/>
                      </a:endParaRPr>
                    </a:p>
                  </a:txBody>
                  <a:tcPr marL="88900" marR="88900" marT="88900" marB="889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5216">
                <a:tc>
                  <a:txBody>
                    <a:bodyPr/>
                    <a:lstStyle/>
                    <a:p>
                      <a:pPr marL="0" indent="0">
                        <a:buNone/>
                      </a:pPr>
                      <a:r>
                        <a:rPr lang="en-US" sz="1400" dirty="0">
                          <a:solidFill>
                            <a:srgbClr val="1A1A1A"/>
                          </a:solidFill>
                          <a:latin typeface="Meiryo UI" pitchFamily="34" charset="0"/>
                          <a:ea typeface="Meiryo UI" pitchFamily="34" charset="-122"/>
                          <a:cs typeface="Meiryo UI" pitchFamily="34" charset="-120"/>
                        </a:rPr>
                        <a:t>検証の仕組み</a:t>
                      </a:r>
                      <a:endParaRPr lang="en-US" sz="1400" dirty="0">
                        <a:latin typeface="Meiryo UI" charset="0"/>
                        <a:ea typeface="Meiryo UI" charset="0"/>
                        <a:cs typeface="Meiryo UI" charset="0"/>
                      </a:endParaRPr>
                    </a:p>
                  </a:txBody>
                  <a:tcPr marL="88900" marR="88900" marT="88900" marB="889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2F2F2"/>
                    </a:solidFill>
                  </a:tcPr>
                </a:tc>
                <a:tc>
                  <a:txBody>
                    <a:bodyPr/>
                    <a:lstStyle/>
                    <a:p>
                      <a:pPr marL="0" indent="0">
                        <a:buNone/>
                      </a:pPr>
                      <a:r>
                        <a:rPr lang="en-US" sz="1400" dirty="0">
                          <a:solidFill>
                            <a:srgbClr val="1A1A1A"/>
                          </a:solidFill>
                          <a:latin typeface="Meiryo UI" pitchFamily="34" charset="0"/>
                          <a:ea typeface="Meiryo UI" pitchFamily="34" charset="-122"/>
                          <a:cs typeface="Meiryo UI" pitchFamily="34" charset="-120"/>
                        </a:rPr>
                        <a:t>なし（人任せ）</a:t>
                      </a:r>
                      <a:endParaRPr lang="en-US" sz="1400" dirty="0">
                        <a:latin typeface="Meiryo UI" charset="0"/>
                        <a:ea typeface="Meiryo UI" charset="0"/>
                        <a:cs typeface="Meiryo UI" charset="0"/>
                      </a:endParaRPr>
                    </a:p>
                  </a:txBody>
                  <a:tcPr marL="88900" marR="88900" marT="88900" marB="889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2F2F2"/>
                    </a:solidFill>
                  </a:tcPr>
                </a:tc>
                <a:tc>
                  <a:txBody>
                    <a:bodyPr/>
                    <a:lstStyle/>
                    <a:p>
                      <a:pPr marL="0" indent="0">
                        <a:buNone/>
                      </a:pPr>
                      <a:r>
                        <a:rPr lang="en-US" sz="1400" b="1" dirty="0">
                          <a:solidFill>
                            <a:srgbClr val="1A1A1A"/>
                          </a:solidFill>
                          <a:latin typeface="Meiryo UI" pitchFamily="34" charset="0"/>
                          <a:ea typeface="Meiryo UI" pitchFamily="34" charset="-122"/>
                          <a:cs typeface="Meiryo UI" pitchFamily="34" charset="-120"/>
                        </a:rPr>
                        <a:t>AIが2段階で自動検証 + 金額の整合性チェック</a:t>
                      </a:r>
                      <a:endParaRPr lang="en-US" sz="1400" dirty="0">
                        <a:latin typeface="Meiryo UI" charset="0"/>
                        <a:ea typeface="Meiryo UI" charset="0"/>
                        <a:cs typeface="Meiryo UI" charset="0"/>
                      </a:endParaRPr>
                    </a:p>
                  </a:txBody>
                  <a:tcPr marL="88900" marR="88900" marT="88900" marB="889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85216">
                <a:tc>
                  <a:txBody>
                    <a:bodyPr/>
                    <a:lstStyle/>
                    <a:p>
                      <a:pPr marL="0" indent="0">
                        <a:buNone/>
                      </a:pPr>
                      <a:r>
                        <a:rPr lang="en-US" sz="1400" dirty="0">
                          <a:solidFill>
                            <a:srgbClr val="1A1A1A"/>
                          </a:solidFill>
                          <a:latin typeface="Meiryo UI" pitchFamily="34" charset="0"/>
                          <a:ea typeface="Meiryo UI" pitchFamily="34" charset="-122"/>
                          <a:cs typeface="Meiryo UI" pitchFamily="34" charset="-120"/>
                        </a:rPr>
                        <a:t>出力</a:t>
                      </a:r>
                      <a:endParaRPr lang="en-US" sz="1400" dirty="0">
                        <a:latin typeface="Meiryo UI" charset="0"/>
                        <a:ea typeface="Meiryo UI" charset="0"/>
                        <a:cs typeface="Meiryo UI" charset="0"/>
                      </a:endParaRPr>
                    </a:p>
                  </a:txBody>
                  <a:tcPr marL="88900" marR="88900" marT="88900" marB="889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400" dirty="0">
                          <a:solidFill>
                            <a:srgbClr val="1A1A1A"/>
                          </a:solidFill>
                          <a:latin typeface="Meiryo UI" pitchFamily="34" charset="0"/>
                          <a:ea typeface="Meiryo UI" pitchFamily="34" charset="-122"/>
                          <a:cs typeface="Meiryo UI" pitchFamily="34" charset="-120"/>
                        </a:rPr>
                        <a:t>テキスト羅列</a:t>
                      </a:r>
                      <a:endParaRPr lang="en-US" sz="1400" dirty="0">
                        <a:latin typeface="Meiryo UI" charset="0"/>
                        <a:ea typeface="Meiryo UI" charset="0"/>
                        <a:cs typeface="Meiryo UI" charset="0"/>
                      </a:endParaRPr>
                    </a:p>
                  </a:txBody>
                  <a:tcPr marL="88900" marR="88900" marT="88900" marB="889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1400" b="1" dirty="0">
                          <a:solidFill>
                            <a:srgbClr val="1A1A1A"/>
                          </a:solidFill>
                          <a:latin typeface="Meiryo UI" pitchFamily="34" charset="0"/>
                          <a:ea typeface="Meiryo UI" pitchFamily="34" charset="-122"/>
                          <a:cs typeface="Meiryo UI" pitchFamily="34" charset="-120"/>
                        </a:rPr>
                        <a:t>構造化データ（発注番号・品目・金額等に自動分類）</a:t>
                      </a:r>
                      <a:endParaRPr lang="en-US" sz="1400" dirty="0">
                        <a:latin typeface="Meiryo UI" charset="0"/>
                        <a:ea typeface="Meiryo UI" charset="0"/>
                        <a:cs typeface="Meiryo UI" charset="0"/>
                      </a:endParaRPr>
                    </a:p>
                  </a:txBody>
                  <a:tcPr marL="88900" marR="88900" marT="88900" marB="88900" anchor="ctr">
                    <a:lnL w="12700" cap="flat" cmpd="sng" algn="ctr">
                      <a:solidFill>
                        <a:srgbClr val="E0E0E0"/>
                      </a:solidFill>
                      <a:prstDash val="solid"/>
                      <a:round/>
                      <a:headEnd type="none" w="med" len="med"/>
                      <a:tailEnd type="none" w="med" len="med"/>
                    </a:lnL>
                    <a:lnR w="12700" cap="flat" cmpd="sng" algn="ctr">
                      <a:solidFill>
                        <a:srgbClr val="E0E0E0"/>
                      </a:solidFill>
                      <a:prstDash val="solid"/>
                      <a:round/>
                      <a:headEnd type="none" w="med" len="med"/>
                      <a:tailEnd type="none" w="med" len="med"/>
                    </a:lnR>
                    <a:lnT w="12700" cap="flat" cmpd="sng" algn="ctr">
                      <a:solidFill>
                        <a:srgbClr val="E0E0E0"/>
                      </a:solidFill>
                      <a:prstDash val="solid"/>
                      <a:round/>
                      <a:headEnd type="none" w="med" len="med"/>
                      <a:tailEnd type="none" w="med" len="med"/>
                    </a:lnT>
                    <a:lnB w="1270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338328" y="5561539"/>
            <a:ext cx="11521440" cy="457200"/>
          </a:xfrm>
          <a:prstGeom prst="rect">
            <a:avLst/>
          </a:prstGeom>
          <a:noFill/>
          <a:ln/>
        </p:spPr>
        <p:txBody>
          <a:bodyPr wrap="square" lIns="88900" tIns="88900" rIns="88900" bIns="88900" rtlCol="0" anchor="ctr"/>
          <a:lstStyle/>
          <a:p>
            <a:pPr marL="0" indent="0">
              <a:buNone/>
            </a:pPr>
            <a:r>
              <a:rPr lang="en-US" sz="1600" dirty="0">
                <a:solidFill>
                  <a:srgbClr val="1A1A1A"/>
                </a:solidFill>
                <a:latin typeface="Meiryo UI" pitchFamily="34" charset="0"/>
                <a:ea typeface="Meiryo UI" pitchFamily="34" charset="-122"/>
                <a:cs typeface="Meiryo UI" pitchFamily="34" charset="-120"/>
              </a:rPr>
              <a:t>従来OCRの「全件目視」から、</a:t>
            </a:r>
            <a:r>
              <a:rPr lang="en-US" sz="1600" b="1" dirty="0">
                <a:solidFill>
                  <a:srgbClr val="2D5A42"/>
                </a:solidFill>
                <a:latin typeface="Meiryo UI" pitchFamily="34" charset="0"/>
                <a:ea typeface="Meiryo UI" pitchFamily="34" charset="-122"/>
                <a:cs typeface="Meiryo UI" pitchFamily="34" charset="-120"/>
              </a:rPr>
              <a:t>「赤枠だけ確認」へ</a:t>
            </a:r>
            <a:endParaRPr lang="en-US" sz="1600" dirty="0"/>
          </a:p>
        </p:txBody>
      </p:sp>
      <p:sp>
        <p:nvSpPr>
          <p:cNvPr id="7" name="Text 4"/>
          <p:cNvSpPr/>
          <p:nvPr/>
        </p:nvSpPr>
        <p:spPr>
          <a:xfrm>
            <a:off x="9875520" y="6510528"/>
            <a:ext cx="1920240" cy="219456"/>
          </a:xfrm>
          <a:prstGeom prst="rect">
            <a:avLst/>
          </a:prstGeom>
          <a:noFill/>
          <a:ln/>
        </p:spPr>
        <p:txBody>
          <a:bodyPr wrap="square" rtlCol="0" anchor="ctr"/>
          <a:lstStyle/>
          <a:p>
            <a:pPr marL="0" indent="0" algn="l">
              <a:buNone/>
            </a:pPr>
            <a:r>
              <a:rPr lang="en-US" sz="1000" dirty="0">
                <a:solidFill>
                  <a:srgbClr val="BFBFBF"/>
                </a:solidFill>
                <a:latin typeface="Arial" pitchFamily="34" charset="0"/>
                <a:ea typeface="Arial" pitchFamily="34" charset="-122"/>
                <a:cs typeface="Arial" pitchFamily="34" charset="-120"/>
              </a:rPr>
              <a:t>© 2026 Boost Consulting, Inc.</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38328" y="237744"/>
            <a:ext cx="11521440" cy="256032"/>
          </a:xfrm>
          <a:prstGeom prst="rect">
            <a:avLst/>
          </a:prstGeom>
          <a:noFill/>
          <a:ln/>
        </p:spPr>
        <p:txBody>
          <a:bodyPr wrap="square" lIns="0" tIns="0" rIns="0" bIns="0" rtlCol="0" anchor="ctr"/>
          <a:lstStyle/>
          <a:p>
            <a:r>
              <a:rPr lang="en-US" sz="1400" b="1" dirty="0">
                <a:solidFill>
                  <a:srgbClr val="2D5A42"/>
                </a:solidFill>
                <a:latin typeface="Meiryo UI" pitchFamily="34" charset="0"/>
                <a:ea typeface="Meiryo UI" pitchFamily="34" charset="-122"/>
                <a:cs typeface="Meiryo UI" pitchFamily="34" charset="-120"/>
              </a:rPr>
              <a:t>MLLM-OCRの3ステップ処理フロー</a:t>
            </a:r>
            <a:endParaRPr lang="en-US" sz="1400" dirty="0"/>
          </a:p>
        </p:txBody>
      </p:sp>
      <p:sp>
        <p:nvSpPr>
          <p:cNvPr id="3" name="Shape 1"/>
          <p:cNvSpPr/>
          <p:nvPr/>
        </p:nvSpPr>
        <p:spPr>
          <a:xfrm>
            <a:off x="338328" y="576072"/>
            <a:ext cx="11521440" cy="0"/>
          </a:xfrm>
          <a:prstGeom prst="line">
            <a:avLst/>
          </a:prstGeom>
          <a:noFill/>
          <a:ln w="25400">
            <a:solidFill>
              <a:srgbClr val="D9D9D9"/>
            </a:solidFill>
            <a:prstDash val="solid"/>
          </a:ln>
        </p:spPr>
        <p:txBody>
          <a:bodyPr/>
          <a:lstStyle/>
          <a:p>
            <a:endParaRPr lang="ja-JP" altLang="en-US"/>
          </a:p>
        </p:txBody>
      </p:sp>
      <p:sp>
        <p:nvSpPr>
          <p:cNvPr id="4" name="Text 2"/>
          <p:cNvSpPr/>
          <p:nvPr/>
        </p:nvSpPr>
        <p:spPr>
          <a:xfrm>
            <a:off x="338328" y="658368"/>
            <a:ext cx="11521440" cy="886968"/>
          </a:xfrm>
          <a:prstGeom prst="rect">
            <a:avLst/>
          </a:prstGeom>
          <a:noFill/>
          <a:ln/>
        </p:spPr>
        <p:txBody>
          <a:bodyPr wrap="square" lIns="88900" tIns="88900" rIns="88900" bIns="88900" rtlCol="0" anchor="t"/>
          <a:lstStyle/>
          <a:p>
            <a:pPr marL="0" indent="0">
              <a:buNone/>
            </a:pPr>
            <a:r>
              <a:rPr lang="en-US" sz="2400" b="1" dirty="0">
                <a:solidFill>
                  <a:srgbClr val="1A1A1A"/>
                </a:solidFill>
                <a:latin typeface="Meiryo UI" pitchFamily="34" charset="0"/>
                <a:ea typeface="Meiryo UI" pitchFamily="34" charset="-122"/>
                <a:cs typeface="Meiryo UI" pitchFamily="34" charset="-120"/>
              </a:rPr>
              <a:t>AIが読み取り・検証・可視化を3段階で自動実行。</a:t>
            </a:r>
            <a:br>
              <a:rPr lang="en-US" sz="2400" b="1" dirty="0">
                <a:solidFill>
                  <a:srgbClr val="1A1A1A"/>
                </a:solidFill>
                <a:latin typeface="Meiryo UI" pitchFamily="34" charset="0"/>
                <a:ea typeface="Meiryo UI" pitchFamily="34" charset="-122"/>
                <a:cs typeface="Meiryo UI" pitchFamily="34" charset="-120"/>
              </a:rPr>
            </a:br>
            <a:r>
              <a:rPr lang="en-US" sz="2400" b="1" dirty="0" err="1">
                <a:solidFill>
                  <a:srgbClr val="1A1A1A"/>
                </a:solidFill>
                <a:latin typeface="Meiryo UI" pitchFamily="34" charset="0"/>
                <a:ea typeface="Meiryo UI" pitchFamily="34" charset="-122"/>
                <a:cs typeface="Meiryo UI" pitchFamily="34" charset="-120"/>
              </a:rPr>
              <a:t>人の確認は「赤枠の箇所だけ」に絞られる</a:t>
            </a:r>
            <a:endParaRPr lang="en-US" sz="2400" dirty="0"/>
          </a:p>
        </p:txBody>
      </p:sp>
      <p:sp>
        <p:nvSpPr>
          <p:cNvPr id="6" name="Text 4"/>
          <p:cNvSpPr/>
          <p:nvPr/>
        </p:nvSpPr>
        <p:spPr>
          <a:xfrm>
            <a:off x="1298712" y="1856232"/>
            <a:ext cx="2967559" cy="640080"/>
          </a:xfrm>
          <a:prstGeom prst="chevron">
            <a:avLst/>
          </a:prstGeom>
          <a:solidFill>
            <a:srgbClr val="2D5A42"/>
          </a:solidFill>
          <a:ln>
            <a:solidFill>
              <a:srgbClr val="2D5A42"/>
            </a:solidFill>
          </a:ln>
        </p:spPr>
        <p:txBody>
          <a:bodyPr wrap="square" lIns="88900" tIns="88900" rIns="88900" bIns="88900" rtlCol="0" anchor="ctr"/>
          <a:lstStyle/>
          <a:p>
            <a:pPr marL="0" indent="0">
              <a:buNone/>
            </a:pPr>
            <a:r>
              <a:rPr lang="ja-JP" altLang="en-US" sz="1400" b="1">
                <a:solidFill>
                  <a:srgbClr val="FFFFFF"/>
                </a:solidFill>
                <a:latin typeface="Meiryo UI" pitchFamily="34" charset="0"/>
                <a:ea typeface="Meiryo UI" pitchFamily="34" charset="-122"/>
                <a:cs typeface="Meiryo UI" pitchFamily="34" charset="-120"/>
              </a:rPr>
              <a:t>　　　</a:t>
            </a:r>
            <a:r>
              <a:rPr lang="en-US" sz="1400" b="1" dirty="0">
                <a:solidFill>
                  <a:srgbClr val="FFFFFF"/>
                </a:solidFill>
                <a:latin typeface="Meiryo UI" pitchFamily="34" charset="0"/>
                <a:ea typeface="Meiryo UI" pitchFamily="34" charset="-122"/>
                <a:cs typeface="Meiryo UI" pitchFamily="34" charset="-120"/>
              </a:rPr>
              <a:t>① </a:t>
            </a:r>
            <a:r>
              <a:rPr lang="en-US" sz="1400" b="1" dirty="0" err="1">
                <a:solidFill>
                  <a:srgbClr val="FFFFFF"/>
                </a:solidFill>
                <a:latin typeface="Meiryo UI" pitchFamily="34" charset="0"/>
                <a:ea typeface="Meiryo UI" pitchFamily="34" charset="-122"/>
                <a:cs typeface="Meiryo UI" pitchFamily="34" charset="-120"/>
              </a:rPr>
              <a:t>AI読み取り</a:t>
            </a:r>
            <a:r>
              <a:rPr lang="en-US" sz="1400" b="1" dirty="0">
                <a:solidFill>
                  <a:srgbClr val="FFFFFF"/>
                </a:solidFill>
                <a:latin typeface="Meiryo UI" pitchFamily="34" charset="0"/>
                <a:ea typeface="Meiryo UI" pitchFamily="34" charset="-122"/>
                <a:cs typeface="Meiryo UI" pitchFamily="34" charset="-120"/>
              </a:rPr>
              <a:t> </a:t>
            </a:r>
          </a:p>
          <a:p>
            <a:pPr marL="0" indent="0">
              <a:buNone/>
            </a:pPr>
            <a:r>
              <a:rPr lang="ja-JP" altLang="en-US" sz="1400" b="1">
                <a:solidFill>
                  <a:srgbClr val="FFFFFF"/>
                </a:solidFill>
                <a:latin typeface="Meiryo UI" pitchFamily="34" charset="0"/>
                <a:ea typeface="Meiryo UI" pitchFamily="34" charset="-122"/>
                <a:cs typeface="Meiryo UI" pitchFamily="34" charset="-120"/>
              </a:rPr>
              <a:t>　　　　　</a:t>
            </a:r>
            <a:r>
              <a:rPr lang="en-US" sz="1400" b="1" dirty="0">
                <a:solidFill>
                  <a:srgbClr val="FFFFFF"/>
                </a:solidFill>
                <a:latin typeface="Meiryo UI" pitchFamily="34" charset="0"/>
                <a:ea typeface="Meiryo UI" pitchFamily="34" charset="-122"/>
                <a:cs typeface="Meiryo UI" pitchFamily="34" charset="-120"/>
              </a:rPr>
              <a:t>+ </a:t>
            </a:r>
            <a:r>
              <a:rPr lang="en-US" sz="1400" b="1" dirty="0" err="1">
                <a:solidFill>
                  <a:srgbClr val="FFFFFF"/>
                </a:solidFill>
                <a:latin typeface="Meiryo UI" pitchFamily="34" charset="0"/>
                <a:ea typeface="Meiryo UI" pitchFamily="34" charset="-122"/>
                <a:cs typeface="Meiryo UI" pitchFamily="34" charset="-120"/>
              </a:rPr>
              <a:t>構造化抽出</a:t>
            </a:r>
            <a:endParaRPr lang="en-US" sz="1400" dirty="0"/>
          </a:p>
        </p:txBody>
      </p:sp>
      <p:sp>
        <p:nvSpPr>
          <p:cNvPr id="7" name="Text 5"/>
          <p:cNvSpPr/>
          <p:nvPr/>
        </p:nvSpPr>
        <p:spPr>
          <a:xfrm>
            <a:off x="1298712" y="2606040"/>
            <a:ext cx="2967559" cy="1371600"/>
          </a:xfrm>
          <a:prstGeom prst="rect">
            <a:avLst/>
          </a:prstGeom>
          <a:noFill/>
          <a:ln/>
        </p:spPr>
        <p:txBody>
          <a:bodyPr wrap="square" lIns="88900" tIns="88900" rIns="88900" bIns="88900" rtlCol="0" anchor="t"/>
          <a:lstStyle/>
          <a:p>
            <a:pPr marL="342900" indent="-342900">
              <a:buFont typeface="+mj-lt"/>
              <a:buAutoNum type="arabicPeriod"/>
            </a:pPr>
            <a:r>
              <a:rPr lang="en-US" sz="1400" dirty="0" err="1">
                <a:solidFill>
                  <a:srgbClr val="1A1A1A"/>
                </a:solidFill>
                <a:latin typeface="Meiryo UI" pitchFamily="34" charset="0"/>
                <a:ea typeface="Meiryo UI" pitchFamily="34" charset="-122"/>
                <a:cs typeface="Meiryo UI" pitchFamily="34" charset="-120"/>
              </a:rPr>
              <a:t>AIが発注書の内容を理解し項目ごとに自動分類</a:t>
            </a:r>
            <a:br>
              <a:rPr lang="en-US" sz="1400" dirty="0">
                <a:solidFill>
                  <a:srgbClr val="1A1A1A"/>
                </a:solidFill>
                <a:latin typeface="Meiryo UI" pitchFamily="34" charset="0"/>
                <a:ea typeface="Meiryo UI" pitchFamily="34" charset="-122"/>
                <a:cs typeface="Meiryo UI" pitchFamily="34" charset="-120"/>
              </a:rPr>
            </a:br>
            <a:endParaRPr lang="en-US" sz="1400" dirty="0">
              <a:solidFill>
                <a:srgbClr val="1A1A1A"/>
              </a:solidFill>
              <a:latin typeface="Meiryo UI" pitchFamily="34" charset="0"/>
              <a:ea typeface="Meiryo UI" pitchFamily="34" charset="-122"/>
              <a:cs typeface="Meiryo UI" pitchFamily="34" charset="-120"/>
            </a:endParaRPr>
          </a:p>
          <a:p>
            <a:pPr marL="342900" indent="-342900">
              <a:buFont typeface="+mj-lt"/>
              <a:buAutoNum type="arabicPeriod"/>
            </a:pPr>
            <a:r>
              <a:rPr lang="en-US" sz="1400" dirty="0" err="1">
                <a:solidFill>
                  <a:srgbClr val="1A1A1A"/>
                </a:solidFill>
                <a:latin typeface="Meiryo UI" pitchFamily="34" charset="0"/>
                <a:ea typeface="Meiryo UI" pitchFamily="34" charset="-122"/>
                <a:cs typeface="Meiryo UI" pitchFamily="34" charset="-120"/>
              </a:rPr>
              <a:t>発注番号・品名・数量・単価・金額・発注元等を一括抽出</a:t>
            </a:r>
            <a:br>
              <a:rPr lang="en-US" sz="1400" dirty="0">
                <a:solidFill>
                  <a:srgbClr val="1A1A1A"/>
                </a:solidFill>
                <a:latin typeface="Meiryo UI" pitchFamily="34" charset="0"/>
                <a:ea typeface="Meiryo UI" pitchFamily="34" charset="-122"/>
                <a:cs typeface="Meiryo UI" pitchFamily="34" charset="-120"/>
              </a:rPr>
            </a:br>
            <a:endParaRPr lang="en-US" sz="1400" dirty="0">
              <a:solidFill>
                <a:srgbClr val="1A1A1A"/>
              </a:solidFill>
              <a:latin typeface="Meiryo UI" pitchFamily="34" charset="0"/>
              <a:ea typeface="Meiryo UI" pitchFamily="34" charset="-122"/>
              <a:cs typeface="Meiryo UI" pitchFamily="34" charset="-120"/>
            </a:endParaRPr>
          </a:p>
          <a:p>
            <a:pPr marL="342900" indent="-342900">
              <a:buFont typeface="+mj-lt"/>
              <a:buAutoNum type="arabicPeriod"/>
            </a:pPr>
            <a:r>
              <a:rPr lang="en-US" sz="1400" dirty="0" err="1">
                <a:solidFill>
                  <a:srgbClr val="1A1A1A"/>
                </a:solidFill>
                <a:latin typeface="Meiryo UI" pitchFamily="34" charset="0"/>
                <a:ea typeface="Meiryo UI" pitchFamily="34" charset="-122"/>
                <a:cs typeface="Meiryo UI" pitchFamily="34" charset="-120"/>
              </a:rPr>
              <a:t>各項目に「読み取り信頼度」を自動判定</a:t>
            </a:r>
            <a:endParaRPr lang="en-US" sz="1400" dirty="0"/>
          </a:p>
        </p:txBody>
      </p:sp>
      <p:sp>
        <p:nvSpPr>
          <p:cNvPr id="8" name="Text 6"/>
          <p:cNvSpPr/>
          <p:nvPr/>
        </p:nvSpPr>
        <p:spPr>
          <a:xfrm>
            <a:off x="4630773" y="1856232"/>
            <a:ext cx="2967559" cy="640080"/>
          </a:xfrm>
          <a:prstGeom prst="chevron">
            <a:avLst/>
          </a:prstGeom>
          <a:solidFill>
            <a:srgbClr val="2D5A42"/>
          </a:solidFill>
          <a:ln>
            <a:solidFill>
              <a:srgbClr val="2D5A42"/>
            </a:solidFill>
          </a:ln>
        </p:spPr>
        <p:txBody>
          <a:bodyPr wrap="square" lIns="88900" tIns="88900" rIns="88900" bIns="88900" rtlCol="0" anchor="ctr"/>
          <a:lstStyle/>
          <a:p>
            <a:pPr marL="0" indent="0" algn="ctr">
              <a:buNone/>
            </a:pPr>
            <a:r>
              <a:rPr lang="en-US" sz="1400" b="1" dirty="0">
                <a:solidFill>
                  <a:srgbClr val="FFFFFF"/>
                </a:solidFill>
                <a:latin typeface="Meiryo UI" pitchFamily="34" charset="0"/>
                <a:ea typeface="Meiryo UI" pitchFamily="34" charset="-122"/>
                <a:cs typeface="Meiryo UI" pitchFamily="34" charset="-120"/>
              </a:rPr>
              <a:t>② AIによる画像照合検証</a:t>
            </a:r>
            <a:endParaRPr lang="en-US" sz="1400" dirty="0"/>
          </a:p>
        </p:txBody>
      </p:sp>
      <p:sp>
        <p:nvSpPr>
          <p:cNvPr id="9" name="Text 7"/>
          <p:cNvSpPr/>
          <p:nvPr/>
        </p:nvSpPr>
        <p:spPr>
          <a:xfrm>
            <a:off x="4630773" y="2606040"/>
            <a:ext cx="2967559" cy="1371600"/>
          </a:xfrm>
          <a:prstGeom prst="rect">
            <a:avLst/>
          </a:prstGeom>
          <a:noFill/>
          <a:ln/>
        </p:spPr>
        <p:txBody>
          <a:bodyPr wrap="square" lIns="88900" tIns="88900" rIns="88900" bIns="88900" rtlCol="0" anchor="t"/>
          <a:lstStyle/>
          <a:p>
            <a:pPr marL="342900" indent="-342900">
              <a:buFont typeface="+mj-lt"/>
              <a:buAutoNum type="arabicPeriod"/>
            </a:pPr>
            <a:r>
              <a:rPr lang="en-US" sz="1400" dirty="0">
                <a:solidFill>
                  <a:srgbClr val="1A1A1A"/>
                </a:solidFill>
                <a:latin typeface="Meiryo UI" pitchFamily="34" charset="0"/>
                <a:ea typeface="Meiryo UI" pitchFamily="34" charset="-122"/>
                <a:cs typeface="Meiryo UI" pitchFamily="34" charset="-120"/>
              </a:rPr>
              <a:t>①</a:t>
            </a:r>
            <a:r>
              <a:rPr lang="en-US" sz="1400" dirty="0" err="1">
                <a:solidFill>
                  <a:srgbClr val="1A1A1A"/>
                </a:solidFill>
                <a:latin typeface="Meiryo UI" pitchFamily="34" charset="0"/>
                <a:ea typeface="Meiryo UI" pitchFamily="34" charset="-122"/>
                <a:cs typeface="Meiryo UI" pitchFamily="34" charset="-120"/>
              </a:rPr>
              <a:t>の読み取り結果が正しいか</a:t>
            </a:r>
            <a:r>
              <a:rPr lang="en-US" sz="1400" dirty="0">
                <a:solidFill>
                  <a:srgbClr val="1A1A1A"/>
                </a:solidFill>
                <a:latin typeface="Meiryo UI" pitchFamily="34" charset="0"/>
                <a:ea typeface="Meiryo UI" pitchFamily="34" charset="-122"/>
                <a:cs typeface="Meiryo UI" pitchFamily="34" charset="-120"/>
              </a:rPr>
              <a:t>、</a:t>
            </a:r>
            <a:br>
              <a:rPr lang="en-US" sz="1400" dirty="0">
                <a:solidFill>
                  <a:srgbClr val="1A1A1A"/>
                </a:solidFill>
                <a:latin typeface="Meiryo UI" pitchFamily="34" charset="0"/>
                <a:ea typeface="Meiryo UI" pitchFamily="34" charset="-122"/>
                <a:cs typeface="Meiryo UI" pitchFamily="34" charset="-120"/>
              </a:rPr>
            </a:br>
            <a:r>
              <a:rPr lang="en-US" sz="1400" dirty="0" err="1">
                <a:solidFill>
                  <a:srgbClr val="1A1A1A"/>
                </a:solidFill>
                <a:latin typeface="Meiryo UI" pitchFamily="34" charset="0"/>
                <a:ea typeface="Meiryo UI" pitchFamily="34" charset="-122"/>
                <a:cs typeface="Meiryo UI" pitchFamily="34" charset="-120"/>
              </a:rPr>
              <a:t>原本画像と再照合</a:t>
            </a:r>
            <a:br>
              <a:rPr lang="en-US" sz="1400" dirty="0">
                <a:solidFill>
                  <a:srgbClr val="1A1A1A"/>
                </a:solidFill>
                <a:latin typeface="Meiryo UI" pitchFamily="34" charset="0"/>
                <a:ea typeface="Meiryo UI" pitchFamily="34" charset="-122"/>
                <a:cs typeface="Meiryo UI" pitchFamily="34" charset="-120"/>
              </a:rPr>
            </a:br>
            <a:endParaRPr lang="en-US" sz="1400" dirty="0">
              <a:solidFill>
                <a:srgbClr val="1A1A1A"/>
              </a:solidFill>
              <a:latin typeface="Meiryo UI" pitchFamily="34" charset="0"/>
              <a:ea typeface="Meiryo UI" pitchFamily="34" charset="-122"/>
              <a:cs typeface="Meiryo UI" pitchFamily="34" charset="-120"/>
            </a:endParaRPr>
          </a:p>
          <a:p>
            <a:pPr marL="342900" indent="-342900">
              <a:buFont typeface="+mj-lt"/>
              <a:buAutoNum type="arabicPeriod"/>
            </a:pPr>
            <a:r>
              <a:rPr lang="en-US" sz="1400" dirty="0" err="1">
                <a:solidFill>
                  <a:srgbClr val="1A1A1A"/>
                </a:solidFill>
                <a:latin typeface="Meiryo UI" pitchFamily="34" charset="0"/>
                <a:ea typeface="Meiryo UI" pitchFamily="34" charset="-122"/>
                <a:cs typeface="Meiryo UI" pitchFamily="34" charset="-120"/>
              </a:rPr>
              <a:t>不一致があれば信頼度を引き下げ</a:t>
            </a:r>
            <a:br>
              <a:rPr lang="en-US" sz="1400" dirty="0">
                <a:solidFill>
                  <a:srgbClr val="1A1A1A"/>
                </a:solidFill>
                <a:latin typeface="Meiryo UI" pitchFamily="34" charset="0"/>
                <a:ea typeface="Meiryo UI" pitchFamily="34" charset="-122"/>
                <a:cs typeface="Meiryo UI" pitchFamily="34" charset="-120"/>
              </a:rPr>
            </a:br>
            <a:endParaRPr lang="en-US" sz="1400" dirty="0">
              <a:solidFill>
                <a:srgbClr val="1A1A1A"/>
              </a:solidFill>
              <a:latin typeface="Meiryo UI" pitchFamily="34" charset="0"/>
              <a:ea typeface="Meiryo UI" pitchFamily="34" charset="-122"/>
              <a:cs typeface="Meiryo UI" pitchFamily="34" charset="-120"/>
            </a:endParaRPr>
          </a:p>
          <a:p>
            <a:pPr marL="342900" indent="-342900">
              <a:buFont typeface="+mj-lt"/>
              <a:buAutoNum type="arabicPeriod"/>
            </a:pPr>
            <a:r>
              <a:rPr lang="en-US" sz="1400" dirty="0" err="1">
                <a:solidFill>
                  <a:srgbClr val="1A1A1A"/>
                </a:solidFill>
                <a:latin typeface="Meiryo UI" pitchFamily="34" charset="0"/>
                <a:ea typeface="Meiryo UI" pitchFamily="34" charset="-122"/>
                <a:cs typeface="Meiryo UI" pitchFamily="34" charset="-120"/>
              </a:rPr>
              <a:t>原本上の該当箇所を</a:t>
            </a:r>
            <a:br>
              <a:rPr lang="en-US" sz="1400" dirty="0">
                <a:solidFill>
                  <a:srgbClr val="1A1A1A"/>
                </a:solidFill>
                <a:latin typeface="Meiryo UI" pitchFamily="34" charset="0"/>
                <a:ea typeface="Meiryo UI" pitchFamily="34" charset="-122"/>
                <a:cs typeface="Meiryo UI" pitchFamily="34" charset="-120"/>
              </a:rPr>
            </a:br>
            <a:r>
              <a:rPr lang="en-US" sz="1400" dirty="0" err="1">
                <a:solidFill>
                  <a:srgbClr val="1A1A1A"/>
                </a:solidFill>
                <a:latin typeface="Meiryo UI" pitchFamily="34" charset="0"/>
                <a:ea typeface="Meiryo UI" pitchFamily="34" charset="-122"/>
                <a:cs typeface="Meiryo UI" pitchFamily="34" charset="-120"/>
              </a:rPr>
              <a:t>バウンディングボックスで特定</a:t>
            </a:r>
            <a:endParaRPr lang="en-US" sz="1400" dirty="0"/>
          </a:p>
        </p:txBody>
      </p:sp>
      <p:sp>
        <p:nvSpPr>
          <p:cNvPr id="10" name="Text 8"/>
          <p:cNvSpPr/>
          <p:nvPr/>
        </p:nvSpPr>
        <p:spPr>
          <a:xfrm>
            <a:off x="7962834" y="1856232"/>
            <a:ext cx="2967559" cy="640080"/>
          </a:xfrm>
          <a:prstGeom prst="chevron">
            <a:avLst/>
          </a:prstGeom>
          <a:solidFill>
            <a:srgbClr val="2D5A42"/>
          </a:solidFill>
          <a:ln>
            <a:solidFill>
              <a:srgbClr val="2D5A42"/>
            </a:solidFill>
          </a:ln>
        </p:spPr>
        <p:txBody>
          <a:bodyPr wrap="square" lIns="88900" tIns="88900" rIns="88900" bIns="88900" rtlCol="0" anchor="ctr"/>
          <a:lstStyle/>
          <a:p>
            <a:pPr marL="0" indent="0" algn="ctr">
              <a:buNone/>
            </a:pPr>
            <a:r>
              <a:rPr lang="en-US" sz="1400" b="1" dirty="0">
                <a:solidFill>
                  <a:srgbClr val="FFFFFF"/>
                </a:solidFill>
                <a:latin typeface="Meiryo UI" pitchFamily="34" charset="0"/>
                <a:ea typeface="Meiryo UI" pitchFamily="34" charset="-122"/>
                <a:cs typeface="Meiryo UI" pitchFamily="34" charset="-120"/>
              </a:rPr>
              <a:t>③ 金額の自動検算</a:t>
            </a:r>
            <a:endParaRPr lang="en-US" sz="1400" dirty="0"/>
          </a:p>
        </p:txBody>
      </p:sp>
      <p:sp>
        <p:nvSpPr>
          <p:cNvPr id="11" name="Text 9"/>
          <p:cNvSpPr/>
          <p:nvPr/>
        </p:nvSpPr>
        <p:spPr>
          <a:xfrm>
            <a:off x="7962834" y="2606040"/>
            <a:ext cx="2967559" cy="1371600"/>
          </a:xfrm>
          <a:prstGeom prst="rect">
            <a:avLst/>
          </a:prstGeom>
          <a:noFill/>
          <a:ln/>
        </p:spPr>
        <p:txBody>
          <a:bodyPr wrap="square" lIns="88900" tIns="88900" rIns="88900" bIns="88900" rtlCol="0" anchor="t"/>
          <a:lstStyle/>
          <a:p>
            <a:pPr marL="342900" indent="-342900">
              <a:buFont typeface="+mj-lt"/>
              <a:buAutoNum type="arabicPeriod"/>
            </a:pPr>
            <a:r>
              <a:rPr lang="en-US" sz="1400" dirty="0" err="1">
                <a:solidFill>
                  <a:srgbClr val="1A1A1A"/>
                </a:solidFill>
                <a:latin typeface="Meiryo UI" pitchFamily="34" charset="0"/>
                <a:ea typeface="Meiryo UI" pitchFamily="34" charset="-122"/>
                <a:cs typeface="Meiryo UI" pitchFamily="34" charset="-120"/>
              </a:rPr>
              <a:t>単価×数量＝金額</a:t>
            </a:r>
            <a:r>
              <a:rPr lang="en-US" sz="1400" dirty="0">
                <a:solidFill>
                  <a:srgbClr val="1A1A1A"/>
                </a:solidFill>
                <a:latin typeface="Meiryo UI" pitchFamily="34" charset="0"/>
                <a:ea typeface="Meiryo UI" pitchFamily="34" charset="-122"/>
                <a:cs typeface="Meiryo UI" pitchFamily="34" charset="-120"/>
              </a:rPr>
              <a:t>、</a:t>
            </a:r>
            <a:br>
              <a:rPr lang="en-US" sz="1400" dirty="0">
                <a:solidFill>
                  <a:srgbClr val="1A1A1A"/>
                </a:solidFill>
                <a:latin typeface="Meiryo UI" pitchFamily="34" charset="0"/>
                <a:ea typeface="Meiryo UI" pitchFamily="34" charset="-122"/>
                <a:cs typeface="Meiryo UI" pitchFamily="34" charset="-120"/>
              </a:rPr>
            </a:br>
            <a:r>
              <a:rPr lang="en-US" sz="1400" dirty="0" err="1">
                <a:solidFill>
                  <a:srgbClr val="1A1A1A"/>
                </a:solidFill>
                <a:latin typeface="Meiryo UI" pitchFamily="34" charset="0"/>
                <a:ea typeface="Meiryo UI" pitchFamily="34" charset="-122"/>
                <a:cs typeface="Meiryo UI" pitchFamily="34" charset="-120"/>
              </a:rPr>
              <a:t>小計＋税＝合計を自動チェック</a:t>
            </a:r>
            <a:br>
              <a:rPr lang="en-US" sz="1400" dirty="0">
                <a:solidFill>
                  <a:srgbClr val="1A1A1A"/>
                </a:solidFill>
                <a:latin typeface="Meiryo UI" pitchFamily="34" charset="0"/>
                <a:ea typeface="Meiryo UI" pitchFamily="34" charset="-122"/>
                <a:cs typeface="Meiryo UI" pitchFamily="34" charset="-120"/>
              </a:rPr>
            </a:br>
            <a:endParaRPr lang="en-US" sz="1400" dirty="0">
              <a:solidFill>
                <a:srgbClr val="1A1A1A"/>
              </a:solidFill>
              <a:latin typeface="Meiryo UI" pitchFamily="34" charset="0"/>
              <a:ea typeface="Meiryo UI" pitchFamily="34" charset="-122"/>
              <a:cs typeface="Meiryo UI" pitchFamily="34" charset="-120"/>
            </a:endParaRPr>
          </a:p>
          <a:p>
            <a:pPr marL="342900" indent="-342900">
              <a:buFont typeface="+mj-lt"/>
              <a:buAutoNum type="arabicPeriod"/>
            </a:pPr>
            <a:r>
              <a:rPr lang="en-US" sz="1400" dirty="0" err="1">
                <a:solidFill>
                  <a:srgbClr val="1A1A1A"/>
                </a:solidFill>
                <a:latin typeface="Meiryo UI" pitchFamily="34" charset="0"/>
                <a:ea typeface="Meiryo UI" pitchFamily="34" charset="-122"/>
                <a:cs typeface="Meiryo UI" pitchFamily="34" charset="-120"/>
              </a:rPr>
              <a:t>計算が合わない箇所を自動検出</a:t>
            </a:r>
            <a:r>
              <a:rPr lang="en-US" sz="1400" dirty="0">
                <a:solidFill>
                  <a:srgbClr val="1A1A1A"/>
                </a:solidFill>
                <a:latin typeface="Meiryo UI" pitchFamily="34" charset="0"/>
                <a:ea typeface="Meiryo UI" pitchFamily="34" charset="-122"/>
                <a:cs typeface="Meiryo UI" pitchFamily="34" charset="-120"/>
              </a:rPr>
              <a:t> → 信頼度に反映</a:t>
            </a:r>
            <a:endParaRPr lang="en-US" sz="1400" dirty="0"/>
          </a:p>
        </p:txBody>
      </p:sp>
      <p:sp>
        <p:nvSpPr>
          <p:cNvPr id="14" name="Shape 12"/>
          <p:cNvSpPr/>
          <p:nvPr/>
        </p:nvSpPr>
        <p:spPr>
          <a:xfrm>
            <a:off x="336738" y="4568292"/>
            <a:ext cx="11521440" cy="0"/>
          </a:xfrm>
          <a:prstGeom prst="line">
            <a:avLst/>
          </a:prstGeom>
          <a:noFill/>
          <a:ln w="25400">
            <a:solidFill>
              <a:srgbClr val="D9D9D9"/>
            </a:solidFill>
            <a:prstDash val="solid"/>
          </a:ln>
        </p:spPr>
        <p:txBody>
          <a:bodyPr/>
          <a:lstStyle/>
          <a:p>
            <a:endParaRPr lang="ja-JP" altLang="en-US"/>
          </a:p>
        </p:txBody>
      </p:sp>
      <p:sp>
        <p:nvSpPr>
          <p:cNvPr id="15" name="Text 13"/>
          <p:cNvSpPr/>
          <p:nvPr/>
        </p:nvSpPr>
        <p:spPr>
          <a:xfrm>
            <a:off x="336738" y="4727448"/>
            <a:ext cx="11521440" cy="256032"/>
          </a:xfrm>
          <a:prstGeom prst="rect">
            <a:avLst/>
          </a:prstGeom>
          <a:noFill/>
          <a:ln/>
        </p:spPr>
        <p:txBody>
          <a:bodyPr wrap="square" lIns="0" tIns="0" rIns="0" bIns="0" rtlCol="0" anchor="ctr"/>
          <a:lstStyle/>
          <a:p>
            <a:pPr marL="0" indent="0">
              <a:buNone/>
            </a:pPr>
            <a:r>
              <a:rPr lang="en-US" sz="1600" b="1" dirty="0">
                <a:solidFill>
                  <a:srgbClr val="2D5A42"/>
                </a:solidFill>
                <a:latin typeface="Meiryo UI" pitchFamily="34" charset="0"/>
                <a:ea typeface="Meiryo UI" pitchFamily="34" charset="-122"/>
                <a:cs typeface="Meiryo UI" pitchFamily="34" charset="-120"/>
              </a:rPr>
              <a:t>3つの差別化ポイント</a:t>
            </a:r>
            <a:endParaRPr lang="en-US" sz="1600" dirty="0"/>
          </a:p>
        </p:txBody>
      </p:sp>
      <p:sp>
        <p:nvSpPr>
          <p:cNvPr id="16" name="Text 14"/>
          <p:cNvSpPr/>
          <p:nvPr/>
        </p:nvSpPr>
        <p:spPr>
          <a:xfrm>
            <a:off x="336738" y="5074920"/>
            <a:ext cx="3721608" cy="365760"/>
          </a:xfrm>
          <a:prstGeom prst="rect">
            <a:avLst/>
          </a:prstGeom>
          <a:solidFill>
            <a:srgbClr val="3F7556"/>
          </a:solidFill>
          <a:ln/>
        </p:spPr>
        <p:txBody>
          <a:bodyPr wrap="square" lIns="88900" tIns="88900" rIns="88900" bIns="88900" rtlCol="0" anchor="ctr"/>
          <a:lstStyle/>
          <a:p>
            <a:pPr marL="0" indent="0">
              <a:buNone/>
            </a:pPr>
            <a:r>
              <a:rPr lang="en-US" sz="1400" b="1" dirty="0">
                <a:solidFill>
                  <a:srgbClr val="FFFFFF"/>
                </a:solidFill>
                <a:latin typeface="Meiryo UI" pitchFamily="34" charset="0"/>
                <a:ea typeface="Meiryo UI" pitchFamily="34" charset="-122"/>
                <a:cs typeface="Meiryo UI" pitchFamily="34" charset="-120"/>
              </a:rPr>
              <a:t>手書き・フォーマットフリー</a:t>
            </a:r>
            <a:endParaRPr lang="en-US" sz="1400" dirty="0"/>
          </a:p>
        </p:txBody>
      </p:sp>
      <p:sp>
        <p:nvSpPr>
          <p:cNvPr id="17" name="Text 15"/>
          <p:cNvSpPr/>
          <p:nvPr/>
        </p:nvSpPr>
        <p:spPr>
          <a:xfrm>
            <a:off x="336738" y="5440680"/>
            <a:ext cx="3721608" cy="758952"/>
          </a:xfrm>
          <a:prstGeom prst="rect">
            <a:avLst/>
          </a:prstGeom>
          <a:solidFill>
            <a:srgbClr val="F2F2F2"/>
          </a:solidFill>
          <a:ln/>
        </p:spPr>
        <p:txBody>
          <a:bodyPr wrap="square" lIns="88900" tIns="88900" rIns="88900" bIns="88900" rtlCol="0" anchor="t"/>
          <a:lstStyle/>
          <a:p>
            <a:pPr marL="0" indent="0">
              <a:buNone/>
            </a:pPr>
            <a:r>
              <a:rPr lang="en-US" sz="1400" dirty="0">
                <a:solidFill>
                  <a:srgbClr val="1A1A1A"/>
                </a:solidFill>
                <a:latin typeface="Meiryo UI" pitchFamily="34" charset="0"/>
                <a:ea typeface="Meiryo UI" pitchFamily="34" charset="-122"/>
                <a:cs typeface="Meiryo UI" pitchFamily="34" charset="-120"/>
              </a:rPr>
              <a:t>テンプレートなしの手書き発注書でも、AIが「意味」を理解して項目を自動抽出</a:t>
            </a:r>
            <a:endParaRPr lang="en-US" sz="1400" dirty="0"/>
          </a:p>
        </p:txBody>
      </p:sp>
      <p:sp>
        <p:nvSpPr>
          <p:cNvPr id="18" name="Text 16"/>
          <p:cNvSpPr/>
          <p:nvPr/>
        </p:nvSpPr>
        <p:spPr>
          <a:xfrm>
            <a:off x="4241226" y="5074920"/>
            <a:ext cx="3721608" cy="365760"/>
          </a:xfrm>
          <a:prstGeom prst="rect">
            <a:avLst/>
          </a:prstGeom>
          <a:solidFill>
            <a:srgbClr val="3F7556"/>
          </a:solidFill>
          <a:ln/>
        </p:spPr>
        <p:txBody>
          <a:bodyPr wrap="square" lIns="88900" tIns="88900" rIns="88900" bIns="88900" rtlCol="0" anchor="ctr"/>
          <a:lstStyle/>
          <a:p>
            <a:pPr marL="0" indent="0">
              <a:buNone/>
            </a:pPr>
            <a:r>
              <a:rPr lang="en-US" sz="1400" b="1" dirty="0">
                <a:solidFill>
                  <a:srgbClr val="FFFFFF"/>
                </a:solidFill>
                <a:latin typeface="Meiryo UI" pitchFamily="34" charset="0"/>
                <a:ea typeface="Meiryo UI" pitchFamily="34" charset="-122"/>
                <a:cs typeface="Meiryo UI" pitchFamily="34" charset="-120"/>
              </a:rPr>
              <a:t>AI自身が検証する仕組み</a:t>
            </a:r>
            <a:endParaRPr lang="en-US" sz="1400" dirty="0"/>
          </a:p>
        </p:txBody>
      </p:sp>
      <p:sp>
        <p:nvSpPr>
          <p:cNvPr id="19" name="Text 17"/>
          <p:cNvSpPr/>
          <p:nvPr/>
        </p:nvSpPr>
        <p:spPr>
          <a:xfrm>
            <a:off x="4241226" y="5440680"/>
            <a:ext cx="3721608" cy="758952"/>
          </a:xfrm>
          <a:prstGeom prst="rect">
            <a:avLst/>
          </a:prstGeom>
          <a:solidFill>
            <a:srgbClr val="F2F2F2"/>
          </a:solidFill>
          <a:ln/>
        </p:spPr>
        <p:txBody>
          <a:bodyPr wrap="square" lIns="88900" tIns="88900" rIns="88900" bIns="88900" rtlCol="0" anchor="t"/>
          <a:lstStyle/>
          <a:p>
            <a:pPr marL="0" indent="0">
              <a:buNone/>
            </a:pPr>
            <a:r>
              <a:rPr lang="en-US" sz="1400" dirty="0">
                <a:solidFill>
                  <a:srgbClr val="1A1A1A"/>
                </a:solidFill>
                <a:latin typeface="Meiryo UI" pitchFamily="34" charset="0"/>
                <a:ea typeface="Meiryo UI" pitchFamily="34" charset="-122"/>
                <a:cs typeface="Meiryo UI" pitchFamily="34" charset="-120"/>
              </a:rPr>
              <a:t>読み取って終わりではなく、AIが2段階で結果を検証。金額の整合性も自動チェック</a:t>
            </a:r>
            <a:endParaRPr lang="en-US" sz="1400" dirty="0"/>
          </a:p>
        </p:txBody>
      </p:sp>
      <p:sp>
        <p:nvSpPr>
          <p:cNvPr id="20" name="Text 18"/>
          <p:cNvSpPr/>
          <p:nvPr/>
        </p:nvSpPr>
        <p:spPr>
          <a:xfrm>
            <a:off x="8145714" y="5074920"/>
            <a:ext cx="3721608" cy="365760"/>
          </a:xfrm>
          <a:prstGeom prst="rect">
            <a:avLst/>
          </a:prstGeom>
          <a:solidFill>
            <a:srgbClr val="3F7556"/>
          </a:solidFill>
          <a:ln/>
        </p:spPr>
        <p:txBody>
          <a:bodyPr wrap="square" lIns="88900" tIns="88900" rIns="88900" bIns="88900" rtlCol="0" anchor="ctr"/>
          <a:lstStyle/>
          <a:p>
            <a:pPr marL="0" indent="0">
              <a:buNone/>
            </a:pPr>
            <a:r>
              <a:rPr lang="en-US" sz="1400" b="1" dirty="0">
                <a:solidFill>
                  <a:srgbClr val="FFFFFF"/>
                </a:solidFill>
                <a:latin typeface="Meiryo UI" pitchFamily="34" charset="0"/>
                <a:ea typeface="Meiryo UI" pitchFamily="34" charset="-122"/>
                <a:cs typeface="Meiryo UI" pitchFamily="34" charset="-120"/>
              </a:rPr>
              <a:t>確認箇所の可視化</a:t>
            </a:r>
            <a:endParaRPr lang="en-US" sz="1400" dirty="0"/>
          </a:p>
        </p:txBody>
      </p:sp>
      <p:sp>
        <p:nvSpPr>
          <p:cNvPr id="21" name="Text 19"/>
          <p:cNvSpPr/>
          <p:nvPr/>
        </p:nvSpPr>
        <p:spPr>
          <a:xfrm>
            <a:off x="8145714" y="5440680"/>
            <a:ext cx="3721608" cy="758952"/>
          </a:xfrm>
          <a:prstGeom prst="rect">
            <a:avLst/>
          </a:prstGeom>
          <a:solidFill>
            <a:srgbClr val="F2F2F2"/>
          </a:solidFill>
          <a:ln/>
        </p:spPr>
        <p:txBody>
          <a:bodyPr wrap="square" lIns="88900" tIns="88900" rIns="88900" bIns="88900" rtlCol="0" anchor="t"/>
          <a:lstStyle/>
          <a:p>
            <a:pPr marL="0" indent="0">
              <a:buNone/>
            </a:pPr>
            <a:r>
              <a:rPr lang="en-US" sz="1400" dirty="0" err="1">
                <a:solidFill>
                  <a:srgbClr val="1A1A1A"/>
                </a:solidFill>
                <a:latin typeface="Meiryo UI" pitchFamily="34" charset="0"/>
                <a:ea typeface="Meiryo UI" pitchFamily="34" charset="-122"/>
                <a:cs typeface="Meiryo UI" pitchFamily="34" charset="-120"/>
              </a:rPr>
              <a:t>原本画像に抽出元を表示。赤枠の箇所だけ確認すればよい</a:t>
            </a:r>
            <a:endParaRPr lang="en-US" sz="1400" dirty="0"/>
          </a:p>
        </p:txBody>
      </p:sp>
      <p:sp>
        <p:nvSpPr>
          <p:cNvPr id="22" name="Text 20"/>
          <p:cNvSpPr/>
          <p:nvPr/>
        </p:nvSpPr>
        <p:spPr>
          <a:xfrm>
            <a:off x="9875520" y="6510528"/>
            <a:ext cx="1920240" cy="219456"/>
          </a:xfrm>
          <a:prstGeom prst="rect">
            <a:avLst/>
          </a:prstGeom>
          <a:noFill/>
          <a:ln/>
        </p:spPr>
        <p:txBody>
          <a:bodyPr wrap="square" rtlCol="0" anchor="ctr"/>
          <a:lstStyle/>
          <a:p>
            <a:pPr marL="0" indent="0" algn="l">
              <a:buNone/>
            </a:pPr>
            <a:r>
              <a:rPr lang="en-US" sz="1000" dirty="0">
                <a:solidFill>
                  <a:srgbClr val="BFBFBF"/>
                </a:solidFill>
                <a:latin typeface="Arial" pitchFamily="34" charset="0"/>
                <a:ea typeface="Arial" pitchFamily="34" charset="-122"/>
                <a:cs typeface="Arial" pitchFamily="34" charset="-120"/>
              </a:rPr>
              <a:t>© 2026 Boost Consulting, Inc.</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38328" y="237744"/>
            <a:ext cx="11521440" cy="256032"/>
          </a:xfrm>
          <a:prstGeom prst="rect">
            <a:avLst/>
          </a:prstGeom>
          <a:noFill/>
          <a:ln/>
        </p:spPr>
        <p:txBody>
          <a:bodyPr wrap="square" lIns="0" tIns="0" rIns="0" bIns="0" rtlCol="0" anchor="ctr"/>
          <a:lstStyle/>
          <a:p>
            <a:pPr marL="0" indent="0">
              <a:buNone/>
            </a:pPr>
            <a:r>
              <a:rPr lang="en-US" sz="1400" b="1" dirty="0">
                <a:solidFill>
                  <a:srgbClr val="2D5A42"/>
                </a:solidFill>
                <a:latin typeface="Meiryo UI" pitchFamily="34" charset="0"/>
                <a:ea typeface="Meiryo UI" pitchFamily="34" charset="-122"/>
                <a:cs typeface="Meiryo UI" pitchFamily="34" charset="-120"/>
              </a:rPr>
              <a:t>デモのご紹介</a:t>
            </a:r>
            <a:endParaRPr lang="en-US" sz="1400" dirty="0"/>
          </a:p>
        </p:txBody>
      </p:sp>
      <p:sp>
        <p:nvSpPr>
          <p:cNvPr id="3" name="Shape 1"/>
          <p:cNvSpPr/>
          <p:nvPr/>
        </p:nvSpPr>
        <p:spPr>
          <a:xfrm>
            <a:off x="338328" y="576072"/>
            <a:ext cx="11521440" cy="0"/>
          </a:xfrm>
          <a:prstGeom prst="line">
            <a:avLst/>
          </a:prstGeom>
          <a:noFill/>
          <a:ln w="25400">
            <a:solidFill>
              <a:srgbClr val="D9D9D9"/>
            </a:solidFill>
            <a:prstDash val="solid"/>
          </a:ln>
        </p:spPr>
        <p:txBody>
          <a:bodyPr/>
          <a:lstStyle/>
          <a:p>
            <a:endParaRPr lang="ja-JP" altLang="en-US"/>
          </a:p>
        </p:txBody>
      </p:sp>
      <p:sp>
        <p:nvSpPr>
          <p:cNvPr id="4" name="Text 2"/>
          <p:cNvSpPr/>
          <p:nvPr/>
        </p:nvSpPr>
        <p:spPr>
          <a:xfrm>
            <a:off x="338328" y="658368"/>
            <a:ext cx="11521440" cy="886968"/>
          </a:xfrm>
          <a:prstGeom prst="rect">
            <a:avLst/>
          </a:prstGeom>
          <a:noFill/>
          <a:ln/>
        </p:spPr>
        <p:txBody>
          <a:bodyPr wrap="square" lIns="88900" tIns="88900" rIns="88900" bIns="88900" rtlCol="0" anchor="t"/>
          <a:lstStyle/>
          <a:p>
            <a:pPr marL="0" indent="0">
              <a:buNone/>
            </a:pPr>
            <a:r>
              <a:rPr lang="en-US" sz="2400" b="1" dirty="0" err="1">
                <a:solidFill>
                  <a:srgbClr val="1A1A1A"/>
                </a:solidFill>
                <a:latin typeface="Meiryo UI" pitchFamily="34" charset="0"/>
                <a:ea typeface="Meiryo UI" pitchFamily="34" charset="-122"/>
                <a:cs typeface="Meiryo UI" pitchFamily="34" charset="-120"/>
              </a:rPr>
              <a:t>AIが検証した結果の赤枠の箇所だけ確認すれば良い</a:t>
            </a:r>
            <a:endParaRPr lang="en-US" sz="2400" dirty="0"/>
          </a:p>
        </p:txBody>
      </p:sp>
      <p:sp>
        <p:nvSpPr>
          <p:cNvPr id="12" name="Text 10"/>
          <p:cNvSpPr/>
          <p:nvPr/>
        </p:nvSpPr>
        <p:spPr>
          <a:xfrm>
            <a:off x="9875520" y="6510528"/>
            <a:ext cx="1920240" cy="219456"/>
          </a:xfrm>
          <a:prstGeom prst="rect">
            <a:avLst/>
          </a:prstGeom>
          <a:noFill/>
          <a:ln/>
        </p:spPr>
        <p:txBody>
          <a:bodyPr wrap="square" rtlCol="0" anchor="ctr"/>
          <a:lstStyle/>
          <a:p>
            <a:pPr marL="0" indent="0" algn="l">
              <a:buNone/>
            </a:pPr>
            <a:r>
              <a:rPr lang="en-US" sz="1000" dirty="0">
                <a:solidFill>
                  <a:srgbClr val="BFBFBF"/>
                </a:solidFill>
                <a:latin typeface="Arial" pitchFamily="34" charset="0"/>
                <a:ea typeface="Arial" pitchFamily="34" charset="-122"/>
                <a:cs typeface="Arial" pitchFamily="34" charset="-120"/>
              </a:rPr>
              <a:t>© 2026 Boost Consulting, Inc.</a:t>
            </a:r>
            <a:endParaRPr lang="en-US" sz="1000" dirty="0"/>
          </a:p>
        </p:txBody>
      </p:sp>
      <p:pic>
        <p:nvPicPr>
          <p:cNvPr id="14" name="図 13">
            <a:extLst>
              <a:ext uri="{FF2B5EF4-FFF2-40B4-BE49-F238E27FC236}">
                <a16:creationId xmlns:a16="http://schemas.microsoft.com/office/drawing/2014/main" id="{BD2F4178-A9E0-65F5-E8AF-F24FF2BC96AC}"/>
              </a:ext>
            </a:extLst>
          </p:cNvPr>
          <p:cNvPicPr>
            <a:picLocks noChangeAspect="1"/>
          </p:cNvPicPr>
          <p:nvPr/>
        </p:nvPicPr>
        <p:blipFill>
          <a:blip r:embed="rId3"/>
          <a:stretch>
            <a:fillRect/>
          </a:stretch>
        </p:blipFill>
        <p:spPr>
          <a:xfrm>
            <a:off x="338328" y="1628775"/>
            <a:ext cx="6581456" cy="4645734"/>
          </a:xfrm>
          <a:prstGeom prst="rect">
            <a:avLst/>
          </a:prstGeom>
        </p:spPr>
      </p:pic>
      <p:sp>
        <p:nvSpPr>
          <p:cNvPr id="5" name="Text 5">
            <a:extLst>
              <a:ext uri="{FF2B5EF4-FFF2-40B4-BE49-F238E27FC236}">
                <a16:creationId xmlns:a16="http://schemas.microsoft.com/office/drawing/2014/main" id="{DCCA5F16-8C77-8B47-359B-169291858EAD}"/>
              </a:ext>
            </a:extLst>
          </p:cNvPr>
          <p:cNvSpPr/>
          <p:nvPr/>
        </p:nvSpPr>
        <p:spPr>
          <a:xfrm>
            <a:off x="6840701" y="3543300"/>
            <a:ext cx="4955059" cy="484632"/>
          </a:xfrm>
          <a:prstGeom prst="rect">
            <a:avLst/>
          </a:prstGeom>
          <a:noFill/>
          <a:ln/>
        </p:spPr>
        <p:txBody>
          <a:bodyPr wrap="square" lIns="88900" tIns="88900" rIns="88900" bIns="88900" rtlCol="0" anchor="t"/>
          <a:lstStyle/>
          <a:p>
            <a:r>
              <a:rPr lang="en-US" sz="1400" dirty="0"/>
              <a:t>Demo URL: </a:t>
            </a:r>
          </a:p>
          <a:p>
            <a:r>
              <a:rPr lang="en-US" sz="1400" dirty="0"/>
              <a:t>https://dnpdemo-ypqmncappawrhqk5ywzwb6q.streamlit.app/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A97A50-AFC5-C3CE-6910-3029E7568ED5}"/>
              </a:ext>
            </a:extLst>
          </p:cNvPr>
          <p:cNvSpPr>
            <a:spLocks noGrp="1"/>
          </p:cNvSpPr>
          <p:nvPr>
            <p:ph type="ctrTitle"/>
          </p:nvPr>
        </p:nvSpPr>
        <p:spPr/>
        <p:txBody>
          <a:bodyPr/>
          <a:lstStyle/>
          <a:p>
            <a:r>
              <a:rPr kumimoji="1" lang="en-US" altLang="ja-JP" dirty="0"/>
              <a:t>APPENDIX</a:t>
            </a:r>
            <a:endParaRPr kumimoji="1" lang="ja-JP" altLang="en-US"/>
          </a:p>
        </p:txBody>
      </p:sp>
      <p:sp>
        <p:nvSpPr>
          <p:cNvPr id="3" name="字幕 2">
            <a:extLst>
              <a:ext uri="{FF2B5EF4-FFF2-40B4-BE49-F238E27FC236}">
                <a16:creationId xmlns:a16="http://schemas.microsoft.com/office/drawing/2014/main" id="{0D5FB2C2-B170-351C-4F21-81E267164DF4}"/>
              </a:ext>
            </a:extLst>
          </p:cNvPr>
          <p:cNvSpPr>
            <a:spLocks noGrp="1"/>
          </p:cNvSpPr>
          <p:nvPr>
            <p:ph type="subTitle" idx="1"/>
          </p:nvPr>
        </p:nvSpPr>
        <p:spPr/>
        <p:txBody>
          <a:bodyPr/>
          <a:lstStyle/>
          <a:p>
            <a:r>
              <a:rPr kumimoji="1" lang="ja-JP" altLang="en-US"/>
              <a:t>弊社事例</a:t>
            </a:r>
          </a:p>
        </p:txBody>
      </p:sp>
    </p:spTree>
    <p:extLst>
      <p:ext uri="{BB962C8B-B14F-4D97-AF65-F5344CB8AC3E}">
        <p14:creationId xmlns:p14="http://schemas.microsoft.com/office/powerpoint/2010/main" val="2485034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12"/>
          <p:cNvSpPr/>
          <p:nvPr/>
        </p:nvSpPr>
        <p:spPr>
          <a:xfrm>
            <a:off x="449022" y="1333195"/>
            <a:ext cx="5524500" cy="800100"/>
          </a:xfrm>
          <a:prstGeom prst="roundRect">
            <a:avLst>
              <a:gd name="adj" fmla="val 10884"/>
            </a:avLst>
          </a:pr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68" name="Google Shape;568;p12"/>
          <p:cNvSpPr/>
          <p:nvPr/>
        </p:nvSpPr>
        <p:spPr>
          <a:xfrm>
            <a:off x="449022" y="1333195"/>
            <a:ext cx="38400" cy="8001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69" name="Google Shape;569;p12"/>
          <p:cNvSpPr/>
          <p:nvPr/>
        </p:nvSpPr>
        <p:spPr>
          <a:xfrm>
            <a:off x="6225945" y="1333195"/>
            <a:ext cx="5524500" cy="800100"/>
          </a:xfrm>
          <a:prstGeom prst="roundRect">
            <a:avLst>
              <a:gd name="adj" fmla="val 10884"/>
            </a:avLst>
          </a:pr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70" name="Google Shape;570;p12"/>
          <p:cNvSpPr/>
          <p:nvPr/>
        </p:nvSpPr>
        <p:spPr>
          <a:xfrm>
            <a:off x="6225945" y="1333195"/>
            <a:ext cx="38400" cy="8001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71" name="Google Shape;571;p12"/>
          <p:cNvSpPr txBox="1"/>
          <p:nvPr/>
        </p:nvSpPr>
        <p:spPr>
          <a:xfrm>
            <a:off x="639217" y="1429207"/>
            <a:ext cx="448200" cy="333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ja-JP"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01</a:t>
            </a:r>
            <a:endParaRPr kumimoji="0"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72" name="Google Shape;572;p12"/>
          <p:cNvSpPr/>
          <p:nvPr/>
        </p:nvSpPr>
        <p:spPr>
          <a:xfrm>
            <a:off x="1020522" y="1485900"/>
            <a:ext cx="457200" cy="457200"/>
          </a:xfrm>
          <a:prstGeom prst="ellipse">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573" name="Google Shape;573;p12" descr="preencoded.png"/>
          <p:cNvPicPr preferRelativeResize="0"/>
          <p:nvPr/>
        </p:nvPicPr>
        <p:blipFill rotWithShape="1">
          <a:blip r:embed="rId3">
            <a:alphaModFix/>
          </a:blip>
          <a:srcRect l="-1025161" r="-1025376"/>
          <a:stretch/>
        </p:blipFill>
        <p:spPr>
          <a:xfrm>
            <a:off x="1163168" y="1709928"/>
            <a:ext cx="171907" cy="9144"/>
          </a:xfrm>
          <a:prstGeom prst="rect">
            <a:avLst/>
          </a:prstGeom>
          <a:noFill/>
          <a:ln>
            <a:noFill/>
          </a:ln>
        </p:spPr>
      </p:pic>
      <p:sp>
        <p:nvSpPr>
          <p:cNvPr id="574" name="Google Shape;574;p12"/>
          <p:cNvSpPr/>
          <p:nvPr/>
        </p:nvSpPr>
        <p:spPr>
          <a:xfrm>
            <a:off x="441555" y="3410705"/>
            <a:ext cx="5524500" cy="800100"/>
          </a:xfrm>
          <a:prstGeom prst="roundRect">
            <a:avLst>
              <a:gd name="adj" fmla="val 10884"/>
            </a:avLst>
          </a:pr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75" name="Google Shape;575;p12"/>
          <p:cNvSpPr/>
          <p:nvPr/>
        </p:nvSpPr>
        <p:spPr>
          <a:xfrm>
            <a:off x="441555" y="3410705"/>
            <a:ext cx="38400" cy="8001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76" name="Google Shape;576;p12"/>
          <p:cNvSpPr/>
          <p:nvPr/>
        </p:nvSpPr>
        <p:spPr>
          <a:xfrm>
            <a:off x="449020" y="4449460"/>
            <a:ext cx="5524500" cy="800100"/>
          </a:xfrm>
          <a:prstGeom prst="roundRect">
            <a:avLst>
              <a:gd name="adj" fmla="val 10884"/>
            </a:avLst>
          </a:pr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77" name="Google Shape;577;p12"/>
          <p:cNvSpPr/>
          <p:nvPr/>
        </p:nvSpPr>
        <p:spPr>
          <a:xfrm>
            <a:off x="449020" y="4449460"/>
            <a:ext cx="38400" cy="8001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78" name="Google Shape;578;p12"/>
          <p:cNvSpPr/>
          <p:nvPr/>
        </p:nvSpPr>
        <p:spPr>
          <a:xfrm>
            <a:off x="449020" y="5488215"/>
            <a:ext cx="5524500" cy="800100"/>
          </a:xfrm>
          <a:prstGeom prst="roundRect">
            <a:avLst>
              <a:gd name="adj" fmla="val 10884"/>
            </a:avLst>
          </a:pr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79" name="Google Shape;579;p12"/>
          <p:cNvSpPr/>
          <p:nvPr/>
        </p:nvSpPr>
        <p:spPr>
          <a:xfrm>
            <a:off x="449020" y="5488215"/>
            <a:ext cx="38400" cy="8001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80" name="Google Shape;580;p12"/>
          <p:cNvSpPr txBox="1"/>
          <p:nvPr/>
        </p:nvSpPr>
        <p:spPr>
          <a:xfrm>
            <a:off x="631750" y="3505802"/>
            <a:ext cx="448200" cy="333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ja-JP"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03</a:t>
            </a:r>
            <a:endParaRPr kumimoji="0"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81" name="Google Shape;581;p12"/>
          <p:cNvSpPr txBox="1"/>
          <p:nvPr/>
        </p:nvSpPr>
        <p:spPr>
          <a:xfrm>
            <a:off x="639215" y="4544558"/>
            <a:ext cx="448200" cy="333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ja-JP"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04</a:t>
            </a:r>
            <a:endParaRPr kumimoji="0"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82" name="Google Shape;582;p12"/>
          <p:cNvSpPr txBox="1"/>
          <p:nvPr/>
        </p:nvSpPr>
        <p:spPr>
          <a:xfrm>
            <a:off x="6416140" y="1428292"/>
            <a:ext cx="448200" cy="333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ja-JP"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06</a:t>
            </a:r>
            <a:endParaRPr kumimoji="0"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83" name="Google Shape;583;p12"/>
          <p:cNvSpPr/>
          <p:nvPr/>
        </p:nvSpPr>
        <p:spPr>
          <a:xfrm>
            <a:off x="1013055" y="3562495"/>
            <a:ext cx="457200" cy="457200"/>
          </a:xfrm>
          <a:prstGeom prst="ellipse">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84" name="Google Shape;584;p12"/>
          <p:cNvSpPr/>
          <p:nvPr/>
        </p:nvSpPr>
        <p:spPr>
          <a:xfrm>
            <a:off x="1020520" y="4602165"/>
            <a:ext cx="457200" cy="457200"/>
          </a:xfrm>
          <a:prstGeom prst="ellipse">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85" name="Google Shape;585;p12"/>
          <p:cNvSpPr/>
          <p:nvPr/>
        </p:nvSpPr>
        <p:spPr>
          <a:xfrm>
            <a:off x="1020520" y="5640920"/>
            <a:ext cx="457200" cy="457200"/>
          </a:xfrm>
          <a:prstGeom prst="ellipse">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86" name="Google Shape;586;p12"/>
          <p:cNvSpPr/>
          <p:nvPr/>
        </p:nvSpPr>
        <p:spPr>
          <a:xfrm>
            <a:off x="6797445" y="1484985"/>
            <a:ext cx="457200" cy="457200"/>
          </a:xfrm>
          <a:prstGeom prst="ellipse">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87" name="Google Shape;587;p12"/>
          <p:cNvSpPr txBox="1"/>
          <p:nvPr/>
        </p:nvSpPr>
        <p:spPr>
          <a:xfrm>
            <a:off x="1667917" y="1542596"/>
            <a:ext cx="2463312" cy="19110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非構造化データの構造化</a:t>
            </a:r>
            <a:endParaRPr kumimoji="0"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88" name="Google Shape;588;p12"/>
          <p:cNvSpPr txBox="1"/>
          <p:nvPr/>
        </p:nvSpPr>
        <p:spPr>
          <a:xfrm>
            <a:off x="1667917" y="1781247"/>
            <a:ext cx="4420460" cy="19110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ja-JP"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PDF/Excel/Word</a:t>
            </a:r>
            <a:r>
              <a:rPr kumimoji="0" lang="ja-JP" altLang="en-US"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等を構造化し検索・分析基盤を構築</a:t>
            </a: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589" name="Google Shape;589;p12" descr="preencoded.png"/>
          <p:cNvPicPr preferRelativeResize="0"/>
          <p:nvPr/>
        </p:nvPicPr>
        <p:blipFill rotWithShape="1">
          <a:blip r:embed="rId4">
            <a:alphaModFix/>
          </a:blip>
          <a:srcRect l="-989605" r="-989397"/>
          <a:stretch/>
        </p:blipFill>
        <p:spPr>
          <a:xfrm>
            <a:off x="1122783" y="3786523"/>
            <a:ext cx="237744" cy="9144"/>
          </a:xfrm>
          <a:prstGeom prst="rect">
            <a:avLst/>
          </a:prstGeom>
          <a:noFill/>
          <a:ln>
            <a:noFill/>
          </a:ln>
        </p:spPr>
      </p:pic>
      <p:sp>
        <p:nvSpPr>
          <p:cNvPr id="590" name="Google Shape;590;p12"/>
          <p:cNvSpPr txBox="1"/>
          <p:nvPr/>
        </p:nvSpPr>
        <p:spPr>
          <a:xfrm>
            <a:off x="1660449" y="3619191"/>
            <a:ext cx="1625097" cy="19110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営業・提案支援</a:t>
            </a:r>
            <a:endParaRPr kumimoji="0"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91" name="Google Shape;591;p12"/>
          <p:cNvSpPr txBox="1"/>
          <p:nvPr/>
        </p:nvSpPr>
        <p:spPr>
          <a:xfrm>
            <a:off x="1667914" y="4658861"/>
            <a:ext cx="1625097" cy="19110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店舗運営最適化</a:t>
            </a:r>
            <a:endParaRPr kumimoji="0"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92" name="Google Shape;592;p12"/>
          <p:cNvSpPr txBox="1"/>
          <p:nvPr/>
        </p:nvSpPr>
        <p:spPr>
          <a:xfrm>
            <a:off x="1660449" y="3857842"/>
            <a:ext cx="2697097" cy="19110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過去データからクロスセル予測</a:t>
            </a: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593" name="Google Shape;593;p12" descr="preencoded.png"/>
          <p:cNvPicPr preferRelativeResize="0"/>
          <p:nvPr/>
        </p:nvPicPr>
        <p:blipFill rotWithShape="1">
          <a:blip r:embed="rId5">
            <a:alphaModFix/>
          </a:blip>
          <a:srcRect l="-1016204" r="-1015990"/>
          <a:stretch/>
        </p:blipFill>
        <p:spPr>
          <a:xfrm>
            <a:off x="1139392" y="4825278"/>
            <a:ext cx="219456" cy="9144"/>
          </a:xfrm>
          <a:prstGeom prst="rect">
            <a:avLst/>
          </a:prstGeom>
          <a:noFill/>
          <a:ln>
            <a:noFill/>
          </a:ln>
        </p:spPr>
      </p:pic>
      <p:sp>
        <p:nvSpPr>
          <p:cNvPr id="594" name="Google Shape;594;p12"/>
          <p:cNvSpPr txBox="1"/>
          <p:nvPr/>
        </p:nvSpPr>
        <p:spPr>
          <a:xfrm>
            <a:off x="639215" y="5584227"/>
            <a:ext cx="448200" cy="333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ja-JP"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05</a:t>
            </a:r>
            <a:endParaRPr kumimoji="0"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95" name="Google Shape;595;p12"/>
          <p:cNvSpPr txBox="1"/>
          <p:nvPr/>
        </p:nvSpPr>
        <p:spPr>
          <a:xfrm>
            <a:off x="1667914" y="4897512"/>
            <a:ext cx="3061837" cy="19110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自然言語入力によるシフト自動生成</a:t>
            </a: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596" name="Google Shape;596;p12" descr="preencoded.png"/>
          <p:cNvPicPr preferRelativeResize="0"/>
          <p:nvPr/>
        </p:nvPicPr>
        <p:blipFill rotWithShape="1">
          <a:blip r:embed="rId6">
            <a:alphaModFix/>
          </a:blip>
          <a:srcRect l="-989605" r="-989397"/>
          <a:stretch/>
        </p:blipFill>
        <p:spPr>
          <a:xfrm>
            <a:off x="1154022" y="5864948"/>
            <a:ext cx="190195" cy="9144"/>
          </a:xfrm>
          <a:prstGeom prst="rect">
            <a:avLst/>
          </a:prstGeom>
          <a:noFill/>
          <a:ln>
            <a:noFill/>
          </a:ln>
        </p:spPr>
      </p:pic>
      <p:sp>
        <p:nvSpPr>
          <p:cNvPr id="597" name="Google Shape;597;p12"/>
          <p:cNvSpPr txBox="1"/>
          <p:nvPr/>
        </p:nvSpPr>
        <p:spPr>
          <a:xfrm>
            <a:off x="1667914" y="5697616"/>
            <a:ext cx="995885" cy="19110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需給予測</a:t>
            </a:r>
            <a:endParaRPr kumimoji="0"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598" name="Google Shape;598;p12"/>
          <p:cNvSpPr txBox="1"/>
          <p:nvPr/>
        </p:nvSpPr>
        <p:spPr>
          <a:xfrm>
            <a:off x="1667914" y="5936267"/>
            <a:ext cx="2697097" cy="19110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特徴量補完による予測精度向上</a:t>
            </a: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599" name="Google Shape;599;p12" descr="preencoded.png"/>
          <p:cNvPicPr preferRelativeResize="0"/>
          <p:nvPr/>
        </p:nvPicPr>
        <p:blipFill rotWithShape="1">
          <a:blip r:embed="rId7">
            <a:alphaModFix/>
          </a:blip>
          <a:srcRect l="-989605" r="-989397"/>
          <a:stretch/>
        </p:blipFill>
        <p:spPr>
          <a:xfrm>
            <a:off x="6930947" y="1709013"/>
            <a:ext cx="190195" cy="9144"/>
          </a:xfrm>
          <a:prstGeom prst="rect">
            <a:avLst/>
          </a:prstGeom>
          <a:noFill/>
          <a:ln>
            <a:noFill/>
          </a:ln>
        </p:spPr>
      </p:pic>
      <p:sp>
        <p:nvSpPr>
          <p:cNvPr id="600" name="Google Shape;600;p12"/>
          <p:cNvSpPr/>
          <p:nvPr/>
        </p:nvSpPr>
        <p:spPr>
          <a:xfrm>
            <a:off x="6222854" y="2372405"/>
            <a:ext cx="5524500" cy="800100"/>
          </a:xfrm>
          <a:prstGeom prst="roundRect">
            <a:avLst>
              <a:gd name="adj" fmla="val 10884"/>
            </a:avLst>
          </a:pr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01" name="Google Shape;601;p12"/>
          <p:cNvSpPr/>
          <p:nvPr/>
        </p:nvSpPr>
        <p:spPr>
          <a:xfrm>
            <a:off x="6222854" y="2372405"/>
            <a:ext cx="38400" cy="8001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02" name="Google Shape;602;p12"/>
          <p:cNvSpPr/>
          <p:nvPr/>
        </p:nvSpPr>
        <p:spPr>
          <a:xfrm>
            <a:off x="6222854" y="3410705"/>
            <a:ext cx="5524500" cy="800100"/>
          </a:xfrm>
          <a:prstGeom prst="roundRect">
            <a:avLst>
              <a:gd name="adj" fmla="val 10884"/>
            </a:avLst>
          </a:pr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03" name="Google Shape;603;p12"/>
          <p:cNvSpPr/>
          <p:nvPr/>
        </p:nvSpPr>
        <p:spPr>
          <a:xfrm>
            <a:off x="6222854" y="3410705"/>
            <a:ext cx="38400" cy="8001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04" name="Google Shape;604;p12"/>
          <p:cNvSpPr txBox="1"/>
          <p:nvPr/>
        </p:nvSpPr>
        <p:spPr>
          <a:xfrm>
            <a:off x="6413963" y="2468417"/>
            <a:ext cx="448200" cy="333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ja-JP"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07</a:t>
            </a:r>
            <a:endParaRPr kumimoji="0"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05" name="Google Shape;605;p12"/>
          <p:cNvSpPr txBox="1"/>
          <p:nvPr/>
        </p:nvSpPr>
        <p:spPr>
          <a:xfrm>
            <a:off x="6413963" y="3505802"/>
            <a:ext cx="448200" cy="333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ja-JP"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08</a:t>
            </a:r>
            <a:endParaRPr kumimoji="0"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06" name="Google Shape;606;p12"/>
          <p:cNvSpPr/>
          <p:nvPr/>
        </p:nvSpPr>
        <p:spPr>
          <a:xfrm>
            <a:off x="6806880" y="2525110"/>
            <a:ext cx="457200" cy="457200"/>
          </a:xfrm>
          <a:prstGeom prst="ellipse">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07" name="Google Shape;607;p12"/>
          <p:cNvSpPr/>
          <p:nvPr/>
        </p:nvSpPr>
        <p:spPr>
          <a:xfrm>
            <a:off x="6794354" y="3562495"/>
            <a:ext cx="457200" cy="457200"/>
          </a:xfrm>
          <a:prstGeom prst="ellipse">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08" name="Google Shape;608;p12"/>
          <p:cNvSpPr txBox="1"/>
          <p:nvPr/>
        </p:nvSpPr>
        <p:spPr>
          <a:xfrm>
            <a:off x="7444839" y="1541681"/>
            <a:ext cx="995885" cy="19110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設備保全</a:t>
            </a:r>
            <a:endParaRPr kumimoji="0"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09" name="Google Shape;609;p12"/>
          <p:cNvSpPr txBox="1"/>
          <p:nvPr/>
        </p:nvSpPr>
        <p:spPr>
          <a:xfrm>
            <a:off x="7442662" y="3619191"/>
            <a:ext cx="1813638" cy="19110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ja-JP"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M&amp;A</a:t>
            </a:r>
            <a:r>
              <a:rPr kumimoji="0" lang="ja-JP" altLang="en-US"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初期検討</a:t>
            </a:r>
            <a:endParaRPr kumimoji="0"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10" name="Google Shape;610;p12"/>
          <p:cNvSpPr txBox="1"/>
          <p:nvPr/>
        </p:nvSpPr>
        <p:spPr>
          <a:xfrm>
            <a:off x="7444839" y="1780332"/>
            <a:ext cx="3232487" cy="19110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画像解析と</a:t>
            </a:r>
            <a:r>
              <a:rPr kumimoji="0" lang="en-US" altLang="ja-JP"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LLM</a:t>
            </a:r>
            <a:r>
              <a:rPr kumimoji="0" lang="ja-JP" altLang="en-US"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による故障リスク予測</a:t>
            </a: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11" name="Google Shape;611;p12"/>
          <p:cNvSpPr txBox="1"/>
          <p:nvPr/>
        </p:nvSpPr>
        <p:spPr>
          <a:xfrm>
            <a:off x="7442662" y="2581806"/>
            <a:ext cx="2450845" cy="19110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コンサルティング自動化</a:t>
            </a:r>
            <a:endParaRPr kumimoji="0"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12" name="Google Shape;612;p12"/>
          <p:cNvSpPr txBox="1"/>
          <p:nvPr/>
        </p:nvSpPr>
        <p:spPr>
          <a:xfrm>
            <a:off x="7442662" y="2820457"/>
            <a:ext cx="3793783" cy="19110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アンケート分析からレポート生成まで自動化</a:t>
            </a: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613" name="Google Shape;613;p12" descr="preencoded.png"/>
          <p:cNvPicPr preferRelativeResize="0"/>
          <p:nvPr/>
        </p:nvPicPr>
        <p:blipFill rotWithShape="1">
          <a:blip r:embed="rId8">
            <a:alphaModFix/>
          </a:blip>
          <a:srcRect l="-989605" r="-989397"/>
          <a:stretch/>
        </p:blipFill>
        <p:spPr>
          <a:xfrm>
            <a:off x="6927856" y="3786523"/>
            <a:ext cx="190195" cy="9144"/>
          </a:xfrm>
          <a:prstGeom prst="rect">
            <a:avLst/>
          </a:prstGeom>
          <a:noFill/>
          <a:ln>
            <a:noFill/>
          </a:ln>
        </p:spPr>
      </p:pic>
      <p:sp>
        <p:nvSpPr>
          <p:cNvPr id="614" name="Google Shape;614;p12"/>
          <p:cNvSpPr txBox="1"/>
          <p:nvPr/>
        </p:nvSpPr>
        <p:spPr>
          <a:xfrm>
            <a:off x="7442662" y="3857842"/>
            <a:ext cx="2722181" cy="19110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ja-JP"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IM</a:t>
            </a:r>
            <a:r>
              <a:rPr kumimoji="0" lang="ja-JP" altLang="en-US"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分析とシナジー案の自動生成</a:t>
            </a: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615" name="Google Shape;615;p12" descr="データベース 単色塗りつぶし"/>
          <p:cNvPicPr preferRelativeResize="0"/>
          <p:nvPr/>
        </p:nvPicPr>
        <p:blipFill rotWithShape="1">
          <a:blip r:embed="rId9">
            <a:alphaModFix/>
          </a:blip>
          <a:srcRect/>
          <a:stretch/>
        </p:blipFill>
        <p:spPr>
          <a:xfrm>
            <a:off x="1082702" y="1552653"/>
            <a:ext cx="332837" cy="332837"/>
          </a:xfrm>
          <a:prstGeom prst="rect">
            <a:avLst/>
          </a:prstGeom>
          <a:noFill/>
          <a:ln>
            <a:noFill/>
          </a:ln>
        </p:spPr>
      </p:pic>
      <p:pic>
        <p:nvPicPr>
          <p:cNvPr id="616" name="Google Shape;616;p12" descr="握手 単色塗りつぶし"/>
          <p:cNvPicPr preferRelativeResize="0"/>
          <p:nvPr/>
        </p:nvPicPr>
        <p:blipFill rotWithShape="1">
          <a:blip r:embed="rId10">
            <a:alphaModFix/>
          </a:blip>
          <a:srcRect/>
          <a:stretch/>
        </p:blipFill>
        <p:spPr>
          <a:xfrm>
            <a:off x="1022654" y="3592400"/>
            <a:ext cx="437998" cy="437998"/>
          </a:xfrm>
          <a:prstGeom prst="rect">
            <a:avLst/>
          </a:prstGeom>
          <a:noFill/>
          <a:ln>
            <a:noFill/>
          </a:ln>
        </p:spPr>
      </p:pic>
      <p:pic>
        <p:nvPicPr>
          <p:cNvPr id="617" name="Google Shape;617;p12" descr="ストア 単色塗りつぶし"/>
          <p:cNvPicPr preferRelativeResize="0"/>
          <p:nvPr/>
        </p:nvPicPr>
        <p:blipFill rotWithShape="1">
          <a:blip r:embed="rId11">
            <a:alphaModFix/>
          </a:blip>
          <a:srcRect/>
          <a:stretch/>
        </p:blipFill>
        <p:spPr>
          <a:xfrm>
            <a:off x="1093342" y="4679587"/>
            <a:ext cx="309669" cy="309669"/>
          </a:xfrm>
          <a:prstGeom prst="rect">
            <a:avLst/>
          </a:prstGeom>
          <a:noFill/>
          <a:ln>
            <a:noFill/>
          </a:ln>
        </p:spPr>
      </p:pic>
      <p:pic>
        <p:nvPicPr>
          <p:cNvPr id="618" name="Google Shape;618;p12" descr="上昇基調 単色塗りつぶし"/>
          <p:cNvPicPr preferRelativeResize="0"/>
          <p:nvPr/>
        </p:nvPicPr>
        <p:blipFill rotWithShape="1">
          <a:blip r:embed="rId12">
            <a:alphaModFix/>
          </a:blip>
          <a:srcRect/>
          <a:stretch/>
        </p:blipFill>
        <p:spPr>
          <a:xfrm>
            <a:off x="1094693" y="5706462"/>
            <a:ext cx="309669" cy="309669"/>
          </a:xfrm>
          <a:prstGeom prst="rect">
            <a:avLst/>
          </a:prstGeom>
          <a:noFill/>
          <a:ln>
            <a:noFill/>
          </a:ln>
        </p:spPr>
      </p:pic>
      <p:pic>
        <p:nvPicPr>
          <p:cNvPr id="619" name="Google Shape;619;p12" descr="ツール 単色塗りつぶし"/>
          <p:cNvPicPr preferRelativeResize="0"/>
          <p:nvPr/>
        </p:nvPicPr>
        <p:blipFill rotWithShape="1">
          <a:blip r:embed="rId13">
            <a:alphaModFix/>
          </a:blip>
          <a:srcRect/>
          <a:stretch/>
        </p:blipFill>
        <p:spPr>
          <a:xfrm>
            <a:off x="6871208" y="1554178"/>
            <a:ext cx="309669" cy="309669"/>
          </a:xfrm>
          <a:prstGeom prst="rect">
            <a:avLst/>
          </a:prstGeom>
          <a:noFill/>
          <a:ln>
            <a:noFill/>
          </a:ln>
        </p:spPr>
      </p:pic>
      <p:pic>
        <p:nvPicPr>
          <p:cNvPr id="620" name="Google Shape;620;p12" descr="ドキュメント 単色塗りつぶし"/>
          <p:cNvPicPr preferRelativeResize="0"/>
          <p:nvPr/>
        </p:nvPicPr>
        <p:blipFill rotWithShape="1">
          <a:blip r:embed="rId14">
            <a:alphaModFix/>
          </a:blip>
          <a:srcRect/>
          <a:stretch/>
        </p:blipFill>
        <p:spPr>
          <a:xfrm>
            <a:off x="6874689" y="2582644"/>
            <a:ext cx="309669" cy="309669"/>
          </a:xfrm>
          <a:prstGeom prst="rect">
            <a:avLst/>
          </a:prstGeom>
          <a:noFill/>
          <a:ln>
            <a:noFill/>
          </a:ln>
        </p:spPr>
      </p:pic>
      <p:pic>
        <p:nvPicPr>
          <p:cNvPr id="621" name="Google Shape;621;p12" descr="虫眼鏡で見た虫 単色塗りつぶし"/>
          <p:cNvPicPr preferRelativeResize="0"/>
          <p:nvPr/>
        </p:nvPicPr>
        <p:blipFill rotWithShape="1">
          <a:blip r:embed="rId15">
            <a:alphaModFix/>
          </a:blip>
          <a:srcRect/>
          <a:stretch/>
        </p:blipFill>
        <p:spPr>
          <a:xfrm>
            <a:off x="6870079" y="3627004"/>
            <a:ext cx="309669" cy="309669"/>
          </a:xfrm>
          <a:prstGeom prst="rect">
            <a:avLst/>
          </a:prstGeom>
          <a:noFill/>
          <a:ln>
            <a:noFill/>
          </a:ln>
        </p:spPr>
      </p:pic>
      <p:sp>
        <p:nvSpPr>
          <p:cNvPr id="622" name="Google Shape;622;p12"/>
          <p:cNvSpPr/>
          <p:nvPr/>
        </p:nvSpPr>
        <p:spPr>
          <a:xfrm>
            <a:off x="449020" y="2371950"/>
            <a:ext cx="5524500" cy="800100"/>
          </a:xfrm>
          <a:prstGeom prst="roundRect">
            <a:avLst>
              <a:gd name="adj" fmla="val 10884"/>
            </a:avLst>
          </a:prstGeom>
          <a:noFill/>
          <a:ln w="9525"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23" name="Google Shape;623;p12"/>
          <p:cNvSpPr/>
          <p:nvPr/>
        </p:nvSpPr>
        <p:spPr>
          <a:xfrm>
            <a:off x="449020" y="2371950"/>
            <a:ext cx="38400" cy="8001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24" name="Google Shape;624;p12"/>
          <p:cNvSpPr txBox="1"/>
          <p:nvPr/>
        </p:nvSpPr>
        <p:spPr>
          <a:xfrm>
            <a:off x="640129" y="2467048"/>
            <a:ext cx="448200" cy="333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altLang="ja-JP"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02</a:t>
            </a:r>
            <a:endParaRPr kumimoji="0"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25" name="Google Shape;625;p12"/>
          <p:cNvSpPr/>
          <p:nvPr/>
        </p:nvSpPr>
        <p:spPr>
          <a:xfrm>
            <a:off x="1020520" y="2524655"/>
            <a:ext cx="457200" cy="457200"/>
          </a:xfrm>
          <a:prstGeom prst="ellipse">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626" name="Google Shape;626;p12" descr="preencoded.png"/>
          <p:cNvPicPr preferRelativeResize="0"/>
          <p:nvPr/>
        </p:nvPicPr>
        <p:blipFill rotWithShape="1">
          <a:blip r:embed="rId16">
            <a:alphaModFix/>
          </a:blip>
          <a:srcRect l="-989605" r="-989397"/>
          <a:stretch/>
        </p:blipFill>
        <p:spPr>
          <a:xfrm>
            <a:off x="1154022" y="2747768"/>
            <a:ext cx="190195" cy="9144"/>
          </a:xfrm>
          <a:prstGeom prst="rect">
            <a:avLst/>
          </a:prstGeom>
          <a:noFill/>
          <a:ln>
            <a:noFill/>
          </a:ln>
        </p:spPr>
      </p:pic>
      <p:sp>
        <p:nvSpPr>
          <p:cNvPr id="627" name="Google Shape;627;p12"/>
          <p:cNvSpPr txBox="1"/>
          <p:nvPr/>
        </p:nvSpPr>
        <p:spPr>
          <a:xfrm>
            <a:off x="1668828" y="2581351"/>
            <a:ext cx="1625097" cy="19110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問い合わせ対応</a:t>
            </a:r>
            <a:endParaRPr kumimoji="0" sz="18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28" name="Google Shape;628;p12"/>
          <p:cNvSpPr txBox="1"/>
          <p:nvPr/>
        </p:nvSpPr>
        <p:spPr>
          <a:xfrm>
            <a:off x="1668828" y="2820002"/>
            <a:ext cx="3375175" cy="19110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ja-JP"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RAG</a:t>
            </a:r>
            <a:r>
              <a:rPr kumimoji="0" lang="ja-JP" altLang="en-US"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化による</a:t>
            </a:r>
            <a:r>
              <a:rPr kumimoji="0" lang="en-US" altLang="ja-JP"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FAQ</a:t>
            </a:r>
            <a:r>
              <a:rPr kumimoji="0" lang="ja-JP" altLang="en-US"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・マニュアル自動応答</a:t>
            </a: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629" name="Google Shape;629;p12" descr="コール センター 単色塗りつぶし"/>
          <p:cNvPicPr preferRelativeResize="0"/>
          <p:nvPr/>
        </p:nvPicPr>
        <p:blipFill rotWithShape="1">
          <a:blip r:embed="rId17">
            <a:alphaModFix/>
          </a:blip>
          <a:srcRect/>
          <a:stretch/>
        </p:blipFill>
        <p:spPr>
          <a:xfrm>
            <a:off x="1083719" y="2569397"/>
            <a:ext cx="309669" cy="309669"/>
          </a:xfrm>
          <a:prstGeom prst="rect">
            <a:avLst/>
          </a:prstGeom>
          <a:noFill/>
          <a:ln>
            <a:noFill/>
          </a:ln>
        </p:spPr>
      </p:pic>
      <p:sp>
        <p:nvSpPr>
          <p:cNvPr id="630" name="Google Shape;630;p12"/>
          <p:cNvSpPr txBox="1">
            <a:spLocks noGrp="1"/>
          </p:cNvSpPr>
          <p:nvPr>
            <p:ph type="title"/>
          </p:nvPr>
        </p:nvSpPr>
        <p:spPr>
          <a:xfrm>
            <a:off x="340659" y="658641"/>
            <a:ext cx="11520000" cy="88803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Font typeface="Arial"/>
              <a:buNone/>
            </a:pPr>
            <a:r>
              <a:rPr lang="ja-JP"/>
              <a:t>AI活用による業務改善・バリューアップ実績事例</a:t>
            </a:r>
            <a:br>
              <a:rPr lang="ja-JP"/>
            </a:br>
            <a:endParaRPr/>
          </a:p>
        </p:txBody>
      </p:sp>
      <p:sp>
        <p:nvSpPr>
          <p:cNvPr id="631" name="Google Shape;631;p12"/>
          <p:cNvSpPr txBox="1">
            <a:spLocks noGrp="1"/>
          </p:cNvSpPr>
          <p:nvPr>
            <p:ph type="body" idx="3"/>
          </p:nvPr>
        </p:nvSpPr>
        <p:spPr>
          <a:xfrm>
            <a:off x="340306" y="233891"/>
            <a:ext cx="11520000" cy="258947"/>
          </a:xfrm>
          <a:prstGeom prst="rect">
            <a:avLst/>
          </a:prstGeom>
          <a:noFill/>
          <a:ln>
            <a:noFill/>
          </a:ln>
        </p:spPr>
        <p:txBody>
          <a:bodyPr spcFirstLastPara="1" wrap="square" lIns="91425" tIns="45700" rIns="91425" bIns="45700" anchor="ctr" anchorCtr="0">
            <a:noAutofit/>
          </a:bodyPr>
          <a:lstStyle/>
          <a:p>
            <a:pPr marL="228600" lvl="0" indent="-228600" algn="l" rtl="0">
              <a:lnSpc>
                <a:spcPct val="100000"/>
              </a:lnSpc>
              <a:spcBef>
                <a:spcPts val="0"/>
              </a:spcBef>
              <a:spcAft>
                <a:spcPts val="0"/>
              </a:spcAft>
              <a:buClr>
                <a:srgbClr val="2D5A41"/>
              </a:buClr>
              <a:buSzPts val="1600"/>
              <a:buNone/>
            </a:pPr>
            <a:r>
              <a:rPr lang="ja-JP" sz="1600">
                <a:solidFill>
                  <a:srgbClr val="2D5A41"/>
                </a:solidFill>
              </a:rPr>
              <a:t>弊社事例紹介</a:t>
            </a:r>
            <a:endParaRPr/>
          </a:p>
        </p:txBody>
      </p:sp>
    </p:spTree>
    <p:extLst>
      <p:ext uri="{BB962C8B-B14F-4D97-AF65-F5344CB8AC3E}">
        <p14:creationId xmlns:p14="http://schemas.microsoft.com/office/powerpoint/2010/main" val="3006851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13"/>
          <p:cNvSpPr txBox="1">
            <a:spLocks noGrp="1"/>
          </p:cNvSpPr>
          <p:nvPr>
            <p:ph type="title"/>
          </p:nvPr>
        </p:nvSpPr>
        <p:spPr>
          <a:xfrm>
            <a:off x="340659" y="658641"/>
            <a:ext cx="11520000" cy="88803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Font typeface="Arial"/>
              <a:buNone/>
            </a:pPr>
            <a:r>
              <a:rPr lang="ja-JP" dirty="0">
                <a:sym typeface="Arial"/>
              </a:rPr>
              <a:t>01_非構造化データの構造化</a:t>
            </a:r>
            <a:br>
              <a:rPr lang="ja-JP" dirty="0">
                <a:sym typeface="Arial"/>
              </a:rPr>
            </a:br>
            <a:r>
              <a:rPr lang="ja-JP" dirty="0">
                <a:sym typeface="Arial"/>
              </a:rPr>
              <a:t>PDF/Excel/画像/ログ等の企業内資産を検索・分析可能な基盤へ転換</a:t>
            </a:r>
            <a:endParaRPr dirty="0"/>
          </a:p>
        </p:txBody>
      </p:sp>
      <p:sp>
        <p:nvSpPr>
          <p:cNvPr id="637" name="Google Shape;637;p13"/>
          <p:cNvSpPr txBox="1">
            <a:spLocks noGrp="1"/>
          </p:cNvSpPr>
          <p:nvPr>
            <p:ph type="body" idx="3"/>
          </p:nvPr>
        </p:nvSpPr>
        <p:spPr>
          <a:xfrm>
            <a:off x="340306" y="233891"/>
            <a:ext cx="11520000" cy="258947"/>
          </a:xfrm>
          <a:prstGeom prst="rect">
            <a:avLst/>
          </a:prstGeom>
          <a:noFill/>
          <a:ln>
            <a:noFill/>
          </a:ln>
        </p:spPr>
        <p:txBody>
          <a:bodyPr spcFirstLastPara="1" wrap="square" lIns="91425" tIns="45700" rIns="91425" bIns="45700" anchor="ctr" anchorCtr="0">
            <a:noAutofit/>
          </a:bodyPr>
          <a:lstStyle/>
          <a:p>
            <a:pPr marL="228600" lvl="0" indent="-228600" algn="l" rtl="0">
              <a:lnSpc>
                <a:spcPct val="100000"/>
              </a:lnSpc>
              <a:spcBef>
                <a:spcPts val="0"/>
              </a:spcBef>
              <a:spcAft>
                <a:spcPts val="0"/>
              </a:spcAft>
              <a:buClr>
                <a:srgbClr val="2D5A41"/>
              </a:buClr>
              <a:buSzPts val="1600"/>
              <a:buNone/>
            </a:pPr>
            <a:r>
              <a:rPr lang="ja-JP" sz="1600">
                <a:solidFill>
                  <a:srgbClr val="2D5A41"/>
                </a:solidFill>
              </a:rPr>
              <a:t>弊社事例紹介</a:t>
            </a:r>
            <a:endParaRPr/>
          </a:p>
        </p:txBody>
      </p:sp>
      <p:sp>
        <p:nvSpPr>
          <p:cNvPr id="638" name="Google Shape;638;p13"/>
          <p:cNvSpPr/>
          <p:nvPr/>
        </p:nvSpPr>
        <p:spPr>
          <a:xfrm>
            <a:off x="571500" y="1333195"/>
            <a:ext cx="38400" cy="8001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39" name="Google Shape;639;p13"/>
          <p:cNvSpPr/>
          <p:nvPr/>
        </p:nvSpPr>
        <p:spPr>
          <a:xfrm>
            <a:off x="6381598" y="1333195"/>
            <a:ext cx="38400" cy="8001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40" name="Google Shape;640;p13"/>
          <p:cNvSpPr/>
          <p:nvPr/>
        </p:nvSpPr>
        <p:spPr>
          <a:xfrm>
            <a:off x="571500" y="1508247"/>
            <a:ext cx="3562500" cy="794700"/>
          </a:xfrm>
          <a:prstGeom prst="rect">
            <a:avLst/>
          </a:prstGeom>
          <a:noFill/>
          <a:ln>
            <a:noFill/>
          </a:ln>
          <a:effectLst>
            <a:outerShdw blurRad="38100" dist="254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41" name="Google Shape;641;p13"/>
          <p:cNvSpPr/>
          <p:nvPr/>
        </p:nvSpPr>
        <p:spPr>
          <a:xfrm>
            <a:off x="571500" y="1508247"/>
            <a:ext cx="45600" cy="794700"/>
          </a:xfrm>
          <a:prstGeom prst="rect">
            <a:avLst/>
          </a:prstGeom>
          <a:solidFill>
            <a:srgbClr val="2D5A4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42" name="Google Shape;642;p13"/>
          <p:cNvSpPr/>
          <p:nvPr/>
        </p:nvSpPr>
        <p:spPr>
          <a:xfrm>
            <a:off x="8064094" y="1508247"/>
            <a:ext cx="3562500" cy="794700"/>
          </a:xfrm>
          <a:prstGeom prst="rect">
            <a:avLst/>
          </a:prstGeom>
          <a:noFill/>
          <a:ln>
            <a:noFill/>
          </a:ln>
          <a:effectLst>
            <a:outerShdw blurRad="38100" dist="254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43" name="Google Shape;643;p13"/>
          <p:cNvSpPr/>
          <p:nvPr/>
        </p:nvSpPr>
        <p:spPr>
          <a:xfrm>
            <a:off x="8064094" y="1508247"/>
            <a:ext cx="45600" cy="794700"/>
          </a:xfrm>
          <a:prstGeom prst="rect">
            <a:avLst/>
          </a:prstGeom>
          <a:solidFill>
            <a:srgbClr val="2D5A4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44" name="Google Shape;644;p13"/>
          <p:cNvSpPr/>
          <p:nvPr/>
        </p:nvSpPr>
        <p:spPr>
          <a:xfrm>
            <a:off x="800100" y="1680735"/>
            <a:ext cx="457200" cy="457200"/>
          </a:xfrm>
          <a:prstGeom prst="ellipse">
            <a:avLst/>
          </a:prstGeom>
          <a:solidFill>
            <a:srgbClr val="FFFFF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45" name="Google Shape;645;p13"/>
          <p:cNvSpPr/>
          <p:nvPr/>
        </p:nvSpPr>
        <p:spPr>
          <a:xfrm>
            <a:off x="4317797" y="1508247"/>
            <a:ext cx="3562500" cy="794700"/>
          </a:xfrm>
          <a:prstGeom prst="rect">
            <a:avLst/>
          </a:prstGeom>
          <a:noFill/>
          <a:ln>
            <a:noFill/>
          </a:ln>
          <a:effectLst>
            <a:outerShdw blurRad="38100" dist="254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46" name="Google Shape;646;p13"/>
          <p:cNvSpPr/>
          <p:nvPr/>
        </p:nvSpPr>
        <p:spPr>
          <a:xfrm>
            <a:off x="4317797" y="1508247"/>
            <a:ext cx="45600" cy="794700"/>
          </a:xfrm>
          <a:prstGeom prst="rect">
            <a:avLst/>
          </a:prstGeom>
          <a:solidFill>
            <a:srgbClr val="2D5A4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47" name="Google Shape;647;p13"/>
          <p:cNvSpPr/>
          <p:nvPr/>
        </p:nvSpPr>
        <p:spPr>
          <a:xfrm>
            <a:off x="4546397" y="1680735"/>
            <a:ext cx="457200" cy="457200"/>
          </a:xfrm>
          <a:prstGeom prst="ellipse">
            <a:avLst/>
          </a:prstGeom>
          <a:solidFill>
            <a:srgbClr val="FFFFF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48" name="Google Shape;648;p13"/>
          <p:cNvSpPr txBox="1"/>
          <p:nvPr/>
        </p:nvSpPr>
        <p:spPr>
          <a:xfrm>
            <a:off x="800100" y="1684392"/>
            <a:ext cx="11247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TIME EFFICIENCY</a:t>
            </a:r>
            <a:endParaRPr kumimoji="0"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49" name="Google Shape;649;p13"/>
          <p:cNvSpPr txBox="1"/>
          <p:nvPr/>
        </p:nvSpPr>
        <p:spPr>
          <a:xfrm>
            <a:off x="800100" y="1884646"/>
            <a:ext cx="25200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6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ナレッジ検索時間の短縮</a:t>
            </a:r>
            <a:endParaRPr kumimoji="0" sz="16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50" name="Google Shape;650;p13"/>
          <p:cNvSpPr txBox="1"/>
          <p:nvPr/>
        </p:nvSpPr>
        <p:spPr>
          <a:xfrm>
            <a:off x="4546397" y="1694674"/>
            <a:ext cx="1239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STANDARDIZATION</a:t>
            </a:r>
            <a:endParaRPr kumimoji="0"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51" name="Google Shape;651;p13"/>
          <p:cNvSpPr txBox="1"/>
          <p:nvPr/>
        </p:nvSpPr>
        <p:spPr>
          <a:xfrm>
            <a:off x="8293491" y="1684820"/>
            <a:ext cx="8577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INNOVATION</a:t>
            </a:r>
            <a:endParaRPr kumimoji="0"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52" name="Google Shape;652;p13"/>
          <p:cNvSpPr txBox="1"/>
          <p:nvPr/>
        </p:nvSpPr>
        <p:spPr>
          <a:xfrm>
            <a:off x="4546397" y="1894928"/>
            <a:ext cx="25200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6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属人化の解消と標準化</a:t>
            </a:r>
            <a:endParaRPr kumimoji="0" sz="16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53" name="Google Shape;653;p13"/>
          <p:cNvSpPr txBox="1"/>
          <p:nvPr/>
        </p:nvSpPr>
        <p:spPr>
          <a:xfrm>
            <a:off x="8293491" y="2003614"/>
            <a:ext cx="25200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6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予測・生成・</a:t>
            </a:r>
            <a:r>
              <a:rPr kumimoji="0" lang="en-US" altLang="ja-JP" sz="16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Agent</a:t>
            </a:r>
            <a:r>
              <a:rPr kumimoji="0" lang="ja-JP" altLang="en-US" sz="16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等の</a:t>
            </a:r>
            <a:endParaRPr kumimoji="0" sz="16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ja-JP" altLang="en-US" sz="16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二次活用を加速</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54" name="Google Shape;654;p13"/>
          <p:cNvSpPr/>
          <p:nvPr/>
        </p:nvSpPr>
        <p:spPr>
          <a:xfrm>
            <a:off x="571500" y="2709252"/>
            <a:ext cx="6400800" cy="9000"/>
          </a:xfrm>
          <a:prstGeom prst="rect">
            <a:avLst/>
          </a:prstGeom>
          <a:solidFill>
            <a:schemeClr val="dk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655" name="Google Shape;655;p13" descr="preencoded.png"/>
          <p:cNvPicPr preferRelativeResize="0"/>
          <p:nvPr/>
        </p:nvPicPr>
        <p:blipFill rotWithShape="1">
          <a:blip r:embed="rId3">
            <a:alphaModFix/>
          </a:blip>
          <a:srcRect l="-989605" r="-989397"/>
          <a:stretch/>
        </p:blipFill>
        <p:spPr>
          <a:xfrm>
            <a:off x="571500" y="3003290"/>
            <a:ext cx="237744" cy="9144"/>
          </a:xfrm>
          <a:prstGeom prst="rect">
            <a:avLst/>
          </a:prstGeom>
          <a:noFill/>
          <a:ln>
            <a:noFill/>
          </a:ln>
        </p:spPr>
      </p:pic>
      <p:sp>
        <p:nvSpPr>
          <p:cNvPr id="656" name="Google Shape;656;p13"/>
          <p:cNvSpPr txBox="1"/>
          <p:nvPr/>
        </p:nvSpPr>
        <p:spPr>
          <a:xfrm>
            <a:off x="571500" y="2433657"/>
            <a:ext cx="1286700" cy="2772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取り組み内容</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57" name="Google Shape;657;p13"/>
          <p:cNvSpPr txBox="1"/>
          <p:nvPr/>
        </p:nvSpPr>
        <p:spPr>
          <a:xfrm>
            <a:off x="582646" y="2757578"/>
            <a:ext cx="6627000" cy="7035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企業内に散在する</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PDF</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Excel</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Word</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、画像、ログデータなどの「非構造化データ」を収集・整形し、</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AI</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が理解可能な形式に構造化。「非構造化データ基盤」を構築することで、自然言語による高度な検索、データ分析、および生成</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AI</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によるコンテンツ生成に利用可能な環境を整備しました。</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58" name="Google Shape;658;p13"/>
          <p:cNvSpPr/>
          <p:nvPr/>
        </p:nvSpPr>
        <p:spPr>
          <a:xfrm>
            <a:off x="571500" y="3645654"/>
            <a:ext cx="6400800" cy="1333200"/>
          </a:xfrm>
          <a:prstGeom prst="roundRect">
            <a:avLst>
              <a:gd name="adj" fmla="val 1845"/>
            </a:avLst>
          </a:prstGeom>
          <a:solidFill>
            <a:schemeClr val="lt1"/>
          </a:solidFill>
          <a:ln w="12700"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59" name="Google Shape;659;p13"/>
          <p:cNvSpPr txBox="1"/>
          <p:nvPr/>
        </p:nvSpPr>
        <p:spPr>
          <a:xfrm>
            <a:off x="1568196" y="4384489"/>
            <a:ext cx="1034100" cy="1911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非構造化データ</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60" name="Google Shape;660;p13"/>
          <p:cNvSpPr/>
          <p:nvPr/>
        </p:nvSpPr>
        <p:spPr>
          <a:xfrm>
            <a:off x="2844698" y="3931862"/>
            <a:ext cx="914400" cy="690300"/>
          </a:xfrm>
          <a:prstGeom prst="roundRect">
            <a:avLst>
              <a:gd name="adj" fmla="val 9090"/>
            </a:avLst>
          </a:prstGeom>
          <a:solidFill>
            <a:srgbClr val="FFFFFF"/>
          </a:solidFill>
          <a:ln w="9525" cap="flat" cmpd="sng">
            <a:solidFill>
              <a:srgbClr val="F2F2F2"/>
            </a:solidFill>
            <a:prstDash val="solid"/>
            <a:round/>
            <a:headEnd type="none" w="sm" len="sm"/>
            <a:tailEnd type="none" w="sm" len="sm"/>
          </a:ln>
          <a:effectLst>
            <a:outerShdw blurRad="12700" dist="12700" sx="1000" sy="1000" algn="bl" rotWithShape="0">
              <a:srgbClr val="000000"/>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61" name="Google Shape;661;p13"/>
          <p:cNvSpPr txBox="1"/>
          <p:nvPr/>
        </p:nvSpPr>
        <p:spPr>
          <a:xfrm>
            <a:off x="2973435" y="4384488"/>
            <a:ext cx="767100" cy="1911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構造化処理</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62" name="Google Shape;662;p13"/>
          <p:cNvSpPr txBox="1"/>
          <p:nvPr/>
        </p:nvSpPr>
        <p:spPr>
          <a:xfrm>
            <a:off x="4101998" y="4384489"/>
            <a:ext cx="633600" cy="1911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活用基盤</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63" name="Google Shape;663;p13"/>
          <p:cNvSpPr/>
          <p:nvPr/>
        </p:nvSpPr>
        <p:spPr>
          <a:xfrm>
            <a:off x="4978908" y="3931861"/>
            <a:ext cx="1000500" cy="228600"/>
          </a:xfrm>
          <a:prstGeom prst="roundRect">
            <a:avLst>
              <a:gd name="adj" fmla="val 66667"/>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64" name="Google Shape;664;p13"/>
          <p:cNvSpPr txBox="1"/>
          <p:nvPr/>
        </p:nvSpPr>
        <p:spPr>
          <a:xfrm>
            <a:off x="5054802" y="3960206"/>
            <a:ext cx="1318689" cy="236829"/>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検索 </a:t>
            </a: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(Search)</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65" name="Google Shape;665;p13"/>
          <p:cNvSpPr/>
          <p:nvPr/>
        </p:nvSpPr>
        <p:spPr>
          <a:xfrm>
            <a:off x="4978908" y="4198866"/>
            <a:ext cx="1000500" cy="228600"/>
          </a:xfrm>
          <a:prstGeom prst="roundRect">
            <a:avLst>
              <a:gd name="adj" fmla="val 66667"/>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66" name="Google Shape;666;p13"/>
          <p:cNvSpPr txBox="1"/>
          <p:nvPr/>
        </p:nvSpPr>
        <p:spPr>
          <a:xfrm>
            <a:off x="5054803" y="4227211"/>
            <a:ext cx="1519348" cy="236829"/>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分析 </a:t>
            </a: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(Analytics)</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67" name="Google Shape;667;p13"/>
          <p:cNvSpPr/>
          <p:nvPr/>
        </p:nvSpPr>
        <p:spPr>
          <a:xfrm>
            <a:off x="4978908" y="4464956"/>
            <a:ext cx="1000500" cy="228600"/>
          </a:xfrm>
          <a:prstGeom prst="roundRect">
            <a:avLst>
              <a:gd name="adj" fmla="val 66667"/>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68" name="Google Shape;668;p13"/>
          <p:cNvSpPr txBox="1"/>
          <p:nvPr/>
        </p:nvSpPr>
        <p:spPr>
          <a:xfrm>
            <a:off x="5054803" y="4494216"/>
            <a:ext cx="1224950" cy="236829"/>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生成 </a:t>
            </a: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(GenAI)</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69" name="Google Shape;669;p13"/>
          <p:cNvSpPr/>
          <p:nvPr/>
        </p:nvSpPr>
        <p:spPr>
          <a:xfrm>
            <a:off x="571500" y="5145594"/>
            <a:ext cx="6400800" cy="1116600"/>
          </a:xfrm>
          <a:prstGeom prst="roundRect">
            <a:avLst>
              <a:gd name="adj" fmla="val 2318"/>
            </a:avLst>
          </a:prstGeom>
          <a:solidFill>
            <a:schemeClr val="lt1"/>
          </a:solidFill>
          <a:ln w="12700"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70" name="Google Shape;670;p13"/>
          <p:cNvSpPr txBox="1"/>
          <p:nvPr/>
        </p:nvSpPr>
        <p:spPr>
          <a:xfrm>
            <a:off x="961949" y="5230343"/>
            <a:ext cx="18000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成功のポイント</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71" name="Google Shape;671;p13"/>
          <p:cNvSpPr txBox="1"/>
          <p:nvPr/>
        </p:nvSpPr>
        <p:spPr>
          <a:xfrm>
            <a:off x="771754" y="5458943"/>
            <a:ext cx="6123900" cy="7254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この基盤構築単体で完結するのではなく、既存プロセスの一部に組み込むことで真価を発揮します。需要予測システムや社内</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Web</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アプリ、自律型エージェントなどのバックエンドとして接続することで、業務フロー全体の自動化レベルを引き上げます。</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72" name="Google Shape;672;p13"/>
          <p:cNvSpPr/>
          <p:nvPr/>
        </p:nvSpPr>
        <p:spPr>
          <a:xfrm>
            <a:off x="7353605" y="2768966"/>
            <a:ext cx="4267500" cy="2199900"/>
          </a:xfrm>
          <a:prstGeom prst="roundRect">
            <a:avLst>
              <a:gd name="adj" fmla="val 1181"/>
            </a:avLst>
          </a:prstGeom>
          <a:solidFill>
            <a:schemeClr val="lt1"/>
          </a:solidFill>
          <a:ln w="12700"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73" name="Google Shape;673;p13"/>
          <p:cNvSpPr/>
          <p:nvPr/>
        </p:nvSpPr>
        <p:spPr>
          <a:xfrm>
            <a:off x="7591349" y="3616615"/>
            <a:ext cx="3791100" cy="9000"/>
          </a:xfrm>
          <a:prstGeom prst="rect">
            <a:avLst/>
          </a:prstGeom>
          <a:solidFill>
            <a:srgbClr val="E5E7EB"/>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74" name="Google Shape;674;p13"/>
          <p:cNvSpPr txBox="1"/>
          <p:nvPr/>
        </p:nvSpPr>
        <p:spPr>
          <a:xfrm>
            <a:off x="7591349" y="3000073"/>
            <a:ext cx="1800000" cy="169537"/>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クライアント </a:t>
            </a: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 </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業界</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75" name="Google Shape;675;p13"/>
          <p:cNvSpPr txBox="1"/>
          <p:nvPr/>
        </p:nvSpPr>
        <p:spPr>
          <a:xfrm>
            <a:off x="7880299" y="3282600"/>
            <a:ext cx="18000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複数社 </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 </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複数業界</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76" name="Google Shape;676;p13"/>
          <p:cNvSpPr txBox="1"/>
          <p:nvPr/>
        </p:nvSpPr>
        <p:spPr>
          <a:xfrm>
            <a:off x="7591349" y="3854359"/>
            <a:ext cx="180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使用技術・タグ</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77" name="Google Shape;677;p13"/>
          <p:cNvSpPr/>
          <p:nvPr/>
        </p:nvSpPr>
        <p:spPr>
          <a:xfrm>
            <a:off x="7591349" y="4158854"/>
            <a:ext cx="12099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78" name="Google Shape;678;p13"/>
          <p:cNvSpPr/>
          <p:nvPr/>
        </p:nvSpPr>
        <p:spPr>
          <a:xfrm>
            <a:off x="8876081" y="4158854"/>
            <a:ext cx="7527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79" name="Google Shape;679;p13"/>
          <p:cNvSpPr/>
          <p:nvPr/>
        </p:nvSpPr>
        <p:spPr>
          <a:xfrm>
            <a:off x="9698126" y="4158854"/>
            <a:ext cx="11046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80" name="Google Shape;680;p13"/>
          <p:cNvSpPr/>
          <p:nvPr/>
        </p:nvSpPr>
        <p:spPr>
          <a:xfrm>
            <a:off x="7591349" y="4483466"/>
            <a:ext cx="14385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81" name="Google Shape;681;p13"/>
          <p:cNvSpPr/>
          <p:nvPr/>
        </p:nvSpPr>
        <p:spPr>
          <a:xfrm>
            <a:off x="9104681" y="4483466"/>
            <a:ext cx="5241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82" name="Google Shape;682;p13"/>
          <p:cNvSpPr/>
          <p:nvPr/>
        </p:nvSpPr>
        <p:spPr>
          <a:xfrm>
            <a:off x="9702698" y="4483466"/>
            <a:ext cx="13242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83" name="Google Shape;683;p13"/>
          <p:cNvSpPr txBox="1"/>
          <p:nvPr/>
        </p:nvSpPr>
        <p:spPr>
          <a:xfrm>
            <a:off x="7705648" y="4149567"/>
            <a:ext cx="1535073" cy="210592"/>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大規模言語モデル</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84" name="Google Shape;684;p13"/>
          <p:cNvSpPr txBox="1"/>
          <p:nvPr/>
        </p:nvSpPr>
        <p:spPr>
          <a:xfrm>
            <a:off x="8990381" y="4149567"/>
            <a:ext cx="877370" cy="210592"/>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#RAG</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検索</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85" name="Google Shape;685;p13"/>
          <p:cNvSpPr txBox="1"/>
          <p:nvPr/>
        </p:nvSpPr>
        <p:spPr>
          <a:xfrm>
            <a:off x="9812426" y="4149567"/>
            <a:ext cx="1385320" cy="210592"/>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#Web</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アプリ開発</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86" name="Google Shape;686;p13"/>
          <p:cNvSpPr txBox="1"/>
          <p:nvPr/>
        </p:nvSpPr>
        <p:spPr>
          <a:xfrm>
            <a:off x="7705648" y="4473264"/>
            <a:ext cx="1863925" cy="210592"/>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非構造化データ構造化</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87" name="Google Shape;687;p13"/>
          <p:cNvSpPr txBox="1"/>
          <p:nvPr/>
        </p:nvSpPr>
        <p:spPr>
          <a:xfrm>
            <a:off x="9330194" y="4473264"/>
            <a:ext cx="548518" cy="210592"/>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検索</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88" name="Google Shape;688;p13"/>
          <p:cNvSpPr txBox="1"/>
          <p:nvPr/>
        </p:nvSpPr>
        <p:spPr>
          <a:xfrm>
            <a:off x="9816997" y="4473264"/>
            <a:ext cx="1699499" cy="210592"/>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ワークフロー自動化</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89" name="Google Shape;689;p13"/>
          <p:cNvSpPr/>
          <p:nvPr/>
        </p:nvSpPr>
        <p:spPr>
          <a:xfrm>
            <a:off x="7353605" y="5145594"/>
            <a:ext cx="4267500" cy="1117800"/>
          </a:xfrm>
          <a:prstGeom prst="roundRect">
            <a:avLst>
              <a:gd name="adj" fmla="val 3850"/>
            </a:avLst>
          </a:prstGeom>
          <a:solidFill>
            <a:schemeClr val="lt1"/>
          </a:solidFill>
          <a:ln w="12700" cap="flat" cmpd="sng">
            <a:solidFill>
              <a:srgbClr val="D8D8D8"/>
            </a:solidFill>
            <a:prstDash val="solid"/>
            <a:round/>
            <a:headEnd type="none" w="sm" len="sm"/>
            <a:tailEnd type="none" w="sm" len="sm"/>
          </a:ln>
          <a:effectLst>
            <a:outerShdw dist="12700" dir="16200000" sx="1000" sy="1000" algn="bl" rotWithShape="0">
              <a:srgbClr val="000000"/>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90" name="Google Shape;690;p13"/>
          <p:cNvSpPr txBox="1"/>
          <p:nvPr/>
        </p:nvSpPr>
        <p:spPr>
          <a:xfrm>
            <a:off x="7552942" y="5285553"/>
            <a:ext cx="1800000" cy="169537"/>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関連する応用例</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91" name="Google Shape;691;p13"/>
          <p:cNvSpPr txBox="1"/>
          <p:nvPr/>
        </p:nvSpPr>
        <p:spPr>
          <a:xfrm>
            <a:off x="7940235" y="5534841"/>
            <a:ext cx="2349456" cy="22372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需要予測への入力データ補完</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692" name="Google Shape;692;p13"/>
          <p:cNvSpPr txBox="1"/>
          <p:nvPr/>
        </p:nvSpPr>
        <p:spPr>
          <a:xfrm>
            <a:off x="7949835" y="5870469"/>
            <a:ext cx="2642273" cy="22372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社内</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Agent</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開発のナレッジソース</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693" name="Google Shape;693;p13" descr="データベース 単色塗りつぶし"/>
          <p:cNvPicPr preferRelativeResize="0"/>
          <p:nvPr/>
        </p:nvPicPr>
        <p:blipFill rotWithShape="1">
          <a:blip r:embed="rId4">
            <a:alphaModFix/>
          </a:blip>
          <a:srcRect/>
          <a:stretch/>
        </p:blipFill>
        <p:spPr>
          <a:xfrm>
            <a:off x="4163929" y="4037172"/>
            <a:ext cx="307736" cy="307736"/>
          </a:xfrm>
          <a:prstGeom prst="rect">
            <a:avLst/>
          </a:prstGeom>
          <a:noFill/>
          <a:ln>
            <a:noFill/>
          </a:ln>
        </p:spPr>
      </p:pic>
      <p:pic>
        <p:nvPicPr>
          <p:cNvPr id="694" name="Google Shape;694;p13" descr="建物 単色塗りつぶし"/>
          <p:cNvPicPr preferRelativeResize="0"/>
          <p:nvPr/>
        </p:nvPicPr>
        <p:blipFill rotWithShape="1">
          <a:blip r:embed="rId5">
            <a:alphaModFix/>
          </a:blip>
          <a:srcRect/>
          <a:stretch/>
        </p:blipFill>
        <p:spPr>
          <a:xfrm>
            <a:off x="7512213" y="3220588"/>
            <a:ext cx="307736" cy="307736"/>
          </a:xfrm>
          <a:prstGeom prst="rect">
            <a:avLst/>
          </a:prstGeom>
          <a:noFill/>
          <a:ln>
            <a:noFill/>
          </a:ln>
        </p:spPr>
      </p:pic>
      <p:pic>
        <p:nvPicPr>
          <p:cNvPr id="695" name="Google Shape;695;p13" descr="周期的グラフ 単色塗りつぶし"/>
          <p:cNvPicPr preferRelativeResize="0"/>
          <p:nvPr/>
        </p:nvPicPr>
        <p:blipFill rotWithShape="1">
          <a:blip r:embed="rId6">
            <a:alphaModFix/>
          </a:blip>
          <a:srcRect/>
          <a:stretch/>
        </p:blipFill>
        <p:spPr>
          <a:xfrm>
            <a:off x="7493052" y="5477667"/>
            <a:ext cx="307736" cy="307736"/>
          </a:xfrm>
          <a:prstGeom prst="rect">
            <a:avLst/>
          </a:prstGeom>
          <a:noFill/>
          <a:ln>
            <a:noFill/>
          </a:ln>
        </p:spPr>
      </p:pic>
      <p:pic>
        <p:nvPicPr>
          <p:cNvPr id="696" name="Google Shape;696;p13" descr="ロボット 単色塗りつぶし"/>
          <p:cNvPicPr preferRelativeResize="0"/>
          <p:nvPr/>
        </p:nvPicPr>
        <p:blipFill rotWithShape="1">
          <a:blip r:embed="rId7">
            <a:alphaModFix/>
          </a:blip>
          <a:srcRect/>
          <a:stretch/>
        </p:blipFill>
        <p:spPr>
          <a:xfrm>
            <a:off x="7512213" y="5842720"/>
            <a:ext cx="307736" cy="307736"/>
          </a:xfrm>
          <a:prstGeom prst="rect">
            <a:avLst/>
          </a:prstGeom>
          <a:noFill/>
          <a:ln>
            <a:noFill/>
          </a:ln>
        </p:spPr>
      </p:pic>
      <p:pic>
        <p:nvPicPr>
          <p:cNvPr id="697" name="Google Shape;697;p13" descr="ライト: オン 単色塗りつぶし"/>
          <p:cNvPicPr preferRelativeResize="0"/>
          <p:nvPr/>
        </p:nvPicPr>
        <p:blipFill rotWithShape="1">
          <a:blip r:embed="rId8">
            <a:alphaModFix/>
          </a:blip>
          <a:srcRect/>
          <a:stretch/>
        </p:blipFill>
        <p:spPr>
          <a:xfrm>
            <a:off x="635010" y="5182118"/>
            <a:ext cx="307736" cy="307736"/>
          </a:xfrm>
          <a:prstGeom prst="rect">
            <a:avLst/>
          </a:prstGeom>
          <a:noFill/>
          <a:ln>
            <a:noFill/>
          </a:ln>
        </p:spPr>
      </p:pic>
      <p:pic>
        <p:nvPicPr>
          <p:cNvPr id="698" name="Google Shape;698;p13" descr="フォルダー検索 単色塗りつぶし"/>
          <p:cNvPicPr preferRelativeResize="0"/>
          <p:nvPr/>
        </p:nvPicPr>
        <p:blipFill rotWithShape="1">
          <a:blip r:embed="rId9">
            <a:alphaModFix/>
          </a:blip>
          <a:srcRect/>
          <a:stretch/>
        </p:blipFill>
        <p:spPr>
          <a:xfrm>
            <a:off x="1812757" y="4018708"/>
            <a:ext cx="307736" cy="307736"/>
          </a:xfrm>
          <a:prstGeom prst="rect">
            <a:avLst/>
          </a:prstGeom>
          <a:noFill/>
          <a:ln>
            <a:noFill/>
          </a:ln>
        </p:spPr>
      </p:pic>
      <p:pic>
        <p:nvPicPr>
          <p:cNvPr id="699" name="Google Shape;699;p13" descr="歯車 1 つ 単色塗りつぶし"/>
          <p:cNvPicPr preferRelativeResize="0"/>
          <p:nvPr/>
        </p:nvPicPr>
        <p:blipFill rotWithShape="1">
          <a:blip r:embed="rId10">
            <a:alphaModFix/>
          </a:blip>
          <a:srcRect/>
          <a:stretch/>
        </p:blipFill>
        <p:spPr>
          <a:xfrm>
            <a:off x="3114062" y="4004182"/>
            <a:ext cx="378031" cy="378031"/>
          </a:xfrm>
          <a:prstGeom prst="rect">
            <a:avLst/>
          </a:prstGeom>
          <a:noFill/>
          <a:ln>
            <a:noFill/>
          </a:ln>
        </p:spPr>
      </p:pic>
      <p:cxnSp>
        <p:nvCxnSpPr>
          <p:cNvPr id="700" name="Google Shape;700;p13"/>
          <p:cNvCxnSpPr/>
          <p:nvPr/>
        </p:nvCxnSpPr>
        <p:spPr>
          <a:xfrm>
            <a:off x="2602382" y="4293703"/>
            <a:ext cx="128100" cy="0"/>
          </a:xfrm>
          <a:prstGeom prst="straightConnector1">
            <a:avLst/>
          </a:prstGeom>
          <a:noFill/>
          <a:ln w="9525" cap="flat" cmpd="sng">
            <a:solidFill>
              <a:schemeClr val="dk2"/>
            </a:solidFill>
            <a:prstDash val="solid"/>
            <a:round/>
            <a:headEnd type="none" w="sm" len="sm"/>
            <a:tailEnd type="triangle" w="med" len="med"/>
          </a:ln>
        </p:spPr>
      </p:cxnSp>
      <p:cxnSp>
        <p:nvCxnSpPr>
          <p:cNvPr id="701" name="Google Shape;701;p13"/>
          <p:cNvCxnSpPr/>
          <p:nvPr/>
        </p:nvCxnSpPr>
        <p:spPr>
          <a:xfrm>
            <a:off x="3896078" y="4308593"/>
            <a:ext cx="128100" cy="0"/>
          </a:xfrm>
          <a:prstGeom prst="straightConnector1">
            <a:avLst/>
          </a:prstGeom>
          <a:noFill/>
          <a:ln w="9525" cap="flat" cmpd="sng">
            <a:solidFill>
              <a:schemeClr val="dk2"/>
            </a:solidFill>
            <a:prstDash val="solid"/>
            <a:round/>
            <a:headEnd type="none" w="sm" len="sm"/>
            <a:tailEnd type="triangle" w="med" len="med"/>
          </a:ln>
        </p:spPr>
      </p:cxnSp>
      <p:cxnSp>
        <p:nvCxnSpPr>
          <p:cNvPr id="702" name="Google Shape;702;p13"/>
          <p:cNvCxnSpPr/>
          <p:nvPr/>
        </p:nvCxnSpPr>
        <p:spPr>
          <a:xfrm>
            <a:off x="4710989" y="4316105"/>
            <a:ext cx="128100" cy="0"/>
          </a:xfrm>
          <a:prstGeom prst="straightConnector1">
            <a:avLst/>
          </a:prstGeom>
          <a:noFill/>
          <a:ln w="9525" cap="flat" cmpd="sng">
            <a:solidFill>
              <a:schemeClr val="dk2"/>
            </a:solidFill>
            <a:prstDash val="solid"/>
            <a:round/>
            <a:headEnd type="none" w="sm" len="sm"/>
            <a:tailEnd type="triangle" w="med" len="med"/>
          </a:ln>
        </p:spPr>
      </p:cxnSp>
      <p:sp>
        <p:nvSpPr>
          <p:cNvPr id="703" name="Google Shape;703;p13"/>
          <p:cNvSpPr txBox="1">
            <a:spLocks noGrp="1"/>
          </p:cNvSpPr>
          <p:nvPr>
            <p:ph type="ftr" idx="11"/>
          </p:nvPr>
        </p:nvSpPr>
        <p:spPr>
          <a:xfrm>
            <a:off x="9687698" y="6514831"/>
            <a:ext cx="2109696" cy="216000"/>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ja-JP" sz="1000" b="0" i="0" u="none" strike="noStrike" kern="0" cap="none" spc="0" normalizeH="0" baseline="0" noProof="0">
                <a:ln>
                  <a:noFill/>
                </a:ln>
                <a:solidFill>
                  <a:srgbClr val="BFBFBF"/>
                </a:solidFill>
                <a:effectLst/>
                <a:uLnTx/>
                <a:uFillTx/>
                <a:latin typeface="Arial"/>
                <a:ea typeface="Arial"/>
                <a:cs typeface="Arial"/>
                <a:sym typeface="Arial"/>
              </a:rPr>
              <a:t>©️ 2026 Boost Consulting, Inc.</a:t>
            </a:r>
            <a:endParaRPr kumimoji="0" sz="1000" b="0" i="0" u="none" strike="noStrike" kern="0" cap="none" spc="0" normalizeH="0" baseline="0" noProof="0">
              <a:ln>
                <a:noFill/>
              </a:ln>
              <a:solidFill>
                <a:srgbClr val="BFBFBF"/>
              </a:solidFill>
              <a:effectLst/>
              <a:uLnTx/>
              <a:uFillTx/>
              <a:latin typeface="Arial"/>
              <a:ea typeface="Arial"/>
              <a:cs typeface="Arial"/>
              <a:sym typeface="Arial"/>
            </a:endParaRPr>
          </a:p>
        </p:txBody>
      </p:sp>
    </p:spTree>
    <p:extLst>
      <p:ext uri="{BB962C8B-B14F-4D97-AF65-F5344CB8AC3E}">
        <p14:creationId xmlns:p14="http://schemas.microsoft.com/office/powerpoint/2010/main" val="1021726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14"/>
          <p:cNvSpPr txBox="1">
            <a:spLocks noGrp="1"/>
          </p:cNvSpPr>
          <p:nvPr>
            <p:ph type="title"/>
          </p:nvPr>
        </p:nvSpPr>
        <p:spPr>
          <a:xfrm>
            <a:off x="340659" y="658641"/>
            <a:ext cx="11520000" cy="88803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Font typeface="Arial"/>
              <a:buNone/>
            </a:pPr>
            <a:r>
              <a:rPr lang="ja-JP" dirty="0">
                <a:sym typeface="Arial"/>
              </a:rPr>
              <a:t>02_問い合わせ対応</a:t>
            </a:r>
            <a:br>
              <a:rPr lang="ja-JP" dirty="0">
                <a:sym typeface="Arial"/>
              </a:rPr>
            </a:br>
            <a:r>
              <a:rPr lang="ja-JP" dirty="0">
                <a:sym typeface="Arial"/>
              </a:rPr>
              <a:t>社内ナレッジを活用した自動応答システムで顧客体験と業務効率を向上</a:t>
            </a:r>
            <a:endParaRPr dirty="0"/>
          </a:p>
        </p:txBody>
      </p:sp>
      <p:sp>
        <p:nvSpPr>
          <p:cNvPr id="709" name="Google Shape;709;p14"/>
          <p:cNvSpPr txBox="1">
            <a:spLocks noGrp="1"/>
          </p:cNvSpPr>
          <p:nvPr>
            <p:ph type="body" idx="3"/>
          </p:nvPr>
        </p:nvSpPr>
        <p:spPr>
          <a:xfrm>
            <a:off x="340306" y="233891"/>
            <a:ext cx="11520000" cy="258947"/>
          </a:xfrm>
          <a:prstGeom prst="rect">
            <a:avLst/>
          </a:prstGeom>
          <a:noFill/>
          <a:ln>
            <a:noFill/>
          </a:ln>
        </p:spPr>
        <p:txBody>
          <a:bodyPr spcFirstLastPara="1" wrap="square" lIns="91425" tIns="45700" rIns="91425" bIns="45700" anchor="ctr" anchorCtr="0">
            <a:noAutofit/>
          </a:bodyPr>
          <a:lstStyle/>
          <a:p>
            <a:pPr marL="228600" lvl="0" indent="-228600" algn="l" rtl="0">
              <a:lnSpc>
                <a:spcPct val="100000"/>
              </a:lnSpc>
              <a:spcBef>
                <a:spcPts val="0"/>
              </a:spcBef>
              <a:spcAft>
                <a:spcPts val="0"/>
              </a:spcAft>
              <a:buClr>
                <a:srgbClr val="2D5A41"/>
              </a:buClr>
              <a:buSzPts val="1600"/>
              <a:buNone/>
            </a:pPr>
            <a:r>
              <a:rPr lang="ja-JP" sz="1600">
                <a:solidFill>
                  <a:srgbClr val="2D5A41"/>
                </a:solidFill>
              </a:rPr>
              <a:t>弊社事例紹介</a:t>
            </a:r>
            <a:endParaRPr/>
          </a:p>
        </p:txBody>
      </p:sp>
      <p:sp>
        <p:nvSpPr>
          <p:cNvPr id="710" name="Google Shape;710;p14"/>
          <p:cNvSpPr/>
          <p:nvPr/>
        </p:nvSpPr>
        <p:spPr>
          <a:xfrm>
            <a:off x="571500" y="1333195"/>
            <a:ext cx="38400" cy="8001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11" name="Google Shape;711;p14"/>
          <p:cNvSpPr/>
          <p:nvPr/>
        </p:nvSpPr>
        <p:spPr>
          <a:xfrm>
            <a:off x="6381598" y="1333195"/>
            <a:ext cx="38400" cy="8001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12" name="Google Shape;712;p14"/>
          <p:cNvSpPr/>
          <p:nvPr/>
        </p:nvSpPr>
        <p:spPr>
          <a:xfrm>
            <a:off x="571500" y="1508247"/>
            <a:ext cx="3562500" cy="794700"/>
          </a:xfrm>
          <a:prstGeom prst="rect">
            <a:avLst/>
          </a:prstGeom>
          <a:noFill/>
          <a:ln>
            <a:noFill/>
          </a:ln>
          <a:effectLst>
            <a:outerShdw blurRad="38100" dist="254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13" name="Google Shape;713;p14"/>
          <p:cNvSpPr/>
          <p:nvPr/>
        </p:nvSpPr>
        <p:spPr>
          <a:xfrm>
            <a:off x="571500" y="1508247"/>
            <a:ext cx="45600" cy="794700"/>
          </a:xfrm>
          <a:prstGeom prst="rect">
            <a:avLst/>
          </a:prstGeom>
          <a:solidFill>
            <a:srgbClr val="2D5A4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14" name="Google Shape;714;p14"/>
          <p:cNvSpPr/>
          <p:nvPr/>
        </p:nvSpPr>
        <p:spPr>
          <a:xfrm>
            <a:off x="8064094" y="1508247"/>
            <a:ext cx="3562500" cy="794700"/>
          </a:xfrm>
          <a:prstGeom prst="rect">
            <a:avLst/>
          </a:prstGeom>
          <a:noFill/>
          <a:ln>
            <a:noFill/>
          </a:ln>
          <a:effectLst>
            <a:outerShdw blurRad="38100" dist="254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15" name="Google Shape;715;p14"/>
          <p:cNvSpPr/>
          <p:nvPr/>
        </p:nvSpPr>
        <p:spPr>
          <a:xfrm>
            <a:off x="8064094" y="1508247"/>
            <a:ext cx="45600" cy="794700"/>
          </a:xfrm>
          <a:prstGeom prst="rect">
            <a:avLst/>
          </a:prstGeom>
          <a:solidFill>
            <a:srgbClr val="2D5A4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16" name="Google Shape;716;p14"/>
          <p:cNvSpPr/>
          <p:nvPr/>
        </p:nvSpPr>
        <p:spPr>
          <a:xfrm>
            <a:off x="4317797" y="1508247"/>
            <a:ext cx="3562500" cy="794700"/>
          </a:xfrm>
          <a:prstGeom prst="rect">
            <a:avLst/>
          </a:prstGeom>
          <a:noFill/>
          <a:ln>
            <a:noFill/>
          </a:ln>
          <a:effectLst>
            <a:outerShdw blurRad="38100" dist="254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17" name="Google Shape;717;p14"/>
          <p:cNvSpPr/>
          <p:nvPr/>
        </p:nvSpPr>
        <p:spPr>
          <a:xfrm>
            <a:off x="4317797" y="1508247"/>
            <a:ext cx="45600" cy="794700"/>
          </a:xfrm>
          <a:prstGeom prst="rect">
            <a:avLst/>
          </a:prstGeom>
          <a:solidFill>
            <a:srgbClr val="2D5A4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18" name="Google Shape;718;p14"/>
          <p:cNvSpPr/>
          <p:nvPr/>
        </p:nvSpPr>
        <p:spPr>
          <a:xfrm>
            <a:off x="8292694" y="1680735"/>
            <a:ext cx="457200" cy="457200"/>
          </a:xfrm>
          <a:prstGeom prst="ellipse">
            <a:avLst/>
          </a:prstGeom>
          <a:solidFill>
            <a:srgbClr val="FFFFF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19" name="Google Shape;719;p14"/>
          <p:cNvSpPr txBox="1"/>
          <p:nvPr/>
        </p:nvSpPr>
        <p:spPr>
          <a:xfrm>
            <a:off x="800425" y="1684392"/>
            <a:ext cx="1447500" cy="192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RESOLUTION RATE</a:t>
            </a:r>
            <a:endParaRPr kumimoji="0"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20" name="Google Shape;720;p14"/>
          <p:cNvSpPr txBox="1"/>
          <p:nvPr/>
        </p:nvSpPr>
        <p:spPr>
          <a:xfrm>
            <a:off x="800424" y="1884646"/>
            <a:ext cx="24588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6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一次解決率の向上</a:t>
            </a:r>
            <a:endParaRPr kumimoji="0" sz="16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21" name="Google Shape;721;p14"/>
          <p:cNvSpPr txBox="1"/>
          <p:nvPr/>
        </p:nvSpPr>
        <p:spPr>
          <a:xfrm>
            <a:off x="4546397" y="1695286"/>
            <a:ext cx="1594500" cy="192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SPEED</a:t>
            </a:r>
            <a:endParaRPr kumimoji="0"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22" name="Google Shape;722;p14"/>
          <p:cNvSpPr txBox="1"/>
          <p:nvPr/>
        </p:nvSpPr>
        <p:spPr>
          <a:xfrm>
            <a:off x="8286922" y="1682459"/>
            <a:ext cx="1104000" cy="192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OPTIMIZATION</a:t>
            </a:r>
            <a:endParaRPr kumimoji="0"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23" name="Google Shape;723;p14"/>
          <p:cNvSpPr txBox="1"/>
          <p:nvPr/>
        </p:nvSpPr>
        <p:spPr>
          <a:xfrm>
            <a:off x="4546397" y="1900648"/>
            <a:ext cx="22413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6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一次解決率の向上</a:t>
            </a:r>
            <a:endParaRPr kumimoji="0" sz="16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24" name="Google Shape;724;p14"/>
          <p:cNvSpPr/>
          <p:nvPr/>
        </p:nvSpPr>
        <p:spPr>
          <a:xfrm>
            <a:off x="571500" y="2709252"/>
            <a:ext cx="6400800" cy="9000"/>
          </a:xfrm>
          <a:prstGeom prst="rect">
            <a:avLst/>
          </a:prstGeom>
          <a:solidFill>
            <a:schemeClr val="dk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725" name="Google Shape;725;p14" descr="preencoded.png"/>
          <p:cNvPicPr preferRelativeResize="0"/>
          <p:nvPr/>
        </p:nvPicPr>
        <p:blipFill rotWithShape="1">
          <a:blip r:embed="rId3">
            <a:alphaModFix/>
          </a:blip>
          <a:srcRect l="-989605" r="-989397"/>
          <a:stretch/>
        </p:blipFill>
        <p:spPr>
          <a:xfrm>
            <a:off x="571500" y="3003290"/>
            <a:ext cx="237744" cy="9144"/>
          </a:xfrm>
          <a:prstGeom prst="rect">
            <a:avLst/>
          </a:prstGeom>
          <a:noFill/>
          <a:ln>
            <a:noFill/>
          </a:ln>
        </p:spPr>
      </p:pic>
      <p:sp>
        <p:nvSpPr>
          <p:cNvPr id="726" name="Google Shape;726;p14"/>
          <p:cNvSpPr txBox="1"/>
          <p:nvPr/>
        </p:nvSpPr>
        <p:spPr>
          <a:xfrm>
            <a:off x="571500" y="2433657"/>
            <a:ext cx="1286700" cy="2772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取り組み内容</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27" name="Google Shape;727;p14"/>
          <p:cNvSpPr txBox="1"/>
          <p:nvPr/>
        </p:nvSpPr>
        <p:spPr>
          <a:xfrm>
            <a:off x="582646" y="2757578"/>
            <a:ext cx="6627000" cy="7035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FAQ</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、マニュアル、過去の問い合わせログなどの非構造化データを</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RAG</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Retrieval-Augmented Generation</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）化し、ユーザーからの一次問い合わせに対して自動回答を行うチャットボットを構築。膨大なドキュメントの中から最適な回答を瞬時に生成し、提示します。</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28" name="Google Shape;728;p14"/>
          <p:cNvSpPr/>
          <p:nvPr/>
        </p:nvSpPr>
        <p:spPr>
          <a:xfrm>
            <a:off x="571500" y="3645654"/>
            <a:ext cx="6400800" cy="1333200"/>
          </a:xfrm>
          <a:prstGeom prst="roundRect">
            <a:avLst>
              <a:gd name="adj" fmla="val 1845"/>
            </a:avLst>
          </a:prstGeom>
          <a:solidFill>
            <a:schemeClr val="lt1"/>
          </a:solidFill>
          <a:ln w="12700"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29" name="Google Shape;729;p14"/>
          <p:cNvSpPr/>
          <p:nvPr/>
        </p:nvSpPr>
        <p:spPr>
          <a:xfrm>
            <a:off x="571500" y="5144450"/>
            <a:ext cx="6400800" cy="1117800"/>
          </a:xfrm>
          <a:prstGeom prst="roundRect">
            <a:avLst>
              <a:gd name="adj" fmla="val 2318"/>
            </a:avLst>
          </a:prstGeom>
          <a:solidFill>
            <a:schemeClr val="lt1"/>
          </a:solidFill>
          <a:ln w="12700"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30" name="Google Shape;730;p14"/>
          <p:cNvSpPr txBox="1"/>
          <p:nvPr/>
        </p:nvSpPr>
        <p:spPr>
          <a:xfrm>
            <a:off x="961949" y="5230343"/>
            <a:ext cx="30621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成功のポイント</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31" name="Google Shape;731;p14"/>
          <p:cNvSpPr txBox="1"/>
          <p:nvPr/>
        </p:nvSpPr>
        <p:spPr>
          <a:xfrm>
            <a:off x="771754" y="5458943"/>
            <a:ext cx="6099000" cy="7254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社内に埋もれている「非構造化データ」の有用性が高いほど、導入効果が大きくなります。特に、多くの商材を扱う営業会社や、マニュアルが頻繁に更新される技術サポート部門など、人間がすべてを記憶・検索するのが困難な環境で高い</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ROI</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を発揮します。</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32" name="Google Shape;732;p14"/>
          <p:cNvSpPr/>
          <p:nvPr/>
        </p:nvSpPr>
        <p:spPr>
          <a:xfrm>
            <a:off x="7353605" y="2768966"/>
            <a:ext cx="4267500" cy="2199900"/>
          </a:xfrm>
          <a:prstGeom prst="roundRect">
            <a:avLst>
              <a:gd name="adj" fmla="val 1181"/>
            </a:avLst>
          </a:prstGeom>
          <a:solidFill>
            <a:schemeClr val="lt1"/>
          </a:solidFill>
          <a:ln w="12700"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33" name="Google Shape;733;p14"/>
          <p:cNvSpPr/>
          <p:nvPr/>
        </p:nvSpPr>
        <p:spPr>
          <a:xfrm>
            <a:off x="7591349" y="3700334"/>
            <a:ext cx="3791100" cy="9000"/>
          </a:xfrm>
          <a:prstGeom prst="rect">
            <a:avLst/>
          </a:prstGeom>
          <a:solidFill>
            <a:schemeClr val="dk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34" name="Google Shape;734;p14"/>
          <p:cNvSpPr txBox="1"/>
          <p:nvPr/>
        </p:nvSpPr>
        <p:spPr>
          <a:xfrm>
            <a:off x="7591349" y="3006710"/>
            <a:ext cx="1318288" cy="101556"/>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クライアント </a:t>
            </a: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 </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業界</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35" name="Google Shape;735;p14"/>
          <p:cNvSpPr txBox="1"/>
          <p:nvPr/>
        </p:nvSpPr>
        <p:spPr>
          <a:xfrm>
            <a:off x="7905930" y="3284994"/>
            <a:ext cx="30858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複数社 </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 </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複数業界</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36" name="Google Shape;736;p14"/>
          <p:cNvSpPr txBox="1"/>
          <p:nvPr/>
        </p:nvSpPr>
        <p:spPr>
          <a:xfrm>
            <a:off x="7591349" y="3854359"/>
            <a:ext cx="8961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使用技術・タグ</a:t>
            </a:r>
            <a:endParaRPr kumimoji="0"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37" name="Google Shape;737;p14"/>
          <p:cNvSpPr/>
          <p:nvPr/>
        </p:nvSpPr>
        <p:spPr>
          <a:xfrm>
            <a:off x="7591349" y="4158854"/>
            <a:ext cx="12459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38" name="Google Shape;738;p14"/>
          <p:cNvSpPr/>
          <p:nvPr/>
        </p:nvSpPr>
        <p:spPr>
          <a:xfrm>
            <a:off x="8909637" y="4158854"/>
            <a:ext cx="7425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39" name="Google Shape;739;p14"/>
          <p:cNvSpPr/>
          <p:nvPr/>
        </p:nvSpPr>
        <p:spPr>
          <a:xfrm>
            <a:off x="9721347" y="4158854"/>
            <a:ext cx="11328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40" name="Google Shape;740;p14"/>
          <p:cNvSpPr/>
          <p:nvPr/>
        </p:nvSpPr>
        <p:spPr>
          <a:xfrm>
            <a:off x="7591349" y="4483466"/>
            <a:ext cx="14325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41" name="Google Shape;741;p14"/>
          <p:cNvSpPr txBox="1"/>
          <p:nvPr/>
        </p:nvSpPr>
        <p:spPr>
          <a:xfrm>
            <a:off x="7705648" y="4141894"/>
            <a:ext cx="1595931" cy="217365"/>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大規模言語モデル</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42" name="Google Shape;742;p14"/>
          <p:cNvSpPr txBox="1"/>
          <p:nvPr/>
        </p:nvSpPr>
        <p:spPr>
          <a:xfrm>
            <a:off x="9845344" y="4163500"/>
            <a:ext cx="1081529" cy="23145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#RAG</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検索</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43" name="Google Shape;743;p14"/>
          <p:cNvSpPr txBox="1"/>
          <p:nvPr/>
        </p:nvSpPr>
        <p:spPr>
          <a:xfrm>
            <a:off x="9845344" y="4412552"/>
            <a:ext cx="1528078" cy="27130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#Web</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アプリ開発</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44" name="Google Shape;744;p14"/>
          <p:cNvSpPr txBox="1"/>
          <p:nvPr/>
        </p:nvSpPr>
        <p:spPr>
          <a:xfrm>
            <a:off x="7705648" y="4465283"/>
            <a:ext cx="1904023" cy="218573"/>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非構造化データ構造化</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45" name="Google Shape;745;p14"/>
          <p:cNvSpPr/>
          <p:nvPr/>
        </p:nvSpPr>
        <p:spPr>
          <a:xfrm>
            <a:off x="7353605" y="5145594"/>
            <a:ext cx="4267500" cy="1117800"/>
          </a:xfrm>
          <a:prstGeom prst="roundRect">
            <a:avLst>
              <a:gd name="adj" fmla="val 3850"/>
            </a:avLst>
          </a:prstGeom>
          <a:solidFill>
            <a:schemeClr val="lt1"/>
          </a:solidFill>
          <a:ln w="12700" cap="flat" cmpd="sng">
            <a:solidFill>
              <a:srgbClr val="D8D8D8"/>
            </a:solidFill>
            <a:prstDash val="solid"/>
            <a:round/>
            <a:headEnd type="none" w="sm" len="sm"/>
            <a:tailEnd type="none" w="sm" len="sm"/>
          </a:ln>
          <a:effectLst>
            <a:outerShdw dist="12700" dir="16200000" sx="1000" sy="1000" algn="bl" rotWithShape="0">
              <a:srgbClr val="000000"/>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cxnSp>
        <p:nvCxnSpPr>
          <p:cNvPr id="746" name="Google Shape;746;p14"/>
          <p:cNvCxnSpPr/>
          <p:nvPr/>
        </p:nvCxnSpPr>
        <p:spPr>
          <a:xfrm>
            <a:off x="2370041" y="4359402"/>
            <a:ext cx="291300" cy="0"/>
          </a:xfrm>
          <a:prstGeom prst="straightConnector1">
            <a:avLst/>
          </a:prstGeom>
          <a:noFill/>
          <a:ln w="9525" cap="flat" cmpd="sng">
            <a:solidFill>
              <a:schemeClr val="dk2"/>
            </a:solidFill>
            <a:prstDash val="solid"/>
            <a:round/>
            <a:headEnd type="triangle" w="med" len="med"/>
            <a:tailEnd type="triangle" w="med" len="med"/>
          </a:ln>
        </p:spPr>
      </p:cxnSp>
      <p:pic>
        <p:nvPicPr>
          <p:cNvPr id="747" name="Google Shape;747;p14" descr="ライト: オン 単色塗りつぶし"/>
          <p:cNvPicPr preferRelativeResize="0"/>
          <p:nvPr/>
        </p:nvPicPr>
        <p:blipFill rotWithShape="1">
          <a:blip r:embed="rId4">
            <a:alphaModFix/>
          </a:blip>
          <a:srcRect/>
          <a:stretch/>
        </p:blipFill>
        <p:spPr>
          <a:xfrm>
            <a:off x="635010" y="5182118"/>
            <a:ext cx="307736" cy="307736"/>
          </a:xfrm>
          <a:prstGeom prst="rect">
            <a:avLst/>
          </a:prstGeom>
          <a:noFill/>
          <a:ln>
            <a:noFill/>
          </a:ln>
        </p:spPr>
      </p:pic>
      <p:sp>
        <p:nvSpPr>
          <p:cNvPr id="748" name="Google Shape;748;p14"/>
          <p:cNvSpPr txBox="1"/>
          <p:nvPr/>
        </p:nvSpPr>
        <p:spPr>
          <a:xfrm>
            <a:off x="8292694" y="1901898"/>
            <a:ext cx="22413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6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高度業務へのシフト</a:t>
            </a:r>
            <a:endParaRPr kumimoji="0" sz="16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749" name="Google Shape;749;p14" descr="建物 単色塗りつぶし"/>
          <p:cNvPicPr preferRelativeResize="0"/>
          <p:nvPr/>
        </p:nvPicPr>
        <p:blipFill rotWithShape="1">
          <a:blip r:embed="rId5">
            <a:alphaModFix/>
          </a:blip>
          <a:srcRect/>
          <a:stretch/>
        </p:blipFill>
        <p:spPr>
          <a:xfrm>
            <a:off x="7512213" y="3220588"/>
            <a:ext cx="307736" cy="307736"/>
          </a:xfrm>
          <a:prstGeom prst="rect">
            <a:avLst/>
          </a:prstGeom>
          <a:noFill/>
          <a:ln>
            <a:noFill/>
          </a:ln>
        </p:spPr>
      </p:pic>
      <p:sp>
        <p:nvSpPr>
          <p:cNvPr id="750" name="Google Shape;750;p14"/>
          <p:cNvSpPr txBox="1"/>
          <p:nvPr/>
        </p:nvSpPr>
        <p:spPr>
          <a:xfrm>
            <a:off x="7958533" y="5578819"/>
            <a:ext cx="3138013" cy="187856"/>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社内ヘルプデスク（</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IT/</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総務）の自動化</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51" name="Google Shape;751;p14"/>
          <p:cNvSpPr txBox="1"/>
          <p:nvPr/>
        </p:nvSpPr>
        <p:spPr>
          <a:xfrm>
            <a:off x="7956704" y="5931248"/>
            <a:ext cx="2577289" cy="187856"/>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保守員向け現場サポートボット</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52" name="Google Shape;752;p14"/>
          <p:cNvSpPr txBox="1"/>
          <p:nvPr/>
        </p:nvSpPr>
        <p:spPr>
          <a:xfrm>
            <a:off x="1365121" y="4542990"/>
            <a:ext cx="633600" cy="1911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ユーザー</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53" name="Google Shape;753;p14"/>
          <p:cNvSpPr/>
          <p:nvPr/>
        </p:nvSpPr>
        <p:spPr>
          <a:xfrm>
            <a:off x="3224964" y="3904883"/>
            <a:ext cx="909000" cy="909000"/>
          </a:xfrm>
          <a:prstGeom prst="roundRect">
            <a:avLst>
              <a:gd name="adj" fmla="val 7011"/>
            </a:avLst>
          </a:prstGeom>
          <a:noFill/>
          <a:ln w="12700" cap="flat" cmpd="sng">
            <a:solidFill>
              <a:srgbClr val="D8D8D8"/>
            </a:solidFill>
            <a:prstDash val="solid"/>
            <a:round/>
            <a:headEnd type="none" w="sm" len="sm"/>
            <a:tailEnd type="none" w="sm" len="sm"/>
          </a:ln>
          <a:effectLst>
            <a:outerShdw dist="12700" sx="1000" sy="1000" algn="bl" rotWithShape="0">
              <a:srgbClr val="000000"/>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54" name="Google Shape;754;p14"/>
          <p:cNvSpPr txBox="1"/>
          <p:nvPr/>
        </p:nvSpPr>
        <p:spPr>
          <a:xfrm>
            <a:off x="3400015" y="4540159"/>
            <a:ext cx="543300" cy="1629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AI</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ボット</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55" name="Google Shape;755;p14"/>
          <p:cNvSpPr txBox="1"/>
          <p:nvPr/>
        </p:nvSpPr>
        <p:spPr>
          <a:xfrm>
            <a:off x="5553177" y="4410658"/>
            <a:ext cx="633600" cy="1911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ナレッジ</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56" name="Google Shape;756;p14"/>
          <p:cNvSpPr txBox="1"/>
          <p:nvPr/>
        </p:nvSpPr>
        <p:spPr>
          <a:xfrm>
            <a:off x="5420104" y="4671841"/>
            <a:ext cx="899745" cy="139628"/>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(FAQ/</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ログ</a:t>
            </a: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cxnSp>
        <p:nvCxnSpPr>
          <p:cNvPr id="757" name="Google Shape;757;p14"/>
          <p:cNvCxnSpPr/>
          <p:nvPr/>
        </p:nvCxnSpPr>
        <p:spPr>
          <a:xfrm>
            <a:off x="4712173" y="4369723"/>
            <a:ext cx="291300" cy="0"/>
          </a:xfrm>
          <a:prstGeom prst="straightConnector1">
            <a:avLst/>
          </a:prstGeom>
          <a:noFill/>
          <a:ln w="9525" cap="flat" cmpd="sng">
            <a:solidFill>
              <a:schemeClr val="dk2"/>
            </a:solidFill>
            <a:prstDash val="solid"/>
            <a:round/>
            <a:headEnd type="triangle" w="med" len="med"/>
            <a:tailEnd type="triangle" w="med" len="med"/>
          </a:ln>
        </p:spPr>
      </p:cxnSp>
      <p:pic>
        <p:nvPicPr>
          <p:cNvPr id="758" name="Google Shape;758;p14" descr="ロボット 単色塗りつぶし"/>
          <p:cNvPicPr preferRelativeResize="0"/>
          <p:nvPr/>
        </p:nvPicPr>
        <p:blipFill rotWithShape="1">
          <a:blip r:embed="rId6">
            <a:alphaModFix/>
          </a:blip>
          <a:srcRect/>
          <a:stretch/>
        </p:blipFill>
        <p:spPr>
          <a:xfrm>
            <a:off x="3506344" y="4113979"/>
            <a:ext cx="330497" cy="330497"/>
          </a:xfrm>
          <a:prstGeom prst="rect">
            <a:avLst/>
          </a:prstGeom>
          <a:noFill/>
          <a:ln>
            <a:noFill/>
          </a:ln>
        </p:spPr>
      </p:pic>
      <p:pic>
        <p:nvPicPr>
          <p:cNvPr id="759" name="Google Shape;759;p14" descr="ユーザー 単色塗りつぶし"/>
          <p:cNvPicPr preferRelativeResize="0"/>
          <p:nvPr/>
        </p:nvPicPr>
        <p:blipFill rotWithShape="1">
          <a:blip r:embed="rId7">
            <a:alphaModFix/>
          </a:blip>
          <a:srcRect/>
          <a:stretch/>
        </p:blipFill>
        <p:spPr>
          <a:xfrm>
            <a:off x="1516713" y="4158854"/>
            <a:ext cx="330497" cy="330497"/>
          </a:xfrm>
          <a:prstGeom prst="rect">
            <a:avLst/>
          </a:prstGeom>
          <a:noFill/>
          <a:ln>
            <a:noFill/>
          </a:ln>
        </p:spPr>
      </p:pic>
      <p:pic>
        <p:nvPicPr>
          <p:cNvPr id="760" name="Google Shape;760;p14" descr="コール センター 単色塗りつぶし"/>
          <p:cNvPicPr preferRelativeResize="0"/>
          <p:nvPr/>
        </p:nvPicPr>
        <p:blipFill rotWithShape="1">
          <a:blip r:embed="rId8">
            <a:alphaModFix/>
          </a:blip>
          <a:srcRect/>
          <a:stretch/>
        </p:blipFill>
        <p:spPr>
          <a:xfrm>
            <a:off x="7577921" y="5547664"/>
            <a:ext cx="255456" cy="255456"/>
          </a:xfrm>
          <a:prstGeom prst="rect">
            <a:avLst/>
          </a:prstGeom>
          <a:noFill/>
          <a:ln>
            <a:noFill/>
          </a:ln>
        </p:spPr>
      </p:pic>
      <p:pic>
        <p:nvPicPr>
          <p:cNvPr id="761" name="Google Shape;761;p14" descr="ツール 単色塗りつぶし"/>
          <p:cNvPicPr preferRelativeResize="0"/>
          <p:nvPr/>
        </p:nvPicPr>
        <p:blipFill rotWithShape="1">
          <a:blip r:embed="rId9">
            <a:alphaModFix/>
          </a:blip>
          <a:srcRect/>
          <a:stretch/>
        </p:blipFill>
        <p:spPr>
          <a:xfrm>
            <a:off x="7579126" y="5895831"/>
            <a:ext cx="255456" cy="255456"/>
          </a:xfrm>
          <a:prstGeom prst="rect">
            <a:avLst/>
          </a:prstGeom>
          <a:noFill/>
          <a:ln>
            <a:noFill/>
          </a:ln>
        </p:spPr>
      </p:pic>
      <p:pic>
        <p:nvPicPr>
          <p:cNvPr id="762" name="Google Shape;762;p14" descr="頭の中の脳 単色塗りつぶし"/>
          <p:cNvPicPr preferRelativeResize="0"/>
          <p:nvPr/>
        </p:nvPicPr>
        <p:blipFill rotWithShape="1">
          <a:blip r:embed="rId10">
            <a:alphaModFix/>
          </a:blip>
          <a:srcRect/>
          <a:stretch/>
        </p:blipFill>
        <p:spPr>
          <a:xfrm>
            <a:off x="5704767" y="4051517"/>
            <a:ext cx="330497" cy="330497"/>
          </a:xfrm>
          <a:prstGeom prst="rect">
            <a:avLst/>
          </a:prstGeom>
          <a:noFill/>
          <a:ln>
            <a:noFill/>
          </a:ln>
        </p:spPr>
      </p:pic>
      <p:sp>
        <p:nvSpPr>
          <p:cNvPr id="763" name="Google Shape;763;p14"/>
          <p:cNvSpPr txBox="1"/>
          <p:nvPr/>
        </p:nvSpPr>
        <p:spPr>
          <a:xfrm>
            <a:off x="7552944" y="5292190"/>
            <a:ext cx="1078238" cy="101556"/>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関連する応用例</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64" name="Google Shape;764;p14"/>
          <p:cNvSpPr txBox="1">
            <a:spLocks noGrp="1"/>
          </p:cNvSpPr>
          <p:nvPr>
            <p:ph type="ftr" idx="11"/>
          </p:nvPr>
        </p:nvSpPr>
        <p:spPr>
          <a:xfrm>
            <a:off x="9687698" y="6514831"/>
            <a:ext cx="2109696" cy="216000"/>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ja-JP" sz="1000" b="0" i="0" u="none" strike="noStrike" kern="0" cap="none" spc="0" normalizeH="0" baseline="0" noProof="0">
                <a:ln>
                  <a:noFill/>
                </a:ln>
                <a:solidFill>
                  <a:srgbClr val="BFBFBF"/>
                </a:solidFill>
                <a:effectLst/>
                <a:uLnTx/>
                <a:uFillTx/>
                <a:latin typeface="Arial"/>
                <a:ea typeface="Arial"/>
                <a:cs typeface="Arial"/>
                <a:sym typeface="Arial"/>
              </a:rPr>
              <a:t>©️ 2026 Boost Consulting, Inc.</a:t>
            </a:r>
            <a:endParaRPr kumimoji="0" sz="1000" b="0" i="0" u="none" strike="noStrike" kern="0" cap="none" spc="0" normalizeH="0" baseline="0" noProof="0">
              <a:ln>
                <a:noFill/>
              </a:ln>
              <a:solidFill>
                <a:srgbClr val="BFBFBF"/>
              </a:solidFill>
              <a:effectLst/>
              <a:uLnTx/>
              <a:uFillTx/>
              <a:latin typeface="Arial"/>
              <a:ea typeface="Arial"/>
              <a:cs typeface="Arial"/>
              <a:sym typeface="Arial"/>
            </a:endParaRPr>
          </a:p>
        </p:txBody>
      </p:sp>
    </p:spTree>
    <p:extLst>
      <p:ext uri="{BB962C8B-B14F-4D97-AF65-F5344CB8AC3E}">
        <p14:creationId xmlns:p14="http://schemas.microsoft.com/office/powerpoint/2010/main" val="3929331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p15"/>
          <p:cNvSpPr txBox="1">
            <a:spLocks noGrp="1"/>
          </p:cNvSpPr>
          <p:nvPr>
            <p:ph type="title"/>
          </p:nvPr>
        </p:nvSpPr>
        <p:spPr>
          <a:xfrm>
            <a:off x="340659" y="658641"/>
            <a:ext cx="11520000" cy="88803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Font typeface="Arial"/>
              <a:buNone/>
            </a:pPr>
            <a:r>
              <a:rPr lang="ja-JP" dirty="0">
                <a:sym typeface="Arial"/>
              </a:rPr>
              <a:t>03_営業・提案支援（クロスセル予測）</a:t>
            </a:r>
            <a:br>
              <a:rPr lang="ja-JP" dirty="0">
                <a:sym typeface="Arial"/>
              </a:rPr>
            </a:br>
            <a:r>
              <a:rPr lang="ja-JP" dirty="0">
                <a:sym typeface="Arial"/>
              </a:rPr>
              <a:t>過去メール・提案書の構造化により「誰に・何を」提案すべきかを予測</a:t>
            </a:r>
            <a:endParaRPr dirty="0"/>
          </a:p>
        </p:txBody>
      </p:sp>
      <p:sp>
        <p:nvSpPr>
          <p:cNvPr id="770" name="Google Shape;770;p15"/>
          <p:cNvSpPr txBox="1">
            <a:spLocks noGrp="1"/>
          </p:cNvSpPr>
          <p:nvPr>
            <p:ph type="body" idx="3"/>
          </p:nvPr>
        </p:nvSpPr>
        <p:spPr>
          <a:xfrm>
            <a:off x="340306" y="233891"/>
            <a:ext cx="11520000" cy="258947"/>
          </a:xfrm>
          <a:prstGeom prst="rect">
            <a:avLst/>
          </a:prstGeom>
          <a:noFill/>
          <a:ln>
            <a:noFill/>
          </a:ln>
        </p:spPr>
        <p:txBody>
          <a:bodyPr spcFirstLastPara="1" wrap="square" lIns="91425" tIns="45700" rIns="91425" bIns="45700" anchor="ctr" anchorCtr="0">
            <a:noAutofit/>
          </a:bodyPr>
          <a:lstStyle/>
          <a:p>
            <a:pPr marL="228600" lvl="0" indent="-228600" algn="l" rtl="0">
              <a:lnSpc>
                <a:spcPct val="100000"/>
              </a:lnSpc>
              <a:spcBef>
                <a:spcPts val="0"/>
              </a:spcBef>
              <a:spcAft>
                <a:spcPts val="0"/>
              </a:spcAft>
              <a:buClr>
                <a:srgbClr val="2D5A41"/>
              </a:buClr>
              <a:buSzPts val="1600"/>
              <a:buNone/>
            </a:pPr>
            <a:r>
              <a:rPr lang="ja-JP" sz="1600">
                <a:solidFill>
                  <a:srgbClr val="2D5A41"/>
                </a:solidFill>
              </a:rPr>
              <a:t>弊社事例紹介</a:t>
            </a:r>
            <a:endParaRPr/>
          </a:p>
        </p:txBody>
      </p:sp>
      <p:sp>
        <p:nvSpPr>
          <p:cNvPr id="771" name="Google Shape;771;p15"/>
          <p:cNvSpPr/>
          <p:nvPr/>
        </p:nvSpPr>
        <p:spPr>
          <a:xfrm>
            <a:off x="571500" y="1333195"/>
            <a:ext cx="38400" cy="8001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72" name="Google Shape;772;p15"/>
          <p:cNvSpPr/>
          <p:nvPr/>
        </p:nvSpPr>
        <p:spPr>
          <a:xfrm>
            <a:off x="6381598" y="1333195"/>
            <a:ext cx="38400" cy="8001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73" name="Google Shape;773;p15"/>
          <p:cNvSpPr/>
          <p:nvPr/>
        </p:nvSpPr>
        <p:spPr>
          <a:xfrm>
            <a:off x="571500" y="1508247"/>
            <a:ext cx="3562500" cy="794700"/>
          </a:xfrm>
          <a:prstGeom prst="rect">
            <a:avLst/>
          </a:prstGeom>
          <a:noFill/>
          <a:ln>
            <a:noFill/>
          </a:ln>
          <a:effectLst>
            <a:outerShdw blurRad="38100" dist="254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74" name="Google Shape;774;p15"/>
          <p:cNvSpPr/>
          <p:nvPr/>
        </p:nvSpPr>
        <p:spPr>
          <a:xfrm>
            <a:off x="571500" y="1508247"/>
            <a:ext cx="45600" cy="794700"/>
          </a:xfrm>
          <a:prstGeom prst="rect">
            <a:avLst/>
          </a:prstGeom>
          <a:solidFill>
            <a:srgbClr val="2D5A4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75" name="Google Shape;775;p15"/>
          <p:cNvSpPr/>
          <p:nvPr/>
        </p:nvSpPr>
        <p:spPr>
          <a:xfrm>
            <a:off x="8064094" y="1508247"/>
            <a:ext cx="3562500" cy="794700"/>
          </a:xfrm>
          <a:prstGeom prst="rect">
            <a:avLst/>
          </a:prstGeom>
          <a:noFill/>
          <a:ln>
            <a:noFill/>
          </a:ln>
          <a:effectLst>
            <a:outerShdw blurRad="38100" dist="254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76" name="Google Shape;776;p15"/>
          <p:cNvSpPr/>
          <p:nvPr/>
        </p:nvSpPr>
        <p:spPr>
          <a:xfrm>
            <a:off x="8064094" y="1508247"/>
            <a:ext cx="45600" cy="794700"/>
          </a:xfrm>
          <a:prstGeom prst="rect">
            <a:avLst/>
          </a:prstGeom>
          <a:solidFill>
            <a:srgbClr val="2D5A4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77" name="Google Shape;777;p15"/>
          <p:cNvSpPr/>
          <p:nvPr/>
        </p:nvSpPr>
        <p:spPr>
          <a:xfrm>
            <a:off x="4317797" y="1508247"/>
            <a:ext cx="3562500" cy="794700"/>
          </a:xfrm>
          <a:prstGeom prst="rect">
            <a:avLst/>
          </a:prstGeom>
          <a:noFill/>
          <a:ln>
            <a:noFill/>
          </a:ln>
          <a:effectLst>
            <a:outerShdw blurRad="38100" dist="254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78" name="Google Shape;778;p15"/>
          <p:cNvSpPr/>
          <p:nvPr/>
        </p:nvSpPr>
        <p:spPr>
          <a:xfrm>
            <a:off x="4317797" y="1508247"/>
            <a:ext cx="45600" cy="794700"/>
          </a:xfrm>
          <a:prstGeom prst="rect">
            <a:avLst/>
          </a:prstGeom>
          <a:solidFill>
            <a:srgbClr val="2D5A4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79" name="Google Shape;779;p15"/>
          <p:cNvSpPr/>
          <p:nvPr/>
        </p:nvSpPr>
        <p:spPr>
          <a:xfrm>
            <a:off x="4546397" y="1680735"/>
            <a:ext cx="457200" cy="457200"/>
          </a:xfrm>
          <a:prstGeom prst="ellipse">
            <a:avLst/>
          </a:prstGeom>
          <a:solidFill>
            <a:srgbClr val="FFFFF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80" name="Google Shape;780;p15"/>
          <p:cNvSpPr txBox="1"/>
          <p:nvPr/>
        </p:nvSpPr>
        <p:spPr>
          <a:xfrm>
            <a:off x="800100" y="1675980"/>
            <a:ext cx="11247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9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ACCURACY</a:t>
            </a:r>
            <a:endParaRPr kumimoji="0" sz="9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81" name="Google Shape;781;p15"/>
          <p:cNvSpPr txBox="1"/>
          <p:nvPr/>
        </p:nvSpPr>
        <p:spPr>
          <a:xfrm>
            <a:off x="800100" y="1876234"/>
            <a:ext cx="20154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4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提案精度の向上</a:t>
            </a:r>
            <a:endParaRPr kumimoji="0" sz="1400" b="1"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82" name="Google Shape;782;p15"/>
          <p:cNvSpPr txBox="1"/>
          <p:nvPr/>
        </p:nvSpPr>
        <p:spPr>
          <a:xfrm>
            <a:off x="4546923" y="1669940"/>
            <a:ext cx="1239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REVENUE GROWTH</a:t>
            </a:r>
            <a:endParaRPr kumimoji="0"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83" name="Google Shape;783;p15"/>
          <p:cNvSpPr txBox="1"/>
          <p:nvPr/>
        </p:nvSpPr>
        <p:spPr>
          <a:xfrm>
            <a:off x="8293491" y="1669940"/>
            <a:ext cx="8577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ENABLEMENT</a:t>
            </a:r>
            <a:endParaRPr kumimoji="0"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84" name="Google Shape;784;p15"/>
          <p:cNvSpPr txBox="1"/>
          <p:nvPr/>
        </p:nvSpPr>
        <p:spPr>
          <a:xfrm>
            <a:off x="4546922" y="1870194"/>
            <a:ext cx="22413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案件化率・クロスセル率改善</a:t>
            </a: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85" name="Google Shape;785;p15"/>
          <p:cNvSpPr txBox="1"/>
          <p:nvPr/>
        </p:nvSpPr>
        <p:spPr>
          <a:xfrm>
            <a:off x="8293491" y="1873851"/>
            <a:ext cx="19962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営業育成の高速化</a:t>
            </a: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86" name="Google Shape;786;p15"/>
          <p:cNvSpPr/>
          <p:nvPr/>
        </p:nvSpPr>
        <p:spPr>
          <a:xfrm>
            <a:off x="571500" y="2709252"/>
            <a:ext cx="6400800" cy="9000"/>
          </a:xfrm>
          <a:prstGeom prst="rect">
            <a:avLst/>
          </a:prstGeom>
          <a:solidFill>
            <a:schemeClr val="dk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787" name="Google Shape;787;p15" descr="preencoded.png"/>
          <p:cNvPicPr preferRelativeResize="0"/>
          <p:nvPr/>
        </p:nvPicPr>
        <p:blipFill rotWithShape="1">
          <a:blip r:embed="rId3">
            <a:alphaModFix/>
          </a:blip>
          <a:srcRect l="-989605" r="-989397"/>
          <a:stretch/>
        </p:blipFill>
        <p:spPr>
          <a:xfrm>
            <a:off x="571500" y="3003290"/>
            <a:ext cx="237744" cy="9144"/>
          </a:xfrm>
          <a:prstGeom prst="rect">
            <a:avLst/>
          </a:prstGeom>
          <a:noFill/>
          <a:ln>
            <a:noFill/>
          </a:ln>
        </p:spPr>
      </p:pic>
      <p:sp>
        <p:nvSpPr>
          <p:cNvPr id="788" name="Google Shape;788;p15"/>
          <p:cNvSpPr txBox="1"/>
          <p:nvPr/>
        </p:nvSpPr>
        <p:spPr>
          <a:xfrm>
            <a:off x="571500" y="2433657"/>
            <a:ext cx="1286700" cy="2772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取り組み内容</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89" name="Google Shape;789;p15"/>
          <p:cNvSpPr txBox="1"/>
          <p:nvPr/>
        </p:nvSpPr>
        <p:spPr>
          <a:xfrm>
            <a:off x="582646" y="2757578"/>
            <a:ext cx="6627000" cy="7035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過去のメール、提案書、顧客対応履歴といった非構造化データを</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AI</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で構造化・解析。顧客ごとの潜在的なニーズを洗い出し、「どの顧客に」「どのタイミングで」「どの商材を」提案（クロスセル）すべきかを高精度に予測するモデルを構築しました。</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90" name="Google Shape;790;p15"/>
          <p:cNvSpPr/>
          <p:nvPr/>
        </p:nvSpPr>
        <p:spPr>
          <a:xfrm>
            <a:off x="571500" y="3645654"/>
            <a:ext cx="6400800" cy="1333200"/>
          </a:xfrm>
          <a:prstGeom prst="roundRect">
            <a:avLst>
              <a:gd name="adj" fmla="val 1845"/>
            </a:avLst>
          </a:prstGeom>
          <a:solidFill>
            <a:schemeClr val="lt1"/>
          </a:solidFill>
          <a:ln w="12700"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91" name="Google Shape;791;p15"/>
          <p:cNvSpPr/>
          <p:nvPr/>
        </p:nvSpPr>
        <p:spPr>
          <a:xfrm>
            <a:off x="571500" y="5144450"/>
            <a:ext cx="6400800" cy="1117800"/>
          </a:xfrm>
          <a:prstGeom prst="roundRect">
            <a:avLst>
              <a:gd name="adj" fmla="val 2318"/>
            </a:avLst>
          </a:prstGeom>
          <a:solidFill>
            <a:schemeClr val="lt1"/>
          </a:solidFill>
          <a:ln w="12700"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92" name="Google Shape;792;p15"/>
          <p:cNvSpPr txBox="1"/>
          <p:nvPr/>
        </p:nvSpPr>
        <p:spPr>
          <a:xfrm>
            <a:off x="961949" y="5230343"/>
            <a:ext cx="30621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成功のポイント</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93" name="Google Shape;793;p15"/>
          <p:cNvSpPr txBox="1"/>
          <p:nvPr/>
        </p:nvSpPr>
        <p:spPr>
          <a:xfrm>
            <a:off x="771754" y="5458943"/>
            <a:ext cx="6099000" cy="7254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担当者が納得して動けるよう、予測結果の「説明性（なぜその提案か）」を重視。予算獲得時期や成約までのリードタイム、キーパーソン情報など、担当者の頭の中やメールの奥底に埋もれている重要なシグナルを</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AI</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が自動抽出した点が成果に直結</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94" name="Google Shape;794;p15"/>
          <p:cNvSpPr/>
          <p:nvPr/>
        </p:nvSpPr>
        <p:spPr>
          <a:xfrm>
            <a:off x="7353605" y="2768966"/>
            <a:ext cx="4267500" cy="2199900"/>
          </a:xfrm>
          <a:prstGeom prst="roundRect">
            <a:avLst>
              <a:gd name="adj" fmla="val 1181"/>
            </a:avLst>
          </a:prstGeom>
          <a:noFill/>
          <a:ln w="12700" cap="flat" cmpd="sng">
            <a:solidFill>
              <a:srgbClr val="D8D8D8"/>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95" name="Google Shape;795;p15"/>
          <p:cNvSpPr/>
          <p:nvPr/>
        </p:nvSpPr>
        <p:spPr>
          <a:xfrm>
            <a:off x="7591349" y="3700334"/>
            <a:ext cx="3791100" cy="90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96" name="Google Shape;796;p15"/>
          <p:cNvSpPr txBox="1"/>
          <p:nvPr/>
        </p:nvSpPr>
        <p:spPr>
          <a:xfrm>
            <a:off x="7591349" y="3003290"/>
            <a:ext cx="1513332" cy="16632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クライアント </a:t>
            </a: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 </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業界</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97" name="Google Shape;797;p15"/>
          <p:cNvSpPr txBox="1"/>
          <p:nvPr/>
        </p:nvSpPr>
        <p:spPr>
          <a:xfrm>
            <a:off x="7888864" y="3242132"/>
            <a:ext cx="1798833" cy="202568"/>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五大商社子会社</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98" name="Google Shape;798;p15"/>
          <p:cNvSpPr txBox="1"/>
          <p:nvPr/>
        </p:nvSpPr>
        <p:spPr>
          <a:xfrm>
            <a:off x="7591349" y="3903219"/>
            <a:ext cx="1181400" cy="114039"/>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使用技術・タグ</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799" name="Google Shape;799;p15"/>
          <p:cNvSpPr/>
          <p:nvPr/>
        </p:nvSpPr>
        <p:spPr>
          <a:xfrm>
            <a:off x="7591349" y="4158854"/>
            <a:ext cx="12099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00" name="Google Shape;800;p15"/>
          <p:cNvSpPr/>
          <p:nvPr/>
        </p:nvSpPr>
        <p:spPr>
          <a:xfrm>
            <a:off x="8876081" y="4158854"/>
            <a:ext cx="8841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01" name="Google Shape;801;p15"/>
          <p:cNvSpPr/>
          <p:nvPr/>
        </p:nvSpPr>
        <p:spPr>
          <a:xfrm>
            <a:off x="9865906" y="4158854"/>
            <a:ext cx="10329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02" name="Google Shape;802;p15"/>
          <p:cNvSpPr/>
          <p:nvPr/>
        </p:nvSpPr>
        <p:spPr>
          <a:xfrm>
            <a:off x="7591349" y="4483466"/>
            <a:ext cx="14385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03" name="Google Shape;803;p15"/>
          <p:cNvSpPr/>
          <p:nvPr/>
        </p:nvSpPr>
        <p:spPr>
          <a:xfrm>
            <a:off x="9104681" y="4483466"/>
            <a:ext cx="8592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04" name="Google Shape;804;p15"/>
          <p:cNvSpPr/>
          <p:nvPr/>
        </p:nvSpPr>
        <p:spPr>
          <a:xfrm>
            <a:off x="10058400" y="4483466"/>
            <a:ext cx="5286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05" name="Google Shape;805;p15"/>
          <p:cNvSpPr txBox="1"/>
          <p:nvPr/>
        </p:nvSpPr>
        <p:spPr>
          <a:xfrm>
            <a:off x="7591349" y="4197259"/>
            <a:ext cx="144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大規模言語モデル</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06" name="Google Shape;806;p15"/>
          <p:cNvSpPr txBox="1"/>
          <p:nvPr/>
        </p:nvSpPr>
        <p:spPr>
          <a:xfrm>
            <a:off x="8990381" y="4197259"/>
            <a:ext cx="1440000" cy="1725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予測モデル</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07" name="Google Shape;807;p15"/>
          <p:cNvSpPr txBox="1"/>
          <p:nvPr/>
        </p:nvSpPr>
        <p:spPr>
          <a:xfrm>
            <a:off x="9980206" y="4197259"/>
            <a:ext cx="144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データ構造化</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08" name="Google Shape;808;p15"/>
          <p:cNvSpPr txBox="1"/>
          <p:nvPr/>
        </p:nvSpPr>
        <p:spPr>
          <a:xfrm>
            <a:off x="7591349" y="4520956"/>
            <a:ext cx="162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非構造化データ構造化</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09" name="Google Shape;809;p15"/>
          <p:cNvSpPr txBox="1"/>
          <p:nvPr/>
        </p:nvSpPr>
        <p:spPr>
          <a:xfrm>
            <a:off x="9218981" y="4520956"/>
            <a:ext cx="1440000" cy="1725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判断自動化</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10" name="Google Shape;810;p15"/>
          <p:cNvSpPr txBox="1"/>
          <p:nvPr/>
        </p:nvSpPr>
        <p:spPr>
          <a:xfrm>
            <a:off x="10159068" y="4520956"/>
            <a:ext cx="144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予測</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11" name="Google Shape;811;p15"/>
          <p:cNvSpPr/>
          <p:nvPr/>
        </p:nvSpPr>
        <p:spPr>
          <a:xfrm>
            <a:off x="7353605" y="5145594"/>
            <a:ext cx="4267500" cy="1117800"/>
          </a:xfrm>
          <a:prstGeom prst="roundRect">
            <a:avLst>
              <a:gd name="adj" fmla="val 3850"/>
            </a:avLst>
          </a:prstGeom>
          <a:solidFill>
            <a:schemeClr val="lt1"/>
          </a:solidFill>
          <a:ln w="12700" cap="flat" cmpd="sng">
            <a:solidFill>
              <a:srgbClr val="D8D8D8"/>
            </a:solidFill>
            <a:prstDash val="solid"/>
            <a:round/>
            <a:headEnd type="none" w="sm" len="sm"/>
            <a:tailEnd type="none" w="sm" len="sm"/>
          </a:ln>
          <a:effectLst>
            <a:outerShdw dist="12700" dir="16200000" sx="1000" sy="1000" algn="bl" rotWithShape="0">
              <a:srgbClr val="000000"/>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12" name="Google Shape;812;p15"/>
          <p:cNvSpPr txBox="1"/>
          <p:nvPr/>
        </p:nvSpPr>
        <p:spPr>
          <a:xfrm>
            <a:off x="7552944" y="5288770"/>
            <a:ext cx="1237766" cy="16632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関連する応用例</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13" name="Google Shape;813;p15"/>
          <p:cNvSpPr txBox="1"/>
          <p:nvPr/>
        </p:nvSpPr>
        <p:spPr>
          <a:xfrm>
            <a:off x="7920617" y="5651911"/>
            <a:ext cx="2395500" cy="107527"/>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カスタマーサクセス</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14" name="Google Shape;814;p15"/>
          <p:cNvSpPr txBox="1"/>
          <p:nvPr/>
        </p:nvSpPr>
        <p:spPr>
          <a:xfrm>
            <a:off x="7929798" y="5900233"/>
            <a:ext cx="2845293" cy="107527"/>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解約予兆の検知と防止アクション予測</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815" name="Google Shape;815;p15" descr="建物 単色塗りつぶし"/>
          <p:cNvPicPr preferRelativeResize="0"/>
          <p:nvPr/>
        </p:nvPicPr>
        <p:blipFill rotWithShape="1">
          <a:blip r:embed="rId4">
            <a:alphaModFix/>
          </a:blip>
          <a:srcRect/>
          <a:stretch/>
        </p:blipFill>
        <p:spPr>
          <a:xfrm>
            <a:off x="7512213" y="3220588"/>
            <a:ext cx="307736" cy="307736"/>
          </a:xfrm>
          <a:prstGeom prst="rect">
            <a:avLst/>
          </a:prstGeom>
          <a:noFill/>
          <a:ln>
            <a:noFill/>
          </a:ln>
        </p:spPr>
      </p:pic>
      <p:cxnSp>
        <p:nvCxnSpPr>
          <p:cNvPr id="816" name="Google Shape;816;p15"/>
          <p:cNvCxnSpPr/>
          <p:nvPr/>
        </p:nvCxnSpPr>
        <p:spPr>
          <a:xfrm>
            <a:off x="2602382" y="4234980"/>
            <a:ext cx="128100" cy="0"/>
          </a:xfrm>
          <a:prstGeom prst="straightConnector1">
            <a:avLst/>
          </a:prstGeom>
          <a:noFill/>
          <a:ln w="9525" cap="flat" cmpd="sng">
            <a:solidFill>
              <a:schemeClr val="dk2"/>
            </a:solidFill>
            <a:prstDash val="solid"/>
            <a:round/>
            <a:headEnd type="none" w="sm" len="sm"/>
            <a:tailEnd type="triangle" w="med" len="med"/>
          </a:ln>
        </p:spPr>
      </p:cxnSp>
      <p:cxnSp>
        <p:nvCxnSpPr>
          <p:cNvPr id="817" name="Google Shape;817;p15"/>
          <p:cNvCxnSpPr/>
          <p:nvPr/>
        </p:nvCxnSpPr>
        <p:spPr>
          <a:xfrm>
            <a:off x="4864857" y="4255922"/>
            <a:ext cx="128100" cy="0"/>
          </a:xfrm>
          <a:prstGeom prst="straightConnector1">
            <a:avLst/>
          </a:prstGeom>
          <a:noFill/>
          <a:ln w="9525" cap="flat" cmpd="sng">
            <a:solidFill>
              <a:schemeClr val="dk2"/>
            </a:solidFill>
            <a:prstDash val="solid"/>
            <a:round/>
            <a:headEnd type="none" w="sm" len="sm"/>
            <a:tailEnd type="triangle" w="med" len="med"/>
          </a:ln>
        </p:spPr>
      </p:cxnSp>
      <p:sp>
        <p:nvSpPr>
          <p:cNvPr id="818" name="Google Shape;818;p15"/>
          <p:cNvSpPr txBox="1"/>
          <p:nvPr/>
        </p:nvSpPr>
        <p:spPr>
          <a:xfrm>
            <a:off x="7888865" y="3492652"/>
            <a:ext cx="1526984" cy="13087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複数業界への展開</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819" name="Google Shape;819;p15" descr="ライト: オン 単色塗りつぶし"/>
          <p:cNvPicPr preferRelativeResize="0"/>
          <p:nvPr/>
        </p:nvPicPr>
        <p:blipFill rotWithShape="1">
          <a:blip r:embed="rId5">
            <a:alphaModFix/>
          </a:blip>
          <a:srcRect/>
          <a:stretch/>
        </p:blipFill>
        <p:spPr>
          <a:xfrm>
            <a:off x="635010" y="5182118"/>
            <a:ext cx="307736" cy="307736"/>
          </a:xfrm>
          <a:prstGeom prst="rect">
            <a:avLst/>
          </a:prstGeom>
          <a:noFill/>
          <a:ln>
            <a:noFill/>
          </a:ln>
        </p:spPr>
      </p:pic>
      <p:sp>
        <p:nvSpPr>
          <p:cNvPr id="820" name="Google Shape;820;p15"/>
          <p:cNvSpPr txBox="1"/>
          <p:nvPr/>
        </p:nvSpPr>
        <p:spPr>
          <a:xfrm>
            <a:off x="1077783" y="4404920"/>
            <a:ext cx="1280329" cy="136614"/>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埋もれたデータ</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21" name="Google Shape;821;p15"/>
          <p:cNvSpPr txBox="1"/>
          <p:nvPr/>
        </p:nvSpPr>
        <p:spPr>
          <a:xfrm>
            <a:off x="809244" y="4571319"/>
            <a:ext cx="1817407" cy="160264"/>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メール</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提案書</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履歴</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22" name="Google Shape;822;p15"/>
          <p:cNvSpPr txBox="1"/>
          <p:nvPr/>
        </p:nvSpPr>
        <p:spPr>
          <a:xfrm>
            <a:off x="3246878" y="4429261"/>
            <a:ext cx="1066439" cy="134276"/>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構造化・予測</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23" name="Google Shape;823;p15"/>
          <p:cNvSpPr txBox="1"/>
          <p:nvPr/>
        </p:nvSpPr>
        <p:spPr>
          <a:xfrm>
            <a:off x="2896663" y="4596064"/>
            <a:ext cx="2034255" cy="157521"/>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予算時期</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キーマン抽出</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24" name="Google Shape;824;p15"/>
          <p:cNvSpPr txBox="1"/>
          <p:nvPr/>
        </p:nvSpPr>
        <p:spPr>
          <a:xfrm>
            <a:off x="5470012" y="4386531"/>
            <a:ext cx="1259080" cy="167689"/>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アクション提示</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25" name="Google Shape;825;p15"/>
          <p:cNvSpPr txBox="1"/>
          <p:nvPr/>
        </p:nvSpPr>
        <p:spPr>
          <a:xfrm>
            <a:off x="5477577" y="4552275"/>
            <a:ext cx="1259080" cy="211103"/>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推奨提案リスト</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826" name="Google Shape;826;p15" descr="封筒 単色塗りつぶし"/>
          <p:cNvPicPr preferRelativeResize="0"/>
          <p:nvPr/>
        </p:nvPicPr>
        <p:blipFill rotWithShape="1">
          <a:blip r:embed="rId6">
            <a:alphaModFix/>
          </a:blip>
          <a:srcRect/>
          <a:stretch/>
        </p:blipFill>
        <p:spPr>
          <a:xfrm>
            <a:off x="1515852" y="3924213"/>
            <a:ext cx="339243" cy="339243"/>
          </a:xfrm>
          <a:prstGeom prst="rect">
            <a:avLst/>
          </a:prstGeom>
          <a:noFill/>
          <a:ln>
            <a:noFill/>
          </a:ln>
        </p:spPr>
      </p:pic>
      <p:pic>
        <p:nvPicPr>
          <p:cNvPr id="827" name="Google Shape;827;p15" descr="リサーチ 枠線"/>
          <p:cNvPicPr preferRelativeResize="0"/>
          <p:nvPr/>
        </p:nvPicPr>
        <p:blipFill rotWithShape="1">
          <a:blip r:embed="rId7">
            <a:alphaModFix/>
          </a:blip>
          <a:srcRect/>
          <a:stretch/>
        </p:blipFill>
        <p:spPr>
          <a:xfrm>
            <a:off x="3684851" y="3924212"/>
            <a:ext cx="339243" cy="339243"/>
          </a:xfrm>
          <a:prstGeom prst="rect">
            <a:avLst/>
          </a:prstGeom>
          <a:noFill/>
          <a:ln>
            <a:noFill/>
          </a:ln>
        </p:spPr>
      </p:pic>
      <p:pic>
        <p:nvPicPr>
          <p:cNvPr id="828" name="Google Shape;828;p15" descr="クリップボード: チェックマーク 単色塗りつぶし"/>
          <p:cNvPicPr preferRelativeResize="0"/>
          <p:nvPr/>
        </p:nvPicPr>
        <p:blipFill rotWithShape="1">
          <a:blip r:embed="rId8">
            <a:alphaModFix/>
          </a:blip>
          <a:srcRect/>
          <a:stretch/>
        </p:blipFill>
        <p:spPr>
          <a:xfrm>
            <a:off x="5951580" y="3924213"/>
            <a:ext cx="339243" cy="339243"/>
          </a:xfrm>
          <a:prstGeom prst="rect">
            <a:avLst/>
          </a:prstGeom>
          <a:noFill/>
          <a:ln>
            <a:noFill/>
          </a:ln>
        </p:spPr>
      </p:pic>
      <p:pic>
        <p:nvPicPr>
          <p:cNvPr id="829" name="Google Shape;829;p15" descr="カスタマー レビュー 単色塗りつぶし"/>
          <p:cNvPicPr preferRelativeResize="0"/>
          <p:nvPr/>
        </p:nvPicPr>
        <p:blipFill rotWithShape="1">
          <a:blip r:embed="rId9">
            <a:alphaModFix/>
          </a:blip>
          <a:srcRect/>
          <a:stretch/>
        </p:blipFill>
        <p:spPr>
          <a:xfrm>
            <a:off x="7512475" y="5612616"/>
            <a:ext cx="360081" cy="360081"/>
          </a:xfrm>
          <a:prstGeom prst="rect">
            <a:avLst/>
          </a:prstGeom>
          <a:noFill/>
          <a:ln>
            <a:noFill/>
          </a:ln>
        </p:spPr>
      </p:pic>
      <p:sp>
        <p:nvSpPr>
          <p:cNvPr id="830" name="Google Shape;830;p15"/>
          <p:cNvSpPr txBox="1">
            <a:spLocks noGrp="1"/>
          </p:cNvSpPr>
          <p:nvPr>
            <p:ph type="ftr" idx="11"/>
          </p:nvPr>
        </p:nvSpPr>
        <p:spPr>
          <a:xfrm>
            <a:off x="9687698" y="6514831"/>
            <a:ext cx="2109696" cy="216000"/>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ja-JP" sz="1000" b="0" i="0" u="none" strike="noStrike" kern="0" cap="none" spc="0" normalizeH="0" baseline="0" noProof="0">
                <a:ln>
                  <a:noFill/>
                </a:ln>
                <a:solidFill>
                  <a:srgbClr val="BFBFBF"/>
                </a:solidFill>
                <a:effectLst/>
                <a:uLnTx/>
                <a:uFillTx/>
                <a:latin typeface="Arial"/>
                <a:ea typeface="Arial"/>
                <a:cs typeface="Arial"/>
                <a:sym typeface="Arial"/>
              </a:rPr>
              <a:t>©️ 2026 Boost Consulting, Inc.</a:t>
            </a:r>
            <a:endParaRPr kumimoji="0" sz="1000" b="0" i="0" u="none" strike="noStrike" kern="0" cap="none" spc="0" normalizeH="0" baseline="0" noProof="0">
              <a:ln>
                <a:noFill/>
              </a:ln>
              <a:solidFill>
                <a:srgbClr val="BFBFBF"/>
              </a:solidFill>
              <a:effectLst/>
              <a:uLnTx/>
              <a:uFillTx/>
              <a:latin typeface="Arial"/>
              <a:ea typeface="Arial"/>
              <a:cs typeface="Arial"/>
              <a:sym typeface="Arial"/>
            </a:endParaRPr>
          </a:p>
        </p:txBody>
      </p:sp>
    </p:spTree>
    <p:extLst>
      <p:ext uri="{BB962C8B-B14F-4D97-AF65-F5344CB8AC3E}">
        <p14:creationId xmlns:p14="http://schemas.microsoft.com/office/powerpoint/2010/main" val="3655218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16"/>
          <p:cNvSpPr txBox="1">
            <a:spLocks noGrp="1"/>
          </p:cNvSpPr>
          <p:nvPr>
            <p:ph type="title"/>
          </p:nvPr>
        </p:nvSpPr>
        <p:spPr>
          <a:xfrm>
            <a:off x="340659" y="658641"/>
            <a:ext cx="11520000" cy="88803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Font typeface="Arial"/>
              <a:buNone/>
            </a:pPr>
            <a:r>
              <a:rPr lang="ja-JP">
                <a:sym typeface="Arial"/>
              </a:rPr>
              <a:t>04_店舗運営最適化（シフト自動生成）</a:t>
            </a:r>
            <a:br>
              <a:rPr lang="ja-JP">
                <a:sym typeface="Arial"/>
              </a:rPr>
            </a:br>
            <a:r>
              <a:rPr lang="ja-JP">
                <a:sym typeface="Arial"/>
              </a:rPr>
              <a:t>現場の自然言語入力を数理モデルへ変換し、複雑なシフト作成を完全自動化</a:t>
            </a:r>
            <a:endParaRPr/>
          </a:p>
        </p:txBody>
      </p:sp>
      <p:sp>
        <p:nvSpPr>
          <p:cNvPr id="836" name="Google Shape;836;p16"/>
          <p:cNvSpPr txBox="1">
            <a:spLocks noGrp="1"/>
          </p:cNvSpPr>
          <p:nvPr>
            <p:ph type="body" idx="3"/>
          </p:nvPr>
        </p:nvSpPr>
        <p:spPr>
          <a:xfrm>
            <a:off x="340306" y="233891"/>
            <a:ext cx="11520000" cy="258947"/>
          </a:xfrm>
          <a:prstGeom prst="rect">
            <a:avLst/>
          </a:prstGeom>
          <a:noFill/>
          <a:ln>
            <a:noFill/>
          </a:ln>
        </p:spPr>
        <p:txBody>
          <a:bodyPr spcFirstLastPara="1" wrap="square" lIns="91425" tIns="45700" rIns="91425" bIns="45700" anchor="ctr" anchorCtr="0">
            <a:noAutofit/>
          </a:bodyPr>
          <a:lstStyle/>
          <a:p>
            <a:pPr marL="228600" lvl="0" indent="-228600" algn="l" rtl="0">
              <a:lnSpc>
                <a:spcPct val="100000"/>
              </a:lnSpc>
              <a:spcBef>
                <a:spcPts val="0"/>
              </a:spcBef>
              <a:spcAft>
                <a:spcPts val="0"/>
              </a:spcAft>
              <a:buClr>
                <a:srgbClr val="2D5A42"/>
              </a:buClr>
              <a:buSzPts val="1400"/>
              <a:buNone/>
            </a:pPr>
            <a:r>
              <a:rPr lang="ja-JP"/>
              <a:t>関連事例紹介</a:t>
            </a:r>
            <a:endParaRPr/>
          </a:p>
        </p:txBody>
      </p:sp>
      <p:sp>
        <p:nvSpPr>
          <p:cNvPr id="837" name="Google Shape;837;p16"/>
          <p:cNvSpPr/>
          <p:nvPr/>
        </p:nvSpPr>
        <p:spPr>
          <a:xfrm>
            <a:off x="6381598" y="1333195"/>
            <a:ext cx="38400" cy="8001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38" name="Google Shape;838;p16"/>
          <p:cNvSpPr/>
          <p:nvPr/>
        </p:nvSpPr>
        <p:spPr>
          <a:xfrm>
            <a:off x="571805" y="1438381"/>
            <a:ext cx="11048700" cy="2628900"/>
          </a:xfrm>
          <a:prstGeom prst="roundRect">
            <a:avLst>
              <a:gd name="adj" fmla="val 1512"/>
            </a:avLst>
          </a:prstGeom>
          <a:solidFill>
            <a:srgbClr val="F2F2F2"/>
          </a:solidFill>
          <a:ln w="12700" cap="flat" cmpd="sng">
            <a:solidFill>
              <a:srgbClr val="CBD5E1"/>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39" name="Google Shape;839;p16"/>
          <p:cNvSpPr/>
          <p:nvPr/>
        </p:nvSpPr>
        <p:spPr>
          <a:xfrm>
            <a:off x="571805" y="4352574"/>
            <a:ext cx="3534300" cy="2124300"/>
          </a:xfrm>
          <a:prstGeom prst="roundRect">
            <a:avLst>
              <a:gd name="adj" fmla="val 1544"/>
            </a:avLst>
          </a:prstGeom>
          <a:solidFill>
            <a:srgbClr val="FFFFFF"/>
          </a:solidFill>
          <a:ln w="12700"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40" name="Google Shape;840;p16"/>
          <p:cNvSpPr/>
          <p:nvPr/>
        </p:nvSpPr>
        <p:spPr>
          <a:xfrm>
            <a:off x="772059" y="4858237"/>
            <a:ext cx="3133500" cy="9000"/>
          </a:xfrm>
          <a:prstGeom prst="rect">
            <a:avLst/>
          </a:prstGeom>
          <a:solidFill>
            <a:schemeClr val="dk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41" name="Google Shape;841;p16"/>
          <p:cNvSpPr/>
          <p:nvPr/>
        </p:nvSpPr>
        <p:spPr>
          <a:xfrm>
            <a:off x="4330903" y="4352574"/>
            <a:ext cx="3534300" cy="2124300"/>
          </a:xfrm>
          <a:prstGeom prst="roundRect">
            <a:avLst>
              <a:gd name="adj" fmla="val 1544"/>
            </a:avLst>
          </a:prstGeom>
          <a:solidFill>
            <a:srgbClr val="FFFFFF"/>
          </a:solidFill>
          <a:ln w="12700" cap="flat" cmpd="sng">
            <a:solidFill>
              <a:srgbClr val="E2E8F0"/>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42" name="Google Shape;842;p16"/>
          <p:cNvSpPr/>
          <p:nvPr/>
        </p:nvSpPr>
        <p:spPr>
          <a:xfrm>
            <a:off x="4531157" y="4858237"/>
            <a:ext cx="3133500" cy="9000"/>
          </a:xfrm>
          <a:prstGeom prst="rect">
            <a:avLst/>
          </a:prstGeom>
          <a:solidFill>
            <a:schemeClr val="dk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43" name="Google Shape;843;p16"/>
          <p:cNvSpPr txBox="1"/>
          <p:nvPr/>
        </p:nvSpPr>
        <p:spPr>
          <a:xfrm>
            <a:off x="1019861" y="4552828"/>
            <a:ext cx="11916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課題とポイント</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44" name="Google Shape;844;p16"/>
          <p:cNvSpPr txBox="1"/>
          <p:nvPr/>
        </p:nvSpPr>
        <p:spPr>
          <a:xfrm>
            <a:off x="4740553" y="4552828"/>
            <a:ext cx="25200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顧客 </a:t>
            </a: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 </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技術スタック</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45" name="Google Shape;845;p16"/>
          <p:cNvSpPr txBox="1"/>
          <p:nvPr/>
        </p:nvSpPr>
        <p:spPr>
          <a:xfrm>
            <a:off x="772059" y="4990825"/>
            <a:ext cx="3148200" cy="409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現場の</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UX</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が最重要</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 </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日常業務で忙しい店長にとって、複雑なシステム操作は定着の障壁となります。</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46" name="Google Shape;846;p16"/>
          <p:cNvSpPr txBox="1"/>
          <p:nvPr/>
        </p:nvSpPr>
        <p:spPr>
          <a:xfrm>
            <a:off x="772059" y="5512948"/>
            <a:ext cx="3167400" cy="6201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入力・確認・確定のフローを極限まで簡略化し、対話形式で完結するインターフェースを設計しました。</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47" name="Google Shape;847;p16"/>
          <p:cNvSpPr txBox="1"/>
          <p:nvPr/>
        </p:nvSpPr>
        <p:spPr>
          <a:xfrm>
            <a:off x="4531157" y="4880373"/>
            <a:ext cx="252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クライアント</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48" name="Google Shape;848;p16"/>
          <p:cNvSpPr txBox="1"/>
          <p:nvPr/>
        </p:nvSpPr>
        <p:spPr>
          <a:xfrm>
            <a:off x="4531157" y="5694108"/>
            <a:ext cx="252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関連事例</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49" name="Google Shape;849;p16"/>
          <p:cNvSpPr txBox="1"/>
          <p:nvPr/>
        </p:nvSpPr>
        <p:spPr>
          <a:xfrm>
            <a:off x="4531157" y="5142218"/>
            <a:ext cx="2520000" cy="1911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小売・消費財 </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 </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非上場企業</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50" name="Google Shape;850;p16"/>
          <p:cNvSpPr txBox="1"/>
          <p:nvPr/>
        </p:nvSpPr>
        <p:spPr>
          <a:xfrm>
            <a:off x="4531157" y="5432263"/>
            <a:ext cx="252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（全国約</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1,000</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店舗規模）</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51" name="Google Shape;851;p16"/>
          <p:cNvSpPr txBox="1"/>
          <p:nvPr/>
        </p:nvSpPr>
        <p:spPr>
          <a:xfrm>
            <a:off x="4531157" y="5955953"/>
            <a:ext cx="2898643"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工場ライン配置、保守員巡回ルート</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52" name="Google Shape;852;p16"/>
          <p:cNvSpPr txBox="1"/>
          <p:nvPr/>
        </p:nvSpPr>
        <p:spPr>
          <a:xfrm>
            <a:off x="4529371" y="6217798"/>
            <a:ext cx="1080000" cy="1527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数理最適化</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53" name="Google Shape;853;p16"/>
          <p:cNvSpPr txBox="1"/>
          <p:nvPr/>
        </p:nvSpPr>
        <p:spPr>
          <a:xfrm>
            <a:off x="5653135" y="6217798"/>
            <a:ext cx="1080000" cy="1527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#LLM</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54" name="Google Shape;854;p16"/>
          <p:cNvSpPr txBox="1"/>
          <p:nvPr/>
        </p:nvSpPr>
        <p:spPr>
          <a:xfrm>
            <a:off x="6320161" y="6217798"/>
            <a:ext cx="1080000" cy="1527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#UX</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設計</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55" name="Google Shape;855;p16"/>
          <p:cNvSpPr/>
          <p:nvPr/>
        </p:nvSpPr>
        <p:spPr>
          <a:xfrm>
            <a:off x="8090002" y="4352574"/>
            <a:ext cx="3534300" cy="2124300"/>
          </a:xfrm>
          <a:prstGeom prst="roundRect">
            <a:avLst>
              <a:gd name="adj" fmla="val 1544"/>
            </a:avLst>
          </a:prstGeom>
          <a:solidFill>
            <a:srgbClr val="D8D8D8"/>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56" name="Google Shape;856;p16"/>
          <p:cNvSpPr/>
          <p:nvPr/>
        </p:nvSpPr>
        <p:spPr>
          <a:xfrm>
            <a:off x="8290255" y="4858237"/>
            <a:ext cx="3133500" cy="9000"/>
          </a:xfrm>
          <a:prstGeom prst="rect">
            <a:avLst/>
          </a:prstGeom>
          <a:solidFill>
            <a:schemeClr val="dk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57" name="Google Shape;857;p16"/>
          <p:cNvSpPr txBox="1"/>
          <p:nvPr/>
        </p:nvSpPr>
        <p:spPr>
          <a:xfrm>
            <a:off x="8557260" y="4552828"/>
            <a:ext cx="7344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導入成果</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58" name="Google Shape;858;p16"/>
          <p:cNvSpPr txBox="1"/>
          <p:nvPr/>
        </p:nvSpPr>
        <p:spPr>
          <a:xfrm>
            <a:off x="8480451" y="4990825"/>
            <a:ext cx="2520000" cy="1911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シフト作成工数削減</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59" name="Google Shape;859;p16"/>
          <p:cNvSpPr txBox="1"/>
          <p:nvPr/>
        </p:nvSpPr>
        <p:spPr>
          <a:xfrm>
            <a:off x="8480451" y="5280690"/>
            <a:ext cx="2520000" cy="1911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労基法違反リスクのゼロ化支援</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60" name="Google Shape;860;p16"/>
          <p:cNvSpPr txBox="1"/>
          <p:nvPr/>
        </p:nvSpPr>
        <p:spPr>
          <a:xfrm>
            <a:off x="8480451" y="5569639"/>
            <a:ext cx="2520000" cy="386313"/>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人員過不足の早期検知による店舗運営安定化</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61" name="Google Shape;861;p16"/>
          <p:cNvSpPr txBox="1"/>
          <p:nvPr/>
        </p:nvSpPr>
        <p:spPr>
          <a:xfrm>
            <a:off x="2495669" y="1762079"/>
            <a:ext cx="162900" cy="1719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endParaRPr kumimoji="0"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62" name="Google Shape;862;p16"/>
          <p:cNvSpPr txBox="1"/>
          <p:nvPr/>
        </p:nvSpPr>
        <p:spPr>
          <a:xfrm>
            <a:off x="10287271" y="1762079"/>
            <a:ext cx="162900" cy="1719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endParaRPr kumimoji="0"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863" name="Google Shape;863;p16" descr="preencoded.png"/>
          <p:cNvPicPr preferRelativeResize="0"/>
          <p:nvPr/>
        </p:nvPicPr>
        <p:blipFill rotWithShape="1">
          <a:blip r:embed="rId3">
            <a:alphaModFix/>
          </a:blip>
          <a:srcRect l="-90" r="-90"/>
          <a:stretch/>
        </p:blipFill>
        <p:spPr>
          <a:xfrm>
            <a:off x="2010156" y="1961418"/>
            <a:ext cx="381305" cy="304495"/>
          </a:xfrm>
          <a:prstGeom prst="rect">
            <a:avLst/>
          </a:prstGeom>
          <a:noFill/>
          <a:ln>
            <a:noFill/>
          </a:ln>
        </p:spPr>
      </p:pic>
      <p:sp>
        <p:nvSpPr>
          <p:cNvPr id="864" name="Google Shape;864;p16"/>
          <p:cNvSpPr txBox="1"/>
          <p:nvPr/>
        </p:nvSpPr>
        <p:spPr>
          <a:xfrm>
            <a:off x="1686459" y="2647218"/>
            <a:ext cx="1157700" cy="2478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自然言語入力</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65" name="Google Shape;865;p16"/>
          <p:cNvSpPr/>
          <p:nvPr/>
        </p:nvSpPr>
        <p:spPr>
          <a:xfrm>
            <a:off x="867156" y="2980974"/>
            <a:ext cx="2667300" cy="791100"/>
          </a:xfrm>
          <a:prstGeom prst="roundRect">
            <a:avLst>
              <a:gd name="adj" fmla="val 8357"/>
            </a:avLst>
          </a:prstGeom>
          <a:solidFill>
            <a:srgbClr val="FFFFFF"/>
          </a:solidFill>
          <a:ln>
            <a:noFill/>
          </a:ln>
          <a:effectLst>
            <a:outerShdw blurRad="25400" dist="127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66" name="Google Shape;866;p16"/>
          <p:cNvSpPr txBox="1"/>
          <p:nvPr/>
        </p:nvSpPr>
        <p:spPr>
          <a:xfrm>
            <a:off x="950406" y="3076072"/>
            <a:ext cx="2500800" cy="5907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店長が「</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さんは来週火曜休み」</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B</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さんは午前中のみ」等の</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制約条件をチャット感覚で入力</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867" name="Google Shape;867;p16" descr="preencoded.png"/>
          <p:cNvPicPr preferRelativeResize="0"/>
          <p:nvPr/>
        </p:nvPicPr>
        <p:blipFill rotWithShape="1">
          <a:blip r:embed="rId4">
            <a:alphaModFix/>
          </a:blip>
          <a:srcRect/>
          <a:stretch/>
        </p:blipFill>
        <p:spPr>
          <a:xfrm>
            <a:off x="5943905" y="1961418"/>
            <a:ext cx="304495" cy="304495"/>
          </a:xfrm>
          <a:prstGeom prst="rect">
            <a:avLst/>
          </a:prstGeom>
          <a:noFill/>
          <a:ln>
            <a:noFill/>
          </a:ln>
        </p:spPr>
      </p:pic>
      <p:sp>
        <p:nvSpPr>
          <p:cNvPr id="868" name="Google Shape;868;p16"/>
          <p:cNvSpPr txBox="1"/>
          <p:nvPr/>
        </p:nvSpPr>
        <p:spPr>
          <a:xfrm>
            <a:off x="5326685" y="2647218"/>
            <a:ext cx="1672500" cy="2478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LLM</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による制約解釈</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69" name="Google Shape;869;p16"/>
          <p:cNvSpPr/>
          <p:nvPr/>
        </p:nvSpPr>
        <p:spPr>
          <a:xfrm>
            <a:off x="4763906" y="2980974"/>
            <a:ext cx="2667300" cy="791100"/>
          </a:xfrm>
          <a:prstGeom prst="roundRect">
            <a:avLst>
              <a:gd name="adj" fmla="val 8357"/>
            </a:avLst>
          </a:prstGeom>
          <a:solidFill>
            <a:srgbClr val="FFFFFF"/>
          </a:solidFill>
          <a:ln>
            <a:noFill/>
          </a:ln>
          <a:effectLst>
            <a:outerShdw blurRad="25400" dist="127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70" name="Google Shape;870;p16"/>
          <p:cNvSpPr txBox="1"/>
          <p:nvPr/>
        </p:nvSpPr>
        <p:spPr>
          <a:xfrm>
            <a:off x="4813706" y="3076072"/>
            <a:ext cx="2567700" cy="5907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曖昧な自然言語を</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LLM</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が解析し、</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最適化エンジンが処理可能な</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「数理パラメータ」に構造化・変換</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871" name="Google Shape;871;p16" descr="preencoded.png"/>
          <p:cNvPicPr preferRelativeResize="0"/>
          <p:nvPr/>
        </p:nvPicPr>
        <p:blipFill rotWithShape="1">
          <a:blip r:embed="rId5">
            <a:alphaModFix/>
          </a:blip>
          <a:srcRect/>
          <a:stretch/>
        </p:blipFill>
        <p:spPr>
          <a:xfrm>
            <a:off x="9839249" y="1961418"/>
            <a:ext cx="304495" cy="304495"/>
          </a:xfrm>
          <a:prstGeom prst="rect">
            <a:avLst/>
          </a:prstGeom>
          <a:noFill/>
          <a:ln>
            <a:noFill/>
          </a:ln>
        </p:spPr>
      </p:pic>
      <p:sp>
        <p:nvSpPr>
          <p:cNvPr id="872" name="Google Shape;872;p16"/>
          <p:cNvSpPr txBox="1"/>
          <p:nvPr/>
        </p:nvSpPr>
        <p:spPr>
          <a:xfrm>
            <a:off x="9220200" y="2647218"/>
            <a:ext cx="1672500" cy="2478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最適化＆シフト生成</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73" name="Google Shape;873;p16"/>
          <p:cNvSpPr/>
          <p:nvPr/>
        </p:nvSpPr>
        <p:spPr>
          <a:xfrm>
            <a:off x="8658793" y="2980974"/>
            <a:ext cx="2667300" cy="791100"/>
          </a:xfrm>
          <a:prstGeom prst="roundRect">
            <a:avLst>
              <a:gd name="adj" fmla="val 8357"/>
            </a:avLst>
          </a:prstGeom>
          <a:solidFill>
            <a:srgbClr val="FFFFFF"/>
          </a:solidFill>
          <a:ln>
            <a:noFill/>
          </a:ln>
          <a:effectLst>
            <a:outerShdw blurRad="25400" dist="127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74" name="Google Shape;874;p16"/>
          <p:cNvSpPr txBox="1"/>
          <p:nvPr/>
        </p:nvSpPr>
        <p:spPr>
          <a:xfrm>
            <a:off x="8708593" y="3076072"/>
            <a:ext cx="2567700" cy="5907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変換された制約と基本ルール</a:t>
            </a:r>
            <a:b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b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（労基法等）を基に、数理最適化モデルが最適なシフト表を自動生成</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875" name="Google Shape;875;p16" descr="preencoded.png"/>
          <p:cNvPicPr preferRelativeResize="0"/>
          <p:nvPr/>
        </p:nvPicPr>
        <p:blipFill rotWithShape="1">
          <a:blip r:embed="rId6">
            <a:alphaModFix/>
          </a:blip>
          <a:srcRect t="-80" b="-80"/>
          <a:stretch/>
        </p:blipFill>
        <p:spPr>
          <a:xfrm>
            <a:off x="4076700" y="2638074"/>
            <a:ext cx="142646" cy="228600"/>
          </a:xfrm>
          <a:prstGeom prst="rect">
            <a:avLst/>
          </a:prstGeom>
          <a:noFill/>
          <a:ln>
            <a:noFill/>
          </a:ln>
        </p:spPr>
      </p:pic>
      <p:pic>
        <p:nvPicPr>
          <p:cNvPr id="876" name="Google Shape;876;p16" descr="preencoded.png"/>
          <p:cNvPicPr preferRelativeResize="0"/>
          <p:nvPr/>
        </p:nvPicPr>
        <p:blipFill rotWithShape="1">
          <a:blip r:embed="rId6">
            <a:alphaModFix/>
          </a:blip>
          <a:srcRect t="-80" b="-80"/>
          <a:stretch/>
        </p:blipFill>
        <p:spPr>
          <a:xfrm>
            <a:off x="7972959" y="2638074"/>
            <a:ext cx="142646" cy="228600"/>
          </a:xfrm>
          <a:prstGeom prst="rect">
            <a:avLst/>
          </a:prstGeom>
          <a:noFill/>
          <a:ln>
            <a:noFill/>
          </a:ln>
        </p:spPr>
      </p:pic>
      <p:sp>
        <p:nvSpPr>
          <p:cNvPr id="877" name="Google Shape;877;p16"/>
          <p:cNvSpPr/>
          <p:nvPr/>
        </p:nvSpPr>
        <p:spPr>
          <a:xfrm>
            <a:off x="1819961" y="1732818"/>
            <a:ext cx="761700" cy="761700"/>
          </a:xfrm>
          <a:prstGeom prst="ellipse">
            <a:avLst/>
          </a:prstGeom>
          <a:solidFill>
            <a:srgbClr val="FFFFFF"/>
          </a:solidFill>
          <a:ln w="25400" cap="flat" cmpd="sng">
            <a:solidFill>
              <a:schemeClr val="dk2"/>
            </a:solidFill>
            <a:prstDash val="solid"/>
            <a:round/>
            <a:headEnd type="none" w="sm" len="sm"/>
            <a:tailEnd type="none" w="sm" len="sm"/>
          </a:ln>
          <a:effectLst>
            <a:outerShdw blurRad="63500" dist="381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78" name="Google Shape;878;p16"/>
          <p:cNvSpPr/>
          <p:nvPr/>
        </p:nvSpPr>
        <p:spPr>
          <a:xfrm>
            <a:off x="5715305" y="1732818"/>
            <a:ext cx="761700" cy="761700"/>
          </a:xfrm>
          <a:prstGeom prst="ellipse">
            <a:avLst/>
          </a:prstGeom>
          <a:solidFill>
            <a:srgbClr val="FFFFFF"/>
          </a:solidFill>
          <a:ln w="25400" cap="flat" cmpd="sng">
            <a:solidFill>
              <a:schemeClr val="dk2"/>
            </a:solidFill>
            <a:prstDash val="solid"/>
            <a:round/>
            <a:headEnd type="none" w="sm" len="sm"/>
            <a:tailEnd type="none" w="sm" len="sm"/>
          </a:ln>
          <a:effectLst>
            <a:outerShdw blurRad="63500" dist="381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79" name="Google Shape;879;p16"/>
          <p:cNvSpPr/>
          <p:nvPr/>
        </p:nvSpPr>
        <p:spPr>
          <a:xfrm>
            <a:off x="9610649" y="1732818"/>
            <a:ext cx="761700" cy="761700"/>
          </a:xfrm>
          <a:prstGeom prst="ellipse">
            <a:avLst/>
          </a:prstGeom>
          <a:solidFill>
            <a:srgbClr val="FFFFFF"/>
          </a:solidFill>
          <a:ln w="25400" cap="flat" cmpd="sng">
            <a:solidFill>
              <a:schemeClr val="dk2"/>
            </a:solidFill>
            <a:prstDash val="solid"/>
            <a:round/>
            <a:headEnd type="none" w="sm" len="sm"/>
            <a:tailEnd type="none" w="sm" len="sm"/>
          </a:ln>
          <a:effectLst>
            <a:outerShdw blurRad="63500" dist="381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880" name="Google Shape;880;p16" descr="建物 単色塗りつぶし"/>
          <p:cNvPicPr preferRelativeResize="0"/>
          <p:nvPr/>
        </p:nvPicPr>
        <p:blipFill rotWithShape="1">
          <a:blip r:embed="rId7">
            <a:alphaModFix/>
          </a:blip>
          <a:srcRect/>
          <a:stretch/>
        </p:blipFill>
        <p:spPr>
          <a:xfrm>
            <a:off x="4450690" y="4527224"/>
            <a:ext cx="242316" cy="242316"/>
          </a:xfrm>
          <a:prstGeom prst="rect">
            <a:avLst/>
          </a:prstGeom>
          <a:noFill/>
          <a:ln>
            <a:noFill/>
          </a:ln>
        </p:spPr>
      </p:pic>
      <p:pic>
        <p:nvPicPr>
          <p:cNvPr id="881" name="Google Shape;881;p16" descr="右向き指示マーク 単色塗りつぶし"/>
          <p:cNvPicPr preferRelativeResize="0"/>
          <p:nvPr/>
        </p:nvPicPr>
        <p:blipFill rotWithShape="1">
          <a:blip r:embed="rId8">
            <a:alphaModFix/>
          </a:blip>
          <a:srcRect/>
          <a:stretch/>
        </p:blipFill>
        <p:spPr>
          <a:xfrm>
            <a:off x="703479" y="4526085"/>
            <a:ext cx="242316" cy="242316"/>
          </a:xfrm>
          <a:prstGeom prst="rect">
            <a:avLst/>
          </a:prstGeom>
          <a:noFill/>
          <a:ln>
            <a:noFill/>
          </a:ln>
        </p:spPr>
      </p:pic>
      <p:pic>
        <p:nvPicPr>
          <p:cNvPr id="882" name="Google Shape;882;p16" descr="トロフィー 単色塗りつぶし"/>
          <p:cNvPicPr preferRelativeResize="0"/>
          <p:nvPr/>
        </p:nvPicPr>
        <p:blipFill rotWithShape="1">
          <a:blip r:embed="rId9">
            <a:alphaModFix/>
          </a:blip>
          <a:srcRect/>
          <a:stretch/>
        </p:blipFill>
        <p:spPr>
          <a:xfrm>
            <a:off x="8238135" y="4526061"/>
            <a:ext cx="242316" cy="242316"/>
          </a:xfrm>
          <a:prstGeom prst="rect">
            <a:avLst/>
          </a:prstGeom>
          <a:noFill/>
          <a:ln>
            <a:noFill/>
          </a:ln>
        </p:spPr>
      </p:pic>
      <p:pic>
        <p:nvPicPr>
          <p:cNvPr id="883" name="Google Shape;883;p16" descr="チャット 単色塗りつぶし"/>
          <p:cNvPicPr preferRelativeResize="0"/>
          <p:nvPr/>
        </p:nvPicPr>
        <p:blipFill rotWithShape="1">
          <a:blip r:embed="rId10">
            <a:alphaModFix/>
          </a:blip>
          <a:srcRect/>
          <a:stretch/>
        </p:blipFill>
        <p:spPr>
          <a:xfrm>
            <a:off x="1945325" y="1842177"/>
            <a:ext cx="563821" cy="563821"/>
          </a:xfrm>
          <a:prstGeom prst="rect">
            <a:avLst/>
          </a:prstGeom>
          <a:noFill/>
          <a:ln>
            <a:noFill/>
          </a:ln>
        </p:spPr>
      </p:pic>
      <p:pic>
        <p:nvPicPr>
          <p:cNvPr id="884" name="Google Shape;884;p16" descr="左脳 単色塗りつぶし"/>
          <p:cNvPicPr preferRelativeResize="0"/>
          <p:nvPr/>
        </p:nvPicPr>
        <p:blipFill rotWithShape="1">
          <a:blip r:embed="rId11">
            <a:alphaModFix/>
          </a:blip>
          <a:srcRect/>
          <a:stretch/>
        </p:blipFill>
        <p:spPr>
          <a:xfrm>
            <a:off x="5828106" y="1842412"/>
            <a:ext cx="563821" cy="563821"/>
          </a:xfrm>
          <a:prstGeom prst="rect">
            <a:avLst/>
          </a:prstGeom>
          <a:noFill/>
          <a:ln>
            <a:noFill/>
          </a:ln>
        </p:spPr>
      </p:pic>
      <p:pic>
        <p:nvPicPr>
          <p:cNvPr id="885" name="Google Shape;885;p16" descr="フリップ式カレンダー 単色塗りつぶし"/>
          <p:cNvPicPr preferRelativeResize="0"/>
          <p:nvPr/>
        </p:nvPicPr>
        <p:blipFill rotWithShape="1">
          <a:blip r:embed="rId12">
            <a:alphaModFix/>
          </a:blip>
          <a:srcRect/>
          <a:stretch/>
        </p:blipFill>
        <p:spPr>
          <a:xfrm>
            <a:off x="9718794" y="1813378"/>
            <a:ext cx="563821" cy="563821"/>
          </a:xfrm>
          <a:prstGeom prst="rect">
            <a:avLst/>
          </a:prstGeom>
          <a:noFill/>
          <a:ln>
            <a:noFill/>
          </a:ln>
        </p:spPr>
      </p:pic>
      <p:sp>
        <p:nvSpPr>
          <p:cNvPr id="886" name="Google Shape;886;p16"/>
          <p:cNvSpPr txBox="1">
            <a:spLocks noGrp="1"/>
          </p:cNvSpPr>
          <p:nvPr>
            <p:ph type="ftr" idx="11"/>
          </p:nvPr>
        </p:nvSpPr>
        <p:spPr>
          <a:xfrm>
            <a:off x="9687698" y="6514831"/>
            <a:ext cx="2109696" cy="216000"/>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ja-JP" sz="1000" b="0" i="0" u="none" strike="noStrike" kern="0" cap="none" spc="0" normalizeH="0" baseline="0" noProof="0">
                <a:ln>
                  <a:noFill/>
                </a:ln>
                <a:solidFill>
                  <a:srgbClr val="BFBFBF"/>
                </a:solidFill>
                <a:effectLst/>
                <a:uLnTx/>
                <a:uFillTx/>
                <a:latin typeface="Arial"/>
                <a:ea typeface="Arial"/>
                <a:cs typeface="Arial"/>
                <a:sym typeface="Arial"/>
              </a:rPr>
              <a:t>©️ 2026 Boost Consulting, Inc.</a:t>
            </a:r>
            <a:endParaRPr kumimoji="0" sz="1000" b="0" i="0" u="none" strike="noStrike" kern="0" cap="none" spc="0" normalizeH="0" baseline="0" noProof="0">
              <a:ln>
                <a:noFill/>
              </a:ln>
              <a:solidFill>
                <a:srgbClr val="BFBFBF"/>
              </a:solidFill>
              <a:effectLst/>
              <a:uLnTx/>
              <a:uFillTx/>
              <a:latin typeface="Arial"/>
              <a:ea typeface="Arial"/>
              <a:cs typeface="Arial"/>
              <a:sym typeface="Arial"/>
            </a:endParaRPr>
          </a:p>
        </p:txBody>
      </p:sp>
    </p:spTree>
    <p:extLst>
      <p:ext uri="{BB962C8B-B14F-4D97-AF65-F5344CB8AC3E}">
        <p14:creationId xmlns:p14="http://schemas.microsoft.com/office/powerpoint/2010/main" val="2210041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p17"/>
          <p:cNvSpPr txBox="1">
            <a:spLocks noGrp="1"/>
          </p:cNvSpPr>
          <p:nvPr>
            <p:ph type="title"/>
          </p:nvPr>
        </p:nvSpPr>
        <p:spPr>
          <a:xfrm>
            <a:off x="340659" y="658641"/>
            <a:ext cx="11520000" cy="88803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Font typeface="Arial"/>
              <a:buNone/>
            </a:pPr>
            <a:r>
              <a:rPr lang="ja-JP">
                <a:sym typeface="Arial"/>
              </a:rPr>
              <a:t>05_需給予測（特徴補完×精度向上）</a:t>
            </a:r>
            <a:br>
              <a:rPr lang="ja-JP">
                <a:sym typeface="Arial"/>
              </a:rPr>
            </a:br>
            <a:r>
              <a:rPr lang="ja-JP">
                <a:sym typeface="Arial"/>
              </a:rPr>
              <a:t>新規商品などデータ希薄領域においてLLMによる特徴量補完を行い予測精度を向上</a:t>
            </a:r>
            <a:endParaRPr/>
          </a:p>
        </p:txBody>
      </p:sp>
      <p:sp>
        <p:nvSpPr>
          <p:cNvPr id="892" name="Google Shape;892;p17"/>
          <p:cNvSpPr txBox="1">
            <a:spLocks noGrp="1"/>
          </p:cNvSpPr>
          <p:nvPr>
            <p:ph type="body" idx="3"/>
          </p:nvPr>
        </p:nvSpPr>
        <p:spPr>
          <a:xfrm>
            <a:off x="340306" y="233891"/>
            <a:ext cx="11520000" cy="258947"/>
          </a:xfrm>
          <a:prstGeom prst="rect">
            <a:avLst/>
          </a:prstGeom>
          <a:noFill/>
          <a:ln>
            <a:noFill/>
          </a:ln>
        </p:spPr>
        <p:txBody>
          <a:bodyPr spcFirstLastPara="1" wrap="square" lIns="91425" tIns="45700" rIns="91425" bIns="45700" anchor="ctr" anchorCtr="0">
            <a:noAutofit/>
          </a:bodyPr>
          <a:lstStyle/>
          <a:p>
            <a:pPr marL="228600" lvl="0" indent="-228600" algn="l" rtl="0">
              <a:lnSpc>
                <a:spcPct val="100000"/>
              </a:lnSpc>
              <a:spcBef>
                <a:spcPts val="0"/>
              </a:spcBef>
              <a:spcAft>
                <a:spcPts val="0"/>
              </a:spcAft>
              <a:buClr>
                <a:srgbClr val="2D5A42"/>
              </a:buClr>
              <a:buSzPts val="1400"/>
              <a:buNone/>
            </a:pPr>
            <a:r>
              <a:rPr lang="ja-JP"/>
              <a:t>予測：弊社事例紹介</a:t>
            </a:r>
            <a:endParaRPr/>
          </a:p>
        </p:txBody>
      </p:sp>
      <p:sp>
        <p:nvSpPr>
          <p:cNvPr id="893" name="Google Shape;893;p17"/>
          <p:cNvSpPr/>
          <p:nvPr/>
        </p:nvSpPr>
        <p:spPr>
          <a:xfrm>
            <a:off x="588278" y="1373625"/>
            <a:ext cx="4553700" cy="1904700"/>
          </a:xfrm>
          <a:prstGeom prst="roundRect">
            <a:avLst>
              <a:gd name="adj" fmla="val 2880"/>
            </a:avLst>
          </a:prstGeom>
          <a:solidFill>
            <a:srgbClr val="F2F2F2"/>
          </a:solidFill>
          <a:ln w="12700" cap="flat" cmpd="sng">
            <a:solidFill>
              <a:srgbClr val="F2F2F2"/>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94" name="Google Shape;894;p17"/>
          <p:cNvSpPr txBox="1"/>
          <p:nvPr/>
        </p:nvSpPr>
        <p:spPr>
          <a:xfrm>
            <a:off x="772555" y="1613989"/>
            <a:ext cx="3083828" cy="246833"/>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ja-JP" altLang="en-US" sz="1400" b="0" i="0" u="sng"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取り組み内容</a:t>
            </a:r>
            <a:r>
              <a:rPr kumimoji="0" lang="en-US" altLang="ja-JP" sz="1400" b="0" i="0" u="sng"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 LLM</a:t>
            </a:r>
            <a:r>
              <a:rPr kumimoji="0" lang="ja-JP" altLang="en-US" sz="1400" b="0" i="0" u="sng"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による「特徴量生成」</a:t>
            </a:r>
            <a:endParaRPr kumimoji="0" sz="1400" b="0" i="0" u="sng"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95" name="Google Shape;895;p17"/>
          <p:cNvSpPr txBox="1"/>
          <p:nvPr/>
        </p:nvSpPr>
        <p:spPr>
          <a:xfrm>
            <a:off x="788532" y="2070398"/>
            <a:ext cx="4326000" cy="8385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過去実績のない新規景品や新商品は、従来の手法では予測が困難でした。</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そこで、商品画像や説明文から</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LLM</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が「カテゴリー」「ターゲット層」「感性評価」などの特徴量を生成・補完。これを需要予測モデルに投入することで、精度の向上を実現しました。</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96" name="Google Shape;896;p17"/>
          <p:cNvSpPr/>
          <p:nvPr/>
        </p:nvSpPr>
        <p:spPr>
          <a:xfrm>
            <a:off x="5397108" y="1373625"/>
            <a:ext cx="3495900" cy="1904700"/>
          </a:xfrm>
          <a:prstGeom prst="roundRect">
            <a:avLst>
              <a:gd name="adj" fmla="val 2880"/>
            </a:avLst>
          </a:prstGeom>
          <a:solidFill>
            <a:srgbClr val="D8D8D8"/>
          </a:solidFill>
          <a:ln w="12700" cap="flat" cmpd="sng">
            <a:solidFill>
              <a:srgbClr val="F2F2F2"/>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97" name="Google Shape;897;p17"/>
          <p:cNvSpPr txBox="1"/>
          <p:nvPr/>
        </p:nvSpPr>
        <p:spPr>
          <a:xfrm>
            <a:off x="5577841" y="1613989"/>
            <a:ext cx="1117500" cy="213056"/>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ja-JP" altLang="en-US" sz="1400" b="0" i="0" u="sng"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運用のポイント</a:t>
            </a:r>
            <a:endParaRPr kumimoji="0" sz="1400" b="0" i="0" u="sng"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98" name="Google Shape;898;p17"/>
          <p:cNvSpPr txBox="1"/>
          <p:nvPr/>
        </p:nvSpPr>
        <p:spPr>
          <a:xfrm>
            <a:off x="5597361" y="2042051"/>
            <a:ext cx="3188400" cy="3723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Human-in-the-Loop: </a:t>
            </a:r>
            <a:b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b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最終判断は人間が実施。要因などの定性情報を補正可能に。</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899" name="Google Shape;899;p17"/>
          <p:cNvSpPr txBox="1"/>
          <p:nvPr/>
        </p:nvSpPr>
        <p:spPr>
          <a:xfrm>
            <a:off x="5577841" y="2616020"/>
            <a:ext cx="3188400" cy="3723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Excel</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連携</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UX: Excel</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上でパラメータ修正→再最適化が走るシームレスな操作性。</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00" name="Google Shape;900;p17"/>
          <p:cNvSpPr/>
          <p:nvPr/>
        </p:nvSpPr>
        <p:spPr>
          <a:xfrm>
            <a:off x="9175408" y="1373625"/>
            <a:ext cx="2467200" cy="1904700"/>
          </a:xfrm>
          <a:prstGeom prst="roundRect">
            <a:avLst>
              <a:gd name="adj" fmla="val 2880"/>
            </a:avLst>
          </a:prstGeom>
          <a:noFill/>
          <a:ln w="12700" cap="flat" cmpd="sng">
            <a:solidFill>
              <a:srgbClr val="F2F2F2"/>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01" name="Google Shape;901;p17"/>
          <p:cNvSpPr txBox="1"/>
          <p:nvPr/>
        </p:nvSpPr>
        <p:spPr>
          <a:xfrm>
            <a:off x="9352833" y="1613989"/>
            <a:ext cx="2146200" cy="119045"/>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CLIENT / INDUSTRY</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02" name="Google Shape;902;p17"/>
          <p:cNvSpPr txBox="1"/>
          <p:nvPr/>
        </p:nvSpPr>
        <p:spPr>
          <a:xfrm>
            <a:off x="9352833" y="2095129"/>
            <a:ext cx="2154024" cy="2004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売上高</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1000</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億円程度</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03" name="Google Shape;903;p17"/>
          <p:cNvSpPr txBox="1"/>
          <p:nvPr/>
        </p:nvSpPr>
        <p:spPr>
          <a:xfrm>
            <a:off x="9352833" y="2418674"/>
            <a:ext cx="1570634" cy="17557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TECH STACK</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04" name="Google Shape;904;p17"/>
          <p:cNvSpPr txBox="1"/>
          <p:nvPr/>
        </p:nvSpPr>
        <p:spPr>
          <a:xfrm>
            <a:off x="9352833" y="1856179"/>
            <a:ext cx="2235884" cy="115805"/>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小売・消費財 </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 </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上場企業</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05" name="Google Shape;905;p17"/>
          <p:cNvSpPr/>
          <p:nvPr/>
        </p:nvSpPr>
        <p:spPr>
          <a:xfrm>
            <a:off x="9375662" y="2878727"/>
            <a:ext cx="685800" cy="200400"/>
          </a:xfrm>
          <a:prstGeom prst="roundRect">
            <a:avLst>
              <a:gd name="adj" fmla="val 217438"/>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06" name="Google Shape;906;p17"/>
          <p:cNvSpPr/>
          <p:nvPr/>
        </p:nvSpPr>
        <p:spPr>
          <a:xfrm>
            <a:off x="10114497" y="2878727"/>
            <a:ext cx="390300" cy="200400"/>
          </a:xfrm>
          <a:prstGeom prst="roundRect">
            <a:avLst>
              <a:gd name="adj" fmla="val 217438"/>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07" name="Google Shape;907;p17"/>
          <p:cNvSpPr/>
          <p:nvPr/>
        </p:nvSpPr>
        <p:spPr>
          <a:xfrm>
            <a:off x="10557981" y="2878727"/>
            <a:ext cx="629100" cy="200400"/>
          </a:xfrm>
          <a:prstGeom prst="roundRect">
            <a:avLst>
              <a:gd name="adj" fmla="val 217438"/>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08" name="Google Shape;908;p17"/>
          <p:cNvSpPr txBox="1"/>
          <p:nvPr/>
        </p:nvSpPr>
        <p:spPr>
          <a:xfrm>
            <a:off x="9352833" y="2717389"/>
            <a:ext cx="1106419" cy="172047"/>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予測モデル</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09" name="Google Shape;909;p17"/>
          <p:cNvSpPr txBox="1"/>
          <p:nvPr/>
        </p:nvSpPr>
        <p:spPr>
          <a:xfrm>
            <a:off x="9352833" y="3012583"/>
            <a:ext cx="596805" cy="220505"/>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#LLM</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10" name="Google Shape;910;p17"/>
          <p:cNvSpPr txBox="1"/>
          <p:nvPr/>
        </p:nvSpPr>
        <p:spPr>
          <a:xfrm>
            <a:off x="10409008" y="2717389"/>
            <a:ext cx="1061621" cy="1437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#Excel</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連携</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11" name="Google Shape;911;p17"/>
          <p:cNvSpPr/>
          <p:nvPr/>
        </p:nvSpPr>
        <p:spPr>
          <a:xfrm>
            <a:off x="588278" y="3424540"/>
            <a:ext cx="3534300" cy="3055635"/>
          </a:xfrm>
          <a:prstGeom prst="roundRect">
            <a:avLst>
              <a:gd name="adj" fmla="val 1051"/>
            </a:avLst>
          </a:prstGeom>
          <a:noFill/>
          <a:ln w="12700" cap="flat" cmpd="sng">
            <a:solidFill>
              <a:srgbClr val="F2F2F2"/>
            </a:solidFill>
            <a:prstDash val="solid"/>
            <a:round/>
            <a:headEnd type="none" w="sm" len="sm"/>
            <a:tailEnd type="none" w="sm" len="sm"/>
          </a:ln>
          <a:effectLst>
            <a:outerShdw blurRad="38100" dist="25400" dir="5400000" algn="bl" rotWithShape="0">
              <a:srgbClr val="000000">
                <a:alpha val="1176"/>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12" name="Google Shape;912;p17"/>
          <p:cNvSpPr txBox="1"/>
          <p:nvPr/>
        </p:nvSpPr>
        <p:spPr>
          <a:xfrm>
            <a:off x="788532" y="3624794"/>
            <a:ext cx="1459152" cy="1911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予測精度向上</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13" name="Google Shape;913;p17"/>
          <p:cNvSpPr txBox="1"/>
          <p:nvPr/>
        </p:nvSpPr>
        <p:spPr>
          <a:xfrm>
            <a:off x="788532" y="4034445"/>
            <a:ext cx="1343400" cy="438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US" altLang="ja-JP" sz="2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+18.5%</a:t>
            </a:r>
            <a:endParaRPr kumimoji="0" sz="2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14" name="Google Shape;914;p17"/>
          <p:cNvSpPr/>
          <p:nvPr/>
        </p:nvSpPr>
        <p:spPr>
          <a:xfrm>
            <a:off x="4347376" y="3424540"/>
            <a:ext cx="3534300" cy="3055635"/>
          </a:xfrm>
          <a:prstGeom prst="roundRect">
            <a:avLst>
              <a:gd name="adj" fmla="val 1051"/>
            </a:avLst>
          </a:prstGeom>
          <a:noFill/>
          <a:ln w="12700" cap="flat" cmpd="sng">
            <a:solidFill>
              <a:srgbClr val="F2F2F2"/>
            </a:solidFill>
            <a:prstDash val="solid"/>
            <a:round/>
            <a:headEnd type="none" w="sm" len="sm"/>
            <a:tailEnd type="none" w="sm" len="sm"/>
          </a:ln>
          <a:effectLst>
            <a:outerShdw blurRad="38100" dist="25400" dir="5400000" algn="bl" rotWithShape="0">
              <a:srgbClr val="000000">
                <a:alpha val="1176"/>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15" name="Google Shape;915;p17"/>
          <p:cNvSpPr/>
          <p:nvPr/>
        </p:nvSpPr>
        <p:spPr>
          <a:xfrm>
            <a:off x="8106475" y="3424540"/>
            <a:ext cx="3534300" cy="3055635"/>
          </a:xfrm>
          <a:prstGeom prst="roundRect">
            <a:avLst>
              <a:gd name="adj" fmla="val 1051"/>
            </a:avLst>
          </a:prstGeom>
          <a:noFill/>
          <a:ln w="12700" cap="flat" cmpd="sng">
            <a:solidFill>
              <a:srgbClr val="F2F2F2"/>
            </a:solidFill>
            <a:prstDash val="solid"/>
            <a:round/>
            <a:headEnd type="none" w="sm" len="sm"/>
            <a:tailEnd type="none" w="sm" len="sm"/>
          </a:ln>
          <a:effectLst>
            <a:outerShdw blurRad="38100" dist="25400" dir="5400000" algn="bl" rotWithShape="0">
              <a:srgbClr val="000000">
                <a:alpha val="1176"/>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16" name="Google Shape;916;p17"/>
          <p:cNvSpPr txBox="1"/>
          <p:nvPr/>
        </p:nvSpPr>
        <p:spPr>
          <a:xfrm>
            <a:off x="4547630" y="3624794"/>
            <a:ext cx="1424926" cy="1911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過剰在庫の削減</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17" name="Google Shape;917;p17"/>
          <p:cNvSpPr txBox="1"/>
          <p:nvPr/>
        </p:nvSpPr>
        <p:spPr>
          <a:xfrm>
            <a:off x="8306727" y="3609761"/>
            <a:ext cx="1253705" cy="206133"/>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欠品率改善</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18" name="Google Shape;918;p17"/>
          <p:cNvSpPr txBox="1"/>
          <p:nvPr/>
        </p:nvSpPr>
        <p:spPr>
          <a:xfrm>
            <a:off x="8841652" y="4233784"/>
            <a:ext cx="224100" cy="1911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ja-JP" sz="10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endParaRPr kumimoji="0" sz="10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19" name="Google Shape;919;p17"/>
          <p:cNvSpPr txBox="1"/>
          <p:nvPr/>
        </p:nvSpPr>
        <p:spPr>
          <a:xfrm>
            <a:off x="9145232" y="4233784"/>
            <a:ext cx="804405" cy="1911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1.1%</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20" name="Google Shape;920;p17"/>
          <p:cNvSpPr txBox="1"/>
          <p:nvPr/>
        </p:nvSpPr>
        <p:spPr>
          <a:xfrm>
            <a:off x="8306727" y="6091286"/>
            <a:ext cx="3281989" cy="274874"/>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*主要</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100</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店舗における平均欠品率の推移</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21" name="Google Shape;921;p17"/>
          <p:cNvSpPr/>
          <p:nvPr/>
        </p:nvSpPr>
        <p:spPr>
          <a:xfrm>
            <a:off x="8306728" y="5645276"/>
            <a:ext cx="3133500" cy="75900"/>
          </a:xfrm>
          <a:prstGeom prst="roundRect">
            <a:avLst>
              <a:gd name="adj" fmla="val 602411"/>
            </a:avLst>
          </a:prstGeom>
          <a:solidFill>
            <a:srgbClr val="F1F5F9"/>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22" name="Google Shape;922;p17"/>
          <p:cNvSpPr/>
          <p:nvPr/>
        </p:nvSpPr>
        <p:spPr>
          <a:xfrm>
            <a:off x="8306728" y="5797981"/>
            <a:ext cx="3133500" cy="75900"/>
          </a:xfrm>
          <a:prstGeom prst="roundRect">
            <a:avLst>
              <a:gd name="adj" fmla="val 602411"/>
            </a:avLst>
          </a:prstGeom>
          <a:solidFill>
            <a:srgbClr val="F1F5F9"/>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23" name="Google Shape;923;p17"/>
          <p:cNvSpPr txBox="1"/>
          <p:nvPr/>
        </p:nvSpPr>
        <p:spPr>
          <a:xfrm>
            <a:off x="911976" y="4550389"/>
            <a:ext cx="2600100" cy="132502"/>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従来モデル比 </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(RMSE</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改善率</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24" name="Google Shape;924;p17"/>
          <p:cNvSpPr txBox="1"/>
          <p:nvPr/>
        </p:nvSpPr>
        <p:spPr>
          <a:xfrm>
            <a:off x="4671074" y="4592757"/>
            <a:ext cx="1424926" cy="90133"/>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導入後</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6</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ヶ月推移</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25" name="Google Shape;925;p17"/>
          <p:cNvSpPr txBox="1"/>
          <p:nvPr/>
        </p:nvSpPr>
        <p:spPr>
          <a:xfrm>
            <a:off x="4547630" y="4034445"/>
            <a:ext cx="1276500" cy="438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US" altLang="ja-JP" sz="2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-24.0%</a:t>
            </a:r>
            <a:endParaRPr kumimoji="0" sz="2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26" name="Google Shape;926;p17"/>
          <p:cNvSpPr txBox="1"/>
          <p:nvPr/>
        </p:nvSpPr>
        <p:spPr>
          <a:xfrm>
            <a:off x="8306728" y="4034445"/>
            <a:ext cx="696000" cy="438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US" altLang="ja-JP" sz="2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4.2</a:t>
            </a:r>
            <a:endParaRPr kumimoji="0" sz="2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927" name="Google Shape;927;p17" descr="preencoded.png"/>
          <p:cNvPicPr preferRelativeResize="0"/>
          <p:nvPr/>
        </p:nvPicPr>
        <p:blipFill rotWithShape="1">
          <a:blip r:embed="rId3">
            <a:alphaModFix/>
          </a:blip>
          <a:srcRect l="-2575" r="-2565"/>
          <a:stretch/>
        </p:blipFill>
        <p:spPr>
          <a:xfrm>
            <a:off x="9002587" y="4286819"/>
            <a:ext cx="105156" cy="114300"/>
          </a:xfrm>
          <a:prstGeom prst="rect">
            <a:avLst/>
          </a:prstGeom>
          <a:noFill/>
          <a:ln>
            <a:noFill/>
          </a:ln>
        </p:spPr>
      </p:pic>
      <p:sp>
        <p:nvSpPr>
          <p:cNvPr id="928" name="Google Shape;928;p17"/>
          <p:cNvSpPr txBox="1"/>
          <p:nvPr/>
        </p:nvSpPr>
        <p:spPr>
          <a:xfrm>
            <a:off x="8449375" y="4519990"/>
            <a:ext cx="1612082" cy="171905"/>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機会損失の最小化</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29" name="Google Shape;929;p17"/>
          <p:cNvSpPr txBox="1"/>
          <p:nvPr/>
        </p:nvSpPr>
        <p:spPr>
          <a:xfrm>
            <a:off x="8306728" y="5426726"/>
            <a:ext cx="534924" cy="138078"/>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altLang="ja-JP" sz="10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Before</a:t>
            </a:r>
            <a:endParaRPr kumimoji="0" sz="10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30" name="Google Shape;930;p17"/>
          <p:cNvSpPr txBox="1"/>
          <p:nvPr/>
        </p:nvSpPr>
        <p:spPr>
          <a:xfrm>
            <a:off x="11153157" y="5426336"/>
            <a:ext cx="368705" cy="138468"/>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altLang="ja-JP" sz="10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After</a:t>
            </a:r>
            <a:endParaRPr kumimoji="0" sz="10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931" name="Google Shape;931;p17" descr="下矢印 単色塗りつぶし"/>
          <p:cNvPicPr preferRelativeResize="0"/>
          <p:nvPr/>
        </p:nvPicPr>
        <p:blipFill rotWithShape="1">
          <a:blip r:embed="rId4">
            <a:alphaModFix/>
          </a:blip>
          <a:srcRect/>
          <a:stretch/>
        </p:blipFill>
        <p:spPr>
          <a:xfrm>
            <a:off x="4519829" y="4529842"/>
            <a:ext cx="132502" cy="132502"/>
          </a:xfrm>
          <a:prstGeom prst="rect">
            <a:avLst/>
          </a:prstGeom>
          <a:noFill/>
          <a:ln>
            <a:noFill/>
          </a:ln>
        </p:spPr>
      </p:pic>
      <p:pic>
        <p:nvPicPr>
          <p:cNvPr id="932" name="Google Shape;932;p17" descr="上矢印 単色塗りつぶし"/>
          <p:cNvPicPr preferRelativeResize="0"/>
          <p:nvPr/>
        </p:nvPicPr>
        <p:blipFill rotWithShape="1">
          <a:blip r:embed="rId5">
            <a:alphaModFix/>
          </a:blip>
          <a:srcRect/>
          <a:stretch/>
        </p:blipFill>
        <p:spPr>
          <a:xfrm>
            <a:off x="756969" y="4527675"/>
            <a:ext cx="132502" cy="132502"/>
          </a:xfrm>
          <a:prstGeom prst="rect">
            <a:avLst/>
          </a:prstGeom>
          <a:noFill/>
          <a:ln>
            <a:noFill/>
          </a:ln>
        </p:spPr>
      </p:pic>
      <p:pic>
        <p:nvPicPr>
          <p:cNvPr id="933" name="Google Shape;933;p17" descr="チェック マーク 単色塗りつぶし"/>
          <p:cNvPicPr preferRelativeResize="0"/>
          <p:nvPr/>
        </p:nvPicPr>
        <p:blipFill rotWithShape="1">
          <a:blip r:embed="rId6">
            <a:alphaModFix/>
          </a:blip>
          <a:srcRect/>
          <a:stretch/>
        </p:blipFill>
        <p:spPr>
          <a:xfrm>
            <a:off x="8279387" y="4534639"/>
            <a:ext cx="132502" cy="132502"/>
          </a:xfrm>
          <a:prstGeom prst="rect">
            <a:avLst/>
          </a:prstGeom>
          <a:noFill/>
          <a:ln>
            <a:noFill/>
          </a:ln>
        </p:spPr>
      </p:pic>
      <p:pic>
        <p:nvPicPr>
          <p:cNvPr id="934" name="Google Shape;934;p17"/>
          <p:cNvPicPr preferRelativeResize="0"/>
          <p:nvPr/>
        </p:nvPicPr>
        <p:blipFill rotWithShape="1">
          <a:blip r:embed="rId7">
            <a:alphaModFix/>
          </a:blip>
          <a:srcRect/>
          <a:stretch/>
        </p:blipFill>
        <p:spPr>
          <a:xfrm>
            <a:off x="1038843" y="4770707"/>
            <a:ext cx="2600100" cy="1733400"/>
          </a:xfrm>
          <a:prstGeom prst="rect">
            <a:avLst/>
          </a:prstGeom>
          <a:noFill/>
          <a:ln>
            <a:noFill/>
          </a:ln>
        </p:spPr>
      </p:pic>
      <p:pic>
        <p:nvPicPr>
          <p:cNvPr id="935" name="Google Shape;935;p17"/>
          <p:cNvPicPr preferRelativeResize="0"/>
          <p:nvPr/>
        </p:nvPicPr>
        <p:blipFill rotWithShape="1">
          <a:blip r:embed="rId8">
            <a:alphaModFix/>
          </a:blip>
          <a:srcRect/>
          <a:stretch/>
        </p:blipFill>
        <p:spPr>
          <a:xfrm>
            <a:off x="4342866" y="4592758"/>
            <a:ext cx="3534300" cy="1693500"/>
          </a:xfrm>
          <a:prstGeom prst="rect">
            <a:avLst/>
          </a:prstGeom>
          <a:noFill/>
          <a:ln>
            <a:noFill/>
          </a:ln>
        </p:spPr>
      </p:pic>
      <p:sp>
        <p:nvSpPr>
          <p:cNvPr id="936" name="Google Shape;936;p17"/>
          <p:cNvSpPr/>
          <p:nvPr/>
        </p:nvSpPr>
        <p:spPr>
          <a:xfrm>
            <a:off x="8306726" y="5655082"/>
            <a:ext cx="403199" cy="45719"/>
          </a:xfrm>
          <a:prstGeom prst="roundRect">
            <a:avLst>
              <a:gd name="adj" fmla="val 602411"/>
            </a:avLst>
          </a:prstGeom>
          <a:solidFill>
            <a:schemeClr val="dk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37" name="Google Shape;937;p17"/>
          <p:cNvSpPr/>
          <p:nvPr/>
        </p:nvSpPr>
        <p:spPr>
          <a:xfrm>
            <a:off x="8306728" y="6030080"/>
            <a:ext cx="142500" cy="69000"/>
          </a:xfrm>
          <a:prstGeom prst="roundRect">
            <a:avLst>
              <a:gd name="adj" fmla="val 602411"/>
            </a:avLst>
          </a:prstGeom>
          <a:solidFill>
            <a:schemeClr val="dk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38" name="Google Shape;938;p17"/>
          <p:cNvSpPr txBox="1">
            <a:spLocks noGrp="1"/>
          </p:cNvSpPr>
          <p:nvPr>
            <p:ph type="ftr" idx="11"/>
          </p:nvPr>
        </p:nvSpPr>
        <p:spPr>
          <a:xfrm>
            <a:off x="9687698" y="6514831"/>
            <a:ext cx="2109696" cy="216000"/>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ja-JP" sz="1000" b="0" i="0" u="none" strike="noStrike" kern="0" cap="none" spc="0" normalizeH="0" baseline="0" noProof="0">
                <a:ln>
                  <a:noFill/>
                </a:ln>
                <a:solidFill>
                  <a:srgbClr val="BFBFBF"/>
                </a:solidFill>
                <a:effectLst/>
                <a:uLnTx/>
                <a:uFillTx/>
                <a:latin typeface="Arial"/>
                <a:ea typeface="Arial"/>
                <a:cs typeface="Arial"/>
                <a:sym typeface="Arial"/>
              </a:rPr>
              <a:t>©️ 2026 Boost Consulting, Inc.</a:t>
            </a:r>
            <a:endParaRPr kumimoji="0" sz="1000" b="0" i="0" u="none" strike="noStrike" kern="0" cap="none" spc="0" normalizeH="0" baseline="0" noProof="0">
              <a:ln>
                <a:noFill/>
              </a:ln>
              <a:solidFill>
                <a:srgbClr val="BFBFBF"/>
              </a:solidFill>
              <a:effectLst/>
              <a:uLnTx/>
              <a:uFillTx/>
              <a:latin typeface="Arial"/>
              <a:ea typeface="Arial"/>
              <a:cs typeface="Arial"/>
              <a:sym typeface="Arial"/>
            </a:endParaRPr>
          </a:p>
        </p:txBody>
      </p:sp>
    </p:spTree>
    <p:extLst>
      <p:ext uri="{BB962C8B-B14F-4D97-AF65-F5344CB8AC3E}">
        <p14:creationId xmlns:p14="http://schemas.microsoft.com/office/powerpoint/2010/main" val="3778222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p18"/>
          <p:cNvSpPr txBox="1">
            <a:spLocks noGrp="1"/>
          </p:cNvSpPr>
          <p:nvPr>
            <p:ph type="title"/>
          </p:nvPr>
        </p:nvSpPr>
        <p:spPr>
          <a:xfrm>
            <a:off x="340659" y="658641"/>
            <a:ext cx="11520000" cy="88803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Font typeface="Arial"/>
              <a:buNone/>
            </a:pPr>
            <a:r>
              <a:rPr lang="ja-JP">
                <a:sym typeface="Arial"/>
              </a:rPr>
              <a:t>06_設備保全（画像×LLMによる予兆検知）</a:t>
            </a:r>
            <a:br>
              <a:rPr lang="ja-JP">
                <a:sym typeface="Arial"/>
              </a:rPr>
            </a:br>
            <a:r>
              <a:rPr lang="ja-JP">
                <a:sym typeface="Arial"/>
              </a:rPr>
              <a:t>熟練者の“眼”をAI化し、写真1枚で故障リスクを即座に判定</a:t>
            </a:r>
            <a:endParaRPr/>
          </a:p>
        </p:txBody>
      </p:sp>
      <p:sp>
        <p:nvSpPr>
          <p:cNvPr id="944" name="Google Shape;944;p18"/>
          <p:cNvSpPr txBox="1">
            <a:spLocks noGrp="1"/>
          </p:cNvSpPr>
          <p:nvPr>
            <p:ph type="body" idx="3"/>
          </p:nvPr>
        </p:nvSpPr>
        <p:spPr>
          <a:xfrm>
            <a:off x="340306" y="233891"/>
            <a:ext cx="11520000" cy="258947"/>
          </a:xfrm>
          <a:prstGeom prst="rect">
            <a:avLst/>
          </a:prstGeom>
          <a:noFill/>
          <a:ln>
            <a:noFill/>
          </a:ln>
        </p:spPr>
        <p:txBody>
          <a:bodyPr spcFirstLastPara="1" wrap="square" lIns="91425" tIns="45700" rIns="91425" bIns="45700" anchor="ctr" anchorCtr="0">
            <a:noAutofit/>
          </a:bodyPr>
          <a:lstStyle/>
          <a:p>
            <a:pPr marL="228600" lvl="0" indent="-228600" algn="l" rtl="0">
              <a:lnSpc>
                <a:spcPct val="100000"/>
              </a:lnSpc>
              <a:spcBef>
                <a:spcPts val="0"/>
              </a:spcBef>
              <a:spcAft>
                <a:spcPts val="0"/>
              </a:spcAft>
              <a:buClr>
                <a:srgbClr val="2D5A41"/>
              </a:buClr>
              <a:buSzPts val="1600"/>
              <a:buNone/>
            </a:pPr>
            <a:r>
              <a:rPr lang="ja-JP" sz="1600">
                <a:solidFill>
                  <a:srgbClr val="2D5A41"/>
                </a:solidFill>
              </a:rPr>
              <a:t>弊社事例紹介</a:t>
            </a:r>
            <a:endParaRPr/>
          </a:p>
        </p:txBody>
      </p:sp>
      <p:sp>
        <p:nvSpPr>
          <p:cNvPr id="945" name="Google Shape;945;p18"/>
          <p:cNvSpPr/>
          <p:nvPr/>
        </p:nvSpPr>
        <p:spPr>
          <a:xfrm>
            <a:off x="571500" y="1333195"/>
            <a:ext cx="38400" cy="8001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46" name="Google Shape;946;p18"/>
          <p:cNvSpPr/>
          <p:nvPr/>
        </p:nvSpPr>
        <p:spPr>
          <a:xfrm>
            <a:off x="6381598" y="1333195"/>
            <a:ext cx="38400" cy="8001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47" name="Google Shape;947;p18"/>
          <p:cNvSpPr/>
          <p:nvPr/>
        </p:nvSpPr>
        <p:spPr>
          <a:xfrm>
            <a:off x="571500" y="1508247"/>
            <a:ext cx="3562500" cy="794700"/>
          </a:xfrm>
          <a:prstGeom prst="rect">
            <a:avLst/>
          </a:prstGeom>
          <a:noFill/>
          <a:ln>
            <a:noFill/>
          </a:ln>
          <a:effectLst>
            <a:outerShdw blurRad="38100" dist="254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48" name="Google Shape;948;p18"/>
          <p:cNvSpPr/>
          <p:nvPr/>
        </p:nvSpPr>
        <p:spPr>
          <a:xfrm>
            <a:off x="571500" y="1508247"/>
            <a:ext cx="45600" cy="794700"/>
          </a:xfrm>
          <a:prstGeom prst="rect">
            <a:avLst/>
          </a:prstGeom>
          <a:solidFill>
            <a:srgbClr val="2D5A4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49" name="Google Shape;949;p18"/>
          <p:cNvSpPr/>
          <p:nvPr/>
        </p:nvSpPr>
        <p:spPr>
          <a:xfrm>
            <a:off x="8064094" y="1508247"/>
            <a:ext cx="3562500" cy="794700"/>
          </a:xfrm>
          <a:prstGeom prst="rect">
            <a:avLst/>
          </a:prstGeom>
          <a:noFill/>
          <a:ln>
            <a:noFill/>
          </a:ln>
          <a:effectLst>
            <a:outerShdw blurRad="38100" dist="254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50" name="Google Shape;950;p18"/>
          <p:cNvSpPr/>
          <p:nvPr/>
        </p:nvSpPr>
        <p:spPr>
          <a:xfrm>
            <a:off x="8064094" y="1508247"/>
            <a:ext cx="45600" cy="794700"/>
          </a:xfrm>
          <a:prstGeom prst="rect">
            <a:avLst/>
          </a:prstGeom>
          <a:solidFill>
            <a:srgbClr val="2D5A4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51" name="Google Shape;951;p18"/>
          <p:cNvSpPr/>
          <p:nvPr/>
        </p:nvSpPr>
        <p:spPr>
          <a:xfrm>
            <a:off x="800100" y="1680735"/>
            <a:ext cx="457200" cy="457200"/>
          </a:xfrm>
          <a:prstGeom prst="ellipse">
            <a:avLst/>
          </a:prstGeom>
          <a:solidFill>
            <a:srgbClr val="FFFFF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52" name="Google Shape;952;p18"/>
          <p:cNvSpPr/>
          <p:nvPr/>
        </p:nvSpPr>
        <p:spPr>
          <a:xfrm>
            <a:off x="4317797" y="1508247"/>
            <a:ext cx="3562500" cy="794700"/>
          </a:xfrm>
          <a:prstGeom prst="rect">
            <a:avLst/>
          </a:prstGeom>
          <a:noFill/>
          <a:ln>
            <a:noFill/>
          </a:ln>
          <a:effectLst>
            <a:outerShdw blurRad="38100" dist="254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53" name="Google Shape;953;p18"/>
          <p:cNvSpPr/>
          <p:nvPr/>
        </p:nvSpPr>
        <p:spPr>
          <a:xfrm>
            <a:off x="4317797" y="1508247"/>
            <a:ext cx="45600" cy="794700"/>
          </a:xfrm>
          <a:prstGeom prst="rect">
            <a:avLst/>
          </a:prstGeom>
          <a:solidFill>
            <a:srgbClr val="2D5A4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54" name="Google Shape;954;p18"/>
          <p:cNvSpPr/>
          <p:nvPr/>
        </p:nvSpPr>
        <p:spPr>
          <a:xfrm>
            <a:off x="4546397" y="1680735"/>
            <a:ext cx="457200" cy="457200"/>
          </a:xfrm>
          <a:prstGeom prst="ellipse">
            <a:avLst/>
          </a:prstGeom>
          <a:solidFill>
            <a:srgbClr val="FFFFF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55" name="Google Shape;955;p18"/>
          <p:cNvSpPr/>
          <p:nvPr/>
        </p:nvSpPr>
        <p:spPr>
          <a:xfrm>
            <a:off x="8292694" y="1680735"/>
            <a:ext cx="457200" cy="457200"/>
          </a:xfrm>
          <a:prstGeom prst="ellipse">
            <a:avLst/>
          </a:prstGeom>
          <a:solidFill>
            <a:srgbClr val="FFFFF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56" name="Google Shape;956;p18"/>
          <p:cNvSpPr txBox="1"/>
          <p:nvPr/>
        </p:nvSpPr>
        <p:spPr>
          <a:xfrm>
            <a:off x="800100" y="1676304"/>
            <a:ext cx="11247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SAFETY</a:t>
            </a:r>
            <a:endParaRPr kumimoji="0"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57" name="Google Shape;957;p18"/>
          <p:cNvSpPr txBox="1"/>
          <p:nvPr/>
        </p:nvSpPr>
        <p:spPr>
          <a:xfrm>
            <a:off x="800100" y="1876558"/>
            <a:ext cx="22860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故障リスク・異常の早期検知</a:t>
            </a: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58" name="Google Shape;958;p18"/>
          <p:cNvSpPr txBox="1"/>
          <p:nvPr/>
        </p:nvSpPr>
        <p:spPr>
          <a:xfrm>
            <a:off x="4546398" y="1696524"/>
            <a:ext cx="1239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USABILITY</a:t>
            </a:r>
            <a:endParaRPr kumimoji="0"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59" name="Google Shape;959;p18"/>
          <p:cNvSpPr txBox="1"/>
          <p:nvPr/>
        </p:nvSpPr>
        <p:spPr>
          <a:xfrm>
            <a:off x="8292694" y="1680330"/>
            <a:ext cx="8577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KNOWLEDGE</a:t>
            </a:r>
            <a:endParaRPr kumimoji="0"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60" name="Google Shape;960;p18"/>
          <p:cNvSpPr txBox="1"/>
          <p:nvPr/>
        </p:nvSpPr>
        <p:spPr>
          <a:xfrm>
            <a:off x="4546397" y="1896778"/>
            <a:ext cx="22413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スマホ撮影のみの簡易運用</a:t>
            </a: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61" name="Google Shape;961;p18"/>
          <p:cNvSpPr txBox="1"/>
          <p:nvPr/>
        </p:nvSpPr>
        <p:spPr>
          <a:xfrm>
            <a:off x="8292694" y="1884241"/>
            <a:ext cx="24309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熟練判断基準の言語化・資産化</a:t>
            </a: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62" name="Google Shape;962;p18"/>
          <p:cNvSpPr/>
          <p:nvPr/>
        </p:nvSpPr>
        <p:spPr>
          <a:xfrm>
            <a:off x="571500" y="2709252"/>
            <a:ext cx="6400800" cy="9000"/>
          </a:xfrm>
          <a:prstGeom prst="rect">
            <a:avLst/>
          </a:prstGeom>
          <a:solidFill>
            <a:schemeClr val="dk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963" name="Google Shape;963;p18" descr="preencoded.png"/>
          <p:cNvPicPr preferRelativeResize="0"/>
          <p:nvPr/>
        </p:nvPicPr>
        <p:blipFill rotWithShape="1">
          <a:blip r:embed="rId3">
            <a:alphaModFix/>
          </a:blip>
          <a:srcRect l="-989605" r="-989397"/>
          <a:stretch/>
        </p:blipFill>
        <p:spPr>
          <a:xfrm>
            <a:off x="571500" y="3003290"/>
            <a:ext cx="237744" cy="9144"/>
          </a:xfrm>
          <a:prstGeom prst="rect">
            <a:avLst/>
          </a:prstGeom>
          <a:noFill/>
          <a:ln>
            <a:noFill/>
          </a:ln>
        </p:spPr>
      </p:pic>
      <p:sp>
        <p:nvSpPr>
          <p:cNvPr id="964" name="Google Shape;964;p18"/>
          <p:cNvSpPr txBox="1"/>
          <p:nvPr/>
        </p:nvSpPr>
        <p:spPr>
          <a:xfrm>
            <a:off x="571500" y="2433657"/>
            <a:ext cx="1286700" cy="2772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取り組み内容</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65" name="Google Shape;965;p18"/>
          <p:cNvSpPr txBox="1"/>
          <p:nvPr/>
        </p:nvSpPr>
        <p:spPr>
          <a:xfrm>
            <a:off x="582646" y="2757578"/>
            <a:ext cx="6627000" cy="7035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熟練技術者が持つ「どこを見て異常と判断するか」という暗黙知を詳細にヒアリングし言語化。これをプロンプトとして組み込み、画像解析モデルと連携させることで、現場作業員がスマートフォンで撮影した写真から即座に故障リスクを予測できるシステムを構築しました。</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66" name="Google Shape;966;p18"/>
          <p:cNvSpPr/>
          <p:nvPr/>
        </p:nvSpPr>
        <p:spPr>
          <a:xfrm>
            <a:off x="571500" y="3645654"/>
            <a:ext cx="6400800" cy="1333200"/>
          </a:xfrm>
          <a:prstGeom prst="roundRect">
            <a:avLst>
              <a:gd name="adj" fmla="val 1845"/>
            </a:avLst>
          </a:prstGeom>
          <a:solidFill>
            <a:schemeClr val="lt1"/>
          </a:solidFill>
          <a:ln w="12700" cap="flat" cmpd="sng">
            <a:solidFill>
              <a:srgbClr val="F2F2F2"/>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67" name="Google Shape;967;p18"/>
          <p:cNvSpPr/>
          <p:nvPr/>
        </p:nvSpPr>
        <p:spPr>
          <a:xfrm>
            <a:off x="571500" y="5144450"/>
            <a:ext cx="6400800" cy="1117800"/>
          </a:xfrm>
          <a:prstGeom prst="roundRect">
            <a:avLst>
              <a:gd name="adj" fmla="val 2318"/>
            </a:avLst>
          </a:prstGeom>
          <a:solidFill>
            <a:schemeClr val="lt1"/>
          </a:solidFill>
          <a:ln w="12700" cap="flat" cmpd="sng">
            <a:solidFill>
              <a:srgbClr val="F2F2F2"/>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68" name="Google Shape;968;p18"/>
          <p:cNvSpPr txBox="1"/>
          <p:nvPr/>
        </p:nvSpPr>
        <p:spPr>
          <a:xfrm>
            <a:off x="961949" y="5230343"/>
            <a:ext cx="30621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成功のポイント</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69" name="Google Shape;969;p18"/>
          <p:cNvSpPr txBox="1"/>
          <p:nvPr/>
        </p:nvSpPr>
        <p:spPr>
          <a:xfrm>
            <a:off x="771754" y="5458943"/>
            <a:ext cx="6099000" cy="7254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重要なのは、熟練者の勘所を言語化して</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AI</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に実装し、写真アップロードという新しい業務フローと、</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AI</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判定後に人が最終確認する</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Human-in-the-Loop</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を現場に定着させることです。</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70" name="Google Shape;970;p18"/>
          <p:cNvSpPr/>
          <p:nvPr/>
        </p:nvSpPr>
        <p:spPr>
          <a:xfrm>
            <a:off x="7353605" y="2768966"/>
            <a:ext cx="4267500" cy="2199900"/>
          </a:xfrm>
          <a:prstGeom prst="roundRect">
            <a:avLst>
              <a:gd name="adj" fmla="val 1181"/>
            </a:avLst>
          </a:prstGeom>
          <a:solidFill>
            <a:schemeClr val="lt1"/>
          </a:solidFill>
          <a:ln w="12700" cap="flat" cmpd="sng">
            <a:solidFill>
              <a:srgbClr val="F2F2F2"/>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71" name="Google Shape;971;p18"/>
          <p:cNvSpPr/>
          <p:nvPr/>
        </p:nvSpPr>
        <p:spPr>
          <a:xfrm>
            <a:off x="7591349" y="3700334"/>
            <a:ext cx="3791100" cy="9000"/>
          </a:xfrm>
          <a:prstGeom prst="rect">
            <a:avLst/>
          </a:prstGeom>
          <a:solidFill>
            <a:schemeClr val="dk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72" name="Google Shape;972;p18"/>
          <p:cNvSpPr txBox="1"/>
          <p:nvPr/>
        </p:nvSpPr>
        <p:spPr>
          <a:xfrm>
            <a:off x="7591349" y="3006710"/>
            <a:ext cx="144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クライアント </a:t>
            </a: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 </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業界</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73" name="Google Shape;973;p18"/>
          <p:cNvSpPr txBox="1"/>
          <p:nvPr/>
        </p:nvSpPr>
        <p:spPr>
          <a:xfrm>
            <a:off x="7880299" y="3290983"/>
            <a:ext cx="23979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中小製造企業 </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 </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製造・インフラ</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74" name="Google Shape;974;p18"/>
          <p:cNvSpPr txBox="1"/>
          <p:nvPr/>
        </p:nvSpPr>
        <p:spPr>
          <a:xfrm>
            <a:off x="7591349" y="3854359"/>
            <a:ext cx="144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使用技術・タグ</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75" name="Google Shape;975;p18"/>
          <p:cNvSpPr/>
          <p:nvPr/>
        </p:nvSpPr>
        <p:spPr>
          <a:xfrm>
            <a:off x="7591349" y="4158854"/>
            <a:ext cx="12846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76" name="Google Shape;976;p18"/>
          <p:cNvSpPr/>
          <p:nvPr/>
        </p:nvSpPr>
        <p:spPr>
          <a:xfrm>
            <a:off x="8951582" y="4158854"/>
            <a:ext cx="7425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77" name="Google Shape;977;p18"/>
          <p:cNvSpPr/>
          <p:nvPr/>
        </p:nvSpPr>
        <p:spPr>
          <a:xfrm>
            <a:off x="9754903" y="4158854"/>
            <a:ext cx="12417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78" name="Google Shape;978;p18"/>
          <p:cNvSpPr/>
          <p:nvPr/>
        </p:nvSpPr>
        <p:spPr>
          <a:xfrm>
            <a:off x="7591349" y="4483466"/>
            <a:ext cx="8577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79" name="Google Shape;979;p18"/>
          <p:cNvSpPr/>
          <p:nvPr/>
        </p:nvSpPr>
        <p:spPr>
          <a:xfrm>
            <a:off x="8542618" y="4483466"/>
            <a:ext cx="7425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80" name="Google Shape;980;p18"/>
          <p:cNvSpPr txBox="1"/>
          <p:nvPr/>
        </p:nvSpPr>
        <p:spPr>
          <a:xfrm>
            <a:off x="7705649" y="4197259"/>
            <a:ext cx="2520000" cy="153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マルチモーダル推論</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81" name="Google Shape;981;p18"/>
          <p:cNvSpPr txBox="1"/>
          <p:nvPr/>
        </p:nvSpPr>
        <p:spPr>
          <a:xfrm>
            <a:off x="9351126" y="4186202"/>
            <a:ext cx="2520000" cy="1725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画像解析</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82" name="Google Shape;982;p18"/>
          <p:cNvSpPr txBox="1"/>
          <p:nvPr/>
        </p:nvSpPr>
        <p:spPr>
          <a:xfrm>
            <a:off x="9571371" y="4510867"/>
            <a:ext cx="2520000" cy="1845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大規模言語モデル</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83" name="Google Shape;983;p18"/>
          <p:cNvSpPr txBox="1"/>
          <p:nvPr/>
        </p:nvSpPr>
        <p:spPr>
          <a:xfrm>
            <a:off x="7705649" y="4520956"/>
            <a:ext cx="252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予測モデル</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84" name="Google Shape;984;p18"/>
          <p:cNvSpPr txBox="1"/>
          <p:nvPr/>
        </p:nvSpPr>
        <p:spPr>
          <a:xfrm>
            <a:off x="8656919" y="4520956"/>
            <a:ext cx="252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予兆検知</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85" name="Google Shape;985;p18"/>
          <p:cNvSpPr/>
          <p:nvPr/>
        </p:nvSpPr>
        <p:spPr>
          <a:xfrm>
            <a:off x="7353605" y="5145594"/>
            <a:ext cx="4267500" cy="1117800"/>
          </a:xfrm>
          <a:prstGeom prst="roundRect">
            <a:avLst>
              <a:gd name="adj" fmla="val 3850"/>
            </a:avLst>
          </a:prstGeom>
          <a:solidFill>
            <a:schemeClr val="lt1"/>
          </a:solidFill>
          <a:ln w="12700" cap="flat" cmpd="sng">
            <a:solidFill>
              <a:srgbClr val="F2F2F2"/>
            </a:solidFill>
            <a:prstDash val="solid"/>
            <a:round/>
            <a:headEnd type="none" w="sm" len="sm"/>
            <a:tailEnd type="none" w="sm" len="sm"/>
          </a:ln>
          <a:effectLst>
            <a:outerShdw dist="12700" dir="16200000" sx="1000" sy="1000" algn="bl" rotWithShape="0">
              <a:srgbClr val="000000"/>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86" name="Google Shape;986;p18"/>
          <p:cNvSpPr txBox="1"/>
          <p:nvPr/>
        </p:nvSpPr>
        <p:spPr>
          <a:xfrm>
            <a:off x="7552944" y="5233467"/>
            <a:ext cx="144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関連する応用例</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87" name="Google Shape;987;p18"/>
          <p:cNvSpPr txBox="1"/>
          <p:nvPr/>
        </p:nvSpPr>
        <p:spPr>
          <a:xfrm>
            <a:off x="7914602" y="5496817"/>
            <a:ext cx="2520000" cy="1911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建物・インフラの劣化診断</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88" name="Google Shape;988;p18"/>
          <p:cNvSpPr txBox="1"/>
          <p:nvPr/>
        </p:nvSpPr>
        <p:spPr>
          <a:xfrm>
            <a:off x="7911708" y="5722272"/>
            <a:ext cx="2520000" cy="1911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製品外観検査の自動化</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cxnSp>
        <p:nvCxnSpPr>
          <p:cNvPr id="989" name="Google Shape;989;p18"/>
          <p:cNvCxnSpPr/>
          <p:nvPr/>
        </p:nvCxnSpPr>
        <p:spPr>
          <a:xfrm>
            <a:off x="2199711" y="4246073"/>
            <a:ext cx="128100" cy="0"/>
          </a:xfrm>
          <a:prstGeom prst="straightConnector1">
            <a:avLst/>
          </a:prstGeom>
          <a:noFill/>
          <a:ln w="9525" cap="flat" cmpd="sng">
            <a:solidFill>
              <a:schemeClr val="dk2"/>
            </a:solidFill>
            <a:prstDash val="solid"/>
            <a:round/>
            <a:headEnd type="none" w="sm" len="sm"/>
            <a:tailEnd type="triangle" w="med" len="med"/>
          </a:ln>
        </p:spPr>
      </p:cxnSp>
      <p:cxnSp>
        <p:nvCxnSpPr>
          <p:cNvPr id="990" name="Google Shape;990;p18"/>
          <p:cNvCxnSpPr/>
          <p:nvPr/>
        </p:nvCxnSpPr>
        <p:spPr>
          <a:xfrm>
            <a:off x="3740732" y="4246073"/>
            <a:ext cx="128100" cy="0"/>
          </a:xfrm>
          <a:prstGeom prst="straightConnector1">
            <a:avLst/>
          </a:prstGeom>
          <a:noFill/>
          <a:ln w="9525" cap="flat" cmpd="sng">
            <a:solidFill>
              <a:schemeClr val="dk2"/>
            </a:solidFill>
            <a:prstDash val="solid"/>
            <a:round/>
            <a:headEnd type="none" w="sm" len="sm"/>
            <a:tailEnd type="triangle" w="med" len="med"/>
          </a:ln>
        </p:spPr>
      </p:cxnSp>
      <p:pic>
        <p:nvPicPr>
          <p:cNvPr id="991" name="Google Shape;991;p18" descr="ライト: オン 単色塗りつぶし"/>
          <p:cNvPicPr preferRelativeResize="0"/>
          <p:nvPr/>
        </p:nvPicPr>
        <p:blipFill rotWithShape="1">
          <a:blip r:embed="rId4">
            <a:alphaModFix/>
          </a:blip>
          <a:srcRect/>
          <a:stretch/>
        </p:blipFill>
        <p:spPr>
          <a:xfrm>
            <a:off x="635010" y="5182118"/>
            <a:ext cx="307736" cy="307736"/>
          </a:xfrm>
          <a:prstGeom prst="rect">
            <a:avLst/>
          </a:prstGeom>
          <a:noFill/>
          <a:ln>
            <a:noFill/>
          </a:ln>
        </p:spPr>
      </p:pic>
      <p:sp>
        <p:nvSpPr>
          <p:cNvPr id="992" name="Google Shape;992;p18"/>
          <p:cNvSpPr txBox="1"/>
          <p:nvPr/>
        </p:nvSpPr>
        <p:spPr>
          <a:xfrm>
            <a:off x="7911708" y="5962395"/>
            <a:ext cx="2520000" cy="1911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車両や重機の点検支援</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93" name="Google Shape;993;p18"/>
          <p:cNvSpPr txBox="1"/>
          <p:nvPr/>
        </p:nvSpPr>
        <p:spPr>
          <a:xfrm>
            <a:off x="1173138" y="4522986"/>
            <a:ext cx="809386" cy="1629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熟練者の判断基準</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94" name="Google Shape;994;p18"/>
          <p:cNvSpPr txBox="1"/>
          <p:nvPr/>
        </p:nvSpPr>
        <p:spPr>
          <a:xfrm>
            <a:off x="2635996" y="4504943"/>
            <a:ext cx="809386" cy="215775"/>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現場で</a:t>
            </a:r>
            <a:b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b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スマホ撮影</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95" name="Google Shape;995;p18"/>
          <p:cNvSpPr txBox="1"/>
          <p:nvPr/>
        </p:nvSpPr>
        <p:spPr>
          <a:xfrm>
            <a:off x="4035831" y="4522986"/>
            <a:ext cx="896100" cy="1629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マルチモーダル推論</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996" name="Google Shape;996;p18"/>
          <p:cNvSpPr txBox="1"/>
          <p:nvPr/>
        </p:nvSpPr>
        <p:spPr>
          <a:xfrm>
            <a:off x="5547422" y="4545171"/>
            <a:ext cx="809386" cy="118531"/>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リスク判定報告書</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cxnSp>
        <p:nvCxnSpPr>
          <p:cNvPr id="997" name="Google Shape;997;p18"/>
          <p:cNvCxnSpPr/>
          <p:nvPr/>
        </p:nvCxnSpPr>
        <p:spPr>
          <a:xfrm>
            <a:off x="5252148" y="4246073"/>
            <a:ext cx="128100" cy="0"/>
          </a:xfrm>
          <a:prstGeom prst="straightConnector1">
            <a:avLst/>
          </a:prstGeom>
          <a:noFill/>
          <a:ln w="9525" cap="flat" cmpd="sng">
            <a:solidFill>
              <a:schemeClr val="dk2"/>
            </a:solidFill>
            <a:prstDash val="solid"/>
            <a:round/>
            <a:headEnd type="none" w="sm" len="sm"/>
            <a:tailEnd type="triangle" w="med" len="med"/>
          </a:ln>
        </p:spPr>
      </p:cxnSp>
      <p:pic>
        <p:nvPicPr>
          <p:cNvPr id="998" name="Google Shape;998;p18" descr="工場 単色塗りつぶし"/>
          <p:cNvPicPr preferRelativeResize="0"/>
          <p:nvPr/>
        </p:nvPicPr>
        <p:blipFill rotWithShape="1">
          <a:blip r:embed="rId5">
            <a:alphaModFix/>
          </a:blip>
          <a:srcRect/>
          <a:stretch/>
        </p:blipFill>
        <p:spPr>
          <a:xfrm>
            <a:off x="7488307" y="3235791"/>
            <a:ext cx="331641" cy="331641"/>
          </a:xfrm>
          <a:prstGeom prst="rect">
            <a:avLst/>
          </a:prstGeom>
          <a:noFill/>
          <a:ln>
            <a:noFill/>
          </a:ln>
        </p:spPr>
      </p:pic>
      <p:pic>
        <p:nvPicPr>
          <p:cNvPr id="999" name="Google Shape;999;p18" descr="オフィス ワーカー (男性) 単色塗りつぶし"/>
          <p:cNvPicPr preferRelativeResize="0"/>
          <p:nvPr/>
        </p:nvPicPr>
        <p:blipFill rotWithShape="1">
          <a:blip r:embed="rId6">
            <a:alphaModFix/>
          </a:blip>
          <a:srcRect/>
          <a:stretch/>
        </p:blipFill>
        <p:spPr>
          <a:xfrm>
            <a:off x="1428393" y="4009610"/>
            <a:ext cx="302363" cy="302363"/>
          </a:xfrm>
          <a:prstGeom prst="rect">
            <a:avLst/>
          </a:prstGeom>
          <a:noFill/>
          <a:ln>
            <a:noFill/>
          </a:ln>
        </p:spPr>
      </p:pic>
      <p:pic>
        <p:nvPicPr>
          <p:cNvPr id="1000" name="Google Shape;1000;p18" descr="カメラ 単色塗りつぶし"/>
          <p:cNvPicPr preferRelativeResize="0"/>
          <p:nvPr/>
        </p:nvPicPr>
        <p:blipFill rotWithShape="1">
          <a:blip r:embed="rId7">
            <a:alphaModFix/>
          </a:blip>
          <a:srcRect/>
          <a:stretch/>
        </p:blipFill>
        <p:spPr>
          <a:xfrm>
            <a:off x="2889508" y="4009610"/>
            <a:ext cx="302363" cy="302363"/>
          </a:xfrm>
          <a:prstGeom prst="rect">
            <a:avLst/>
          </a:prstGeom>
          <a:noFill/>
          <a:ln>
            <a:noFill/>
          </a:ln>
        </p:spPr>
      </p:pic>
      <p:pic>
        <p:nvPicPr>
          <p:cNvPr id="1001" name="Google Shape;1001;p18" descr="ロボット 単色塗りつぶし"/>
          <p:cNvPicPr preferRelativeResize="0"/>
          <p:nvPr/>
        </p:nvPicPr>
        <p:blipFill rotWithShape="1">
          <a:blip r:embed="rId8">
            <a:alphaModFix/>
          </a:blip>
          <a:srcRect/>
          <a:stretch/>
        </p:blipFill>
        <p:spPr>
          <a:xfrm>
            <a:off x="4357434" y="4002464"/>
            <a:ext cx="302363" cy="302363"/>
          </a:xfrm>
          <a:prstGeom prst="rect">
            <a:avLst/>
          </a:prstGeom>
          <a:noFill/>
          <a:ln>
            <a:noFill/>
          </a:ln>
        </p:spPr>
      </p:pic>
      <p:pic>
        <p:nvPicPr>
          <p:cNvPr id="1002" name="Google Shape;1002;p18" descr="ドキュメント 単色塗りつぶし"/>
          <p:cNvPicPr preferRelativeResize="0"/>
          <p:nvPr/>
        </p:nvPicPr>
        <p:blipFill rotWithShape="1">
          <a:blip r:embed="rId9">
            <a:alphaModFix/>
          </a:blip>
          <a:srcRect/>
          <a:stretch/>
        </p:blipFill>
        <p:spPr>
          <a:xfrm>
            <a:off x="5828185" y="4009610"/>
            <a:ext cx="302363" cy="302363"/>
          </a:xfrm>
          <a:prstGeom prst="rect">
            <a:avLst/>
          </a:prstGeom>
          <a:noFill/>
          <a:ln>
            <a:noFill/>
          </a:ln>
        </p:spPr>
      </p:pic>
      <p:pic>
        <p:nvPicPr>
          <p:cNvPr id="1003" name="Google Shape;1003;p18" descr="拡大鏡 単色塗りつぶし"/>
          <p:cNvPicPr preferRelativeResize="0"/>
          <p:nvPr/>
        </p:nvPicPr>
        <p:blipFill rotWithShape="1">
          <a:blip r:embed="rId10">
            <a:alphaModFix/>
          </a:blip>
          <a:srcRect/>
          <a:stretch/>
        </p:blipFill>
        <p:spPr>
          <a:xfrm>
            <a:off x="7558588" y="5690990"/>
            <a:ext cx="244640" cy="244640"/>
          </a:xfrm>
          <a:prstGeom prst="rect">
            <a:avLst/>
          </a:prstGeom>
          <a:noFill/>
          <a:ln>
            <a:noFill/>
          </a:ln>
        </p:spPr>
      </p:pic>
      <p:pic>
        <p:nvPicPr>
          <p:cNvPr id="1004" name="Google Shape;1004;p18" descr="工場 単色塗りつぶし"/>
          <p:cNvPicPr preferRelativeResize="0"/>
          <p:nvPr/>
        </p:nvPicPr>
        <p:blipFill rotWithShape="1">
          <a:blip r:embed="rId5">
            <a:alphaModFix/>
          </a:blip>
          <a:srcRect/>
          <a:stretch/>
        </p:blipFill>
        <p:spPr>
          <a:xfrm>
            <a:off x="7538443" y="5443493"/>
            <a:ext cx="244640" cy="244640"/>
          </a:xfrm>
          <a:prstGeom prst="rect">
            <a:avLst/>
          </a:prstGeom>
          <a:noFill/>
          <a:ln>
            <a:noFill/>
          </a:ln>
        </p:spPr>
      </p:pic>
      <p:pic>
        <p:nvPicPr>
          <p:cNvPr id="1005" name="Google Shape;1005;p18" descr="自動車整備士 単色塗りつぶし"/>
          <p:cNvPicPr preferRelativeResize="0"/>
          <p:nvPr/>
        </p:nvPicPr>
        <p:blipFill rotWithShape="1">
          <a:blip r:embed="rId11">
            <a:alphaModFix/>
          </a:blip>
          <a:srcRect/>
          <a:stretch/>
        </p:blipFill>
        <p:spPr>
          <a:xfrm>
            <a:off x="7538443" y="5935630"/>
            <a:ext cx="244640" cy="244640"/>
          </a:xfrm>
          <a:prstGeom prst="rect">
            <a:avLst/>
          </a:prstGeom>
          <a:noFill/>
          <a:ln>
            <a:noFill/>
          </a:ln>
        </p:spPr>
      </p:pic>
      <p:sp>
        <p:nvSpPr>
          <p:cNvPr id="1006" name="Google Shape;1006;p18"/>
          <p:cNvSpPr txBox="1">
            <a:spLocks noGrp="1"/>
          </p:cNvSpPr>
          <p:nvPr>
            <p:ph type="ftr" idx="11"/>
          </p:nvPr>
        </p:nvSpPr>
        <p:spPr>
          <a:xfrm>
            <a:off x="9687698" y="6514831"/>
            <a:ext cx="2109696" cy="216000"/>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ja-JP" sz="1000" b="0" i="0" u="none" strike="noStrike" kern="0" cap="none" spc="0" normalizeH="0" baseline="0" noProof="0">
                <a:ln>
                  <a:noFill/>
                </a:ln>
                <a:solidFill>
                  <a:srgbClr val="BFBFBF"/>
                </a:solidFill>
                <a:effectLst/>
                <a:uLnTx/>
                <a:uFillTx/>
                <a:latin typeface="Arial"/>
                <a:ea typeface="Arial"/>
                <a:cs typeface="Arial"/>
                <a:sym typeface="Arial"/>
              </a:rPr>
              <a:t>©️ 2026 Boost Consulting, Inc.</a:t>
            </a:r>
            <a:endParaRPr kumimoji="0" sz="1000" b="0" i="0" u="none" strike="noStrike" kern="0" cap="none" spc="0" normalizeH="0" baseline="0" noProof="0">
              <a:ln>
                <a:noFill/>
              </a:ln>
              <a:solidFill>
                <a:srgbClr val="BFBFBF"/>
              </a:solidFill>
              <a:effectLst/>
              <a:uLnTx/>
              <a:uFillTx/>
              <a:latin typeface="Arial"/>
              <a:ea typeface="Arial"/>
              <a:cs typeface="Arial"/>
              <a:sym typeface="Arial"/>
            </a:endParaRPr>
          </a:p>
        </p:txBody>
      </p:sp>
    </p:spTree>
    <p:extLst>
      <p:ext uri="{BB962C8B-B14F-4D97-AF65-F5344CB8AC3E}">
        <p14:creationId xmlns:p14="http://schemas.microsoft.com/office/powerpoint/2010/main" val="3706277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p19"/>
          <p:cNvSpPr/>
          <p:nvPr/>
        </p:nvSpPr>
        <p:spPr>
          <a:xfrm>
            <a:off x="571500" y="3645654"/>
            <a:ext cx="6400800" cy="1333200"/>
          </a:xfrm>
          <a:prstGeom prst="roundRect">
            <a:avLst>
              <a:gd name="adj" fmla="val 1845"/>
            </a:avLst>
          </a:prstGeom>
          <a:solidFill>
            <a:schemeClr val="lt1"/>
          </a:solidFill>
          <a:ln w="12700" cap="flat" cmpd="sng">
            <a:solidFill>
              <a:srgbClr val="F2F2F2"/>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12" name="Google Shape;1012;p19"/>
          <p:cNvSpPr txBox="1">
            <a:spLocks noGrp="1"/>
          </p:cNvSpPr>
          <p:nvPr>
            <p:ph type="title"/>
          </p:nvPr>
        </p:nvSpPr>
        <p:spPr>
          <a:xfrm>
            <a:off x="340659" y="658641"/>
            <a:ext cx="11520000" cy="88803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Font typeface="Arial"/>
              <a:buNone/>
            </a:pPr>
            <a:r>
              <a:rPr lang="ja-JP">
                <a:sym typeface="Arial"/>
              </a:rPr>
              <a:t>07_コンサルティング自動化</a:t>
            </a:r>
            <a:br>
              <a:rPr lang="ja-JP">
                <a:sym typeface="Arial"/>
              </a:rPr>
            </a:br>
            <a:r>
              <a:rPr lang="ja-JP">
                <a:sym typeface="Arial"/>
              </a:rPr>
              <a:t>アンケート分析・示唆出し・レポート作成までを一気通貫で自動化</a:t>
            </a:r>
            <a:endParaRPr/>
          </a:p>
        </p:txBody>
      </p:sp>
      <p:sp>
        <p:nvSpPr>
          <p:cNvPr id="1013" name="Google Shape;1013;p19"/>
          <p:cNvSpPr txBox="1">
            <a:spLocks noGrp="1"/>
          </p:cNvSpPr>
          <p:nvPr>
            <p:ph type="body" idx="3"/>
          </p:nvPr>
        </p:nvSpPr>
        <p:spPr>
          <a:xfrm>
            <a:off x="340306" y="233891"/>
            <a:ext cx="11520000" cy="258947"/>
          </a:xfrm>
          <a:prstGeom prst="rect">
            <a:avLst/>
          </a:prstGeom>
          <a:noFill/>
          <a:ln>
            <a:noFill/>
          </a:ln>
        </p:spPr>
        <p:txBody>
          <a:bodyPr spcFirstLastPara="1" wrap="square" lIns="91425" tIns="45700" rIns="91425" bIns="45700" anchor="ctr" anchorCtr="0">
            <a:noAutofit/>
          </a:bodyPr>
          <a:lstStyle/>
          <a:p>
            <a:pPr marL="228600" lvl="0" indent="-228600" algn="l" rtl="0">
              <a:lnSpc>
                <a:spcPct val="100000"/>
              </a:lnSpc>
              <a:spcBef>
                <a:spcPts val="0"/>
              </a:spcBef>
              <a:spcAft>
                <a:spcPts val="0"/>
              </a:spcAft>
              <a:buClr>
                <a:srgbClr val="2D5A41"/>
              </a:buClr>
              <a:buSzPts val="1600"/>
              <a:buNone/>
            </a:pPr>
            <a:r>
              <a:rPr lang="ja-JP" sz="1600">
                <a:solidFill>
                  <a:srgbClr val="2D5A41"/>
                </a:solidFill>
              </a:rPr>
              <a:t>弊社事例紹介</a:t>
            </a:r>
            <a:endParaRPr/>
          </a:p>
        </p:txBody>
      </p:sp>
      <p:sp>
        <p:nvSpPr>
          <p:cNvPr id="1014" name="Google Shape;1014;p19"/>
          <p:cNvSpPr/>
          <p:nvPr/>
        </p:nvSpPr>
        <p:spPr>
          <a:xfrm>
            <a:off x="571500" y="1333195"/>
            <a:ext cx="38400" cy="8001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15" name="Google Shape;1015;p19"/>
          <p:cNvSpPr/>
          <p:nvPr/>
        </p:nvSpPr>
        <p:spPr>
          <a:xfrm>
            <a:off x="6381598" y="1333195"/>
            <a:ext cx="38400" cy="8001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16" name="Google Shape;1016;p19"/>
          <p:cNvSpPr/>
          <p:nvPr/>
        </p:nvSpPr>
        <p:spPr>
          <a:xfrm>
            <a:off x="571500" y="1508247"/>
            <a:ext cx="3562500" cy="794700"/>
          </a:xfrm>
          <a:prstGeom prst="rect">
            <a:avLst/>
          </a:prstGeom>
          <a:noFill/>
          <a:ln>
            <a:noFill/>
          </a:ln>
          <a:effectLst>
            <a:outerShdw blurRad="38100" dist="254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17" name="Google Shape;1017;p19"/>
          <p:cNvSpPr/>
          <p:nvPr/>
        </p:nvSpPr>
        <p:spPr>
          <a:xfrm>
            <a:off x="571500" y="1508247"/>
            <a:ext cx="45600" cy="794700"/>
          </a:xfrm>
          <a:prstGeom prst="rect">
            <a:avLst/>
          </a:prstGeom>
          <a:solidFill>
            <a:srgbClr val="2D5A4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18" name="Google Shape;1018;p19"/>
          <p:cNvSpPr/>
          <p:nvPr/>
        </p:nvSpPr>
        <p:spPr>
          <a:xfrm>
            <a:off x="8064094" y="1508247"/>
            <a:ext cx="3562500" cy="794700"/>
          </a:xfrm>
          <a:prstGeom prst="rect">
            <a:avLst/>
          </a:prstGeom>
          <a:noFill/>
          <a:ln>
            <a:noFill/>
          </a:ln>
          <a:effectLst>
            <a:outerShdw blurRad="38100" dist="254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19" name="Google Shape;1019;p19"/>
          <p:cNvSpPr/>
          <p:nvPr/>
        </p:nvSpPr>
        <p:spPr>
          <a:xfrm>
            <a:off x="8064094" y="1508247"/>
            <a:ext cx="45600" cy="794700"/>
          </a:xfrm>
          <a:prstGeom prst="rect">
            <a:avLst/>
          </a:prstGeom>
          <a:solidFill>
            <a:srgbClr val="2D5A4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20" name="Google Shape;1020;p19"/>
          <p:cNvSpPr/>
          <p:nvPr/>
        </p:nvSpPr>
        <p:spPr>
          <a:xfrm>
            <a:off x="4317797" y="1508247"/>
            <a:ext cx="3562500" cy="794700"/>
          </a:xfrm>
          <a:prstGeom prst="rect">
            <a:avLst/>
          </a:prstGeom>
          <a:noFill/>
          <a:ln>
            <a:noFill/>
          </a:ln>
          <a:effectLst>
            <a:outerShdw blurRad="38100" dist="254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21" name="Google Shape;1021;p19"/>
          <p:cNvSpPr/>
          <p:nvPr/>
        </p:nvSpPr>
        <p:spPr>
          <a:xfrm>
            <a:off x="4317797" y="1508247"/>
            <a:ext cx="45600" cy="794700"/>
          </a:xfrm>
          <a:prstGeom prst="rect">
            <a:avLst/>
          </a:prstGeom>
          <a:solidFill>
            <a:srgbClr val="2D5A4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22" name="Google Shape;1022;p19"/>
          <p:cNvSpPr txBox="1"/>
          <p:nvPr/>
        </p:nvSpPr>
        <p:spPr>
          <a:xfrm>
            <a:off x="801137" y="1693213"/>
            <a:ext cx="11247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EFFICIENCY</a:t>
            </a:r>
            <a:endParaRPr kumimoji="0"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23" name="Google Shape;1023;p19"/>
          <p:cNvSpPr txBox="1"/>
          <p:nvPr/>
        </p:nvSpPr>
        <p:spPr>
          <a:xfrm>
            <a:off x="801136" y="1893467"/>
            <a:ext cx="24588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分析</a:t>
            </a:r>
            <a:r>
              <a:rPr kumimoji="0" lang="en-US" altLang="ja-JP"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資料作成工数の大幅削減</a:t>
            </a:r>
            <a:endParaRPr kumimoji="0"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24" name="Google Shape;1024;p19"/>
          <p:cNvSpPr txBox="1"/>
          <p:nvPr/>
        </p:nvSpPr>
        <p:spPr>
          <a:xfrm>
            <a:off x="4584147" y="1681680"/>
            <a:ext cx="1239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QUALITY</a:t>
            </a:r>
            <a:endParaRPr kumimoji="0"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25" name="Google Shape;1025;p19"/>
          <p:cNvSpPr txBox="1"/>
          <p:nvPr/>
        </p:nvSpPr>
        <p:spPr>
          <a:xfrm>
            <a:off x="8293491" y="1692744"/>
            <a:ext cx="8577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SPEED</a:t>
            </a:r>
            <a:endParaRPr kumimoji="0"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26" name="Google Shape;1026;p19"/>
          <p:cNvSpPr txBox="1"/>
          <p:nvPr/>
        </p:nvSpPr>
        <p:spPr>
          <a:xfrm>
            <a:off x="4584147" y="1855644"/>
            <a:ext cx="22413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インサイトの抜け漏れ抑制</a:t>
            </a:r>
            <a:endParaRPr kumimoji="0"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27" name="Google Shape;1027;p19"/>
          <p:cNvSpPr/>
          <p:nvPr/>
        </p:nvSpPr>
        <p:spPr>
          <a:xfrm>
            <a:off x="571500" y="2709252"/>
            <a:ext cx="6400800" cy="9000"/>
          </a:xfrm>
          <a:prstGeom prst="rect">
            <a:avLst/>
          </a:prstGeom>
          <a:solidFill>
            <a:schemeClr val="dk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1028" name="Google Shape;1028;p19" descr="preencoded.png"/>
          <p:cNvPicPr preferRelativeResize="0"/>
          <p:nvPr/>
        </p:nvPicPr>
        <p:blipFill rotWithShape="1">
          <a:blip r:embed="rId3">
            <a:alphaModFix/>
          </a:blip>
          <a:srcRect l="-989605" r="-989397"/>
          <a:stretch/>
        </p:blipFill>
        <p:spPr>
          <a:xfrm>
            <a:off x="571500" y="3003290"/>
            <a:ext cx="237744" cy="9144"/>
          </a:xfrm>
          <a:prstGeom prst="rect">
            <a:avLst/>
          </a:prstGeom>
          <a:noFill/>
          <a:ln>
            <a:noFill/>
          </a:ln>
        </p:spPr>
      </p:pic>
      <p:sp>
        <p:nvSpPr>
          <p:cNvPr id="1029" name="Google Shape;1029;p19"/>
          <p:cNvSpPr txBox="1"/>
          <p:nvPr/>
        </p:nvSpPr>
        <p:spPr>
          <a:xfrm>
            <a:off x="571500" y="2433657"/>
            <a:ext cx="1286700" cy="2772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取り組み内容</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30" name="Google Shape;1030;p19"/>
          <p:cNvSpPr txBox="1"/>
          <p:nvPr/>
        </p:nvSpPr>
        <p:spPr>
          <a:xfrm>
            <a:off x="582646" y="2757578"/>
            <a:ext cx="6627000" cy="7035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ja-JP" altLang="en-US"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アンケート収集から、自由記述回答（非構造化データ）の抽出、傾向分析、重要因子の特定、そして示唆（インサイト）を含めたレポート草案の作成までを自動化するパイプラインを構築。コンサルタントが手作業で行っていた集計作業と初版作成を</a:t>
            </a:r>
            <a:r>
              <a:rPr kumimoji="0" lang="en-US" altLang="ja-JP"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AI</a:t>
            </a:r>
            <a:r>
              <a:rPr kumimoji="0" lang="ja-JP" altLang="en-US"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が代替し、人間は最終的な付加価値判断に集中できる環境を実現しました。</a:t>
            </a:r>
            <a:endParaRPr kumimoji="0"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31" name="Google Shape;1031;p19"/>
          <p:cNvSpPr/>
          <p:nvPr/>
        </p:nvSpPr>
        <p:spPr>
          <a:xfrm>
            <a:off x="571500" y="5144450"/>
            <a:ext cx="6400800" cy="1117800"/>
          </a:xfrm>
          <a:prstGeom prst="roundRect">
            <a:avLst>
              <a:gd name="adj" fmla="val 2318"/>
            </a:avLst>
          </a:prstGeom>
          <a:solidFill>
            <a:schemeClr val="lt1"/>
          </a:solidFill>
          <a:ln w="12700" cap="flat" cmpd="sng">
            <a:solidFill>
              <a:srgbClr val="F2F2F2"/>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32" name="Google Shape;1032;p19"/>
          <p:cNvSpPr txBox="1"/>
          <p:nvPr/>
        </p:nvSpPr>
        <p:spPr>
          <a:xfrm>
            <a:off x="961949" y="5230343"/>
            <a:ext cx="30621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成功のポイント</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33" name="Google Shape;1033;p19"/>
          <p:cNvSpPr txBox="1"/>
          <p:nvPr/>
        </p:nvSpPr>
        <p:spPr>
          <a:xfrm>
            <a:off x="771754" y="5458943"/>
            <a:ext cx="6099000" cy="7254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ナレッジが言語化されており、アウトプットの「型」が決まっている専門領域（例：定期的な調査レポートなど）においては、非常に高いレベルでの半自動化が可能です。定型化可能なプロセスを</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AI</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に委譲することで、生産性を飛躍的に向上させることができます。</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34" name="Google Shape;1034;p19"/>
          <p:cNvSpPr/>
          <p:nvPr/>
        </p:nvSpPr>
        <p:spPr>
          <a:xfrm>
            <a:off x="7353605" y="2768966"/>
            <a:ext cx="4267500" cy="2199900"/>
          </a:xfrm>
          <a:prstGeom prst="roundRect">
            <a:avLst>
              <a:gd name="adj" fmla="val 1181"/>
            </a:avLst>
          </a:prstGeom>
          <a:solidFill>
            <a:schemeClr val="lt1"/>
          </a:solidFill>
          <a:ln w="12700" cap="flat" cmpd="sng">
            <a:solidFill>
              <a:srgbClr val="F2F2F2"/>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35" name="Google Shape;1035;p19"/>
          <p:cNvSpPr/>
          <p:nvPr/>
        </p:nvSpPr>
        <p:spPr>
          <a:xfrm>
            <a:off x="7591349" y="3700334"/>
            <a:ext cx="3791100" cy="9000"/>
          </a:xfrm>
          <a:prstGeom prst="rect">
            <a:avLst/>
          </a:prstGeom>
          <a:solidFill>
            <a:schemeClr val="dk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36" name="Google Shape;1036;p19"/>
          <p:cNvSpPr txBox="1"/>
          <p:nvPr/>
        </p:nvSpPr>
        <p:spPr>
          <a:xfrm>
            <a:off x="7591349" y="3006710"/>
            <a:ext cx="144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クライアント </a:t>
            </a: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 </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業界</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37" name="Google Shape;1037;p19"/>
          <p:cNvSpPr txBox="1"/>
          <p:nvPr/>
        </p:nvSpPr>
        <p:spPr>
          <a:xfrm>
            <a:off x="7905930" y="3284994"/>
            <a:ext cx="30858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五大商社子会社（コンサルティング・調査）</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38" name="Google Shape;1038;p19"/>
          <p:cNvSpPr txBox="1"/>
          <p:nvPr/>
        </p:nvSpPr>
        <p:spPr>
          <a:xfrm>
            <a:off x="7591349" y="3854359"/>
            <a:ext cx="144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使用技術・タグ</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39" name="Google Shape;1039;p19"/>
          <p:cNvSpPr/>
          <p:nvPr/>
        </p:nvSpPr>
        <p:spPr>
          <a:xfrm>
            <a:off x="7591349" y="4158854"/>
            <a:ext cx="12459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40" name="Google Shape;1040;p19"/>
          <p:cNvSpPr/>
          <p:nvPr/>
        </p:nvSpPr>
        <p:spPr>
          <a:xfrm>
            <a:off x="8909637" y="4158854"/>
            <a:ext cx="7425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41" name="Google Shape;1041;p19"/>
          <p:cNvSpPr/>
          <p:nvPr/>
        </p:nvSpPr>
        <p:spPr>
          <a:xfrm>
            <a:off x="9721347" y="4158854"/>
            <a:ext cx="9999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42" name="Google Shape;1042;p19"/>
          <p:cNvSpPr/>
          <p:nvPr/>
        </p:nvSpPr>
        <p:spPr>
          <a:xfrm>
            <a:off x="7591349" y="4483466"/>
            <a:ext cx="14325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43" name="Google Shape;1043;p19"/>
          <p:cNvSpPr/>
          <p:nvPr/>
        </p:nvSpPr>
        <p:spPr>
          <a:xfrm>
            <a:off x="9113069" y="4483466"/>
            <a:ext cx="8169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44" name="Google Shape;1044;p19"/>
          <p:cNvSpPr txBox="1"/>
          <p:nvPr/>
        </p:nvSpPr>
        <p:spPr>
          <a:xfrm>
            <a:off x="7591349" y="4197259"/>
            <a:ext cx="1440000" cy="1620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 </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大規模言語モデル</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45" name="Google Shape;1045;p19"/>
          <p:cNvSpPr txBox="1"/>
          <p:nvPr/>
        </p:nvSpPr>
        <p:spPr>
          <a:xfrm>
            <a:off x="9023937" y="4197259"/>
            <a:ext cx="1440000" cy="1725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#RAG</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検索</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46" name="Google Shape;1046;p19"/>
          <p:cNvSpPr txBox="1"/>
          <p:nvPr/>
        </p:nvSpPr>
        <p:spPr>
          <a:xfrm>
            <a:off x="9854371" y="4183083"/>
            <a:ext cx="1440000" cy="2022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エージェント</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47" name="Google Shape;1047;p19"/>
          <p:cNvSpPr txBox="1"/>
          <p:nvPr/>
        </p:nvSpPr>
        <p:spPr>
          <a:xfrm>
            <a:off x="7591348" y="4471768"/>
            <a:ext cx="1653460" cy="212088"/>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非構造化データ構造化</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48" name="Google Shape;1048;p19"/>
          <p:cNvSpPr txBox="1"/>
          <p:nvPr/>
        </p:nvSpPr>
        <p:spPr>
          <a:xfrm>
            <a:off x="9165008" y="4489012"/>
            <a:ext cx="1440000" cy="177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分析・生成</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49" name="Google Shape;1049;p19"/>
          <p:cNvSpPr/>
          <p:nvPr/>
        </p:nvSpPr>
        <p:spPr>
          <a:xfrm>
            <a:off x="7353605" y="5145594"/>
            <a:ext cx="4267500" cy="1117800"/>
          </a:xfrm>
          <a:prstGeom prst="roundRect">
            <a:avLst>
              <a:gd name="adj" fmla="val 3850"/>
            </a:avLst>
          </a:prstGeom>
          <a:solidFill>
            <a:schemeClr val="lt1"/>
          </a:solidFill>
          <a:ln w="12700" cap="flat" cmpd="sng">
            <a:solidFill>
              <a:srgbClr val="F2F2F2"/>
            </a:solidFill>
            <a:prstDash val="solid"/>
            <a:round/>
            <a:headEnd type="none" w="sm" len="sm"/>
            <a:tailEnd type="none" w="sm" len="sm"/>
          </a:ln>
          <a:effectLst>
            <a:outerShdw dist="12700" dir="16200000" sx="1000" sy="1000" algn="bl" rotWithShape="0">
              <a:srgbClr val="000000"/>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cxnSp>
        <p:nvCxnSpPr>
          <p:cNvPr id="1050" name="Google Shape;1050;p19"/>
          <p:cNvCxnSpPr/>
          <p:nvPr/>
        </p:nvCxnSpPr>
        <p:spPr>
          <a:xfrm>
            <a:off x="1767578" y="4352256"/>
            <a:ext cx="128100" cy="0"/>
          </a:xfrm>
          <a:prstGeom prst="straightConnector1">
            <a:avLst/>
          </a:prstGeom>
          <a:noFill/>
          <a:ln w="9525" cap="flat" cmpd="sng">
            <a:solidFill>
              <a:schemeClr val="dk2"/>
            </a:solidFill>
            <a:prstDash val="solid"/>
            <a:round/>
            <a:headEnd type="none" w="sm" len="sm"/>
            <a:tailEnd type="triangle" w="med" len="med"/>
          </a:ln>
        </p:spPr>
      </p:cxnSp>
      <p:cxnSp>
        <p:nvCxnSpPr>
          <p:cNvPr id="1051" name="Google Shape;1051;p19"/>
          <p:cNvCxnSpPr/>
          <p:nvPr/>
        </p:nvCxnSpPr>
        <p:spPr>
          <a:xfrm>
            <a:off x="3027668" y="4359402"/>
            <a:ext cx="128100" cy="0"/>
          </a:xfrm>
          <a:prstGeom prst="straightConnector1">
            <a:avLst/>
          </a:prstGeom>
          <a:noFill/>
          <a:ln w="9525" cap="flat" cmpd="sng">
            <a:solidFill>
              <a:schemeClr val="dk2"/>
            </a:solidFill>
            <a:prstDash val="solid"/>
            <a:round/>
            <a:headEnd type="none" w="sm" len="sm"/>
            <a:tailEnd type="triangle" w="med" len="med"/>
          </a:ln>
        </p:spPr>
      </p:cxnSp>
      <p:pic>
        <p:nvPicPr>
          <p:cNvPr id="1052" name="Google Shape;1052;p19" descr="ライト: オン 単色塗りつぶし"/>
          <p:cNvPicPr preferRelativeResize="0"/>
          <p:nvPr/>
        </p:nvPicPr>
        <p:blipFill rotWithShape="1">
          <a:blip r:embed="rId4">
            <a:alphaModFix/>
          </a:blip>
          <a:srcRect/>
          <a:stretch/>
        </p:blipFill>
        <p:spPr>
          <a:xfrm>
            <a:off x="635010" y="5182118"/>
            <a:ext cx="307736" cy="307736"/>
          </a:xfrm>
          <a:prstGeom prst="rect">
            <a:avLst/>
          </a:prstGeom>
          <a:noFill/>
          <a:ln>
            <a:noFill/>
          </a:ln>
        </p:spPr>
      </p:pic>
      <p:cxnSp>
        <p:nvCxnSpPr>
          <p:cNvPr id="1053" name="Google Shape;1053;p19"/>
          <p:cNvCxnSpPr/>
          <p:nvPr/>
        </p:nvCxnSpPr>
        <p:spPr>
          <a:xfrm>
            <a:off x="4299508" y="4369723"/>
            <a:ext cx="128100" cy="0"/>
          </a:xfrm>
          <a:prstGeom prst="straightConnector1">
            <a:avLst/>
          </a:prstGeom>
          <a:noFill/>
          <a:ln w="9525" cap="flat" cmpd="sng">
            <a:solidFill>
              <a:schemeClr val="dk2"/>
            </a:solidFill>
            <a:prstDash val="solid"/>
            <a:round/>
            <a:headEnd type="none" w="sm" len="sm"/>
            <a:tailEnd type="triangle" w="med" len="med"/>
          </a:ln>
        </p:spPr>
      </p:cxnSp>
      <p:sp>
        <p:nvSpPr>
          <p:cNvPr id="1054" name="Google Shape;1054;p19"/>
          <p:cNvSpPr txBox="1"/>
          <p:nvPr/>
        </p:nvSpPr>
        <p:spPr>
          <a:xfrm>
            <a:off x="4597674" y="2075130"/>
            <a:ext cx="22413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標準化の実現</a:t>
            </a:r>
            <a:endParaRPr kumimoji="0"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55" name="Google Shape;1055;p19"/>
          <p:cNvSpPr txBox="1"/>
          <p:nvPr/>
        </p:nvSpPr>
        <p:spPr>
          <a:xfrm>
            <a:off x="8310111" y="1871558"/>
            <a:ext cx="22413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レポート納品スピードの</a:t>
            </a:r>
            <a:endParaRPr kumimoji="0"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56" name="Google Shape;1056;p19"/>
          <p:cNvSpPr txBox="1"/>
          <p:nvPr/>
        </p:nvSpPr>
        <p:spPr>
          <a:xfrm>
            <a:off x="8323638" y="2091044"/>
            <a:ext cx="22413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劇的な向上</a:t>
            </a:r>
            <a:endParaRPr kumimoji="0"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57" name="Google Shape;1057;p19"/>
          <p:cNvSpPr txBox="1"/>
          <p:nvPr/>
        </p:nvSpPr>
        <p:spPr>
          <a:xfrm>
            <a:off x="7965591" y="5465606"/>
            <a:ext cx="2100300" cy="1911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従業員エンゲージメントサーベイ</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58" name="Google Shape;1058;p19"/>
          <p:cNvSpPr txBox="1"/>
          <p:nvPr/>
        </p:nvSpPr>
        <p:spPr>
          <a:xfrm>
            <a:off x="7964098" y="5726092"/>
            <a:ext cx="1834200" cy="1911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採用面接フィードバック集約</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59" name="Google Shape;1059;p19"/>
          <p:cNvSpPr txBox="1"/>
          <p:nvPr/>
        </p:nvSpPr>
        <p:spPr>
          <a:xfrm>
            <a:off x="7964098" y="5989455"/>
            <a:ext cx="160956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顧客満足度調査 </a:t>
            </a: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(CS)</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60" name="Google Shape;1060;p19"/>
          <p:cNvSpPr/>
          <p:nvPr/>
        </p:nvSpPr>
        <p:spPr>
          <a:xfrm>
            <a:off x="725117" y="4017122"/>
            <a:ext cx="961800" cy="635400"/>
          </a:xfrm>
          <a:prstGeom prst="roundRect">
            <a:avLst>
              <a:gd name="adj" fmla="val 10635"/>
            </a:avLst>
          </a:prstGeom>
          <a:noFill/>
          <a:ln w="12700" cap="flat" cmpd="sng">
            <a:solidFill>
              <a:srgbClr val="D8D8D8"/>
            </a:solidFill>
            <a:prstDash val="solid"/>
            <a:round/>
            <a:headEnd type="none" w="sm" len="sm"/>
            <a:tailEnd type="none" w="sm" len="sm"/>
          </a:ln>
          <a:effectLst>
            <a:outerShdw dist="12700" sx="1000" sy="1000" algn="bl" rotWithShape="0">
              <a:srgbClr val="000000"/>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61" name="Google Shape;1061;p19"/>
          <p:cNvSpPr txBox="1"/>
          <p:nvPr/>
        </p:nvSpPr>
        <p:spPr>
          <a:xfrm>
            <a:off x="784552" y="4321433"/>
            <a:ext cx="836700" cy="3723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アンケート</a:t>
            </a:r>
            <a:b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b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収集</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62" name="Google Shape;1062;p19"/>
          <p:cNvSpPr/>
          <p:nvPr/>
        </p:nvSpPr>
        <p:spPr>
          <a:xfrm>
            <a:off x="1986074" y="4023381"/>
            <a:ext cx="961800" cy="629100"/>
          </a:xfrm>
          <a:prstGeom prst="roundRect">
            <a:avLst>
              <a:gd name="adj" fmla="val 17618"/>
            </a:avLst>
          </a:prstGeom>
          <a:noFill/>
          <a:ln w="12700" cap="flat" cmpd="sng">
            <a:solidFill>
              <a:srgbClr val="D8D8D8"/>
            </a:solidFill>
            <a:prstDash val="solid"/>
            <a:round/>
            <a:headEnd type="none" w="sm" len="sm"/>
            <a:tailEnd type="none" w="sm" len="sm"/>
          </a:ln>
          <a:effectLst>
            <a:outerShdw dist="12700" sx="1000" sy="1000" algn="bl" rotWithShape="0">
              <a:srgbClr val="000000"/>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63" name="Google Shape;1063;p19"/>
          <p:cNvSpPr/>
          <p:nvPr/>
        </p:nvSpPr>
        <p:spPr>
          <a:xfrm>
            <a:off x="3247032" y="4023381"/>
            <a:ext cx="961800" cy="629100"/>
          </a:xfrm>
          <a:prstGeom prst="roundRect">
            <a:avLst>
              <a:gd name="adj" fmla="val 17618"/>
            </a:avLst>
          </a:prstGeom>
          <a:noFill/>
          <a:ln w="12700" cap="flat" cmpd="sng">
            <a:solidFill>
              <a:srgbClr val="D8D8D8"/>
            </a:solidFill>
            <a:prstDash val="solid"/>
            <a:round/>
            <a:headEnd type="none" w="sm" len="sm"/>
            <a:tailEnd type="none" w="sm" len="sm"/>
          </a:ln>
          <a:effectLst>
            <a:outerShdw dist="12700" sx="1000" sy="1000" algn="bl" rotWithShape="0">
              <a:srgbClr val="000000"/>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64" name="Google Shape;1064;p19"/>
          <p:cNvSpPr txBox="1"/>
          <p:nvPr/>
        </p:nvSpPr>
        <p:spPr>
          <a:xfrm>
            <a:off x="2059159" y="4430851"/>
            <a:ext cx="845700" cy="1812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自由記述</a:t>
            </a:r>
            <a:b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b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抽出</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65" name="Google Shape;1065;p19"/>
          <p:cNvSpPr txBox="1"/>
          <p:nvPr/>
        </p:nvSpPr>
        <p:spPr>
          <a:xfrm>
            <a:off x="3327688" y="4436560"/>
            <a:ext cx="845700" cy="1812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分析・構造化</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66" name="Google Shape;1066;p19"/>
          <p:cNvSpPr/>
          <p:nvPr/>
        </p:nvSpPr>
        <p:spPr>
          <a:xfrm>
            <a:off x="4507989" y="4023381"/>
            <a:ext cx="961800" cy="629100"/>
          </a:xfrm>
          <a:prstGeom prst="roundRect">
            <a:avLst>
              <a:gd name="adj" fmla="val 17618"/>
            </a:avLst>
          </a:prstGeom>
          <a:noFill/>
          <a:ln w="12700" cap="flat" cmpd="sng">
            <a:solidFill>
              <a:srgbClr val="D8D8D8"/>
            </a:solidFill>
            <a:prstDash val="solid"/>
            <a:round/>
            <a:headEnd type="none" w="sm" len="sm"/>
            <a:tailEnd type="none" w="sm" len="sm"/>
          </a:ln>
          <a:effectLst>
            <a:outerShdw dist="12700" sx="1000" sy="1000" algn="bl" rotWithShape="0">
              <a:srgbClr val="000000"/>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67" name="Google Shape;1067;p19"/>
          <p:cNvSpPr txBox="1"/>
          <p:nvPr/>
        </p:nvSpPr>
        <p:spPr>
          <a:xfrm>
            <a:off x="4682182" y="4430850"/>
            <a:ext cx="597900" cy="1812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示唆出し</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68" name="Google Shape;1068;p19"/>
          <p:cNvSpPr/>
          <p:nvPr/>
        </p:nvSpPr>
        <p:spPr>
          <a:xfrm>
            <a:off x="5769861" y="4023381"/>
            <a:ext cx="961800" cy="629100"/>
          </a:xfrm>
          <a:prstGeom prst="roundRect">
            <a:avLst>
              <a:gd name="adj" fmla="val 17618"/>
            </a:avLst>
          </a:prstGeom>
          <a:noFill/>
          <a:ln w="12700" cap="flat" cmpd="sng">
            <a:solidFill>
              <a:srgbClr val="D8D8D8"/>
            </a:solidFill>
            <a:prstDash val="solid"/>
            <a:round/>
            <a:headEnd type="none" w="sm" len="sm"/>
            <a:tailEnd type="none" w="sm" len="sm"/>
          </a:ln>
          <a:effectLst>
            <a:outerShdw dist="12700" sx="1000" sy="1000" algn="bl" rotWithShape="0">
              <a:srgbClr val="000000"/>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69" name="Google Shape;1069;p19"/>
          <p:cNvSpPr txBox="1"/>
          <p:nvPr/>
        </p:nvSpPr>
        <p:spPr>
          <a:xfrm>
            <a:off x="5827925" y="4430849"/>
            <a:ext cx="845700" cy="1812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レポート草案</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70" name="Google Shape;1070;p19"/>
          <p:cNvSpPr/>
          <p:nvPr/>
        </p:nvSpPr>
        <p:spPr>
          <a:xfrm>
            <a:off x="10015856" y="4481492"/>
            <a:ext cx="13602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71" name="Google Shape;1071;p19"/>
          <p:cNvSpPr txBox="1"/>
          <p:nvPr/>
        </p:nvSpPr>
        <p:spPr>
          <a:xfrm>
            <a:off x="10130157" y="4489012"/>
            <a:ext cx="1440000" cy="177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ワークフロー自動化</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72" name="Google Shape;1072;p19"/>
          <p:cNvSpPr txBox="1"/>
          <p:nvPr/>
        </p:nvSpPr>
        <p:spPr>
          <a:xfrm>
            <a:off x="7552944" y="5233467"/>
            <a:ext cx="144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関連する応用例</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cxnSp>
        <p:nvCxnSpPr>
          <p:cNvPr id="1073" name="Google Shape;1073;p19"/>
          <p:cNvCxnSpPr/>
          <p:nvPr/>
        </p:nvCxnSpPr>
        <p:spPr>
          <a:xfrm>
            <a:off x="5559255" y="4370180"/>
            <a:ext cx="128100" cy="0"/>
          </a:xfrm>
          <a:prstGeom prst="straightConnector1">
            <a:avLst/>
          </a:prstGeom>
          <a:noFill/>
          <a:ln w="9525" cap="flat" cmpd="sng">
            <a:solidFill>
              <a:schemeClr val="dk2"/>
            </a:solidFill>
            <a:prstDash val="solid"/>
            <a:round/>
            <a:headEnd type="none" w="sm" len="sm"/>
            <a:tailEnd type="triangle" w="med" len="med"/>
          </a:ln>
        </p:spPr>
      </p:cxnSp>
      <p:pic>
        <p:nvPicPr>
          <p:cNvPr id="1074" name="Google Shape;1074;p19" descr="笑顔 (塗りつぶし) 単色塗りつぶし"/>
          <p:cNvPicPr preferRelativeResize="0"/>
          <p:nvPr/>
        </p:nvPicPr>
        <p:blipFill rotWithShape="1">
          <a:blip r:embed="rId5">
            <a:alphaModFix/>
          </a:blip>
          <a:srcRect/>
          <a:stretch/>
        </p:blipFill>
        <p:spPr>
          <a:xfrm>
            <a:off x="7591349" y="5440111"/>
            <a:ext cx="221647" cy="221647"/>
          </a:xfrm>
          <a:prstGeom prst="rect">
            <a:avLst/>
          </a:prstGeom>
          <a:noFill/>
          <a:ln>
            <a:noFill/>
          </a:ln>
        </p:spPr>
      </p:pic>
      <p:pic>
        <p:nvPicPr>
          <p:cNvPr id="1075" name="Google Shape;1075;p19" descr="クリップボード 単色塗りつぶし"/>
          <p:cNvPicPr preferRelativeResize="0"/>
          <p:nvPr/>
        </p:nvPicPr>
        <p:blipFill rotWithShape="1">
          <a:blip r:embed="rId6">
            <a:alphaModFix/>
          </a:blip>
          <a:srcRect/>
          <a:stretch/>
        </p:blipFill>
        <p:spPr>
          <a:xfrm>
            <a:off x="1069275" y="4087062"/>
            <a:ext cx="291009" cy="291009"/>
          </a:xfrm>
          <a:prstGeom prst="rect">
            <a:avLst/>
          </a:prstGeom>
          <a:noFill/>
          <a:ln>
            <a:noFill/>
          </a:ln>
        </p:spPr>
      </p:pic>
      <p:pic>
        <p:nvPicPr>
          <p:cNvPr id="1076" name="Google Shape;1076;p19" descr="ユーザー 単色塗りつぶし"/>
          <p:cNvPicPr preferRelativeResize="0"/>
          <p:nvPr/>
        </p:nvPicPr>
        <p:blipFill rotWithShape="1">
          <a:blip r:embed="rId7">
            <a:alphaModFix/>
          </a:blip>
          <a:srcRect/>
          <a:stretch/>
        </p:blipFill>
        <p:spPr>
          <a:xfrm>
            <a:off x="7602361" y="5696591"/>
            <a:ext cx="221647" cy="221647"/>
          </a:xfrm>
          <a:prstGeom prst="rect">
            <a:avLst/>
          </a:prstGeom>
          <a:noFill/>
          <a:ln>
            <a:noFill/>
          </a:ln>
        </p:spPr>
      </p:pic>
      <p:pic>
        <p:nvPicPr>
          <p:cNvPr id="1077" name="Google Shape;1077;p19" descr="ドキュメント 単色塗りつぶし"/>
          <p:cNvPicPr preferRelativeResize="0"/>
          <p:nvPr/>
        </p:nvPicPr>
        <p:blipFill rotWithShape="1">
          <a:blip r:embed="rId8">
            <a:alphaModFix/>
          </a:blip>
          <a:srcRect/>
          <a:stretch/>
        </p:blipFill>
        <p:spPr>
          <a:xfrm>
            <a:off x="6105330" y="4112322"/>
            <a:ext cx="291009" cy="291009"/>
          </a:xfrm>
          <a:prstGeom prst="rect">
            <a:avLst/>
          </a:prstGeom>
          <a:noFill/>
          <a:ln>
            <a:noFill/>
          </a:ln>
        </p:spPr>
      </p:pic>
      <p:pic>
        <p:nvPicPr>
          <p:cNvPr id="1078" name="Google Shape;1078;p19" descr="アイデアが浮かんだ人 単色塗りつぶし"/>
          <p:cNvPicPr preferRelativeResize="0"/>
          <p:nvPr/>
        </p:nvPicPr>
        <p:blipFill rotWithShape="1">
          <a:blip r:embed="rId9">
            <a:alphaModFix/>
          </a:blip>
          <a:srcRect/>
          <a:stretch/>
        </p:blipFill>
        <p:spPr>
          <a:xfrm>
            <a:off x="4834432" y="4117189"/>
            <a:ext cx="291009" cy="291009"/>
          </a:xfrm>
          <a:prstGeom prst="rect">
            <a:avLst/>
          </a:prstGeom>
          <a:noFill/>
          <a:ln>
            <a:noFill/>
          </a:ln>
        </p:spPr>
      </p:pic>
      <p:pic>
        <p:nvPicPr>
          <p:cNvPr id="1079" name="Google Shape;1079;p19" descr="円グラフ 単色塗りつぶし"/>
          <p:cNvPicPr preferRelativeResize="0"/>
          <p:nvPr/>
        </p:nvPicPr>
        <p:blipFill rotWithShape="1">
          <a:blip r:embed="rId10">
            <a:alphaModFix/>
          </a:blip>
          <a:srcRect/>
          <a:stretch/>
        </p:blipFill>
        <p:spPr>
          <a:xfrm>
            <a:off x="3569431" y="4119697"/>
            <a:ext cx="291009" cy="291009"/>
          </a:xfrm>
          <a:prstGeom prst="rect">
            <a:avLst/>
          </a:prstGeom>
          <a:noFill/>
          <a:ln>
            <a:noFill/>
          </a:ln>
        </p:spPr>
      </p:pic>
      <p:pic>
        <p:nvPicPr>
          <p:cNvPr id="1080" name="Google Shape;1080;p19" descr="フィルター 単色塗りつぶし"/>
          <p:cNvPicPr preferRelativeResize="0"/>
          <p:nvPr/>
        </p:nvPicPr>
        <p:blipFill rotWithShape="1">
          <a:blip r:embed="rId11">
            <a:alphaModFix/>
          </a:blip>
          <a:srcRect/>
          <a:stretch/>
        </p:blipFill>
        <p:spPr>
          <a:xfrm>
            <a:off x="2336743" y="4120147"/>
            <a:ext cx="291009" cy="291009"/>
          </a:xfrm>
          <a:prstGeom prst="rect">
            <a:avLst/>
          </a:prstGeom>
          <a:noFill/>
          <a:ln>
            <a:noFill/>
          </a:ln>
        </p:spPr>
      </p:pic>
      <p:pic>
        <p:nvPicPr>
          <p:cNvPr id="1081" name="Google Shape;1081;p19" descr="クリップボード 単色塗りつぶし"/>
          <p:cNvPicPr preferRelativeResize="0"/>
          <p:nvPr/>
        </p:nvPicPr>
        <p:blipFill rotWithShape="1">
          <a:blip r:embed="rId6">
            <a:alphaModFix/>
          </a:blip>
          <a:srcRect/>
          <a:stretch/>
        </p:blipFill>
        <p:spPr>
          <a:xfrm>
            <a:off x="7608127" y="5958623"/>
            <a:ext cx="221647" cy="221647"/>
          </a:xfrm>
          <a:prstGeom prst="rect">
            <a:avLst/>
          </a:prstGeom>
          <a:noFill/>
          <a:ln>
            <a:noFill/>
          </a:ln>
        </p:spPr>
      </p:pic>
      <p:pic>
        <p:nvPicPr>
          <p:cNvPr id="1082" name="Google Shape;1082;p19" descr="建物 単色塗りつぶし"/>
          <p:cNvPicPr preferRelativeResize="0"/>
          <p:nvPr/>
        </p:nvPicPr>
        <p:blipFill rotWithShape="1">
          <a:blip r:embed="rId12">
            <a:alphaModFix/>
          </a:blip>
          <a:srcRect/>
          <a:stretch/>
        </p:blipFill>
        <p:spPr>
          <a:xfrm>
            <a:off x="7512213" y="3220588"/>
            <a:ext cx="307736" cy="307736"/>
          </a:xfrm>
          <a:prstGeom prst="rect">
            <a:avLst/>
          </a:prstGeom>
          <a:noFill/>
          <a:ln>
            <a:noFill/>
          </a:ln>
        </p:spPr>
      </p:pic>
      <p:sp>
        <p:nvSpPr>
          <p:cNvPr id="1083" name="Google Shape;1083;p19"/>
          <p:cNvSpPr txBox="1">
            <a:spLocks noGrp="1"/>
          </p:cNvSpPr>
          <p:nvPr>
            <p:ph type="ftr" idx="11"/>
          </p:nvPr>
        </p:nvSpPr>
        <p:spPr>
          <a:xfrm>
            <a:off x="9687698" y="6514831"/>
            <a:ext cx="2109696" cy="216000"/>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ja-JP" sz="1000" b="0" i="0" u="none" strike="noStrike" kern="0" cap="none" spc="0" normalizeH="0" baseline="0" noProof="0">
                <a:ln>
                  <a:noFill/>
                </a:ln>
                <a:solidFill>
                  <a:srgbClr val="BFBFBF"/>
                </a:solidFill>
                <a:effectLst/>
                <a:uLnTx/>
                <a:uFillTx/>
                <a:latin typeface="Arial"/>
                <a:ea typeface="Arial"/>
                <a:cs typeface="Arial"/>
                <a:sym typeface="Arial"/>
              </a:rPr>
              <a:t>©️ 2026 Boost Consulting, Inc.</a:t>
            </a:r>
            <a:endParaRPr kumimoji="0" sz="1000" b="0" i="0" u="none" strike="noStrike" kern="0" cap="none" spc="0" normalizeH="0" baseline="0" noProof="0">
              <a:ln>
                <a:noFill/>
              </a:ln>
              <a:solidFill>
                <a:srgbClr val="BFBFBF"/>
              </a:solidFill>
              <a:effectLst/>
              <a:uLnTx/>
              <a:uFillTx/>
              <a:latin typeface="Arial"/>
              <a:ea typeface="Arial"/>
              <a:cs typeface="Arial"/>
              <a:sym typeface="Arial"/>
            </a:endParaRPr>
          </a:p>
        </p:txBody>
      </p:sp>
    </p:spTree>
    <p:extLst>
      <p:ext uri="{BB962C8B-B14F-4D97-AF65-F5344CB8AC3E}">
        <p14:creationId xmlns:p14="http://schemas.microsoft.com/office/powerpoint/2010/main" val="1046052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p20"/>
          <p:cNvSpPr txBox="1">
            <a:spLocks noGrp="1"/>
          </p:cNvSpPr>
          <p:nvPr>
            <p:ph type="title"/>
          </p:nvPr>
        </p:nvSpPr>
        <p:spPr>
          <a:xfrm>
            <a:off x="340659" y="658641"/>
            <a:ext cx="11520000" cy="88803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Font typeface="Arial"/>
              <a:buNone/>
            </a:pPr>
            <a:r>
              <a:rPr lang="ja-JP">
                <a:sym typeface="Arial"/>
              </a:rPr>
              <a:t>08_M&amp;A初期検討（IM分析とシナジー案）</a:t>
            </a:r>
            <a:br>
              <a:rPr lang="ja-JP">
                <a:sym typeface="Arial"/>
              </a:rPr>
            </a:br>
            <a:r>
              <a:rPr lang="ja-JP">
                <a:sym typeface="Arial"/>
              </a:rPr>
              <a:t>IM(Information Memorandum)の自動解析によるスクリーニング高速化</a:t>
            </a:r>
            <a:endParaRPr/>
          </a:p>
        </p:txBody>
      </p:sp>
      <p:sp>
        <p:nvSpPr>
          <p:cNvPr id="1089" name="Google Shape;1089;p20"/>
          <p:cNvSpPr txBox="1">
            <a:spLocks noGrp="1"/>
          </p:cNvSpPr>
          <p:nvPr>
            <p:ph type="body" idx="3"/>
          </p:nvPr>
        </p:nvSpPr>
        <p:spPr>
          <a:xfrm>
            <a:off x="340306" y="233891"/>
            <a:ext cx="11520000" cy="258947"/>
          </a:xfrm>
          <a:prstGeom prst="rect">
            <a:avLst/>
          </a:prstGeom>
          <a:noFill/>
          <a:ln>
            <a:noFill/>
          </a:ln>
        </p:spPr>
        <p:txBody>
          <a:bodyPr spcFirstLastPara="1" wrap="square" lIns="91425" tIns="45700" rIns="91425" bIns="45700" anchor="ctr" anchorCtr="0">
            <a:noAutofit/>
          </a:bodyPr>
          <a:lstStyle/>
          <a:p>
            <a:pPr marL="228600" lvl="0" indent="-228600" algn="l" rtl="0">
              <a:lnSpc>
                <a:spcPct val="100000"/>
              </a:lnSpc>
              <a:spcBef>
                <a:spcPts val="0"/>
              </a:spcBef>
              <a:spcAft>
                <a:spcPts val="0"/>
              </a:spcAft>
              <a:buClr>
                <a:srgbClr val="2D5A41"/>
              </a:buClr>
              <a:buSzPts val="1600"/>
              <a:buNone/>
            </a:pPr>
            <a:r>
              <a:rPr lang="ja-JP" sz="1600">
                <a:solidFill>
                  <a:srgbClr val="2D5A41"/>
                </a:solidFill>
              </a:rPr>
              <a:t>弊社事例紹介</a:t>
            </a:r>
            <a:endParaRPr/>
          </a:p>
        </p:txBody>
      </p:sp>
      <p:sp>
        <p:nvSpPr>
          <p:cNvPr id="1090" name="Google Shape;1090;p20"/>
          <p:cNvSpPr/>
          <p:nvPr/>
        </p:nvSpPr>
        <p:spPr>
          <a:xfrm>
            <a:off x="571500" y="1333195"/>
            <a:ext cx="38400" cy="8001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91" name="Google Shape;1091;p20"/>
          <p:cNvSpPr/>
          <p:nvPr/>
        </p:nvSpPr>
        <p:spPr>
          <a:xfrm>
            <a:off x="6381598" y="1333195"/>
            <a:ext cx="38400" cy="800100"/>
          </a:xfrm>
          <a:prstGeom prst="rect">
            <a:avLst/>
          </a:prstGeom>
          <a:solidFill>
            <a:srgbClr val="000000">
              <a:alpha val="0"/>
            </a:srgb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92" name="Google Shape;1092;p20"/>
          <p:cNvSpPr/>
          <p:nvPr/>
        </p:nvSpPr>
        <p:spPr>
          <a:xfrm>
            <a:off x="571500" y="1508247"/>
            <a:ext cx="3562500" cy="794700"/>
          </a:xfrm>
          <a:prstGeom prst="rect">
            <a:avLst/>
          </a:prstGeom>
          <a:noFill/>
          <a:ln>
            <a:noFill/>
          </a:ln>
          <a:effectLst>
            <a:outerShdw blurRad="38100" dist="254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93" name="Google Shape;1093;p20"/>
          <p:cNvSpPr/>
          <p:nvPr/>
        </p:nvSpPr>
        <p:spPr>
          <a:xfrm>
            <a:off x="571500" y="1508247"/>
            <a:ext cx="45600" cy="794700"/>
          </a:xfrm>
          <a:prstGeom prst="rect">
            <a:avLst/>
          </a:prstGeom>
          <a:solidFill>
            <a:srgbClr val="2D5A4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94" name="Google Shape;1094;p20"/>
          <p:cNvSpPr/>
          <p:nvPr/>
        </p:nvSpPr>
        <p:spPr>
          <a:xfrm>
            <a:off x="8064094" y="1508247"/>
            <a:ext cx="3562500" cy="794700"/>
          </a:xfrm>
          <a:prstGeom prst="rect">
            <a:avLst/>
          </a:prstGeom>
          <a:noFill/>
          <a:ln>
            <a:noFill/>
          </a:ln>
          <a:effectLst>
            <a:outerShdw blurRad="38100" dist="254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95" name="Google Shape;1095;p20"/>
          <p:cNvSpPr/>
          <p:nvPr/>
        </p:nvSpPr>
        <p:spPr>
          <a:xfrm>
            <a:off x="8064094" y="1508247"/>
            <a:ext cx="45600" cy="794700"/>
          </a:xfrm>
          <a:prstGeom prst="rect">
            <a:avLst/>
          </a:prstGeom>
          <a:solidFill>
            <a:srgbClr val="2D5A4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96" name="Google Shape;1096;p20"/>
          <p:cNvSpPr/>
          <p:nvPr/>
        </p:nvSpPr>
        <p:spPr>
          <a:xfrm>
            <a:off x="4317797" y="1508247"/>
            <a:ext cx="3562500" cy="794700"/>
          </a:xfrm>
          <a:prstGeom prst="rect">
            <a:avLst/>
          </a:prstGeom>
          <a:noFill/>
          <a:ln>
            <a:noFill/>
          </a:ln>
          <a:effectLst>
            <a:outerShdw blurRad="38100" dist="25400" dir="5400000" algn="bl" rotWithShape="0">
              <a:srgbClr val="000000">
                <a:alpha val="4313"/>
              </a:srgbClr>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97" name="Google Shape;1097;p20"/>
          <p:cNvSpPr/>
          <p:nvPr/>
        </p:nvSpPr>
        <p:spPr>
          <a:xfrm>
            <a:off x="4317797" y="1508247"/>
            <a:ext cx="45600" cy="794700"/>
          </a:xfrm>
          <a:prstGeom prst="rect">
            <a:avLst/>
          </a:prstGeom>
          <a:solidFill>
            <a:srgbClr val="2D5A4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98" name="Google Shape;1098;p20"/>
          <p:cNvSpPr/>
          <p:nvPr/>
        </p:nvSpPr>
        <p:spPr>
          <a:xfrm>
            <a:off x="8292694" y="1680735"/>
            <a:ext cx="457200" cy="457200"/>
          </a:xfrm>
          <a:prstGeom prst="ellipse">
            <a:avLst/>
          </a:prstGeom>
          <a:solidFill>
            <a:srgbClr val="FFFFF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99" name="Google Shape;1099;p20"/>
          <p:cNvSpPr txBox="1"/>
          <p:nvPr/>
        </p:nvSpPr>
        <p:spPr>
          <a:xfrm>
            <a:off x="809244" y="1567641"/>
            <a:ext cx="11247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SPEED</a:t>
            </a:r>
            <a:endParaRPr kumimoji="0"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00" name="Google Shape;1100;p20"/>
          <p:cNvSpPr txBox="1"/>
          <p:nvPr/>
        </p:nvSpPr>
        <p:spPr>
          <a:xfrm>
            <a:off x="4546397" y="1566239"/>
            <a:ext cx="1239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STANDARDIZATION</a:t>
            </a:r>
            <a:endParaRPr kumimoji="0"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01" name="Google Shape;1101;p20"/>
          <p:cNvSpPr txBox="1"/>
          <p:nvPr/>
        </p:nvSpPr>
        <p:spPr>
          <a:xfrm>
            <a:off x="8292080" y="1564606"/>
            <a:ext cx="8577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EFFICIENCY</a:t>
            </a:r>
            <a:endParaRPr kumimoji="0" sz="9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02" name="Google Shape;1102;p20"/>
          <p:cNvSpPr txBox="1"/>
          <p:nvPr/>
        </p:nvSpPr>
        <p:spPr>
          <a:xfrm>
            <a:off x="8292080" y="1763945"/>
            <a:ext cx="19962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デューデリジェンス</a:t>
            </a:r>
            <a:r>
              <a:rPr kumimoji="0" lang="en-US" altLang="ja-JP"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(DD)</a:t>
            </a:r>
            <a:endParaRPr kumimoji="0"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03" name="Google Shape;1103;p20"/>
          <p:cNvSpPr txBox="1"/>
          <p:nvPr/>
        </p:nvSpPr>
        <p:spPr>
          <a:xfrm>
            <a:off x="8292080" y="2004432"/>
            <a:ext cx="13296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準備期間の短縮</a:t>
            </a:r>
            <a:endParaRPr kumimoji="0"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04" name="Google Shape;1104;p20"/>
          <p:cNvSpPr/>
          <p:nvPr/>
        </p:nvSpPr>
        <p:spPr>
          <a:xfrm>
            <a:off x="571500" y="2709252"/>
            <a:ext cx="6400800" cy="9000"/>
          </a:xfrm>
          <a:prstGeom prst="rect">
            <a:avLst/>
          </a:prstGeom>
          <a:solidFill>
            <a:schemeClr val="dk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1105" name="Google Shape;1105;p20" descr="preencoded.png"/>
          <p:cNvPicPr preferRelativeResize="0"/>
          <p:nvPr/>
        </p:nvPicPr>
        <p:blipFill rotWithShape="1">
          <a:blip r:embed="rId3">
            <a:alphaModFix/>
          </a:blip>
          <a:srcRect l="-989605" r="-989397"/>
          <a:stretch/>
        </p:blipFill>
        <p:spPr>
          <a:xfrm>
            <a:off x="571500" y="3003290"/>
            <a:ext cx="237744" cy="9144"/>
          </a:xfrm>
          <a:prstGeom prst="rect">
            <a:avLst/>
          </a:prstGeom>
          <a:noFill/>
          <a:ln>
            <a:noFill/>
          </a:ln>
        </p:spPr>
      </p:pic>
      <p:sp>
        <p:nvSpPr>
          <p:cNvPr id="1106" name="Google Shape;1106;p20"/>
          <p:cNvSpPr txBox="1"/>
          <p:nvPr/>
        </p:nvSpPr>
        <p:spPr>
          <a:xfrm>
            <a:off x="571500" y="2433657"/>
            <a:ext cx="1440000" cy="2772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取り組み内容</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07" name="Google Shape;1107;p20"/>
          <p:cNvSpPr txBox="1"/>
          <p:nvPr/>
        </p:nvSpPr>
        <p:spPr>
          <a:xfrm>
            <a:off x="582646" y="2757578"/>
            <a:ext cx="6627000" cy="7035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売り手企業から送付される</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IM</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Information Memorandum</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）の</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PDF</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を読み込み、財務数値、事業構造、潜在リスクを自動抽出。さらに、担当者の「見るべき観点」を学習した</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AI</a:t>
            </a: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エージェントが、シナジー案や評価ポイントを自動生成し、統一フォーマットで整理・出力するシステムを構築しました。</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08" name="Google Shape;1108;p20"/>
          <p:cNvSpPr/>
          <p:nvPr/>
        </p:nvSpPr>
        <p:spPr>
          <a:xfrm>
            <a:off x="571500" y="3645654"/>
            <a:ext cx="6400800" cy="1333200"/>
          </a:xfrm>
          <a:prstGeom prst="roundRect">
            <a:avLst>
              <a:gd name="adj" fmla="val 1845"/>
            </a:avLst>
          </a:prstGeom>
          <a:solidFill>
            <a:schemeClr val="lt1"/>
          </a:solidFill>
          <a:ln w="12700" cap="flat" cmpd="sng">
            <a:solidFill>
              <a:srgbClr val="F2F2F2"/>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09" name="Google Shape;1109;p20"/>
          <p:cNvSpPr txBox="1"/>
          <p:nvPr/>
        </p:nvSpPr>
        <p:spPr>
          <a:xfrm>
            <a:off x="1087992" y="4486634"/>
            <a:ext cx="1440000" cy="1881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IM (PDF)</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10" name="Google Shape;1110;p20"/>
          <p:cNvSpPr/>
          <p:nvPr/>
        </p:nvSpPr>
        <p:spPr>
          <a:xfrm>
            <a:off x="2458804" y="3854359"/>
            <a:ext cx="914400" cy="888600"/>
          </a:xfrm>
          <a:prstGeom prst="roundRect">
            <a:avLst>
              <a:gd name="adj" fmla="val 9090"/>
            </a:avLst>
          </a:prstGeom>
          <a:solidFill>
            <a:srgbClr val="FFFFFF"/>
          </a:solidFill>
          <a:ln w="9525" cap="flat" cmpd="sng">
            <a:solidFill>
              <a:srgbClr val="BFBFBF"/>
            </a:solidFill>
            <a:prstDash val="solid"/>
            <a:round/>
            <a:headEnd type="none" w="sm" len="sm"/>
            <a:tailEnd type="none" w="sm" len="sm"/>
          </a:ln>
          <a:effectLst>
            <a:outerShdw blurRad="12700" dist="12700" sx="1000" sy="1000" algn="bl" rotWithShape="0">
              <a:srgbClr val="000000"/>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11" name="Google Shape;1111;p20"/>
          <p:cNvSpPr txBox="1"/>
          <p:nvPr/>
        </p:nvSpPr>
        <p:spPr>
          <a:xfrm>
            <a:off x="2200819" y="4481793"/>
            <a:ext cx="1440000" cy="1911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解析</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Agent</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12" name="Google Shape;1112;p20"/>
          <p:cNvSpPr txBox="1"/>
          <p:nvPr/>
        </p:nvSpPr>
        <p:spPr>
          <a:xfrm>
            <a:off x="3620597" y="4502726"/>
            <a:ext cx="1440000" cy="205200"/>
          </a:xfrm>
          <a:prstGeom prst="rect">
            <a:avLst/>
          </a:prstGeom>
          <a:noFill/>
          <a:ln>
            <a:noFill/>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統一</a:t>
            </a:r>
            <a:r>
              <a:rPr kumimoji="0" lang="en-US" altLang="ja-JP"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FMT</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13" name="Google Shape;1113;p20"/>
          <p:cNvSpPr/>
          <p:nvPr/>
        </p:nvSpPr>
        <p:spPr>
          <a:xfrm>
            <a:off x="5524193" y="3931861"/>
            <a:ext cx="1000500" cy="228600"/>
          </a:xfrm>
          <a:prstGeom prst="roundRect">
            <a:avLst>
              <a:gd name="adj" fmla="val 66667"/>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14" name="Google Shape;1114;p20"/>
          <p:cNvSpPr txBox="1"/>
          <p:nvPr/>
        </p:nvSpPr>
        <p:spPr>
          <a:xfrm>
            <a:off x="5801424" y="3947033"/>
            <a:ext cx="1080000" cy="192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財務分析</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15" name="Google Shape;1115;p20"/>
          <p:cNvSpPr/>
          <p:nvPr/>
        </p:nvSpPr>
        <p:spPr>
          <a:xfrm>
            <a:off x="5524193" y="4198866"/>
            <a:ext cx="1000500" cy="228600"/>
          </a:xfrm>
          <a:prstGeom prst="roundRect">
            <a:avLst>
              <a:gd name="adj" fmla="val 66667"/>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16" name="Google Shape;1116;p20"/>
          <p:cNvSpPr txBox="1"/>
          <p:nvPr/>
        </p:nvSpPr>
        <p:spPr>
          <a:xfrm>
            <a:off x="5801424" y="4214038"/>
            <a:ext cx="1080000" cy="192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リスク抽出</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17" name="Google Shape;1117;p20"/>
          <p:cNvSpPr/>
          <p:nvPr/>
        </p:nvSpPr>
        <p:spPr>
          <a:xfrm>
            <a:off x="5524193" y="4464956"/>
            <a:ext cx="1000500" cy="228600"/>
          </a:xfrm>
          <a:prstGeom prst="roundRect">
            <a:avLst>
              <a:gd name="adj" fmla="val 66667"/>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18" name="Google Shape;1118;p20"/>
          <p:cNvSpPr txBox="1"/>
          <p:nvPr/>
        </p:nvSpPr>
        <p:spPr>
          <a:xfrm>
            <a:off x="5801424" y="4481043"/>
            <a:ext cx="1080000" cy="192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シナジー案</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19" name="Google Shape;1119;p20"/>
          <p:cNvSpPr/>
          <p:nvPr/>
        </p:nvSpPr>
        <p:spPr>
          <a:xfrm>
            <a:off x="571500" y="5145594"/>
            <a:ext cx="6400800" cy="1116600"/>
          </a:xfrm>
          <a:prstGeom prst="roundRect">
            <a:avLst>
              <a:gd name="adj" fmla="val 2318"/>
            </a:avLst>
          </a:prstGeom>
          <a:solidFill>
            <a:schemeClr val="lt1"/>
          </a:solidFill>
          <a:ln w="12700" cap="flat" cmpd="sng">
            <a:solidFill>
              <a:srgbClr val="F2F2F2"/>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20" name="Google Shape;1120;p20"/>
          <p:cNvSpPr txBox="1"/>
          <p:nvPr/>
        </p:nvSpPr>
        <p:spPr>
          <a:xfrm>
            <a:off x="961949" y="5230343"/>
            <a:ext cx="14400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成功のポイント</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21" name="Google Shape;1121;p20"/>
          <p:cNvSpPr txBox="1"/>
          <p:nvPr/>
        </p:nvSpPr>
        <p:spPr>
          <a:xfrm>
            <a:off x="771754" y="5458943"/>
            <a:ext cx="6123900" cy="7254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n-US" altLang="ja-JP"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IM</a:t>
            </a:r>
            <a:r>
              <a:rPr kumimoji="0" lang="ja-JP" altLang="en-US"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は企業ごとに形式が異なり比較が困難でしたが、統一</a:t>
            </a:r>
            <a:r>
              <a:rPr kumimoji="0" lang="en-US" altLang="ja-JP"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FMT</a:t>
            </a:r>
            <a:r>
              <a:rPr kumimoji="0" lang="ja-JP" altLang="en-US"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へ変換することで効率的な横並び比較が可能になりました。財務分析は参考程度とし、担当者が重視する定性的なチェックポイントをエージェントに実装することで実務に即した評価を実現しています。</a:t>
            </a:r>
            <a:endParaRPr kumimoji="0"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22" name="Google Shape;1122;p20"/>
          <p:cNvSpPr/>
          <p:nvPr/>
        </p:nvSpPr>
        <p:spPr>
          <a:xfrm>
            <a:off x="7353605" y="2768966"/>
            <a:ext cx="4267500" cy="2199900"/>
          </a:xfrm>
          <a:prstGeom prst="roundRect">
            <a:avLst>
              <a:gd name="adj" fmla="val 1181"/>
            </a:avLst>
          </a:prstGeom>
          <a:solidFill>
            <a:schemeClr val="lt1"/>
          </a:solidFill>
          <a:ln w="12700" cap="flat" cmpd="sng">
            <a:solidFill>
              <a:srgbClr val="F2F2F2"/>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23" name="Google Shape;1123;p20"/>
          <p:cNvSpPr/>
          <p:nvPr/>
        </p:nvSpPr>
        <p:spPr>
          <a:xfrm>
            <a:off x="7591349" y="3616615"/>
            <a:ext cx="3791100" cy="9000"/>
          </a:xfrm>
          <a:prstGeom prst="rect">
            <a:avLst/>
          </a:prstGeom>
          <a:solidFill>
            <a:srgbClr val="E5E7EB"/>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24" name="Google Shape;1124;p20"/>
          <p:cNvSpPr txBox="1"/>
          <p:nvPr/>
        </p:nvSpPr>
        <p:spPr>
          <a:xfrm>
            <a:off x="7591349" y="3006710"/>
            <a:ext cx="144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クライアント </a:t>
            </a: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 </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業界</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25" name="Google Shape;1125;p20"/>
          <p:cNvSpPr txBox="1"/>
          <p:nvPr/>
        </p:nvSpPr>
        <p:spPr>
          <a:xfrm>
            <a:off x="7862467" y="3274629"/>
            <a:ext cx="2128800" cy="2286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国内</a:t>
            </a: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PE</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ファンド </a:t>
            </a: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 </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金融・投資</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26" name="Google Shape;1126;p20"/>
          <p:cNvSpPr txBox="1"/>
          <p:nvPr/>
        </p:nvSpPr>
        <p:spPr>
          <a:xfrm>
            <a:off x="7591349" y="3854359"/>
            <a:ext cx="144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使用技術・タグ</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27" name="Google Shape;1127;p20"/>
          <p:cNvSpPr/>
          <p:nvPr/>
        </p:nvSpPr>
        <p:spPr>
          <a:xfrm>
            <a:off x="7591349" y="4158854"/>
            <a:ext cx="12099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28" name="Google Shape;1128;p20"/>
          <p:cNvSpPr/>
          <p:nvPr/>
        </p:nvSpPr>
        <p:spPr>
          <a:xfrm>
            <a:off x="8876081" y="4158854"/>
            <a:ext cx="10065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29" name="Google Shape;1129;p20"/>
          <p:cNvSpPr/>
          <p:nvPr/>
        </p:nvSpPr>
        <p:spPr>
          <a:xfrm>
            <a:off x="9949796" y="4158854"/>
            <a:ext cx="8070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30" name="Google Shape;1130;p20"/>
          <p:cNvSpPr/>
          <p:nvPr/>
        </p:nvSpPr>
        <p:spPr>
          <a:xfrm>
            <a:off x="7591349" y="4483466"/>
            <a:ext cx="14385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31" name="Google Shape;1131;p20"/>
          <p:cNvSpPr/>
          <p:nvPr/>
        </p:nvSpPr>
        <p:spPr>
          <a:xfrm>
            <a:off x="9104681" y="4483466"/>
            <a:ext cx="8865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32" name="Google Shape;1132;p20"/>
          <p:cNvSpPr/>
          <p:nvPr/>
        </p:nvSpPr>
        <p:spPr>
          <a:xfrm>
            <a:off x="10088592" y="4483466"/>
            <a:ext cx="993300" cy="247800"/>
          </a:xfrm>
          <a:prstGeom prst="roundRect">
            <a:avLst>
              <a:gd name="adj" fmla="val 227080"/>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33" name="Google Shape;1133;p20"/>
          <p:cNvSpPr txBox="1"/>
          <p:nvPr/>
        </p:nvSpPr>
        <p:spPr>
          <a:xfrm>
            <a:off x="7591349" y="4187780"/>
            <a:ext cx="126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大規模言語モデル</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34" name="Google Shape;1134;p20"/>
          <p:cNvSpPr txBox="1"/>
          <p:nvPr/>
        </p:nvSpPr>
        <p:spPr>
          <a:xfrm>
            <a:off x="8990381" y="4178330"/>
            <a:ext cx="1260000" cy="181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エージェント</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35" name="Google Shape;1135;p20"/>
          <p:cNvSpPr txBox="1"/>
          <p:nvPr/>
        </p:nvSpPr>
        <p:spPr>
          <a:xfrm>
            <a:off x="10064096" y="4178330"/>
            <a:ext cx="1260000" cy="181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#RAG</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検索</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36" name="Google Shape;1136;p20"/>
          <p:cNvSpPr txBox="1"/>
          <p:nvPr/>
        </p:nvSpPr>
        <p:spPr>
          <a:xfrm>
            <a:off x="7591349" y="4491541"/>
            <a:ext cx="1561944" cy="192315"/>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非構造化データ構造化</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37" name="Google Shape;1137;p20"/>
          <p:cNvSpPr txBox="1"/>
          <p:nvPr/>
        </p:nvSpPr>
        <p:spPr>
          <a:xfrm>
            <a:off x="9218981" y="4501448"/>
            <a:ext cx="1260000" cy="1725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判断自動化</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38" name="Google Shape;1138;p20"/>
          <p:cNvSpPr txBox="1"/>
          <p:nvPr/>
        </p:nvSpPr>
        <p:spPr>
          <a:xfrm>
            <a:off x="10202893" y="4506248"/>
            <a:ext cx="126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a:t>
            </a: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データ構造化</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39" name="Google Shape;1139;p20"/>
          <p:cNvSpPr/>
          <p:nvPr/>
        </p:nvSpPr>
        <p:spPr>
          <a:xfrm>
            <a:off x="7353605" y="5145594"/>
            <a:ext cx="4267500" cy="1117800"/>
          </a:xfrm>
          <a:prstGeom prst="roundRect">
            <a:avLst>
              <a:gd name="adj" fmla="val 3850"/>
            </a:avLst>
          </a:prstGeom>
          <a:solidFill>
            <a:schemeClr val="lt1"/>
          </a:solidFill>
          <a:ln w="12700" cap="flat" cmpd="sng">
            <a:solidFill>
              <a:srgbClr val="F2F2F2"/>
            </a:solidFill>
            <a:prstDash val="solid"/>
            <a:round/>
            <a:headEnd type="none" w="sm" len="sm"/>
            <a:tailEnd type="none" w="sm" len="sm"/>
          </a:ln>
          <a:effectLst>
            <a:outerShdw dist="12700" dir="16200000" sx="1000" sy="1000" algn="bl" rotWithShape="0">
              <a:srgbClr val="000000"/>
            </a:outerShdw>
          </a:effectLst>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40" name="Google Shape;1140;p20"/>
          <p:cNvSpPr txBox="1"/>
          <p:nvPr/>
        </p:nvSpPr>
        <p:spPr>
          <a:xfrm>
            <a:off x="7552944" y="5292190"/>
            <a:ext cx="1440000" cy="1629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ja-JP" altLang="en-US"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関連する応用例</a:t>
            </a:r>
            <a:endParaRPr kumimoji="0" sz="12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41" name="Google Shape;1141;p20"/>
          <p:cNvSpPr txBox="1"/>
          <p:nvPr/>
        </p:nvSpPr>
        <p:spPr>
          <a:xfrm>
            <a:off x="7910592" y="5575575"/>
            <a:ext cx="2520000" cy="1911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ベンダー選定資料の横並び比較</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42" name="Google Shape;1142;p20"/>
          <p:cNvSpPr txBox="1"/>
          <p:nvPr/>
        </p:nvSpPr>
        <p:spPr>
          <a:xfrm>
            <a:off x="7920193" y="5911203"/>
            <a:ext cx="2520000" cy="1911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ja-JP" altLang="en-US"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契約書・規約のリスクチェック</a:t>
            </a:r>
            <a:endParaRPr kumimoji="0" sz="14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1143" name="Google Shape;1143;p20" descr="建物 単色塗りつぶし"/>
          <p:cNvPicPr preferRelativeResize="0"/>
          <p:nvPr/>
        </p:nvPicPr>
        <p:blipFill rotWithShape="1">
          <a:blip r:embed="rId4">
            <a:alphaModFix/>
          </a:blip>
          <a:srcRect/>
          <a:stretch/>
        </p:blipFill>
        <p:spPr>
          <a:xfrm>
            <a:off x="7512213" y="3220588"/>
            <a:ext cx="307736" cy="307736"/>
          </a:xfrm>
          <a:prstGeom prst="rect">
            <a:avLst/>
          </a:prstGeom>
          <a:noFill/>
          <a:ln>
            <a:noFill/>
          </a:ln>
        </p:spPr>
      </p:pic>
      <p:pic>
        <p:nvPicPr>
          <p:cNvPr id="1144" name="Google Shape;1144;p20" descr="ライト: オン 単色塗りつぶし"/>
          <p:cNvPicPr preferRelativeResize="0"/>
          <p:nvPr/>
        </p:nvPicPr>
        <p:blipFill rotWithShape="1">
          <a:blip r:embed="rId5">
            <a:alphaModFix/>
          </a:blip>
          <a:srcRect/>
          <a:stretch/>
        </p:blipFill>
        <p:spPr>
          <a:xfrm>
            <a:off x="635010" y="5182118"/>
            <a:ext cx="307736" cy="307736"/>
          </a:xfrm>
          <a:prstGeom prst="rect">
            <a:avLst/>
          </a:prstGeom>
          <a:noFill/>
          <a:ln>
            <a:noFill/>
          </a:ln>
        </p:spPr>
      </p:pic>
      <p:pic>
        <p:nvPicPr>
          <p:cNvPr id="1145" name="Google Shape;1145;p20" descr="フォルダー検索 単色塗りつぶし"/>
          <p:cNvPicPr preferRelativeResize="0"/>
          <p:nvPr/>
        </p:nvPicPr>
        <p:blipFill rotWithShape="1">
          <a:blip r:embed="rId6">
            <a:alphaModFix/>
          </a:blip>
          <a:srcRect/>
          <a:stretch/>
        </p:blipFill>
        <p:spPr>
          <a:xfrm>
            <a:off x="1250839" y="4052286"/>
            <a:ext cx="307736" cy="307736"/>
          </a:xfrm>
          <a:prstGeom prst="rect">
            <a:avLst/>
          </a:prstGeom>
          <a:noFill/>
          <a:ln>
            <a:noFill/>
          </a:ln>
        </p:spPr>
      </p:pic>
      <p:cxnSp>
        <p:nvCxnSpPr>
          <p:cNvPr id="1146" name="Google Shape;1146;p20"/>
          <p:cNvCxnSpPr/>
          <p:nvPr/>
        </p:nvCxnSpPr>
        <p:spPr>
          <a:xfrm>
            <a:off x="2002058" y="4306897"/>
            <a:ext cx="128100" cy="0"/>
          </a:xfrm>
          <a:prstGeom prst="straightConnector1">
            <a:avLst/>
          </a:prstGeom>
          <a:noFill/>
          <a:ln w="9525" cap="flat" cmpd="sng">
            <a:solidFill>
              <a:schemeClr val="dk2"/>
            </a:solidFill>
            <a:prstDash val="solid"/>
            <a:round/>
            <a:headEnd type="none" w="sm" len="sm"/>
            <a:tailEnd type="triangle" w="med" len="med"/>
          </a:ln>
        </p:spPr>
      </p:cxnSp>
      <p:cxnSp>
        <p:nvCxnSpPr>
          <p:cNvPr id="1147" name="Google Shape;1147;p20"/>
          <p:cNvCxnSpPr/>
          <p:nvPr/>
        </p:nvCxnSpPr>
        <p:spPr>
          <a:xfrm>
            <a:off x="3705736" y="4306897"/>
            <a:ext cx="128100" cy="0"/>
          </a:xfrm>
          <a:prstGeom prst="straightConnector1">
            <a:avLst/>
          </a:prstGeom>
          <a:noFill/>
          <a:ln w="9525" cap="flat" cmpd="sng">
            <a:solidFill>
              <a:schemeClr val="dk2"/>
            </a:solidFill>
            <a:prstDash val="solid"/>
            <a:round/>
            <a:headEnd type="none" w="sm" len="sm"/>
            <a:tailEnd type="triangle" w="med" len="med"/>
          </a:ln>
        </p:spPr>
      </p:cxnSp>
      <p:cxnSp>
        <p:nvCxnSpPr>
          <p:cNvPr id="1148" name="Google Shape;1148;p20"/>
          <p:cNvCxnSpPr/>
          <p:nvPr/>
        </p:nvCxnSpPr>
        <p:spPr>
          <a:xfrm>
            <a:off x="5003597" y="4320066"/>
            <a:ext cx="128100" cy="0"/>
          </a:xfrm>
          <a:prstGeom prst="straightConnector1">
            <a:avLst/>
          </a:prstGeom>
          <a:noFill/>
          <a:ln w="9525" cap="flat" cmpd="sng">
            <a:solidFill>
              <a:schemeClr val="dk2"/>
            </a:solidFill>
            <a:prstDash val="solid"/>
            <a:round/>
            <a:headEnd type="none" w="sm" len="sm"/>
            <a:tailEnd type="triangle" w="med" len="med"/>
          </a:ln>
        </p:spPr>
      </p:cxnSp>
      <p:sp>
        <p:nvSpPr>
          <p:cNvPr id="1149" name="Google Shape;1149;p20"/>
          <p:cNvSpPr txBox="1"/>
          <p:nvPr/>
        </p:nvSpPr>
        <p:spPr>
          <a:xfrm>
            <a:off x="4546397" y="1763945"/>
            <a:ext cx="19962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論点整理の標準化と</a:t>
            </a:r>
            <a:endParaRPr kumimoji="0"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50" name="Google Shape;1150;p20"/>
          <p:cNvSpPr txBox="1"/>
          <p:nvPr/>
        </p:nvSpPr>
        <p:spPr>
          <a:xfrm>
            <a:off x="4546397" y="2004432"/>
            <a:ext cx="13296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横並び比較の実現</a:t>
            </a:r>
            <a:endParaRPr kumimoji="0"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51" name="Google Shape;1151;p20"/>
          <p:cNvSpPr txBox="1"/>
          <p:nvPr/>
        </p:nvSpPr>
        <p:spPr>
          <a:xfrm>
            <a:off x="812970" y="1727506"/>
            <a:ext cx="19962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初期スクリーニングの</a:t>
            </a:r>
            <a:endParaRPr kumimoji="0"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152" name="Google Shape;1152;p20"/>
          <p:cNvSpPr txBox="1"/>
          <p:nvPr/>
        </p:nvSpPr>
        <p:spPr>
          <a:xfrm>
            <a:off x="812970" y="1967993"/>
            <a:ext cx="1329600" cy="24780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300"/>
              <a:buFont typeface="Arial"/>
              <a:buNone/>
              <a:tabLst/>
              <a:defRPr/>
            </a:pPr>
            <a:r>
              <a:rPr kumimoji="0" lang="ja-JP" altLang="en-US"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rPr>
              <a:t>大幅な迅速化</a:t>
            </a:r>
            <a:endParaRPr kumimoji="0" sz="13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a:sym typeface="Arial"/>
            </a:endParaRPr>
          </a:p>
        </p:txBody>
      </p:sp>
      <p:pic>
        <p:nvPicPr>
          <p:cNvPr id="1153" name="Google Shape;1153;p20" descr="ロボット 単色塗りつぶし"/>
          <p:cNvPicPr preferRelativeResize="0"/>
          <p:nvPr/>
        </p:nvPicPr>
        <p:blipFill rotWithShape="1">
          <a:blip r:embed="rId7">
            <a:alphaModFix/>
          </a:blip>
          <a:srcRect/>
          <a:stretch/>
        </p:blipFill>
        <p:spPr>
          <a:xfrm>
            <a:off x="2778369" y="4060142"/>
            <a:ext cx="275270" cy="275270"/>
          </a:xfrm>
          <a:prstGeom prst="rect">
            <a:avLst/>
          </a:prstGeom>
          <a:noFill/>
          <a:ln>
            <a:noFill/>
          </a:ln>
        </p:spPr>
      </p:pic>
      <p:pic>
        <p:nvPicPr>
          <p:cNvPr id="1154" name="Google Shape;1154;p20" descr="リスト 単色塗りつぶし"/>
          <p:cNvPicPr preferRelativeResize="0"/>
          <p:nvPr/>
        </p:nvPicPr>
        <p:blipFill rotWithShape="1">
          <a:blip r:embed="rId8">
            <a:alphaModFix/>
          </a:blip>
          <a:srcRect/>
          <a:stretch/>
        </p:blipFill>
        <p:spPr>
          <a:xfrm>
            <a:off x="4225881" y="4059624"/>
            <a:ext cx="275270" cy="275270"/>
          </a:xfrm>
          <a:prstGeom prst="rect">
            <a:avLst/>
          </a:prstGeom>
          <a:noFill/>
          <a:ln>
            <a:noFill/>
          </a:ln>
        </p:spPr>
      </p:pic>
      <p:pic>
        <p:nvPicPr>
          <p:cNvPr id="1155" name="Google Shape;1155;p20" descr="契約 単色塗りつぶし"/>
          <p:cNvPicPr preferRelativeResize="0"/>
          <p:nvPr/>
        </p:nvPicPr>
        <p:blipFill rotWithShape="1">
          <a:blip r:embed="rId9">
            <a:alphaModFix/>
          </a:blip>
          <a:srcRect/>
          <a:stretch/>
        </p:blipFill>
        <p:spPr>
          <a:xfrm>
            <a:off x="7526861" y="5855744"/>
            <a:ext cx="275270" cy="275270"/>
          </a:xfrm>
          <a:prstGeom prst="rect">
            <a:avLst/>
          </a:prstGeom>
          <a:noFill/>
          <a:ln>
            <a:noFill/>
          </a:ln>
        </p:spPr>
      </p:pic>
      <p:pic>
        <p:nvPicPr>
          <p:cNvPr id="1156" name="Google Shape;1156;p20" descr="チェックマークを付けたチェック ボックス 単色塗りつぶし"/>
          <p:cNvPicPr preferRelativeResize="0"/>
          <p:nvPr/>
        </p:nvPicPr>
        <p:blipFill rotWithShape="1">
          <a:blip r:embed="rId10">
            <a:alphaModFix/>
          </a:blip>
          <a:srcRect/>
          <a:stretch/>
        </p:blipFill>
        <p:spPr>
          <a:xfrm>
            <a:off x="7533124" y="5533495"/>
            <a:ext cx="275270" cy="275270"/>
          </a:xfrm>
          <a:prstGeom prst="rect">
            <a:avLst/>
          </a:prstGeom>
          <a:noFill/>
          <a:ln>
            <a:noFill/>
          </a:ln>
        </p:spPr>
      </p:pic>
      <p:pic>
        <p:nvPicPr>
          <p:cNvPr id="1157" name="Google Shape;1157;p20" descr="棒グラフ 単色塗りつぶし"/>
          <p:cNvPicPr preferRelativeResize="0"/>
          <p:nvPr/>
        </p:nvPicPr>
        <p:blipFill rotWithShape="1">
          <a:blip r:embed="rId11">
            <a:alphaModFix/>
          </a:blip>
          <a:srcRect/>
          <a:stretch/>
        </p:blipFill>
        <p:spPr>
          <a:xfrm>
            <a:off x="5628104" y="3963726"/>
            <a:ext cx="159329" cy="159329"/>
          </a:xfrm>
          <a:prstGeom prst="rect">
            <a:avLst/>
          </a:prstGeom>
          <a:noFill/>
          <a:ln>
            <a:noFill/>
          </a:ln>
        </p:spPr>
      </p:pic>
      <p:pic>
        <p:nvPicPr>
          <p:cNvPr id="1158" name="Google Shape;1158;p20" descr="警告 単色塗りつぶし"/>
          <p:cNvPicPr preferRelativeResize="0"/>
          <p:nvPr/>
        </p:nvPicPr>
        <p:blipFill rotWithShape="1">
          <a:blip r:embed="rId12">
            <a:alphaModFix/>
          </a:blip>
          <a:srcRect/>
          <a:stretch/>
        </p:blipFill>
        <p:spPr>
          <a:xfrm>
            <a:off x="5619002" y="4230731"/>
            <a:ext cx="159329" cy="159329"/>
          </a:xfrm>
          <a:prstGeom prst="rect">
            <a:avLst/>
          </a:prstGeom>
          <a:noFill/>
          <a:ln>
            <a:noFill/>
          </a:ln>
        </p:spPr>
      </p:pic>
      <p:pic>
        <p:nvPicPr>
          <p:cNvPr id="1159" name="Google Shape;1159;p20" descr="ライト: オン 単色塗りつぶし"/>
          <p:cNvPicPr preferRelativeResize="0"/>
          <p:nvPr/>
        </p:nvPicPr>
        <p:blipFill rotWithShape="1">
          <a:blip r:embed="rId5">
            <a:alphaModFix/>
          </a:blip>
          <a:srcRect/>
          <a:stretch/>
        </p:blipFill>
        <p:spPr>
          <a:xfrm>
            <a:off x="5619210" y="4497736"/>
            <a:ext cx="159329" cy="159329"/>
          </a:xfrm>
          <a:prstGeom prst="rect">
            <a:avLst/>
          </a:prstGeom>
          <a:noFill/>
          <a:ln>
            <a:noFill/>
          </a:ln>
        </p:spPr>
      </p:pic>
      <p:sp>
        <p:nvSpPr>
          <p:cNvPr id="1160" name="Google Shape;1160;p20"/>
          <p:cNvSpPr txBox="1">
            <a:spLocks noGrp="1"/>
          </p:cNvSpPr>
          <p:nvPr>
            <p:ph type="ftr" idx="11"/>
          </p:nvPr>
        </p:nvSpPr>
        <p:spPr>
          <a:xfrm>
            <a:off x="9687698" y="6514831"/>
            <a:ext cx="2109696" cy="216000"/>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kumimoji="0" lang="en-US" altLang="ja-JP" sz="1000" b="0" i="0" u="none" strike="noStrike" kern="0" cap="none" spc="0" normalizeH="0" baseline="0" noProof="0">
                <a:ln>
                  <a:noFill/>
                </a:ln>
                <a:solidFill>
                  <a:srgbClr val="BFBFBF"/>
                </a:solidFill>
                <a:effectLst/>
                <a:uLnTx/>
                <a:uFillTx/>
                <a:latin typeface="Arial"/>
                <a:ea typeface="Arial"/>
                <a:cs typeface="Arial"/>
                <a:sym typeface="Arial"/>
              </a:rPr>
              <a:t>©️ 2026 Boost Consulting, Inc.</a:t>
            </a:r>
            <a:endParaRPr kumimoji="0" sz="1000" b="0" i="0" u="none" strike="noStrike" kern="0" cap="none" spc="0" normalizeH="0" baseline="0" noProof="0">
              <a:ln>
                <a:noFill/>
              </a:ln>
              <a:solidFill>
                <a:srgbClr val="BFBFBF"/>
              </a:solidFill>
              <a:effectLst/>
              <a:uLnTx/>
              <a:uFillTx/>
              <a:latin typeface="Arial"/>
              <a:ea typeface="Arial"/>
              <a:cs typeface="Arial"/>
              <a:sym typeface="Arial"/>
            </a:endParaRPr>
          </a:p>
        </p:txBody>
      </p:sp>
    </p:spTree>
    <p:extLst>
      <p:ext uri="{BB962C8B-B14F-4D97-AF65-F5344CB8AC3E}">
        <p14:creationId xmlns:p14="http://schemas.microsoft.com/office/powerpoint/2010/main" val="1888847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64"/>
        <p:cNvGrpSpPr/>
        <p:nvPr/>
      </p:nvGrpSpPr>
      <p:grpSpPr>
        <a:xfrm>
          <a:off x="0" y="0"/>
          <a:ext cx="0" cy="0"/>
          <a:chOff x="0" y="0"/>
          <a:chExt cx="0" cy="0"/>
        </a:xfrm>
      </p:grpSpPr>
      <p:sp>
        <p:nvSpPr>
          <p:cNvPr id="1165" name="Google Shape;1165;p21"/>
          <p:cNvSpPr txBox="1">
            <a:spLocks noGrp="1"/>
          </p:cNvSpPr>
          <p:nvPr>
            <p:ph type="title"/>
          </p:nvPr>
        </p:nvSpPr>
        <p:spPr>
          <a:xfrm>
            <a:off x="340659" y="658641"/>
            <a:ext cx="11520000" cy="88803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Font typeface="Arial"/>
              <a:buNone/>
            </a:pPr>
            <a:r>
              <a:rPr lang="ja-JP"/>
              <a:t>（ご参考）技術概要</a:t>
            </a:r>
            <a:endParaRPr/>
          </a:p>
        </p:txBody>
      </p:sp>
      <p:sp>
        <p:nvSpPr>
          <p:cNvPr id="1166" name="Google Shape;1166;p21"/>
          <p:cNvSpPr txBox="1">
            <a:spLocks noGrp="1"/>
          </p:cNvSpPr>
          <p:nvPr>
            <p:ph type="body" idx="3"/>
          </p:nvPr>
        </p:nvSpPr>
        <p:spPr>
          <a:xfrm>
            <a:off x="340306" y="233891"/>
            <a:ext cx="11520000" cy="258947"/>
          </a:xfrm>
          <a:prstGeom prst="rect">
            <a:avLst/>
          </a:prstGeom>
          <a:noFill/>
          <a:ln>
            <a:noFill/>
          </a:ln>
        </p:spPr>
        <p:txBody>
          <a:bodyPr spcFirstLastPara="1" wrap="square" lIns="91425" tIns="45700" rIns="91425" bIns="45700" anchor="ctr" anchorCtr="0">
            <a:noAutofit/>
          </a:bodyPr>
          <a:lstStyle/>
          <a:p>
            <a:pPr marL="228600" lvl="0" indent="-228600" algn="l" rtl="0">
              <a:lnSpc>
                <a:spcPct val="100000"/>
              </a:lnSpc>
              <a:spcBef>
                <a:spcPts val="0"/>
              </a:spcBef>
              <a:spcAft>
                <a:spcPts val="0"/>
              </a:spcAft>
              <a:buClr>
                <a:srgbClr val="2D5A41"/>
              </a:buClr>
              <a:buSzPts val="1600"/>
              <a:buNone/>
            </a:pPr>
            <a:r>
              <a:rPr lang="ja-JP" sz="1600">
                <a:solidFill>
                  <a:srgbClr val="2D5A41"/>
                </a:solidFill>
              </a:rPr>
              <a:t>弊社事例紹介</a:t>
            </a:r>
            <a:endParaRPr/>
          </a:p>
        </p:txBody>
      </p:sp>
      <p:sp>
        <p:nvSpPr>
          <p:cNvPr id="1167" name="Google Shape;1167;p21"/>
          <p:cNvSpPr txBox="1"/>
          <p:nvPr/>
        </p:nvSpPr>
        <p:spPr>
          <a:xfrm>
            <a:off x="563253" y="1709834"/>
            <a:ext cx="3018451" cy="10578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ja-JP" sz="1800" b="1" i="0" u="none" strike="noStrike" cap="none">
                <a:solidFill>
                  <a:schemeClr val="dk1"/>
                </a:solidFill>
                <a:latin typeface="Arial"/>
                <a:ea typeface="Arial"/>
                <a:cs typeface="Arial"/>
                <a:sym typeface="Arial"/>
              </a:rPr>
              <a:t>コアAIモデルとロジック</a:t>
            </a:r>
            <a:endParaRPr sz="1800" b="1" i="0" u="none" strike="noStrike" cap="none" dirty="0">
              <a:solidFill>
                <a:schemeClr val="dk1"/>
              </a:solidFill>
              <a:latin typeface="Arial"/>
              <a:ea typeface="Arial"/>
              <a:cs typeface="Arial"/>
              <a:sym typeface="Arial"/>
            </a:endParaRPr>
          </a:p>
        </p:txBody>
      </p:sp>
      <p:sp>
        <p:nvSpPr>
          <p:cNvPr id="1168" name="Google Shape;1168;p21"/>
          <p:cNvSpPr/>
          <p:nvPr/>
        </p:nvSpPr>
        <p:spPr>
          <a:xfrm>
            <a:off x="571500" y="2104566"/>
            <a:ext cx="2619900" cy="1514100"/>
          </a:xfrm>
          <a:prstGeom prst="roundRect">
            <a:avLst>
              <a:gd name="adj" fmla="val 4557"/>
            </a:avLst>
          </a:prstGeom>
          <a:noFill/>
          <a:ln w="12700" cap="flat" cmpd="sng">
            <a:solidFill>
              <a:srgbClr val="F2F2F2"/>
            </a:solidFill>
            <a:prstDash val="solid"/>
            <a:round/>
            <a:headEnd type="none" w="sm" len="sm"/>
            <a:tailEnd type="none" w="sm" len="sm"/>
          </a:ln>
          <a:effectLst>
            <a:outerShdw blurRad="38100" dist="25400" dir="5400000" algn="bl" rotWithShape="0">
              <a:srgbClr val="000000">
                <a:alpha val="117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1169" name="Google Shape;1169;p21"/>
          <p:cNvSpPr/>
          <p:nvPr/>
        </p:nvSpPr>
        <p:spPr>
          <a:xfrm>
            <a:off x="3381451" y="2104566"/>
            <a:ext cx="2619900" cy="1514100"/>
          </a:xfrm>
          <a:prstGeom prst="roundRect">
            <a:avLst>
              <a:gd name="adj" fmla="val 4557"/>
            </a:avLst>
          </a:prstGeom>
          <a:noFill/>
          <a:ln w="12700" cap="flat" cmpd="sng">
            <a:solidFill>
              <a:srgbClr val="F2F2F2"/>
            </a:solidFill>
            <a:prstDash val="solid"/>
            <a:round/>
            <a:headEnd type="none" w="sm" len="sm"/>
            <a:tailEnd type="none" w="sm" len="sm"/>
          </a:ln>
          <a:effectLst>
            <a:outerShdw blurRad="38100" dist="25400" dir="5400000" algn="bl" rotWithShape="0">
              <a:srgbClr val="000000">
                <a:alpha val="117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1170" name="Google Shape;1170;p21"/>
          <p:cNvSpPr/>
          <p:nvPr/>
        </p:nvSpPr>
        <p:spPr>
          <a:xfrm>
            <a:off x="6191402" y="2104566"/>
            <a:ext cx="2619900" cy="1514100"/>
          </a:xfrm>
          <a:prstGeom prst="roundRect">
            <a:avLst>
              <a:gd name="adj" fmla="val 4557"/>
            </a:avLst>
          </a:prstGeom>
          <a:noFill/>
          <a:ln w="12700" cap="flat" cmpd="sng">
            <a:solidFill>
              <a:srgbClr val="F2F2F2"/>
            </a:solidFill>
            <a:prstDash val="solid"/>
            <a:round/>
            <a:headEnd type="none" w="sm" len="sm"/>
            <a:tailEnd type="none" w="sm" len="sm"/>
          </a:ln>
          <a:effectLst>
            <a:outerShdw blurRad="38100" dist="25400" dir="5400000" algn="bl" rotWithShape="0">
              <a:srgbClr val="000000">
                <a:alpha val="117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1171" name="Google Shape;1171;p21"/>
          <p:cNvSpPr/>
          <p:nvPr/>
        </p:nvSpPr>
        <p:spPr>
          <a:xfrm>
            <a:off x="9001354" y="2104566"/>
            <a:ext cx="2619900" cy="1514100"/>
          </a:xfrm>
          <a:prstGeom prst="roundRect">
            <a:avLst>
              <a:gd name="adj" fmla="val 4557"/>
            </a:avLst>
          </a:prstGeom>
          <a:noFill/>
          <a:ln w="12700" cap="flat" cmpd="sng">
            <a:solidFill>
              <a:srgbClr val="F2F2F2"/>
            </a:solidFill>
            <a:prstDash val="solid"/>
            <a:round/>
            <a:headEnd type="none" w="sm" len="sm"/>
            <a:tailEnd type="none" w="sm" len="sm"/>
          </a:ln>
          <a:effectLst>
            <a:outerShdw blurRad="38100" dist="25400" dir="5400000" algn="bl" rotWithShape="0">
              <a:srgbClr val="000000">
                <a:alpha val="117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1172" name="Google Shape;1172;p21"/>
          <p:cNvSpPr txBox="1"/>
          <p:nvPr/>
        </p:nvSpPr>
        <p:spPr>
          <a:xfrm>
            <a:off x="1266444" y="2377058"/>
            <a:ext cx="14400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chemeClr val="dk1"/>
                </a:solidFill>
                <a:latin typeface="Arial"/>
                <a:ea typeface="Arial"/>
                <a:cs typeface="Arial"/>
                <a:sym typeface="Arial"/>
              </a:rPr>
              <a:t>LLM / 推論</a:t>
            </a:r>
            <a:endParaRPr sz="1400" b="1" i="0" u="none" strike="noStrike" cap="none">
              <a:solidFill>
                <a:schemeClr val="dk1"/>
              </a:solidFill>
              <a:latin typeface="Arial"/>
              <a:ea typeface="Arial"/>
              <a:cs typeface="Arial"/>
              <a:sym typeface="Arial"/>
            </a:endParaRPr>
          </a:p>
        </p:txBody>
      </p:sp>
      <p:sp>
        <p:nvSpPr>
          <p:cNvPr id="1173" name="Google Shape;1173;p21"/>
          <p:cNvSpPr txBox="1"/>
          <p:nvPr/>
        </p:nvSpPr>
        <p:spPr>
          <a:xfrm>
            <a:off x="4076395" y="2377058"/>
            <a:ext cx="14400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chemeClr val="dk1"/>
                </a:solidFill>
                <a:latin typeface="Arial"/>
                <a:ea typeface="Arial"/>
                <a:cs typeface="Arial"/>
                <a:sym typeface="Arial"/>
              </a:rPr>
              <a:t>検索 / RAG</a:t>
            </a:r>
            <a:endParaRPr sz="1400" b="1" i="0" u="none" strike="noStrike" cap="none">
              <a:solidFill>
                <a:schemeClr val="dk1"/>
              </a:solidFill>
              <a:latin typeface="Arial"/>
              <a:ea typeface="Arial"/>
              <a:cs typeface="Arial"/>
              <a:sym typeface="Arial"/>
            </a:endParaRPr>
          </a:p>
        </p:txBody>
      </p:sp>
      <p:sp>
        <p:nvSpPr>
          <p:cNvPr id="1174" name="Google Shape;1174;p21"/>
          <p:cNvSpPr txBox="1"/>
          <p:nvPr/>
        </p:nvSpPr>
        <p:spPr>
          <a:xfrm>
            <a:off x="6886346" y="2377058"/>
            <a:ext cx="14400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chemeClr val="dk1"/>
                </a:solidFill>
                <a:latin typeface="Arial"/>
                <a:ea typeface="Arial"/>
                <a:cs typeface="Arial"/>
                <a:sym typeface="Arial"/>
              </a:rPr>
              <a:t>予測 / 最適化</a:t>
            </a:r>
            <a:endParaRPr sz="1400" b="1" i="0" u="none" strike="noStrike" cap="none">
              <a:solidFill>
                <a:schemeClr val="dk1"/>
              </a:solidFill>
              <a:latin typeface="Arial"/>
              <a:ea typeface="Arial"/>
              <a:cs typeface="Arial"/>
              <a:sym typeface="Arial"/>
            </a:endParaRPr>
          </a:p>
        </p:txBody>
      </p:sp>
      <p:sp>
        <p:nvSpPr>
          <p:cNvPr id="1175" name="Google Shape;1175;p21"/>
          <p:cNvSpPr/>
          <p:nvPr/>
        </p:nvSpPr>
        <p:spPr>
          <a:xfrm>
            <a:off x="771753" y="2837915"/>
            <a:ext cx="1113900" cy="256800"/>
          </a:xfrm>
          <a:prstGeom prst="roundRect">
            <a:avLst>
              <a:gd name="adj" fmla="val 158166"/>
            </a:avLst>
          </a:prstGeom>
          <a:solidFill>
            <a:srgbClr val="2D5A42"/>
          </a:solidFill>
          <a:ln w="12700"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1176" name="Google Shape;1176;p21"/>
          <p:cNvSpPr/>
          <p:nvPr/>
        </p:nvSpPr>
        <p:spPr>
          <a:xfrm>
            <a:off x="1980075" y="2837915"/>
            <a:ext cx="733200" cy="256800"/>
          </a:xfrm>
          <a:prstGeom prst="roundRect">
            <a:avLst>
              <a:gd name="adj" fmla="val 158166"/>
            </a:avLst>
          </a:prstGeom>
          <a:solidFill>
            <a:srgbClr val="2D5A42"/>
          </a:solidFill>
          <a:ln w="12700"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1177" name="Google Shape;1177;p21"/>
          <p:cNvSpPr/>
          <p:nvPr/>
        </p:nvSpPr>
        <p:spPr>
          <a:xfrm>
            <a:off x="771754" y="3166185"/>
            <a:ext cx="1185300" cy="256800"/>
          </a:xfrm>
          <a:prstGeom prst="roundRect">
            <a:avLst>
              <a:gd name="adj" fmla="val 158166"/>
            </a:avLst>
          </a:prstGeom>
          <a:solidFill>
            <a:srgbClr val="2D5A42"/>
          </a:solidFill>
          <a:ln w="12700"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1178" name="Google Shape;1178;p21"/>
          <p:cNvSpPr/>
          <p:nvPr/>
        </p:nvSpPr>
        <p:spPr>
          <a:xfrm>
            <a:off x="2075926" y="3166185"/>
            <a:ext cx="617400" cy="256800"/>
          </a:xfrm>
          <a:prstGeom prst="roundRect">
            <a:avLst>
              <a:gd name="adj" fmla="val 158166"/>
            </a:avLst>
          </a:prstGeom>
          <a:solidFill>
            <a:srgbClr val="2D5A42"/>
          </a:solidFill>
          <a:ln w="12700"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1179" name="Google Shape;1179;p21"/>
          <p:cNvSpPr/>
          <p:nvPr/>
        </p:nvSpPr>
        <p:spPr>
          <a:xfrm>
            <a:off x="3581705" y="2837915"/>
            <a:ext cx="888000" cy="256800"/>
          </a:xfrm>
          <a:prstGeom prst="roundRect">
            <a:avLst>
              <a:gd name="adj" fmla="val 158166"/>
            </a:avLst>
          </a:prstGeom>
          <a:solidFill>
            <a:srgbClr val="2D5A42"/>
          </a:solidFill>
          <a:ln w="12700"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1180" name="Google Shape;1180;p21"/>
          <p:cNvSpPr/>
          <p:nvPr/>
        </p:nvSpPr>
        <p:spPr>
          <a:xfrm>
            <a:off x="4572945" y="2837915"/>
            <a:ext cx="1151100" cy="256800"/>
          </a:xfrm>
          <a:prstGeom prst="roundRect">
            <a:avLst>
              <a:gd name="adj" fmla="val 158166"/>
            </a:avLst>
          </a:prstGeom>
          <a:solidFill>
            <a:srgbClr val="2D5A42"/>
          </a:solidFill>
          <a:ln w="12700"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1181" name="Google Shape;1181;p21"/>
          <p:cNvSpPr/>
          <p:nvPr/>
        </p:nvSpPr>
        <p:spPr>
          <a:xfrm>
            <a:off x="3581705" y="3166185"/>
            <a:ext cx="992100" cy="256800"/>
          </a:xfrm>
          <a:prstGeom prst="roundRect">
            <a:avLst>
              <a:gd name="adj" fmla="val 158166"/>
            </a:avLst>
          </a:prstGeom>
          <a:solidFill>
            <a:srgbClr val="2D5A42"/>
          </a:solidFill>
          <a:ln w="12700"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1182" name="Google Shape;1182;p21"/>
          <p:cNvSpPr/>
          <p:nvPr/>
        </p:nvSpPr>
        <p:spPr>
          <a:xfrm>
            <a:off x="4677186" y="3166185"/>
            <a:ext cx="809100" cy="256800"/>
          </a:xfrm>
          <a:prstGeom prst="roundRect">
            <a:avLst>
              <a:gd name="adj" fmla="val 158166"/>
            </a:avLst>
          </a:prstGeom>
          <a:solidFill>
            <a:srgbClr val="2D5A42"/>
          </a:solidFill>
          <a:ln w="12700"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1183" name="Google Shape;1183;p21"/>
          <p:cNvSpPr/>
          <p:nvPr/>
        </p:nvSpPr>
        <p:spPr>
          <a:xfrm>
            <a:off x="6391656" y="2837915"/>
            <a:ext cx="992100" cy="256800"/>
          </a:xfrm>
          <a:prstGeom prst="roundRect">
            <a:avLst>
              <a:gd name="adj" fmla="val 158166"/>
            </a:avLst>
          </a:prstGeom>
          <a:solidFill>
            <a:srgbClr val="2D5A42"/>
          </a:solidFill>
          <a:ln w="12700"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1184" name="Google Shape;1184;p21"/>
          <p:cNvSpPr/>
          <p:nvPr/>
        </p:nvSpPr>
        <p:spPr>
          <a:xfrm>
            <a:off x="7487138" y="2837915"/>
            <a:ext cx="777300" cy="256800"/>
          </a:xfrm>
          <a:prstGeom prst="roundRect">
            <a:avLst>
              <a:gd name="adj" fmla="val 158166"/>
            </a:avLst>
          </a:prstGeom>
          <a:solidFill>
            <a:srgbClr val="2D5A42"/>
          </a:solidFill>
          <a:ln w="12700"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1185" name="Google Shape;1185;p21"/>
          <p:cNvSpPr txBox="1"/>
          <p:nvPr/>
        </p:nvSpPr>
        <p:spPr>
          <a:xfrm>
            <a:off x="875995" y="2885464"/>
            <a:ext cx="1114800" cy="152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大規模言語モデル</a:t>
            </a:r>
            <a:endParaRPr sz="900" b="1" i="0" u="none" strike="noStrike" cap="none">
              <a:solidFill>
                <a:schemeClr val="lt1"/>
              </a:solidFill>
              <a:latin typeface="Arial"/>
              <a:ea typeface="Arial"/>
              <a:cs typeface="Arial"/>
              <a:sym typeface="Arial"/>
            </a:endParaRPr>
          </a:p>
        </p:txBody>
      </p:sp>
      <p:sp>
        <p:nvSpPr>
          <p:cNvPr id="1186" name="Google Shape;1186;p21"/>
          <p:cNvSpPr txBox="1"/>
          <p:nvPr/>
        </p:nvSpPr>
        <p:spPr>
          <a:xfrm>
            <a:off x="2085231" y="2885464"/>
            <a:ext cx="732300" cy="152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指示最適化</a:t>
            </a:r>
            <a:endParaRPr sz="900" b="1" i="0" u="none" strike="noStrike" cap="none">
              <a:solidFill>
                <a:schemeClr val="lt1"/>
              </a:solidFill>
              <a:latin typeface="Arial"/>
              <a:ea typeface="Arial"/>
              <a:cs typeface="Arial"/>
              <a:sym typeface="Arial"/>
            </a:endParaRPr>
          </a:p>
        </p:txBody>
      </p:sp>
      <p:sp>
        <p:nvSpPr>
          <p:cNvPr id="1187" name="Google Shape;1187;p21"/>
          <p:cNvSpPr txBox="1"/>
          <p:nvPr/>
        </p:nvSpPr>
        <p:spPr>
          <a:xfrm>
            <a:off x="875995" y="3213734"/>
            <a:ext cx="1172700" cy="152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Chain-of-Thought</a:t>
            </a:r>
            <a:endParaRPr sz="900" b="1" i="0" u="none" strike="noStrike" cap="none">
              <a:solidFill>
                <a:schemeClr val="lt1"/>
              </a:solidFill>
              <a:latin typeface="Arial"/>
              <a:ea typeface="Arial"/>
              <a:cs typeface="Arial"/>
              <a:sym typeface="Arial"/>
            </a:endParaRPr>
          </a:p>
        </p:txBody>
      </p:sp>
      <p:sp>
        <p:nvSpPr>
          <p:cNvPr id="1188" name="Google Shape;1188;p21"/>
          <p:cNvSpPr txBox="1"/>
          <p:nvPr/>
        </p:nvSpPr>
        <p:spPr>
          <a:xfrm>
            <a:off x="2181082" y="3213734"/>
            <a:ext cx="512400" cy="152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Agents</a:t>
            </a:r>
            <a:endParaRPr sz="900" b="1" i="0" u="none" strike="noStrike" cap="none">
              <a:solidFill>
                <a:schemeClr val="lt1"/>
              </a:solidFill>
              <a:latin typeface="Arial"/>
              <a:ea typeface="Arial"/>
              <a:cs typeface="Arial"/>
              <a:sym typeface="Arial"/>
            </a:endParaRPr>
          </a:p>
        </p:txBody>
      </p:sp>
      <p:sp>
        <p:nvSpPr>
          <p:cNvPr id="1189" name="Google Shape;1189;p21"/>
          <p:cNvSpPr/>
          <p:nvPr/>
        </p:nvSpPr>
        <p:spPr>
          <a:xfrm>
            <a:off x="6391656" y="3166185"/>
            <a:ext cx="992100" cy="256800"/>
          </a:xfrm>
          <a:prstGeom prst="roundRect">
            <a:avLst>
              <a:gd name="adj" fmla="val 158166"/>
            </a:avLst>
          </a:prstGeom>
          <a:solidFill>
            <a:srgbClr val="2D5A42"/>
          </a:solidFill>
          <a:ln w="12700"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1190" name="Google Shape;1190;p21"/>
          <p:cNvSpPr txBox="1"/>
          <p:nvPr/>
        </p:nvSpPr>
        <p:spPr>
          <a:xfrm>
            <a:off x="3685946" y="2885464"/>
            <a:ext cx="707700" cy="152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ベクトル検索</a:t>
            </a:r>
            <a:endParaRPr sz="900" b="1" i="0" u="none" strike="noStrike" cap="none">
              <a:solidFill>
                <a:schemeClr val="lt1"/>
              </a:solidFill>
              <a:latin typeface="Arial"/>
              <a:ea typeface="Arial"/>
              <a:cs typeface="Arial"/>
              <a:sym typeface="Arial"/>
            </a:endParaRPr>
          </a:p>
        </p:txBody>
      </p:sp>
      <p:sp>
        <p:nvSpPr>
          <p:cNvPr id="1191" name="Google Shape;1191;p21"/>
          <p:cNvSpPr txBox="1"/>
          <p:nvPr/>
        </p:nvSpPr>
        <p:spPr>
          <a:xfrm>
            <a:off x="4677186" y="2885464"/>
            <a:ext cx="917100" cy="152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ハイブリッド検索</a:t>
            </a:r>
            <a:endParaRPr sz="900" b="1" i="0" u="none" strike="noStrike" cap="none">
              <a:solidFill>
                <a:schemeClr val="lt1"/>
              </a:solidFill>
              <a:latin typeface="Arial"/>
              <a:ea typeface="Arial"/>
              <a:cs typeface="Arial"/>
              <a:sym typeface="Arial"/>
            </a:endParaRPr>
          </a:p>
        </p:txBody>
      </p:sp>
      <p:sp>
        <p:nvSpPr>
          <p:cNvPr id="1192" name="Google Shape;1192;p21"/>
          <p:cNvSpPr txBox="1"/>
          <p:nvPr/>
        </p:nvSpPr>
        <p:spPr>
          <a:xfrm>
            <a:off x="3685946" y="3213734"/>
            <a:ext cx="813000" cy="152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ナレッジグラフ</a:t>
            </a:r>
            <a:endParaRPr sz="900" b="1" i="0" u="none" strike="noStrike" cap="none">
              <a:solidFill>
                <a:schemeClr val="lt1"/>
              </a:solidFill>
              <a:latin typeface="Arial"/>
              <a:ea typeface="Arial"/>
              <a:cs typeface="Arial"/>
              <a:sym typeface="Arial"/>
            </a:endParaRPr>
          </a:p>
        </p:txBody>
      </p:sp>
      <p:sp>
        <p:nvSpPr>
          <p:cNvPr id="1193" name="Google Shape;1193;p21"/>
          <p:cNvSpPr txBox="1"/>
          <p:nvPr/>
        </p:nvSpPr>
        <p:spPr>
          <a:xfrm>
            <a:off x="4782342" y="3213734"/>
            <a:ext cx="631800" cy="152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Re-ranking</a:t>
            </a:r>
            <a:endParaRPr sz="900" b="1" i="0" u="none" strike="noStrike" cap="none">
              <a:solidFill>
                <a:schemeClr val="lt1"/>
              </a:solidFill>
              <a:latin typeface="Arial"/>
              <a:ea typeface="Arial"/>
              <a:cs typeface="Arial"/>
              <a:sym typeface="Arial"/>
            </a:endParaRPr>
          </a:p>
        </p:txBody>
      </p:sp>
      <p:sp>
        <p:nvSpPr>
          <p:cNvPr id="1194" name="Google Shape;1194;p21"/>
          <p:cNvSpPr txBox="1"/>
          <p:nvPr/>
        </p:nvSpPr>
        <p:spPr>
          <a:xfrm>
            <a:off x="6495898" y="2885464"/>
            <a:ext cx="813000" cy="152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需要予測モデル</a:t>
            </a:r>
            <a:endParaRPr sz="900" b="1" i="0" u="none" strike="noStrike" cap="none">
              <a:solidFill>
                <a:schemeClr val="lt1"/>
              </a:solidFill>
              <a:latin typeface="Arial"/>
              <a:ea typeface="Arial"/>
              <a:cs typeface="Arial"/>
              <a:sym typeface="Arial"/>
            </a:endParaRPr>
          </a:p>
        </p:txBody>
      </p:sp>
      <p:sp>
        <p:nvSpPr>
          <p:cNvPr id="1195" name="Google Shape;1195;p21"/>
          <p:cNvSpPr txBox="1"/>
          <p:nvPr/>
        </p:nvSpPr>
        <p:spPr>
          <a:xfrm>
            <a:off x="7592294" y="2885464"/>
            <a:ext cx="602700" cy="152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数理最適化</a:t>
            </a:r>
            <a:endParaRPr sz="900" b="1" i="0" u="none" strike="noStrike" cap="none">
              <a:solidFill>
                <a:schemeClr val="lt1"/>
              </a:solidFill>
              <a:latin typeface="Arial"/>
              <a:ea typeface="Arial"/>
              <a:cs typeface="Arial"/>
              <a:sym typeface="Arial"/>
            </a:endParaRPr>
          </a:p>
        </p:txBody>
      </p:sp>
      <p:sp>
        <p:nvSpPr>
          <p:cNvPr id="1196" name="Google Shape;1196;p21"/>
          <p:cNvSpPr txBox="1"/>
          <p:nvPr/>
        </p:nvSpPr>
        <p:spPr>
          <a:xfrm>
            <a:off x="6495898" y="3213734"/>
            <a:ext cx="813000" cy="152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価格弾力性分析</a:t>
            </a:r>
            <a:endParaRPr sz="900" b="1" i="0" u="none" strike="noStrike" cap="none">
              <a:solidFill>
                <a:schemeClr val="lt1"/>
              </a:solidFill>
              <a:latin typeface="Arial"/>
              <a:ea typeface="Arial"/>
              <a:cs typeface="Arial"/>
              <a:sym typeface="Arial"/>
            </a:endParaRPr>
          </a:p>
        </p:txBody>
      </p:sp>
      <p:sp>
        <p:nvSpPr>
          <p:cNvPr id="1197" name="Google Shape;1197;p21"/>
          <p:cNvSpPr txBox="1"/>
          <p:nvPr/>
        </p:nvSpPr>
        <p:spPr>
          <a:xfrm>
            <a:off x="559331" y="4135250"/>
            <a:ext cx="4268129" cy="15725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ja-JP" sz="1800" b="1" i="0" u="none" strike="noStrike" cap="none">
                <a:solidFill>
                  <a:schemeClr val="dk1"/>
                </a:solidFill>
                <a:latin typeface="Arial"/>
                <a:ea typeface="Arial"/>
                <a:cs typeface="Arial"/>
                <a:sym typeface="Arial"/>
              </a:rPr>
              <a:t>プラットフォームとガバナンス</a:t>
            </a:r>
            <a:endParaRPr sz="1800" b="1" i="0" u="none" strike="noStrike" cap="none" dirty="0">
              <a:solidFill>
                <a:schemeClr val="dk1"/>
              </a:solidFill>
              <a:latin typeface="Arial"/>
              <a:ea typeface="Arial"/>
              <a:cs typeface="Arial"/>
              <a:sym typeface="Arial"/>
            </a:endParaRPr>
          </a:p>
        </p:txBody>
      </p:sp>
      <p:sp>
        <p:nvSpPr>
          <p:cNvPr id="1198" name="Google Shape;1198;p21"/>
          <p:cNvSpPr txBox="1"/>
          <p:nvPr/>
        </p:nvSpPr>
        <p:spPr>
          <a:xfrm>
            <a:off x="9696298" y="2377058"/>
            <a:ext cx="14400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chemeClr val="dk1"/>
                </a:solidFill>
                <a:latin typeface="Arial"/>
                <a:ea typeface="Arial"/>
                <a:cs typeface="Arial"/>
                <a:sym typeface="Arial"/>
              </a:rPr>
              <a:t>マルチモーダル</a:t>
            </a:r>
            <a:endParaRPr sz="1400" b="1" i="0" u="none" strike="noStrike" cap="none">
              <a:solidFill>
                <a:schemeClr val="dk1"/>
              </a:solidFill>
              <a:latin typeface="Arial"/>
              <a:ea typeface="Arial"/>
              <a:cs typeface="Arial"/>
              <a:sym typeface="Arial"/>
            </a:endParaRPr>
          </a:p>
        </p:txBody>
      </p:sp>
      <p:sp>
        <p:nvSpPr>
          <p:cNvPr id="1199" name="Google Shape;1199;p21"/>
          <p:cNvSpPr/>
          <p:nvPr/>
        </p:nvSpPr>
        <p:spPr>
          <a:xfrm>
            <a:off x="9201607" y="2837915"/>
            <a:ext cx="1105500" cy="256800"/>
          </a:xfrm>
          <a:prstGeom prst="roundRect">
            <a:avLst>
              <a:gd name="adj" fmla="val 158166"/>
            </a:avLst>
          </a:prstGeom>
          <a:solidFill>
            <a:srgbClr val="2D5A42"/>
          </a:solidFill>
          <a:ln w="12700"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1200" name="Google Shape;1200;p21"/>
          <p:cNvSpPr/>
          <p:nvPr/>
        </p:nvSpPr>
        <p:spPr>
          <a:xfrm>
            <a:off x="10391641" y="2837915"/>
            <a:ext cx="1037700" cy="256800"/>
          </a:xfrm>
          <a:prstGeom prst="roundRect">
            <a:avLst>
              <a:gd name="adj" fmla="val 158166"/>
            </a:avLst>
          </a:prstGeom>
          <a:solidFill>
            <a:srgbClr val="2D5A42"/>
          </a:solidFill>
          <a:ln w="12700"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1201" name="Google Shape;1201;p21"/>
          <p:cNvSpPr/>
          <p:nvPr/>
        </p:nvSpPr>
        <p:spPr>
          <a:xfrm>
            <a:off x="9201606" y="3166185"/>
            <a:ext cx="1021800" cy="256800"/>
          </a:xfrm>
          <a:prstGeom prst="roundRect">
            <a:avLst>
              <a:gd name="adj" fmla="val 158166"/>
            </a:avLst>
          </a:prstGeom>
          <a:solidFill>
            <a:srgbClr val="2D5A42"/>
          </a:solidFill>
          <a:ln w="12700"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lt1"/>
              </a:solidFill>
              <a:latin typeface="Arial"/>
              <a:ea typeface="Arial"/>
              <a:cs typeface="Arial"/>
              <a:sym typeface="Arial"/>
            </a:endParaRPr>
          </a:p>
        </p:txBody>
      </p:sp>
      <p:sp>
        <p:nvSpPr>
          <p:cNvPr id="1202" name="Google Shape;1202;p21"/>
          <p:cNvSpPr txBox="1"/>
          <p:nvPr/>
        </p:nvSpPr>
        <p:spPr>
          <a:xfrm>
            <a:off x="9305849" y="2885464"/>
            <a:ext cx="1037700" cy="152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画像解析 (Vision)</a:t>
            </a:r>
            <a:endParaRPr sz="900" b="1" i="0" u="none" strike="noStrike" cap="none">
              <a:solidFill>
                <a:schemeClr val="lt1"/>
              </a:solidFill>
              <a:latin typeface="Arial"/>
              <a:ea typeface="Arial"/>
              <a:cs typeface="Arial"/>
              <a:sym typeface="Arial"/>
            </a:endParaRPr>
          </a:p>
        </p:txBody>
      </p:sp>
      <p:sp>
        <p:nvSpPr>
          <p:cNvPr id="1203" name="Google Shape;1203;p21"/>
          <p:cNvSpPr txBox="1"/>
          <p:nvPr/>
        </p:nvSpPr>
        <p:spPr>
          <a:xfrm>
            <a:off x="10495882" y="2885464"/>
            <a:ext cx="917700" cy="152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OCR / 文書解析</a:t>
            </a:r>
            <a:endParaRPr sz="900" b="1" i="0" u="none" strike="noStrike" cap="none">
              <a:solidFill>
                <a:schemeClr val="lt1"/>
              </a:solidFill>
              <a:latin typeface="Arial"/>
              <a:ea typeface="Arial"/>
              <a:cs typeface="Arial"/>
              <a:sym typeface="Arial"/>
            </a:endParaRPr>
          </a:p>
        </p:txBody>
      </p:sp>
      <p:sp>
        <p:nvSpPr>
          <p:cNvPr id="1204" name="Google Shape;1204;p21"/>
          <p:cNvSpPr txBox="1"/>
          <p:nvPr/>
        </p:nvSpPr>
        <p:spPr>
          <a:xfrm>
            <a:off x="9305849" y="3213734"/>
            <a:ext cx="917700" cy="1527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音声対話 / 認識</a:t>
            </a:r>
            <a:endParaRPr sz="900" b="1" i="0" u="none" strike="noStrike" cap="none">
              <a:solidFill>
                <a:schemeClr val="lt1"/>
              </a:solidFill>
              <a:latin typeface="Arial"/>
              <a:ea typeface="Arial"/>
              <a:cs typeface="Arial"/>
              <a:sym typeface="Arial"/>
            </a:endParaRPr>
          </a:p>
        </p:txBody>
      </p:sp>
      <p:sp>
        <p:nvSpPr>
          <p:cNvPr id="1205" name="Google Shape;1205;p21"/>
          <p:cNvSpPr/>
          <p:nvPr/>
        </p:nvSpPr>
        <p:spPr>
          <a:xfrm>
            <a:off x="571500" y="4488183"/>
            <a:ext cx="3562500" cy="1514100"/>
          </a:xfrm>
          <a:prstGeom prst="roundRect">
            <a:avLst>
              <a:gd name="adj" fmla="val 4557"/>
            </a:avLst>
          </a:prstGeom>
          <a:noFill/>
          <a:ln w="12700" cap="flat" cmpd="sng">
            <a:solidFill>
              <a:srgbClr val="F2F2F2"/>
            </a:solidFill>
            <a:prstDash val="solid"/>
            <a:round/>
            <a:headEnd type="none" w="sm" len="sm"/>
            <a:tailEnd type="none" w="sm" len="sm"/>
          </a:ln>
          <a:effectLst>
            <a:outerShdw blurRad="38100" dist="25400" dir="5400000" algn="bl" rotWithShape="0">
              <a:srgbClr val="000000">
                <a:alpha val="117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1206" name="Google Shape;1206;p21"/>
          <p:cNvSpPr/>
          <p:nvPr/>
        </p:nvSpPr>
        <p:spPr>
          <a:xfrm>
            <a:off x="8064094" y="4488183"/>
            <a:ext cx="3562500" cy="1514100"/>
          </a:xfrm>
          <a:prstGeom prst="roundRect">
            <a:avLst>
              <a:gd name="adj" fmla="val 4557"/>
            </a:avLst>
          </a:prstGeom>
          <a:noFill/>
          <a:ln w="12700" cap="flat" cmpd="sng">
            <a:solidFill>
              <a:srgbClr val="F2F2F2"/>
            </a:solidFill>
            <a:prstDash val="solid"/>
            <a:round/>
            <a:headEnd type="none" w="sm" len="sm"/>
            <a:tailEnd type="none" w="sm" len="sm"/>
          </a:ln>
          <a:effectLst>
            <a:outerShdw blurRad="38100" dist="25400" dir="5400000" algn="bl" rotWithShape="0">
              <a:srgbClr val="000000">
                <a:alpha val="117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1207" name="Google Shape;1207;p21"/>
          <p:cNvSpPr/>
          <p:nvPr/>
        </p:nvSpPr>
        <p:spPr>
          <a:xfrm>
            <a:off x="4317797" y="4488183"/>
            <a:ext cx="3562500" cy="1514100"/>
          </a:xfrm>
          <a:prstGeom prst="roundRect">
            <a:avLst>
              <a:gd name="adj" fmla="val 4557"/>
            </a:avLst>
          </a:prstGeom>
          <a:noFill/>
          <a:ln w="12700" cap="flat" cmpd="sng">
            <a:solidFill>
              <a:srgbClr val="F2F2F2"/>
            </a:solidFill>
            <a:prstDash val="solid"/>
            <a:round/>
            <a:headEnd type="none" w="sm" len="sm"/>
            <a:tailEnd type="none" w="sm" len="sm"/>
          </a:ln>
          <a:effectLst>
            <a:outerShdw blurRad="38100" dist="25400" dir="5400000" algn="bl" rotWithShape="0">
              <a:srgbClr val="000000">
                <a:alpha val="117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1208" name="Google Shape;1208;p21"/>
          <p:cNvSpPr txBox="1"/>
          <p:nvPr/>
        </p:nvSpPr>
        <p:spPr>
          <a:xfrm>
            <a:off x="1266444" y="4760674"/>
            <a:ext cx="8862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chemeClr val="dk1"/>
                </a:solidFill>
                <a:latin typeface="Arial"/>
                <a:ea typeface="Arial"/>
                <a:cs typeface="Arial"/>
                <a:sym typeface="Arial"/>
              </a:rPr>
              <a:t>データ基盤</a:t>
            </a:r>
            <a:endParaRPr sz="1400" b="1" i="0" u="none" strike="noStrike" cap="none">
              <a:solidFill>
                <a:schemeClr val="dk1"/>
              </a:solidFill>
              <a:latin typeface="Arial"/>
              <a:ea typeface="Arial"/>
              <a:cs typeface="Arial"/>
              <a:sym typeface="Arial"/>
            </a:endParaRPr>
          </a:p>
        </p:txBody>
      </p:sp>
      <p:sp>
        <p:nvSpPr>
          <p:cNvPr id="1209" name="Google Shape;1209;p21"/>
          <p:cNvSpPr txBox="1"/>
          <p:nvPr/>
        </p:nvSpPr>
        <p:spPr>
          <a:xfrm>
            <a:off x="5013655" y="4760674"/>
            <a:ext cx="10104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chemeClr val="dk1"/>
                </a:solidFill>
                <a:latin typeface="Arial"/>
                <a:ea typeface="Arial"/>
                <a:cs typeface="Arial"/>
                <a:sym typeface="Arial"/>
              </a:rPr>
              <a:t>アプリ / 運用</a:t>
            </a:r>
            <a:endParaRPr sz="1400" b="1" i="0" u="none" strike="noStrike" cap="none">
              <a:solidFill>
                <a:schemeClr val="dk1"/>
              </a:solidFill>
              <a:latin typeface="Arial"/>
              <a:ea typeface="Arial"/>
              <a:cs typeface="Arial"/>
              <a:sym typeface="Arial"/>
            </a:endParaRPr>
          </a:p>
        </p:txBody>
      </p:sp>
      <p:sp>
        <p:nvSpPr>
          <p:cNvPr id="1210" name="Google Shape;1210;p21"/>
          <p:cNvSpPr/>
          <p:nvPr/>
        </p:nvSpPr>
        <p:spPr>
          <a:xfrm>
            <a:off x="771753" y="5221532"/>
            <a:ext cx="1218900" cy="256800"/>
          </a:xfrm>
          <a:prstGeom prst="roundRect">
            <a:avLst>
              <a:gd name="adj" fmla="val 158166"/>
            </a:avLst>
          </a:prstGeom>
          <a:solidFill>
            <a:srgbClr val="5A9572"/>
          </a:solidFill>
          <a:ln w="12700" cap="flat" cmpd="sng">
            <a:solidFill>
              <a:srgbClr val="3F755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1211" name="Google Shape;1211;p21"/>
          <p:cNvSpPr/>
          <p:nvPr/>
        </p:nvSpPr>
        <p:spPr>
          <a:xfrm>
            <a:off x="2085231" y="5221532"/>
            <a:ext cx="1280400" cy="256800"/>
          </a:xfrm>
          <a:prstGeom prst="roundRect">
            <a:avLst>
              <a:gd name="adj" fmla="val 158166"/>
            </a:avLst>
          </a:prstGeom>
          <a:solidFill>
            <a:srgbClr val="5A9572"/>
          </a:solidFill>
          <a:ln w="12700" cap="flat" cmpd="sng">
            <a:solidFill>
              <a:srgbClr val="3F755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1212" name="Google Shape;1212;p21"/>
          <p:cNvSpPr/>
          <p:nvPr/>
        </p:nvSpPr>
        <p:spPr>
          <a:xfrm>
            <a:off x="771754" y="5550716"/>
            <a:ext cx="995100" cy="256800"/>
          </a:xfrm>
          <a:prstGeom prst="roundRect">
            <a:avLst>
              <a:gd name="adj" fmla="val 158166"/>
            </a:avLst>
          </a:prstGeom>
          <a:solidFill>
            <a:srgbClr val="5A9572"/>
          </a:solidFill>
          <a:ln w="12700" cap="flat" cmpd="sng">
            <a:solidFill>
              <a:srgbClr val="3F755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1213" name="Google Shape;1213;p21"/>
          <p:cNvSpPr/>
          <p:nvPr/>
        </p:nvSpPr>
        <p:spPr>
          <a:xfrm>
            <a:off x="1874919" y="5550716"/>
            <a:ext cx="783900" cy="256800"/>
          </a:xfrm>
          <a:prstGeom prst="roundRect">
            <a:avLst>
              <a:gd name="adj" fmla="val 158166"/>
            </a:avLst>
          </a:prstGeom>
          <a:solidFill>
            <a:srgbClr val="5A9572"/>
          </a:solidFill>
          <a:ln w="12700" cap="flat" cmpd="sng">
            <a:solidFill>
              <a:srgbClr val="3F755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1214" name="Google Shape;1214;p21"/>
          <p:cNvSpPr/>
          <p:nvPr/>
        </p:nvSpPr>
        <p:spPr>
          <a:xfrm>
            <a:off x="4518049" y="5221532"/>
            <a:ext cx="1356000" cy="256800"/>
          </a:xfrm>
          <a:prstGeom prst="roundRect">
            <a:avLst>
              <a:gd name="adj" fmla="val 158166"/>
            </a:avLst>
          </a:prstGeom>
          <a:solidFill>
            <a:srgbClr val="5A9572"/>
          </a:solidFill>
          <a:ln w="12700" cap="flat" cmpd="sng">
            <a:solidFill>
              <a:srgbClr val="3F755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1215" name="Google Shape;1215;p21"/>
          <p:cNvSpPr/>
          <p:nvPr/>
        </p:nvSpPr>
        <p:spPr>
          <a:xfrm>
            <a:off x="4518049" y="5550716"/>
            <a:ext cx="1206000" cy="256800"/>
          </a:xfrm>
          <a:prstGeom prst="roundRect">
            <a:avLst>
              <a:gd name="adj" fmla="val 158166"/>
            </a:avLst>
          </a:prstGeom>
          <a:solidFill>
            <a:srgbClr val="5A9572"/>
          </a:solidFill>
          <a:ln w="12700" cap="flat" cmpd="sng">
            <a:solidFill>
              <a:srgbClr val="3F755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1216" name="Google Shape;1216;p21"/>
          <p:cNvSpPr/>
          <p:nvPr/>
        </p:nvSpPr>
        <p:spPr>
          <a:xfrm>
            <a:off x="5801014" y="5550716"/>
            <a:ext cx="652800" cy="256800"/>
          </a:xfrm>
          <a:prstGeom prst="roundRect">
            <a:avLst>
              <a:gd name="adj" fmla="val 158166"/>
            </a:avLst>
          </a:prstGeom>
          <a:solidFill>
            <a:srgbClr val="5A9572"/>
          </a:solidFill>
          <a:ln w="12700" cap="flat" cmpd="sng">
            <a:solidFill>
              <a:srgbClr val="3F755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1217" name="Google Shape;1217;p21"/>
          <p:cNvSpPr txBox="1"/>
          <p:nvPr/>
        </p:nvSpPr>
        <p:spPr>
          <a:xfrm>
            <a:off x="875995" y="5299816"/>
            <a:ext cx="1125000" cy="9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非構造化データ処理</a:t>
            </a:r>
            <a:endParaRPr sz="900" b="1" i="0" u="none" strike="noStrike" cap="none">
              <a:solidFill>
                <a:schemeClr val="lt1"/>
              </a:solidFill>
              <a:latin typeface="Arial"/>
              <a:ea typeface="Arial"/>
              <a:cs typeface="Arial"/>
              <a:sym typeface="Arial"/>
            </a:endParaRPr>
          </a:p>
        </p:txBody>
      </p:sp>
      <p:sp>
        <p:nvSpPr>
          <p:cNvPr id="1218" name="Google Shape;1218;p21"/>
          <p:cNvSpPr txBox="1"/>
          <p:nvPr/>
        </p:nvSpPr>
        <p:spPr>
          <a:xfrm>
            <a:off x="2189473" y="5299816"/>
            <a:ext cx="1061700" cy="9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ETL / ELT Pipeline</a:t>
            </a:r>
            <a:endParaRPr sz="900" b="1" i="0" u="none" strike="noStrike" cap="none">
              <a:solidFill>
                <a:schemeClr val="lt1"/>
              </a:solidFill>
              <a:latin typeface="Arial"/>
              <a:ea typeface="Arial"/>
              <a:cs typeface="Arial"/>
              <a:sym typeface="Arial"/>
            </a:endParaRPr>
          </a:p>
        </p:txBody>
      </p:sp>
      <p:sp>
        <p:nvSpPr>
          <p:cNvPr id="1219" name="Google Shape;1219;p21"/>
          <p:cNvSpPr txBox="1"/>
          <p:nvPr/>
        </p:nvSpPr>
        <p:spPr>
          <a:xfrm>
            <a:off x="875994" y="5629000"/>
            <a:ext cx="894600" cy="9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メタデータ管理</a:t>
            </a:r>
            <a:endParaRPr sz="900" b="1" i="0" u="none" strike="noStrike" cap="none">
              <a:solidFill>
                <a:schemeClr val="lt1"/>
              </a:solidFill>
              <a:latin typeface="Arial"/>
              <a:ea typeface="Arial"/>
              <a:cs typeface="Arial"/>
              <a:sym typeface="Arial"/>
            </a:endParaRPr>
          </a:p>
        </p:txBody>
      </p:sp>
      <p:sp>
        <p:nvSpPr>
          <p:cNvPr id="1220" name="Google Shape;1220;p21"/>
          <p:cNvSpPr txBox="1"/>
          <p:nvPr/>
        </p:nvSpPr>
        <p:spPr>
          <a:xfrm>
            <a:off x="1980075" y="5629000"/>
            <a:ext cx="621900" cy="9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Vector DB</a:t>
            </a:r>
            <a:endParaRPr sz="900" b="1" i="0" u="none" strike="noStrike" cap="none">
              <a:solidFill>
                <a:schemeClr val="lt1"/>
              </a:solidFill>
              <a:latin typeface="Arial"/>
              <a:ea typeface="Arial"/>
              <a:cs typeface="Arial"/>
              <a:sym typeface="Arial"/>
            </a:endParaRPr>
          </a:p>
        </p:txBody>
      </p:sp>
      <p:sp>
        <p:nvSpPr>
          <p:cNvPr id="1221" name="Google Shape;1221;p21"/>
          <p:cNvSpPr txBox="1"/>
          <p:nvPr/>
        </p:nvSpPr>
        <p:spPr>
          <a:xfrm>
            <a:off x="8759952" y="4760674"/>
            <a:ext cx="19149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ja-JP" sz="1400" b="1" i="0" u="none" strike="noStrike" cap="none">
                <a:solidFill>
                  <a:schemeClr val="dk1"/>
                </a:solidFill>
                <a:latin typeface="Arial"/>
                <a:ea typeface="Arial"/>
                <a:cs typeface="Arial"/>
                <a:sym typeface="Arial"/>
              </a:rPr>
              <a:t>セキュリティ / ガバナンス</a:t>
            </a:r>
            <a:endParaRPr sz="1400" b="1" i="0" u="none" strike="noStrike" cap="none">
              <a:solidFill>
                <a:schemeClr val="dk1"/>
              </a:solidFill>
              <a:latin typeface="Arial"/>
              <a:ea typeface="Arial"/>
              <a:cs typeface="Arial"/>
              <a:sym typeface="Arial"/>
            </a:endParaRPr>
          </a:p>
        </p:txBody>
      </p:sp>
      <p:sp>
        <p:nvSpPr>
          <p:cNvPr id="1222" name="Google Shape;1222;p21"/>
          <p:cNvSpPr/>
          <p:nvPr/>
        </p:nvSpPr>
        <p:spPr>
          <a:xfrm>
            <a:off x="5973820" y="5221532"/>
            <a:ext cx="1250700" cy="256800"/>
          </a:xfrm>
          <a:prstGeom prst="roundRect">
            <a:avLst>
              <a:gd name="adj" fmla="val 158166"/>
            </a:avLst>
          </a:prstGeom>
          <a:solidFill>
            <a:srgbClr val="5A9572"/>
          </a:solidFill>
          <a:ln w="12700" cap="flat" cmpd="sng">
            <a:solidFill>
              <a:srgbClr val="3F755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1223" name="Google Shape;1223;p21"/>
          <p:cNvSpPr/>
          <p:nvPr/>
        </p:nvSpPr>
        <p:spPr>
          <a:xfrm>
            <a:off x="8264347" y="5221532"/>
            <a:ext cx="915300" cy="256800"/>
          </a:xfrm>
          <a:prstGeom prst="roundRect">
            <a:avLst>
              <a:gd name="adj" fmla="val 158166"/>
            </a:avLst>
          </a:prstGeom>
          <a:solidFill>
            <a:srgbClr val="5A9572"/>
          </a:solidFill>
          <a:ln w="12700" cap="flat" cmpd="sng">
            <a:solidFill>
              <a:srgbClr val="3F755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1224" name="Google Shape;1224;p21"/>
          <p:cNvSpPr/>
          <p:nvPr/>
        </p:nvSpPr>
        <p:spPr>
          <a:xfrm>
            <a:off x="9272592" y="5221532"/>
            <a:ext cx="799200" cy="256800"/>
          </a:xfrm>
          <a:prstGeom prst="roundRect">
            <a:avLst>
              <a:gd name="adj" fmla="val 158166"/>
            </a:avLst>
          </a:prstGeom>
          <a:solidFill>
            <a:srgbClr val="5A9572"/>
          </a:solidFill>
          <a:ln w="12700" cap="flat" cmpd="sng">
            <a:solidFill>
              <a:srgbClr val="3F755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1225" name="Google Shape;1225;p21"/>
          <p:cNvSpPr/>
          <p:nvPr/>
        </p:nvSpPr>
        <p:spPr>
          <a:xfrm>
            <a:off x="10168557" y="5221532"/>
            <a:ext cx="1242300" cy="256800"/>
          </a:xfrm>
          <a:prstGeom prst="roundRect">
            <a:avLst>
              <a:gd name="adj" fmla="val 158166"/>
            </a:avLst>
          </a:prstGeom>
          <a:solidFill>
            <a:srgbClr val="5A9572"/>
          </a:solidFill>
          <a:ln w="12700" cap="flat" cmpd="sng">
            <a:solidFill>
              <a:srgbClr val="3F755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1226" name="Google Shape;1226;p21"/>
          <p:cNvSpPr txBox="1"/>
          <p:nvPr/>
        </p:nvSpPr>
        <p:spPr>
          <a:xfrm>
            <a:off x="4623206" y="5299816"/>
            <a:ext cx="1250700" cy="9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Webアプリケーション</a:t>
            </a:r>
            <a:endParaRPr sz="900" b="1" i="0" u="none" strike="noStrike" cap="none">
              <a:solidFill>
                <a:schemeClr val="lt1"/>
              </a:solidFill>
              <a:latin typeface="Arial"/>
              <a:ea typeface="Arial"/>
              <a:cs typeface="Arial"/>
              <a:sym typeface="Arial"/>
            </a:endParaRPr>
          </a:p>
        </p:txBody>
      </p:sp>
      <p:sp>
        <p:nvSpPr>
          <p:cNvPr id="1227" name="Google Shape;1227;p21"/>
          <p:cNvSpPr txBox="1"/>
          <p:nvPr/>
        </p:nvSpPr>
        <p:spPr>
          <a:xfrm>
            <a:off x="6078977" y="5299816"/>
            <a:ext cx="1125000" cy="9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ワークフロー自動化</a:t>
            </a:r>
            <a:endParaRPr sz="900" b="1" i="0" u="none" strike="noStrike" cap="none">
              <a:solidFill>
                <a:schemeClr val="lt1"/>
              </a:solidFill>
              <a:latin typeface="Arial"/>
              <a:ea typeface="Arial"/>
              <a:cs typeface="Arial"/>
              <a:sym typeface="Arial"/>
            </a:endParaRPr>
          </a:p>
        </p:txBody>
      </p:sp>
      <p:sp>
        <p:nvSpPr>
          <p:cNvPr id="1228" name="Google Shape;1228;p21"/>
          <p:cNvSpPr txBox="1"/>
          <p:nvPr/>
        </p:nvSpPr>
        <p:spPr>
          <a:xfrm>
            <a:off x="4623205" y="5629000"/>
            <a:ext cx="1020300" cy="9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MLOps / 精度監視</a:t>
            </a:r>
            <a:endParaRPr sz="900" b="1" i="0" u="none" strike="noStrike" cap="none">
              <a:solidFill>
                <a:schemeClr val="lt1"/>
              </a:solidFill>
              <a:latin typeface="Arial"/>
              <a:ea typeface="Arial"/>
              <a:cs typeface="Arial"/>
              <a:sym typeface="Arial"/>
            </a:endParaRPr>
          </a:p>
        </p:txBody>
      </p:sp>
      <p:sp>
        <p:nvSpPr>
          <p:cNvPr id="1229" name="Google Shape;1229;p21"/>
          <p:cNvSpPr txBox="1"/>
          <p:nvPr/>
        </p:nvSpPr>
        <p:spPr>
          <a:xfrm>
            <a:off x="5905255" y="5629000"/>
            <a:ext cx="548400" cy="9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監査ログ</a:t>
            </a:r>
            <a:endParaRPr sz="900" b="1" i="0" u="none" strike="noStrike" cap="none">
              <a:solidFill>
                <a:schemeClr val="lt1"/>
              </a:solidFill>
              <a:latin typeface="Arial"/>
              <a:ea typeface="Arial"/>
              <a:cs typeface="Arial"/>
              <a:sym typeface="Arial"/>
            </a:endParaRPr>
          </a:p>
        </p:txBody>
      </p:sp>
      <p:sp>
        <p:nvSpPr>
          <p:cNvPr id="1230" name="Google Shape;1230;p21"/>
          <p:cNvSpPr/>
          <p:nvPr/>
        </p:nvSpPr>
        <p:spPr>
          <a:xfrm>
            <a:off x="8264347" y="5550716"/>
            <a:ext cx="1041600" cy="256800"/>
          </a:xfrm>
          <a:prstGeom prst="roundRect">
            <a:avLst>
              <a:gd name="adj" fmla="val 158166"/>
            </a:avLst>
          </a:prstGeom>
          <a:solidFill>
            <a:srgbClr val="5A9572"/>
          </a:solidFill>
          <a:ln w="12700" cap="flat" cmpd="sng">
            <a:solidFill>
              <a:srgbClr val="3F755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p:txBody>
      </p:sp>
      <p:sp>
        <p:nvSpPr>
          <p:cNvPr id="1231" name="Google Shape;1231;p21"/>
          <p:cNvSpPr txBox="1"/>
          <p:nvPr/>
        </p:nvSpPr>
        <p:spPr>
          <a:xfrm>
            <a:off x="8369503" y="5299816"/>
            <a:ext cx="810000" cy="9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PIIマスキング</a:t>
            </a:r>
            <a:endParaRPr sz="900" b="1" i="0" u="none" strike="noStrike" cap="none">
              <a:solidFill>
                <a:schemeClr val="lt1"/>
              </a:solidFill>
              <a:latin typeface="Arial"/>
              <a:ea typeface="Arial"/>
              <a:cs typeface="Arial"/>
              <a:sym typeface="Arial"/>
            </a:endParaRPr>
          </a:p>
        </p:txBody>
      </p:sp>
      <p:sp>
        <p:nvSpPr>
          <p:cNvPr id="1232" name="Google Shape;1232;p21"/>
          <p:cNvSpPr txBox="1"/>
          <p:nvPr/>
        </p:nvSpPr>
        <p:spPr>
          <a:xfrm>
            <a:off x="9377748" y="5299816"/>
            <a:ext cx="663000" cy="9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Guardrails</a:t>
            </a:r>
            <a:endParaRPr sz="900" b="1" i="0" u="none" strike="noStrike" cap="none">
              <a:solidFill>
                <a:schemeClr val="lt1"/>
              </a:solidFill>
              <a:latin typeface="Arial"/>
              <a:ea typeface="Arial"/>
              <a:cs typeface="Arial"/>
              <a:sym typeface="Arial"/>
            </a:endParaRPr>
          </a:p>
        </p:txBody>
      </p:sp>
      <p:sp>
        <p:nvSpPr>
          <p:cNvPr id="1233" name="Google Shape;1233;p21"/>
          <p:cNvSpPr txBox="1"/>
          <p:nvPr/>
        </p:nvSpPr>
        <p:spPr>
          <a:xfrm>
            <a:off x="10272799" y="5299816"/>
            <a:ext cx="1125000" cy="9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評価フレームワーク</a:t>
            </a:r>
            <a:endParaRPr sz="900" b="1" i="0" u="none" strike="noStrike" cap="none">
              <a:solidFill>
                <a:schemeClr val="lt1"/>
              </a:solidFill>
              <a:latin typeface="Arial"/>
              <a:ea typeface="Arial"/>
              <a:cs typeface="Arial"/>
              <a:sym typeface="Arial"/>
            </a:endParaRPr>
          </a:p>
        </p:txBody>
      </p:sp>
      <p:sp>
        <p:nvSpPr>
          <p:cNvPr id="1234" name="Google Shape;1234;p21"/>
          <p:cNvSpPr txBox="1"/>
          <p:nvPr/>
        </p:nvSpPr>
        <p:spPr>
          <a:xfrm>
            <a:off x="8369502" y="5629000"/>
            <a:ext cx="894600" cy="9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ja-JP" sz="900" b="1" i="0" u="none" strike="noStrike" cap="none">
                <a:solidFill>
                  <a:schemeClr val="lt1"/>
                </a:solidFill>
                <a:latin typeface="Arial"/>
                <a:ea typeface="Arial"/>
                <a:cs typeface="Arial"/>
                <a:sym typeface="Arial"/>
              </a:rPr>
              <a:t>Access Control</a:t>
            </a:r>
            <a:endParaRPr sz="900" b="1" i="0" u="none" strike="noStrike" cap="none">
              <a:solidFill>
                <a:schemeClr val="lt1"/>
              </a:solidFill>
              <a:latin typeface="Arial"/>
              <a:ea typeface="Arial"/>
              <a:cs typeface="Arial"/>
              <a:sym typeface="Arial"/>
            </a:endParaRPr>
          </a:p>
        </p:txBody>
      </p:sp>
      <p:pic>
        <p:nvPicPr>
          <p:cNvPr id="1235" name="Google Shape;1235;p21" descr="プロセッサ 単色塗りつぶし"/>
          <p:cNvPicPr preferRelativeResize="0"/>
          <p:nvPr/>
        </p:nvPicPr>
        <p:blipFill rotWithShape="1">
          <a:blip r:embed="rId3">
            <a:alphaModFix/>
          </a:blip>
          <a:srcRect/>
          <a:stretch/>
        </p:blipFill>
        <p:spPr>
          <a:xfrm>
            <a:off x="832387" y="2352601"/>
            <a:ext cx="272264" cy="272264"/>
          </a:xfrm>
          <a:prstGeom prst="rect">
            <a:avLst/>
          </a:prstGeom>
          <a:noFill/>
          <a:ln>
            <a:noFill/>
          </a:ln>
        </p:spPr>
      </p:pic>
      <p:pic>
        <p:nvPicPr>
          <p:cNvPr id="1236" name="Google Shape;1236;p21" descr="拡大鏡 単色塗りつぶし"/>
          <p:cNvPicPr preferRelativeResize="0"/>
          <p:nvPr/>
        </p:nvPicPr>
        <p:blipFill rotWithShape="1">
          <a:blip r:embed="rId4">
            <a:alphaModFix/>
          </a:blip>
          <a:srcRect/>
          <a:stretch/>
        </p:blipFill>
        <p:spPr>
          <a:xfrm>
            <a:off x="3636225" y="2363800"/>
            <a:ext cx="272264" cy="272264"/>
          </a:xfrm>
          <a:prstGeom prst="rect">
            <a:avLst/>
          </a:prstGeom>
          <a:noFill/>
          <a:ln>
            <a:noFill/>
          </a:ln>
        </p:spPr>
      </p:pic>
      <p:pic>
        <p:nvPicPr>
          <p:cNvPr id="1237" name="Google Shape;1237;p21" descr="周期的グラフ 単色塗りつぶし"/>
          <p:cNvPicPr preferRelativeResize="0"/>
          <p:nvPr/>
        </p:nvPicPr>
        <p:blipFill rotWithShape="1">
          <a:blip r:embed="rId5">
            <a:alphaModFix/>
          </a:blip>
          <a:srcRect/>
          <a:stretch/>
        </p:blipFill>
        <p:spPr>
          <a:xfrm>
            <a:off x="6446176" y="2369970"/>
            <a:ext cx="272264" cy="272264"/>
          </a:xfrm>
          <a:prstGeom prst="rect">
            <a:avLst/>
          </a:prstGeom>
          <a:noFill/>
          <a:ln>
            <a:noFill/>
          </a:ln>
        </p:spPr>
      </p:pic>
      <p:pic>
        <p:nvPicPr>
          <p:cNvPr id="1238" name="Google Shape;1238;p21" descr="画像 単色塗りつぶし"/>
          <p:cNvPicPr preferRelativeResize="0"/>
          <p:nvPr/>
        </p:nvPicPr>
        <p:blipFill rotWithShape="1">
          <a:blip r:embed="rId6">
            <a:alphaModFix/>
          </a:blip>
          <a:srcRect/>
          <a:stretch/>
        </p:blipFill>
        <p:spPr>
          <a:xfrm>
            <a:off x="9256127" y="2355226"/>
            <a:ext cx="272264" cy="272264"/>
          </a:xfrm>
          <a:prstGeom prst="rect">
            <a:avLst/>
          </a:prstGeom>
          <a:noFill/>
          <a:ln>
            <a:noFill/>
          </a:ln>
        </p:spPr>
      </p:pic>
      <p:pic>
        <p:nvPicPr>
          <p:cNvPr id="1239" name="Google Shape;1239;p21" descr="チェックマークの付いた盾 単色塗りつぶし"/>
          <p:cNvPicPr preferRelativeResize="0"/>
          <p:nvPr/>
        </p:nvPicPr>
        <p:blipFill rotWithShape="1">
          <a:blip r:embed="rId7">
            <a:alphaModFix/>
          </a:blip>
          <a:srcRect/>
          <a:stretch/>
        </p:blipFill>
        <p:spPr>
          <a:xfrm>
            <a:off x="8318867" y="4754501"/>
            <a:ext cx="272264" cy="272264"/>
          </a:xfrm>
          <a:prstGeom prst="rect">
            <a:avLst/>
          </a:prstGeom>
          <a:noFill/>
          <a:ln>
            <a:noFill/>
          </a:ln>
        </p:spPr>
      </p:pic>
      <p:pic>
        <p:nvPicPr>
          <p:cNvPr id="1240" name="Google Shape;1240;p21" descr="データベース 単色塗りつぶし"/>
          <p:cNvPicPr preferRelativeResize="0"/>
          <p:nvPr/>
        </p:nvPicPr>
        <p:blipFill rotWithShape="1">
          <a:blip r:embed="rId8">
            <a:alphaModFix/>
          </a:blip>
          <a:srcRect/>
          <a:stretch/>
        </p:blipFill>
        <p:spPr>
          <a:xfrm>
            <a:off x="836561" y="4737241"/>
            <a:ext cx="272264" cy="272264"/>
          </a:xfrm>
          <a:prstGeom prst="rect">
            <a:avLst/>
          </a:prstGeom>
          <a:noFill/>
          <a:ln>
            <a:noFill/>
          </a:ln>
        </p:spPr>
      </p:pic>
      <p:pic>
        <p:nvPicPr>
          <p:cNvPr id="1241" name="Google Shape;1241;p21" descr="コンピューター 単色塗りつぶし"/>
          <p:cNvPicPr preferRelativeResize="0"/>
          <p:nvPr/>
        </p:nvPicPr>
        <p:blipFill rotWithShape="1">
          <a:blip r:embed="rId9">
            <a:alphaModFix/>
          </a:blip>
          <a:srcRect/>
          <a:stretch/>
        </p:blipFill>
        <p:spPr>
          <a:xfrm>
            <a:off x="4555197" y="4737241"/>
            <a:ext cx="272264" cy="272264"/>
          </a:xfrm>
          <a:prstGeom prst="rect">
            <a:avLst/>
          </a:prstGeom>
          <a:noFill/>
          <a:ln>
            <a:noFill/>
          </a:ln>
        </p:spPr>
      </p:pic>
      <p:sp>
        <p:nvSpPr>
          <p:cNvPr id="1242" name="Google Shape;1242;p21"/>
          <p:cNvSpPr txBox="1">
            <a:spLocks noGrp="1"/>
          </p:cNvSpPr>
          <p:nvPr>
            <p:ph type="ftr" idx="11"/>
          </p:nvPr>
        </p:nvSpPr>
        <p:spPr>
          <a:xfrm>
            <a:off x="9687698" y="6514831"/>
            <a:ext cx="2109696" cy="216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1000">
                <a:solidFill>
                  <a:srgbClr val="BFBFBF"/>
                </a:solidFill>
                <a:latin typeface="Arial"/>
                <a:ea typeface="Arial"/>
                <a:cs typeface="Arial"/>
                <a:sym typeface="Arial"/>
              </a:rPr>
              <a:t>©️ 2026 Boost Consulting, Inc.</a:t>
            </a:r>
            <a:endParaRPr sz="1000">
              <a:solidFill>
                <a:srgbClr val="BFBFBF"/>
              </a:solidFill>
              <a:latin typeface="Arial"/>
              <a:ea typeface="Arial"/>
              <a:cs typeface="Arial"/>
              <a:sym typeface="Arial"/>
            </a:endParaRPr>
          </a:p>
        </p:txBody>
      </p:sp>
    </p:spTree>
    <p:extLst>
      <p:ext uri="{BB962C8B-B14F-4D97-AF65-F5344CB8AC3E}">
        <p14:creationId xmlns:p14="http://schemas.microsoft.com/office/powerpoint/2010/main" val="1401424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6D6BC-AC6B-5487-84C0-7DB38EA3165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44CF949-C3F3-6212-6C8F-1BFD6C29B1D0}"/>
              </a:ext>
            </a:extLst>
          </p:cNvPr>
          <p:cNvSpPr>
            <a:spLocks noGrp="1"/>
          </p:cNvSpPr>
          <p:nvPr>
            <p:ph type="ctrTitle"/>
          </p:nvPr>
        </p:nvSpPr>
        <p:spPr/>
        <p:txBody>
          <a:bodyPr/>
          <a:lstStyle/>
          <a:p>
            <a:r>
              <a:rPr kumimoji="1" lang="ja-JP" altLang="en-US"/>
              <a:t>会社紹介</a:t>
            </a:r>
          </a:p>
        </p:txBody>
      </p:sp>
    </p:spTree>
    <p:extLst>
      <p:ext uri="{BB962C8B-B14F-4D97-AF65-F5344CB8AC3E}">
        <p14:creationId xmlns:p14="http://schemas.microsoft.com/office/powerpoint/2010/main" val="34482028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D2C0BF3-4E11-416D-88A5-F4942A6459A6}"/>
              </a:ext>
            </a:extLst>
          </p:cNvPr>
          <p:cNvGraphicFramePr>
            <a:graphicFrameLocks/>
          </p:cNvGraphicFramePr>
          <p:nvPr>
            <p:custDataLst>
              <p:tags r:id="rId1"/>
            </p:custDataLst>
            <p:extLst>
              <p:ext uri="{D42A27DB-BD31-4B8C-83A1-F6EECF244321}">
                <p14:modId xmlns:p14="http://schemas.microsoft.com/office/powerpoint/2010/main" val="6819763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スライド" r:id="rId3" imgW="7772400" imgH="10058400" progId="TCLayout.ActiveDocument.1">
                  <p:embed/>
                </p:oleObj>
              </mc:Choice>
              <mc:Fallback>
                <p:oleObj name="think-cellスライド" r:id="rId3" imgW="7772400" imgH="10058400" progId="TCLayout.ActiveDocument.1">
                  <p:embed/>
                  <p:pic>
                    <p:nvPicPr>
                      <p:cNvPr id="0" nam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8C246C52-DBD1-443B-8C06-B9FEA0E37071}"/>
              </a:ext>
            </a:extLst>
          </p:cNvPr>
          <p:cNvSpPr>
            <a:spLocks noGrp="1"/>
          </p:cNvSpPr>
          <p:nvPr>
            <p:ph type="title"/>
          </p:nvPr>
        </p:nvSpPr>
        <p:spPr/>
        <p:txBody>
          <a:bodyPr vert="horz" rIns="91440" anchor="t"/>
          <a:lstStyle/>
          <a:p>
            <a:r>
              <a:rPr lang="ja-JP" altLang="ja-JP" dirty="0">
                <a:latin typeface="Meiryo UI" panose="020B0604030504040204" pitchFamily="50" charset="-128"/>
                <a:ea typeface="Meiryo UI" panose="020B0604030504040204" pitchFamily="50" charset="-128"/>
              </a:rPr>
              <a:t>AIを用いてビジネスインパクトを創出するコンサルティングを提供</a:t>
            </a:r>
            <a:br>
              <a:rPr lang="ja-JP" altLang="ja-JP" dirty="0">
                <a:latin typeface="Meiryo UI" panose="020B0604030504040204" pitchFamily="50" charset="-128"/>
                <a:ea typeface="Meiryo UI" panose="020B0604030504040204" pitchFamily="50" charset="-128"/>
              </a:rPr>
            </a:br>
            <a:r>
              <a:rPr lang="ja-JP" altLang="ja-JP" sz="1800" dirty="0">
                <a:solidFill>
                  <a:srgbClr val="7F7F7F"/>
                </a:solidFill>
                <a:latin typeface="Meiryo UI" panose="020B0604030504040204" pitchFamily="50" charset="-128"/>
                <a:ea typeface="Meiryo UI" panose="020B0604030504040204" pitchFamily="50" charset="-128"/>
              </a:rPr>
              <a:t>コンサルティング会社が“不要“になる状態を目指して、クライアントの内製化・自走を支援する</a:t>
            </a:r>
            <a:endParaRPr kumimoji="1" lang="ja-JP" altLang="en-US" dirty="0"/>
          </a:p>
        </p:txBody>
      </p:sp>
      <p:sp>
        <p:nvSpPr>
          <p:cNvPr id="3" name="フッター プレースホルダー 13">
            <a:extLst>
              <a:ext uri="{FF2B5EF4-FFF2-40B4-BE49-F238E27FC236}">
                <a16:creationId xmlns:a16="http://schemas.microsoft.com/office/drawing/2014/main" id="{28D1DBF4-A67D-761C-1003-58BE63520FCA}"/>
              </a:ext>
            </a:extLst>
          </p:cNvPr>
          <p:cNvSpPr>
            <a:spLocks noGrp="1"/>
          </p:cNvSpPr>
          <p:nvPr>
            <p:ph type="ftr" sz="quarter" idx="11"/>
          </p:nvPr>
        </p:nvSpPr>
        <p:spPr/>
        <p:txBody>
          <a:bodyPr/>
          <a:lstStyle>
            <a:lvl1pPr algn="l">
              <a:defRPr sz="1000">
                <a:latin typeface="+mn-lt"/>
                <a:ea typeface="+mn-ea"/>
              </a:defRPr>
            </a:lvl1pPr>
          </a:lstStyle>
          <a:p>
            <a:pPr>
              <a:defRPr/>
            </a:pPr>
            <a:r>
              <a:rPr kumimoji="1" lang="en-US" altLang="ja-JP" dirty="0">
                <a:solidFill>
                  <a:srgbClr val="FFFFFF">
                    <a:lumMod val="75000"/>
                  </a:srgbClr>
                </a:solidFill>
              </a:rPr>
              <a:t>©️ 2026 Boost Consulting, Inc.</a:t>
            </a:r>
            <a:endParaRPr kumimoji="1" lang="ja-JP" altLang="en-US" dirty="0">
              <a:solidFill>
                <a:srgbClr val="FFFFFF">
                  <a:lumMod val="75000"/>
                </a:srgbClr>
              </a:solidFill>
              <a:latin typeface="+mn-lt"/>
            </a:endParaRPr>
          </a:p>
        </p:txBody>
      </p:sp>
      <p:sp>
        <p:nvSpPr>
          <p:cNvPr id="7" name="コンテンツ プレースホルダー 6">
            <a:extLst>
              <a:ext uri="{FF2B5EF4-FFF2-40B4-BE49-F238E27FC236}">
                <a16:creationId xmlns:a16="http://schemas.microsoft.com/office/drawing/2014/main" id="{D027FA96-EE6D-7CA2-27E2-97C1D81ACEA7}"/>
              </a:ext>
            </a:extLst>
          </p:cNvPr>
          <p:cNvSpPr>
            <a:spLocks noGrp="1"/>
          </p:cNvSpPr>
          <p:nvPr>
            <p:ph idx="12"/>
          </p:nvPr>
        </p:nvSpPr>
        <p:spPr/>
        <p:txBody>
          <a:bodyPr/>
          <a:lstStyle/>
          <a:p>
            <a:r>
              <a:rPr lang="ja-JP" altLang="en-US"/>
              <a:t>会社概要：私たちが目指すもの</a:t>
            </a:r>
          </a:p>
        </p:txBody>
      </p:sp>
      <p:sp>
        <p:nvSpPr>
          <p:cNvPr id="11" name="Google Shape;392;p2">
            <a:extLst>
              <a:ext uri="{FF2B5EF4-FFF2-40B4-BE49-F238E27FC236}">
                <a16:creationId xmlns:a16="http://schemas.microsoft.com/office/drawing/2014/main" id="{AFC79463-70D6-8C0C-BDB2-EADC8A004CAD}"/>
              </a:ext>
            </a:extLst>
          </p:cNvPr>
          <p:cNvSpPr/>
          <p:nvPr/>
        </p:nvSpPr>
        <p:spPr>
          <a:xfrm>
            <a:off x="340306" y="1977537"/>
            <a:ext cx="3625407" cy="3838864"/>
          </a:xfrm>
          <a:prstGeom prst="rect">
            <a:avLst/>
          </a:prstGeom>
          <a:solidFill>
            <a:srgbClr val="3F755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eiryo UI" panose="020B0604030504040204" pitchFamily="50" charset="-128"/>
              <a:ea typeface="Meiryo UI" panose="020B0604030504040204" pitchFamily="50" charset="-128"/>
              <a:sym typeface="Arial"/>
            </a:endParaRPr>
          </a:p>
        </p:txBody>
      </p:sp>
      <p:sp>
        <p:nvSpPr>
          <p:cNvPr id="13" name="Google Shape;393;p2">
            <a:extLst>
              <a:ext uri="{FF2B5EF4-FFF2-40B4-BE49-F238E27FC236}">
                <a16:creationId xmlns:a16="http://schemas.microsoft.com/office/drawing/2014/main" id="{DEC5FECE-234E-B915-E585-09D733F074EF}"/>
              </a:ext>
            </a:extLst>
          </p:cNvPr>
          <p:cNvSpPr/>
          <p:nvPr/>
        </p:nvSpPr>
        <p:spPr>
          <a:xfrm>
            <a:off x="4287602" y="1977537"/>
            <a:ext cx="3625407" cy="3838864"/>
          </a:xfrm>
          <a:prstGeom prst="rect">
            <a:avLst/>
          </a:prstGeom>
          <a:solidFill>
            <a:srgbClr val="3F755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eiryo UI" panose="020B0604030504040204" pitchFamily="50" charset="-128"/>
              <a:ea typeface="Meiryo UI" panose="020B0604030504040204" pitchFamily="50" charset="-128"/>
              <a:sym typeface="Arial"/>
            </a:endParaRPr>
          </a:p>
        </p:txBody>
      </p:sp>
      <p:sp>
        <p:nvSpPr>
          <p:cNvPr id="16" name="Google Shape;394;p2">
            <a:extLst>
              <a:ext uri="{FF2B5EF4-FFF2-40B4-BE49-F238E27FC236}">
                <a16:creationId xmlns:a16="http://schemas.microsoft.com/office/drawing/2014/main" id="{2C5FB91B-099B-3E60-5E5B-83671504AB5F}"/>
              </a:ext>
            </a:extLst>
          </p:cNvPr>
          <p:cNvSpPr/>
          <p:nvPr/>
        </p:nvSpPr>
        <p:spPr>
          <a:xfrm>
            <a:off x="8234899" y="1977537"/>
            <a:ext cx="3625407" cy="3838864"/>
          </a:xfrm>
          <a:prstGeom prst="rect">
            <a:avLst/>
          </a:prstGeom>
          <a:solidFill>
            <a:srgbClr val="3F755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eiryo UI" panose="020B0604030504040204" pitchFamily="50" charset="-128"/>
              <a:ea typeface="Meiryo UI" panose="020B0604030504040204" pitchFamily="50" charset="-128"/>
              <a:sym typeface="Arial"/>
            </a:endParaRPr>
          </a:p>
        </p:txBody>
      </p:sp>
      <p:sp>
        <p:nvSpPr>
          <p:cNvPr id="17" name="Google Shape;395;p2">
            <a:extLst>
              <a:ext uri="{FF2B5EF4-FFF2-40B4-BE49-F238E27FC236}">
                <a16:creationId xmlns:a16="http://schemas.microsoft.com/office/drawing/2014/main" id="{DA0C441E-F865-6383-1B4E-6ADCFD298A12}"/>
              </a:ext>
            </a:extLst>
          </p:cNvPr>
          <p:cNvSpPr/>
          <p:nvPr/>
        </p:nvSpPr>
        <p:spPr>
          <a:xfrm>
            <a:off x="447262" y="1977537"/>
            <a:ext cx="3518452" cy="3838864"/>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eiryo UI" panose="020B0604030504040204" pitchFamily="50" charset="-128"/>
              <a:ea typeface="Meiryo UI" panose="020B0604030504040204" pitchFamily="50" charset="-128"/>
              <a:sym typeface="Arial"/>
            </a:endParaRPr>
          </a:p>
        </p:txBody>
      </p:sp>
      <p:sp>
        <p:nvSpPr>
          <p:cNvPr id="18" name="Google Shape;396;p2">
            <a:extLst>
              <a:ext uri="{FF2B5EF4-FFF2-40B4-BE49-F238E27FC236}">
                <a16:creationId xmlns:a16="http://schemas.microsoft.com/office/drawing/2014/main" id="{C3DED63F-C257-4FA0-1DE2-1D2530F603DF}"/>
              </a:ext>
            </a:extLst>
          </p:cNvPr>
          <p:cNvSpPr/>
          <p:nvPr/>
        </p:nvSpPr>
        <p:spPr>
          <a:xfrm>
            <a:off x="4394558" y="1977537"/>
            <a:ext cx="3518452" cy="3838864"/>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eiryo UI" panose="020B0604030504040204" pitchFamily="50" charset="-128"/>
              <a:ea typeface="Meiryo UI" panose="020B0604030504040204" pitchFamily="50" charset="-128"/>
              <a:sym typeface="Arial"/>
            </a:endParaRPr>
          </a:p>
        </p:txBody>
      </p:sp>
      <p:sp>
        <p:nvSpPr>
          <p:cNvPr id="19" name="Google Shape;397;p2">
            <a:extLst>
              <a:ext uri="{FF2B5EF4-FFF2-40B4-BE49-F238E27FC236}">
                <a16:creationId xmlns:a16="http://schemas.microsoft.com/office/drawing/2014/main" id="{71C0854E-C381-F097-C8B3-6ED27B0EC1E1}"/>
              </a:ext>
            </a:extLst>
          </p:cNvPr>
          <p:cNvSpPr/>
          <p:nvPr/>
        </p:nvSpPr>
        <p:spPr>
          <a:xfrm>
            <a:off x="8341855" y="1977537"/>
            <a:ext cx="3518452" cy="3838864"/>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eiryo UI" panose="020B0604030504040204" pitchFamily="50" charset="-128"/>
              <a:ea typeface="Meiryo UI" panose="020B0604030504040204" pitchFamily="50" charset="-128"/>
              <a:sym typeface="Arial"/>
            </a:endParaRPr>
          </a:p>
        </p:txBody>
      </p:sp>
      <p:sp>
        <p:nvSpPr>
          <p:cNvPr id="20" name="Google Shape;398;p2">
            <a:extLst>
              <a:ext uri="{FF2B5EF4-FFF2-40B4-BE49-F238E27FC236}">
                <a16:creationId xmlns:a16="http://schemas.microsoft.com/office/drawing/2014/main" id="{FB96775D-44CA-6A47-25DE-92DF4415D117}"/>
              </a:ext>
            </a:extLst>
          </p:cNvPr>
          <p:cNvSpPr/>
          <p:nvPr/>
        </p:nvSpPr>
        <p:spPr>
          <a:xfrm>
            <a:off x="487017" y="1625215"/>
            <a:ext cx="3478696" cy="180378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2000" b="1" dirty="0">
                <a:solidFill>
                  <a:srgbClr val="3F7556"/>
                </a:solidFill>
                <a:latin typeface="Meiryo UI" panose="020B0604030504040204" pitchFamily="50" charset="-128"/>
                <a:ea typeface="Meiryo UI" panose="020B0604030504040204" pitchFamily="50" charset="-128"/>
                <a:sym typeface="Arial"/>
              </a:rPr>
              <a:t>01</a:t>
            </a:r>
            <a:endParaRPr dirty="0">
              <a:latin typeface="Meiryo UI" panose="020B0604030504040204" pitchFamily="50" charset="-128"/>
              <a:ea typeface="Meiryo UI" panose="020B0604030504040204" pitchFamily="50" charset="-128"/>
            </a:endParaRPr>
          </a:p>
          <a:p>
            <a:pPr marL="0" marR="0" lvl="0" indent="0" algn="l" rtl="0">
              <a:spcBef>
                <a:spcPts val="0"/>
              </a:spcBef>
              <a:spcAft>
                <a:spcPts val="0"/>
              </a:spcAft>
              <a:buNone/>
            </a:pPr>
            <a:endParaRPr sz="2000" b="1" dirty="0">
              <a:solidFill>
                <a:srgbClr val="3F7556"/>
              </a:solidFill>
              <a:latin typeface="Meiryo UI" panose="020B0604030504040204" pitchFamily="50" charset="-128"/>
              <a:ea typeface="Meiryo UI" panose="020B0604030504040204" pitchFamily="50" charset="-128"/>
              <a:sym typeface="Arial"/>
            </a:endParaRPr>
          </a:p>
          <a:p>
            <a:pPr marL="0" marR="0" lvl="0" indent="0" algn="l" rtl="0">
              <a:spcBef>
                <a:spcPts val="0"/>
              </a:spcBef>
              <a:spcAft>
                <a:spcPts val="0"/>
              </a:spcAft>
              <a:buNone/>
            </a:pPr>
            <a:r>
              <a:rPr lang="ja-JP" sz="2000" b="1" u="sng" dirty="0">
                <a:solidFill>
                  <a:srgbClr val="3F7556"/>
                </a:solidFill>
                <a:latin typeface="Meiryo UI" panose="020B0604030504040204" pitchFamily="50" charset="-128"/>
                <a:ea typeface="Meiryo UI" panose="020B0604030504040204" pitchFamily="50" charset="-128"/>
                <a:sym typeface="Arial"/>
              </a:rPr>
              <a:t>ビジネスインパクトを目的とする</a:t>
            </a:r>
            <a:endParaRPr dirty="0">
              <a:latin typeface="Meiryo UI" panose="020B0604030504040204" pitchFamily="50" charset="-128"/>
              <a:ea typeface="Meiryo UI" panose="020B0604030504040204" pitchFamily="50" charset="-128"/>
            </a:endParaRPr>
          </a:p>
        </p:txBody>
      </p:sp>
      <p:sp>
        <p:nvSpPr>
          <p:cNvPr id="21" name="Google Shape;399;p2">
            <a:extLst>
              <a:ext uri="{FF2B5EF4-FFF2-40B4-BE49-F238E27FC236}">
                <a16:creationId xmlns:a16="http://schemas.microsoft.com/office/drawing/2014/main" id="{BE706DA3-7E83-BA93-2087-37F564A475E3}"/>
              </a:ext>
            </a:extLst>
          </p:cNvPr>
          <p:cNvSpPr/>
          <p:nvPr/>
        </p:nvSpPr>
        <p:spPr>
          <a:xfrm>
            <a:off x="4432852" y="1625215"/>
            <a:ext cx="3478696" cy="180378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2000" b="1">
                <a:solidFill>
                  <a:srgbClr val="3F7556"/>
                </a:solidFill>
                <a:latin typeface="Meiryo UI" panose="020B0604030504040204" pitchFamily="50" charset="-128"/>
                <a:ea typeface="Meiryo UI" panose="020B0604030504040204" pitchFamily="50" charset="-128"/>
                <a:sym typeface="Arial"/>
              </a:rPr>
              <a:t>02</a:t>
            </a:r>
            <a:endParaRPr>
              <a:latin typeface="Meiryo UI" panose="020B0604030504040204" pitchFamily="50" charset="-128"/>
              <a:ea typeface="Meiryo UI" panose="020B0604030504040204" pitchFamily="50" charset="-128"/>
            </a:endParaRPr>
          </a:p>
          <a:p>
            <a:pPr marL="0" marR="0" lvl="0" indent="0" algn="l" rtl="0">
              <a:spcBef>
                <a:spcPts val="0"/>
              </a:spcBef>
              <a:spcAft>
                <a:spcPts val="0"/>
              </a:spcAft>
              <a:buNone/>
            </a:pPr>
            <a:endParaRPr sz="2000" b="1">
              <a:solidFill>
                <a:srgbClr val="3F7556"/>
              </a:solidFill>
              <a:latin typeface="Meiryo UI" panose="020B0604030504040204" pitchFamily="50" charset="-128"/>
              <a:ea typeface="Meiryo UI" panose="020B0604030504040204" pitchFamily="50" charset="-128"/>
              <a:sym typeface="Arial"/>
            </a:endParaRPr>
          </a:p>
          <a:p>
            <a:pPr marL="0" marR="0" lvl="0" indent="0" algn="l" rtl="0">
              <a:spcBef>
                <a:spcPts val="0"/>
              </a:spcBef>
              <a:spcAft>
                <a:spcPts val="0"/>
              </a:spcAft>
              <a:buNone/>
            </a:pPr>
            <a:r>
              <a:rPr lang="ja-JP" sz="2000" b="1" u="sng">
                <a:solidFill>
                  <a:srgbClr val="3F7556"/>
                </a:solidFill>
                <a:latin typeface="Meiryo UI" panose="020B0604030504040204" pitchFamily="50" charset="-128"/>
                <a:ea typeface="Meiryo UI" panose="020B0604030504040204" pitchFamily="50" charset="-128"/>
                <a:sym typeface="Arial"/>
              </a:rPr>
              <a:t>内製・自走をゴールとする</a:t>
            </a:r>
            <a:endParaRPr sz="2000" b="1" u="sng">
              <a:solidFill>
                <a:srgbClr val="3F7556"/>
              </a:solidFill>
              <a:latin typeface="Meiryo UI" panose="020B0604030504040204" pitchFamily="50" charset="-128"/>
              <a:ea typeface="Meiryo UI" panose="020B0604030504040204" pitchFamily="50" charset="-128"/>
              <a:sym typeface="Arial"/>
            </a:endParaRPr>
          </a:p>
        </p:txBody>
      </p:sp>
      <p:sp>
        <p:nvSpPr>
          <p:cNvPr id="22" name="Google Shape;400;p2">
            <a:extLst>
              <a:ext uri="{FF2B5EF4-FFF2-40B4-BE49-F238E27FC236}">
                <a16:creationId xmlns:a16="http://schemas.microsoft.com/office/drawing/2014/main" id="{AA53E10A-0F04-F5E6-DAD2-7E5DCFAFDA79}"/>
              </a:ext>
            </a:extLst>
          </p:cNvPr>
          <p:cNvSpPr/>
          <p:nvPr/>
        </p:nvSpPr>
        <p:spPr>
          <a:xfrm>
            <a:off x="8388626" y="1625215"/>
            <a:ext cx="3478696" cy="180378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ja-JP" sz="2000" b="1">
                <a:solidFill>
                  <a:srgbClr val="3F7556"/>
                </a:solidFill>
                <a:latin typeface="Meiryo UI" panose="020B0604030504040204" pitchFamily="50" charset="-128"/>
                <a:ea typeface="Meiryo UI" panose="020B0604030504040204" pitchFamily="50" charset="-128"/>
                <a:sym typeface="Arial"/>
              </a:rPr>
              <a:t>03</a:t>
            </a:r>
            <a:endParaRPr>
              <a:latin typeface="Meiryo UI" panose="020B0604030504040204" pitchFamily="50" charset="-128"/>
              <a:ea typeface="Meiryo UI" panose="020B0604030504040204" pitchFamily="50" charset="-128"/>
            </a:endParaRPr>
          </a:p>
          <a:p>
            <a:pPr marL="0" marR="0" lvl="0" indent="0" algn="l" rtl="0">
              <a:spcBef>
                <a:spcPts val="0"/>
              </a:spcBef>
              <a:spcAft>
                <a:spcPts val="0"/>
              </a:spcAft>
              <a:buNone/>
            </a:pPr>
            <a:endParaRPr sz="2000" b="1">
              <a:solidFill>
                <a:srgbClr val="3F7556"/>
              </a:solidFill>
              <a:latin typeface="Meiryo UI" panose="020B0604030504040204" pitchFamily="50" charset="-128"/>
              <a:ea typeface="Meiryo UI" panose="020B0604030504040204" pitchFamily="50" charset="-128"/>
              <a:sym typeface="Arial"/>
            </a:endParaRPr>
          </a:p>
          <a:p>
            <a:pPr marL="0" marR="0" lvl="0" indent="0" algn="l" rtl="0">
              <a:spcBef>
                <a:spcPts val="0"/>
              </a:spcBef>
              <a:spcAft>
                <a:spcPts val="0"/>
              </a:spcAft>
              <a:buNone/>
            </a:pPr>
            <a:r>
              <a:rPr lang="ja-JP" sz="2000" b="1" u="sng">
                <a:solidFill>
                  <a:srgbClr val="3F7556"/>
                </a:solidFill>
                <a:latin typeface="Meiryo UI" panose="020B0604030504040204" pitchFamily="50" charset="-128"/>
                <a:ea typeface="Meiryo UI" panose="020B0604030504040204" pitchFamily="50" charset="-128"/>
                <a:sym typeface="Arial"/>
              </a:rPr>
              <a:t>AIで適正価格を実現する</a:t>
            </a:r>
            <a:endParaRPr sz="2000" b="1" u="sng">
              <a:solidFill>
                <a:srgbClr val="3F7556"/>
              </a:solidFill>
              <a:latin typeface="Meiryo UI" panose="020B0604030504040204" pitchFamily="50" charset="-128"/>
              <a:ea typeface="Meiryo UI" panose="020B0604030504040204" pitchFamily="50" charset="-128"/>
              <a:sym typeface="Arial"/>
            </a:endParaRPr>
          </a:p>
        </p:txBody>
      </p:sp>
      <p:sp>
        <p:nvSpPr>
          <p:cNvPr id="23" name="Google Shape;401;p2">
            <a:extLst>
              <a:ext uri="{FF2B5EF4-FFF2-40B4-BE49-F238E27FC236}">
                <a16:creationId xmlns:a16="http://schemas.microsoft.com/office/drawing/2014/main" id="{BD14FB96-362A-D4C2-77C6-E24AF28D2D03}"/>
              </a:ext>
            </a:extLst>
          </p:cNvPr>
          <p:cNvSpPr/>
          <p:nvPr/>
        </p:nvSpPr>
        <p:spPr>
          <a:xfrm>
            <a:off x="487017" y="3434138"/>
            <a:ext cx="3478696" cy="1456428"/>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chemeClr val="dk1"/>
              </a:buClr>
              <a:buSzPts val="1400"/>
              <a:buFont typeface="Noto Sans Symbols"/>
              <a:buChar char="■"/>
            </a:pPr>
            <a:r>
              <a:rPr lang="ja-JP" sz="1600" b="1" dirty="0">
                <a:solidFill>
                  <a:schemeClr val="dk1"/>
                </a:solidFill>
                <a:latin typeface="Meiryo UI" panose="020B0604030504040204" pitchFamily="50" charset="-128"/>
                <a:ea typeface="Meiryo UI" panose="020B0604030504040204" pitchFamily="50" charset="-128"/>
                <a:sym typeface="Arial"/>
              </a:rPr>
              <a:t>「AIの目的化」への問題意識</a:t>
            </a:r>
            <a:endParaRPr sz="1600" b="1" dirty="0">
              <a:solidFill>
                <a:schemeClr val="dk1"/>
              </a:solidFill>
              <a:latin typeface="Meiryo UI" panose="020B0604030504040204" pitchFamily="50" charset="-128"/>
              <a:ea typeface="Meiryo UI" panose="020B0604030504040204" pitchFamily="50" charset="-128"/>
              <a:sym typeface="Arial"/>
            </a:endParaRPr>
          </a:p>
          <a:p>
            <a:pPr marL="285750" marR="0" lvl="0" indent="-196850" algn="l" rtl="0">
              <a:spcBef>
                <a:spcPts val="0"/>
              </a:spcBef>
              <a:spcAft>
                <a:spcPts val="0"/>
              </a:spcAft>
              <a:buClr>
                <a:schemeClr val="dk1"/>
              </a:buClr>
              <a:buSzPts val="1400"/>
              <a:buFont typeface="Noto Sans Symbols"/>
              <a:buNone/>
            </a:pPr>
            <a:endParaRPr sz="1600" b="1" dirty="0">
              <a:solidFill>
                <a:schemeClr val="dk1"/>
              </a:solidFill>
              <a:latin typeface="Meiryo UI" panose="020B0604030504040204" pitchFamily="50" charset="-128"/>
              <a:ea typeface="Meiryo UI" panose="020B0604030504040204" pitchFamily="50" charset="-128"/>
              <a:sym typeface="Arial"/>
            </a:endParaRPr>
          </a:p>
          <a:p>
            <a:pPr marL="285750" marR="0" lvl="0" indent="-285750" algn="l" rtl="0">
              <a:spcBef>
                <a:spcPts val="0"/>
              </a:spcBef>
              <a:spcAft>
                <a:spcPts val="0"/>
              </a:spcAft>
              <a:buClr>
                <a:schemeClr val="dk1"/>
              </a:buClr>
              <a:buSzPts val="1400"/>
              <a:buFont typeface="Noto Sans Symbols"/>
              <a:buChar char="■"/>
            </a:pPr>
            <a:r>
              <a:rPr lang="ja-JP" sz="1600" b="1" dirty="0">
                <a:solidFill>
                  <a:schemeClr val="dk1"/>
                </a:solidFill>
                <a:latin typeface="Meiryo UI" panose="020B0604030504040204" pitchFamily="50" charset="-128"/>
                <a:ea typeface="Meiryo UI" panose="020B0604030504040204" pitchFamily="50" charset="-128"/>
                <a:sym typeface="Arial"/>
              </a:rPr>
              <a:t>AI導入ではなく、売上向上・コスト削減の達成を至上命題とする</a:t>
            </a:r>
            <a:endParaRPr sz="1600" b="1" dirty="0">
              <a:solidFill>
                <a:schemeClr val="dk1"/>
              </a:solidFill>
              <a:latin typeface="Meiryo UI" panose="020B0604030504040204" pitchFamily="50" charset="-128"/>
              <a:ea typeface="Meiryo UI" panose="020B0604030504040204" pitchFamily="50" charset="-128"/>
              <a:sym typeface="Arial"/>
            </a:endParaRPr>
          </a:p>
        </p:txBody>
      </p:sp>
      <p:sp>
        <p:nvSpPr>
          <p:cNvPr id="24" name="Google Shape;402;p2">
            <a:extLst>
              <a:ext uri="{FF2B5EF4-FFF2-40B4-BE49-F238E27FC236}">
                <a16:creationId xmlns:a16="http://schemas.microsoft.com/office/drawing/2014/main" id="{6705B458-554F-BE45-B7AA-59BA000CC73C}"/>
              </a:ext>
            </a:extLst>
          </p:cNvPr>
          <p:cNvSpPr/>
          <p:nvPr/>
        </p:nvSpPr>
        <p:spPr>
          <a:xfrm>
            <a:off x="4432852" y="3434138"/>
            <a:ext cx="3478696" cy="1456428"/>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chemeClr val="dk1"/>
              </a:buClr>
              <a:buSzPts val="1400"/>
              <a:buFont typeface="Noto Sans Symbols"/>
              <a:buChar char="■"/>
            </a:pPr>
            <a:r>
              <a:rPr lang="ja-JP" sz="1600" b="1" dirty="0">
                <a:solidFill>
                  <a:schemeClr val="dk1"/>
                </a:solidFill>
                <a:latin typeface="Meiryo UI" panose="020B0604030504040204" pitchFamily="50" charset="-128"/>
                <a:ea typeface="Meiryo UI" panose="020B0604030504040204" pitchFamily="50" charset="-128"/>
                <a:sym typeface="Arial"/>
              </a:rPr>
              <a:t>コンサルティング会社依存への問題意識</a:t>
            </a:r>
            <a:endParaRPr sz="1600" b="1" dirty="0">
              <a:solidFill>
                <a:schemeClr val="dk1"/>
              </a:solidFill>
              <a:latin typeface="Meiryo UI" panose="020B0604030504040204" pitchFamily="50" charset="-128"/>
              <a:ea typeface="Meiryo UI" panose="020B0604030504040204" pitchFamily="50" charset="-128"/>
              <a:sym typeface="Arial"/>
            </a:endParaRPr>
          </a:p>
          <a:p>
            <a:pPr marL="285750" marR="0" lvl="0" indent="-196850" algn="l" rtl="0">
              <a:spcBef>
                <a:spcPts val="0"/>
              </a:spcBef>
              <a:spcAft>
                <a:spcPts val="0"/>
              </a:spcAft>
              <a:buClr>
                <a:schemeClr val="dk1"/>
              </a:buClr>
              <a:buSzPts val="1400"/>
              <a:buFont typeface="Noto Sans Symbols"/>
              <a:buNone/>
            </a:pPr>
            <a:endParaRPr sz="1600" b="1" dirty="0">
              <a:solidFill>
                <a:schemeClr val="dk1"/>
              </a:solidFill>
              <a:latin typeface="Meiryo UI" panose="020B0604030504040204" pitchFamily="50" charset="-128"/>
              <a:ea typeface="Meiryo UI" panose="020B0604030504040204" pitchFamily="50" charset="-128"/>
              <a:sym typeface="Arial"/>
            </a:endParaRPr>
          </a:p>
          <a:p>
            <a:pPr marL="285750" marR="0" lvl="0" indent="-285750" algn="l" rtl="0">
              <a:spcBef>
                <a:spcPts val="0"/>
              </a:spcBef>
              <a:spcAft>
                <a:spcPts val="0"/>
              </a:spcAft>
              <a:buClr>
                <a:schemeClr val="dk1"/>
              </a:buClr>
              <a:buSzPts val="1400"/>
              <a:buFont typeface="Noto Sans Symbols"/>
              <a:buChar char="■"/>
            </a:pPr>
            <a:r>
              <a:rPr lang="ja-JP" sz="1600" b="1" dirty="0">
                <a:solidFill>
                  <a:schemeClr val="dk1"/>
                </a:solidFill>
                <a:latin typeface="Meiryo UI" panose="020B0604030504040204" pitchFamily="50" charset="-128"/>
                <a:ea typeface="Meiryo UI" panose="020B0604030504040204" pitchFamily="50" charset="-128"/>
                <a:sym typeface="Arial"/>
              </a:rPr>
              <a:t>AI時代は外部依存からの脱却の好機</a:t>
            </a:r>
            <a:r>
              <a:rPr lang="ja-JP" altLang="en-US" sz="1600" b="1" dirty="0">
                <a:solidFill>
                  <a:schemeClr val="dk1"/>
                </a:solidFill>
                <a:latin typeface="Meiryo UI" panose="020B0604030504040204" pitchFamily="50" charset="-128"/>
                <a:ea typeface="Meiryo UI" panose="020B0604030504040204" pitchFamily="50" charset="-128"/>
                <a:sym typeface="Arial"/>
              </a:rPr>
              <a:t>と捉え、</a:t>
            </a:r>
            <a:r>
              <a:rPr lang="ja-JP" sz="1600" b="1" dirty="0">
                <a:solidFill>
                  <a:schemeClr val="dk1"/>
                </a:solidFill>
                <a:latin typeface="Meiryo UI" panose="020B0604030504040204" pitchFamily="50" charset="-128"/>
                <a:ea typeface="Meiryo UI" panose="020B0604030504040204" pitchFamily="50" charset="-128"/>
                <a:sym typeface="Arial"/>
              </a:rPr>
              <a:t>クライアントの自走を見据えた支援を行う</a:t>
            </a:r>
            <a:endParaRPr sz="1600" b="1" dirty="0">
              <a:solidFill>
                <a:schemeClr val="dk1"/>
              </a:solidFill>
              <a:latin typeface="Meiryo UI" panose="020B0604030504040204" pitchFamily="50" charset="-128"/>
              <a:ea typeface="Meiryo UI" panose="020B0604030504040204" pitchFamily="50" charset="-128"/>
              <a:sym typeface="Arial"/>
            </a:endParaRPr>
          </a:p>
        </p:txBody>
      </p:sp>
      <p:sp>
        <p:nvSpPr>
          <p:cNvPr id="25" name="Google Shape;403;p2">
            <a:extLst>
              <a:ext uri="{FF2B5EF4-FFF2-40B4-BE49-F238E27FC236}">
                <a16:creationId xmlns:a16="http://schemas.microsoft.com/office/drawing/2014/main" id="{C66BC95B-3705-5F30-8149-0553AAAE0145}"/>
              </a:ext>
            </a:extLst>
          </p:cNvPr>
          <p:cNvSpPr/>
          <p:nvPr/>
        </p:nvSpPr>
        <p:spPr>
          <a:xfrm>
            <a:off x="8378687" y="3434138"/>
            <a:ext cx="3478696" cy="1456428"/>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chemeClr val="dk1"/>
              </a:buClr>
              <a:buSzPts val="1400"/>
              <a:buFont typeface="Noto Sans Symbols"/>
              <a:buChar char="■"/>
            </a:pPr>
            <a:r>
              <a:rPr lang="ja-JP" sz="1600" b="1" dirty="0">
                <a:solidFill>
                  <a:schemeClr val="dk1"/>
                </a:solidFill>
                <a:latin typeface="Meiryo UI" panose="020B0604030504040204" pitchFamily="50" charset="-128"/>
                <a:ea typeface="Meiryo UI" panose="020B0604030504040204" pitchFamily="50" charset="-128"/>
                <a:sym typeface="Arial"/>
              </a:rPr>
              <a:t>高止まりするコンサルフィーへの問題意識</a:t>
            </a:r>
            <a:endParaRPr sz="1600" b="1" dirty="0">
              <a:solidFill>
                <a:schemeClr val="dk1"/>
              </a:solidFill>
              <a:latin typeface="Meiryo UI" panose="020B0604030504040204" pitchFamily="50" charset="-128"/>
              <a:ea typeface="Meiryo UI" panose="020B0604030504040204" pitchFamily="50" charset="-128"/>
              <a:sym typeface="Arial"/>
            </a:endParaRPr>
          </a:p>
          <a:p>
            <a:pPr marL="285750" marR="0" lvl="0" indent="-196850" algn="l" rtl="0">
              <a:spcBef>
                <a:spcPts val="0"/>
              </a:spcBef>
              <a:spcAft>
                <a:spcPts val="0"/>
              </a:spcAft>
              <a:buClr>
                <a:schemeClr val="dk1"/>
              </a:buClr>
              <a:buSzPts val="1400"/>
              <a:buFont typeface="Noto Sans Symbols"/>
              <a:buNone/>
            </a:pPr>
            <a:endParaRPr sz="1600" b="1" dirty="0">
              <a:solidFill>
                <a:schemeClr val="dk1"/>
              </a:solidFill>
              <a:latin typeface="Meiryo UI" panose="020B0604030504040204" pitchFamily="50" charset="-128"/>
              <a:ea typeface="Meiryo UI" panose="020B0604030504040204" pitchFamily="50" charset="-128"/>
              <a:sym typeface="Arial"/>
            </a:endParaRPr>
          </a:p>
          <a:p>
            <a:pPr marL="285750" marR="0" lvl="0" indent="-285750" algn="l" rtl="0">
              <a:spcBef>
                <a:spcPts val="0"/>
              </a:spcBef>
              <a:spcAft>
                <a:spcPts val="0"/>
              </a:spcAft>
              <a:buClr>
                <a:schemeClr val="dk1"/>
              </a:buClr>
              <a:buSzPts val="1400"/>
              <a:buFont typeface="Noto Sans Symbols"/>
              <a:buChar char="■"/>
            </a:pPr>
            <a:r>
              <a:rPr lang="ja-JP" sz="1600" b="1" dirty="0">
                <a:solidFill>
                  <a:schemeClr val="dk1"/>
                </a:solidFill>
                <a:latin typeface="Meiryo UI" panose="020B0604030504040204" pitchFamily="50" charset="-128"/>
                <a:ea typeface="Meiryo UI" panose="020B0604030504040204" pitchFamily="50" charset="-128"/>
                <a:sym typeface="Arial"/>
              </a:rPr>
              <a:t>自らAIを使い倒すことで業務を効率化し、サービスフィー以上のリターンを提供する</a:t>
            </a:r>
            <a:endParaRPr sz="1600" b="1" dirty="0">
              <a:solidFill>
                <a:schemeClr val="dk1"/>
              </a:solidFill>
              <a:latin typeface="Meiryo UI" panose="020B0604030504040204" pitchFamily="50" charset="-128"/>
              <a:ea typeface="Meiryo UI" panose="020B0604030504040204" pitchFamily="50" charset="-128"/>
              <a:sym typeface="Arial"/>
            </a:endParaRPr>
          </a:p>
        </p:txBody>
      </p:sp>
    </p:spTree>
    <p:extLst>
      <p:ext uri="{BB962C8B-B14F-4D97-AF65-F5344CB8AC3E}">
        <p14:creationId xmlns:p14="http://schemas.microsoft.com/office/powerpoint/2010/main" val="2669796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 name="think-cell data - do not delete" hidden="1">
            <a:extLst>
              <a:ext uri="{FF2B5EF4-FFF2-40B4-BE49-F238E27FC236}">
                <a16:creationId xmlns:a16="http://schemas.microsoft.com/office/drawing/2014/main" id="{EA2EE0E2-429C-187E-42AA-F5F1640DA434}"/>
              </a:ext>
            </a:extLst>
          </p:cNvPr>
          <p:cNvGraphicFramePr>
            <a:graphicFrameLocks/>
          </p:cNvGraphicFramePr>
          <p:nvPr>
            <p:custDataLst>
              <p:tags r:id="rId1"/>
            </p:custDataLst>
            <p:extLst>
              <p:ext uri="{D42A27DB-BD31-4B8C-83A1-F6EECF244321}">
                <p14:modId xmlns:p14="http://schemas.microsoft.com/office/powerpoint/2010/main" val="19181841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スライド" r:id="rId3" imgW="7772400" imgH="10058400" progId="TCLayout.ActiveDocument.1">
                  <p:embed/>
                </p:oleObj>
              </mc:Choice>
              <mc:Fallback>
                <p:oleObj name="think-cellスライド" r:id="rId3" imgW="7772400" imgH="10058400" progId="TCLayout.ActiveDocument.1">
                  <p:embed/>
                  <p:pic>
                    <p:nvPicPr>
                      <p:cNvPr id="0" name=""/>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D2D97B97-E9F1-5B17-5C52-B4904DE44FDD}"/>
              </a:ext>
            </a:extLst>
          </p:cNvPr>
          <p:cNvSpPr>
            <a:spLocks noGrp="1"/>
          </p:cNvSpPr>
          <p:nvPr>
            <p:ph type="title"/>
          </p:nvPr>
        </p:nvSpPr>
        <p:spPr/>
        <p:txBody>
          <a:bodyPr vert="horz" rIns="91440"/>
          <a:lstStyle/>
          <a:p>
            <a:r>
              <a:rPr lang="ja-JP" altLang="ja-JP" dirty="0"/>
              <a:t>戦略／オペレーション／組織の3つの分野でご支援を提供する</a:t>
            </a:r>
            <a:endParaRPr kumimoji="1" lang="ja-JP" altLang="en-US" dirty="0"/>
          </a:p>
        </p:txBody>
      </p:sp>
      <p:sp>
        <p:nvSpPr>
          <p:cNvPr id="3" name="フッター プレースホルダー 13">
            <a:extLst>
              <a:ext uri="{FF2B5EF4-FFF2-40B4-BE49-F238E27FC236}">
                <a16:creationId xmlns:a16="http://schemas.microsoft.com/office/drawing/2014/main" id="{EB07C5E6-2E42-D26C-4DF0-832C45CB406E}"/>
              </a:ext>
            </a:extLst>
          </p:cNvPr>
          <p:cNvSpPr>
            <a:spLocks noGrp="1"/>
          </p:cNvSpPr>
          <p:nvPr>
            <p:ph type="ftr" sz="quarter" idx="11"/>
          </p:nvPr>
        </p:nvSpPr>
        <p:spPr/>
        <p:txBody>
          <a:bodyPr/>
          <a:lstStyle>
            <a:lvl1pPr algn="l">
              <a:defRPr sz="1000">
                <a:latin typeface="+mn-lt"/>
                <a:ea typeface="+mn-ea"/>
              </a:defRPr>
            </a:lvl1pPr>
          </a:lstStyle>
          <a:p>
            <a:pPr>
              <a:defRPr/>
            </a:pPr>
            <a:r>
              <a:rPr kumimoji="1" lang="en-US" altLang="ja-JP" dirty="0">
                <a:solidFill>
                  <a:srgbClr val="FFFFFF">
                    <a:lumMod val="75000"/>
                  </a:srgbClr>
                </a:solidFill>
              </a:rPr>
              <a:t>©️ 2026 Boost Consulting, Inc.</a:t>
            </a:r>
            <a:endParaRPr kumimoji="1" lang="ja-JP" altLang="en-US" dirty="0">
              <a:solidFill>
                <a:srgbClr val="FFFFFF">
                  <a:lumMod val="75000"/>
                </a:srgbClr>
              </a:solidFill>
              <a:latin typeface="+mn-lt"/>
            </a:endParaRPr>
          </a:p>
        </p:txBody>
      </p:sp>
      <p:sp>
        <p:nvSpPr>
          <p:cNvPr id="6" name="コンテンツ プレースホルダー 5">
            <a:extLst>
              <a:ext uri="{FF2B5EF4-FFF2-40B4-BE49-F238E27FC236}">
                <a16:creationId xmlns:a16="http://schemas.microsoft.com/office/drawing/2014/main" id="{3CF4FB28-5831-B45D-F400-9DB4794A3B38}"/>
              </a:ext>
            </a:extLst>
          </p:cNvPr>
          <p:cNvSpPr>
            <a:spLocks noGrp="1"/>
          </p:cNvSpPr>
          <p:nvPr>
            <p:ph idx="12"/>
          </p:nvPr>
        </p:nvSpPr>
        <p:spPr/>
        <p:txBody>
          <a:bodyPr/>
          <a:lstStyle/>
          <a:p>
            <a:r>
              <a:rPr lang="ja-JP" altLang="en-US" dirty="0">
                <a:solidFill>
                  <a:srgbClr val="1D3D30"/>
                </a:solidFill>
              </a:rPr>
              <a:t>サービスラインナップ</a:t>
            </a:r>
          </a:p>
        </p:txBody>
      </p:sp>
      <p:sp>
        <p:nvSpPr>
          <p:cNvPr id="7" name="Google Shape;412;p3">
            <a:extLst>
              <a:ext uri="{FF2B5EF4-FFF2-40B4-BE49-F238E27FC236}">
                <a16:creationId xmlns:a16="http://schemas.microsoft.com/office/drawing/2014/main" id="{F5AEBA22-5F71-BD8F-05E5-AF91563AA4CA}"/>
              </a:ext>
            </a:extLst>
          </p:cNvPr>
          <p:cNvSpPr/>
          <p:nvPr/>
        </p:nvSpPr>
        <p:spPr>
          <a:xfrm>
            <a:off x="1380959" y="2005154"/>
            <a:ext cx="5114242" cy="336019"/>
          </a:xfrm>
          <a:prstGeom prst="rect">
            <a:avLst/>
          </a:prstGeom>
          <a:solidFill>
            <a:srgbClr val="2D5A4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経営全般の壁打ちがしたい</a:t>
            </a:r>
            <a:endParaRPr sz="1400" b="1">
              <a:solidFill>
                <a:schemeClr val="lt1"/>
              </a:solidFill>
              <a:latin typeface="+mj-ea"/>
              <a:ea typeface="+mj-ea"/>
              <a:cs typeface="Arial"/>
              <a:sym typeface="Arial"/>
            </a:endParaRPr>
          </a:p>
        </p:txBody>
      </p:sp>
      <p:sp>
        <p:nvSpPr>
          <p:cNvPr id="8" name="Google Shape;413;p3">
            <a:extLst>
              <a:ext uri="{FF2B5EF4-FFF2-40B4-BE49-F238E27FC236}">
                <a16:creationId xmlns:a16="http://schemas.microsoft.com/office/drawing/2014/main" id="{DC3602D7-5B6F-DC1D-B856-FFAE845EDB2B}"/>
              </a:ext>
            </a:extLst>
          </p:cNvPr>
          <p:cNvSpPr/>
          <p:nvPr/>
        </p:nvSpPr>
        <p:spPr>
          <a:xfrm>
            <a:off x="6807017" y="2005038"/>
            <a:ext cx="3999437" cy="336019"/>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経営顧問（小澤）</a:t>
            </a:r>
            <a:endParaRPr sz="1400" b="1">
              <a:solidFill>
                <a:schemeClr val="lt1"/>
              </a:solidFill>
              <a:latin typeface="+mj-ea"/>
              <a:ea typeface="+mj-ea"/>
              <a:cs typeface="Arial"/>
              <a:sym typeface="Arial"/>
            </a:endParaRPr>
          </a:p>
        </p:txBody>
      </p:sp>
      <p:sp>
        <p:nvSpPr>
          <p:cNvPr id="9" name="Google Shape;414;p3">
            <a:extLst>
              <a:ext uri="{FF2B5EF4-FFF2-40B4-BE49-F238E27FC236}">
                <a16:creationId xmlns:a16="http://schemas.microsoft.com/office/drawing/2014/main" id="{58EAEF91-0558-5E88-173E-FFA0069F590F}"/>
              </a:ext>
            </a:extLst>
          </p:cNvPr>
          <p:cNvSpPr/>
          <p:nvPr/>
        </p:nvSpPr>
        <p:spPr>
          <a:xfrm rot="5400000">
            <a:off x="6539416" y="2098936"/>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10" name="Google Shape;415;p3">
            <a:extLst>
              <a:ext uri="{FF2B5EF4-FFF2-40B4-BE49-F238E27FC236}">
                <a16:creationId xmlns:a16="http://schemas.microsoft.com/office/drawing/2014/main" id="{51B76FD2-B3A3-DFD5-4CBC-660F15EFEDAA}"/>
              </a:ext>
            </a:extLst>
          </p:cNvPr>
          <p:cNvSpPr/>
          <p:nvPr/>
        </p:nvSpPr>
        <p:spPr>
          <a:xfrm>
            <a:off x="6807017" y="2459489"/>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戦略策定支援</a:t>
            </a:r>
            <a:endParaRPr sz="1400" b="1">
              <a:solidFill>
                <a:schemeClr val="lt1"/>
              </a:solidFill>
              <a:latin typeface="+mj-ea"/>
              <a:ea typeface="+mj-ea"/>
              <a:cs typeface="Arial"/>
              <a:sym typeface="Arial"/>
            </a:endParaRPr>
          </a:p>
        </p:txBody>
      </p:sp>
      <p:sp>
        <p:nvSpPr>
          <p:cNvPr id="11" name="Google Shape;416;p3">
            <a:extLst>
              <a:ext uri="{FF2B5EF4-FFF2-40B4-BE49-F238E27FC236}">
                <a16:creationId xmlns:a16="http://schemas.microsoft.com/office/drawing/2014/main" id="{EB4C6422-1038-832D-B9B4-6768C5E35619}"/>
              </a:ext>
            </a:extLst>
          </p:cNvPr>
          <p:cNvSpPr/>
          <p:nvPr/>
        </p:nvSpPr>
        <p:spPr>
          <a:xfrm>
            <a:off x="6807017" y="2817606"/>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新規事業創出支援</a:t>
            </a:r>
            <a:endParaRPr sz="1400" b="1">
              <a:solidFill>
                <a:schemeClr val="lt1"/>
              </a:solidFill>
              <a:latin typeface="+mj-ea"/>
              <a:ea typeface="+mj-ea"/>
              <a:cs typeface="Arial"/>
              <a:sym typeface="Arial"/>
            </a:endParaRPr>
          </a:p>
        </p:txBody>
      </p:sp>
      <p:sp>
        <p:nvSpPr>
          <p:cNvPr id="12" name="Google Shape;417;p3">
            <a:extLst>
              <a:ext uri="{FF2B5EF4-FFF2-40B4-BE49-F238E27FC236}">
                <a16:creationId xmlns:a16="http://schemas.microsoft.com/office/drawing/2014/main" id="{B616609D-BA25-09F6-5F83-D5E0D5B520BE}"/>
              </a:ext>
            </a:extLst>
          </p:cNvPr>
          <p:cNvSpPr/>
          <p:nvPr/>
        </p:nvSpPr>
        <p:spPr>
          <a:xfrm>
            <a:off x="6807017" y="3175723"/>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AIロードマップ策定支援</a:t>
            </a:r>
            <a:endParaRPr sz="1400" b="1">
              <a:solidFill>
                <a:schemeClr val="lt1"/>
              </a:solidFill>
              <a:latin typeface="+mj-ea"/>
              <a:ea typeface="+mj-ea"/>
              <a:cs typeface="Arial"/>
              <a:sym typeface="Arial"/>
            </a:endParaRPr>
          </a:p>
        </p:txBody>
      </p:sp>
      <p:sp>
        <p:nvSpPr>
          <p:cNvPr id="13" name="Google Shape;418;p3">
            <a:extLst>
              <a:ext uri="{FF2B5EF4-FFF2-40B4-BE49-F238E27FC236}">
                <a16:creationId xmlns:a16="http://schemas.microsoft.com/office/drawing/2014/main" id="{C46C17D9-4A7D-3174-96E5-3EA8B4D76267}"/>
              </a:ext>
            </a:extLst>
          </p:cNvPr>
          <p:cNvSpPr/>
          <p:nvPr/>
        </p:nvSpPr>
        <p:spPr>
          <a:xfrm>
            <a:off x="1380960" y="2459487"/>
            <a:ext cx="1445897" cy="1021707"/>
          </a:xfrm>
          <a:prstGeom prst="rect">
            <a:avLst/>
          </a:prstGeom>
          <a:solidFill>
            <a:srgbClr val="2D5A4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戦略</a:t>
            </a:r>
            <a:endParaRPr sz="1400" b="1">
              <a:solidFill>
                <a:schemeClr val="lt1"/>
              </a:solidFill>
              <a:latin typeface="+mj-ea"/>
              <a:ea typeface="+mj-ea"/>
              <a:cs typeface="Arial"/>
              <a:sym typeface="Arial"/>
            </a:endParaRPr>
          </a:p>
        </p:txBody>
      </p:sp>
      <p:sp>
        <p:nvSpPr>
          <p:cNvPr id="14" name="Google Shape;419;p3">
            <a:extLst>
              <a:ext uri="{FF2B5EF4-FFF2-40B4-BE49-F238E27FC236}">
                <a16:creationId xmlns:a16="http://schemas.microsoft.com/office/drawing/2014/main" id="{A8FF2D46-7D99-0E0C-DD34-4DDA22229EDD}"/>
              </a:ext>
            </a:extLst>
          </p:cNvPr>
          <p:cNvSpPr/>
          <p:nvPr/>
        </p:nvSpPr>
        <p:spPr>
          <a:xfrm>
            <a:off x="2927439" y="2459489"/>
            <a:ext cx="3567761" cy="305472"/>
          </a:xfrm>
          <a:prstGeom prst="rect">
            <a:avLst/>
          </a:prstGeom>
          <a:solidFill>
            <a:srgbClr val="5A957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成長戦略を立てたい</a:t>
            </a:r>
            <a:endParaRPr sz="1400" b="1">
              <a:solidFill>
                <a:schemeClr val="lt1"/>
              </a:solidFill>
              <a:latin typeface="+mj-ea"/>
              <a:ea typeface="+mj-ea"/>
              <a:cs typeface="Arial"/>
              <a:sym typeface="Arial"/>
            </a:endParaRPr>
          </a:p>
        </p:txBody>
      </p:sp>
      <p:sp>
        <p:nvSpPr>
          <p:cNvPr id="15" name="Google Shape;420;p3">
            <a:extLst>
              <a:ext uri="{FF2B5EF4-FFF2-40B4-BE49-F238E27FC236}">
                <a16:creationId xmlns:a16="http://schemas.microsoft.com/office/drawing/2014/main" id="{2F91850C-05DA-B95A-C083-58CBAB6B0EDA}"/>
              </a:ext>
            </a:extLst>
          </p:cNvPr>
          <p:cNvSpPr/>
          <p:nvPr/>
        </p:nvSpPr>
        <p:spPr>
          <a:xfrm>
            <a:off x="2927439" y="2817606"/>
            <a:ext cx="3567761" cy="305472"/>
          </a:xfrm>
          <a:prstGeom prst="rect">
            <a:avLst/>
          </a:prstGeom>
          <a:solidFill>
            <a:srgbClr val="5A957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新規事業を創りたい</a:t>
            </a:r>
            <a:endParaRPr sz="1400" b="1">
              <a:solidFill>
                <a:schemeClr val="lt1"/>
              </a:solidFill>
              <a:latin typeface="+mj-ea"/>
              <a:ea typeface="+mj-ea"/>
              <a:cs typeface="Arial"/>
              <a:sym typeface="Arial"/>
            </a:endParaRPr>
          </a:p>
        </p:txBody>
      </p:sp>
      <p:sp>
        <p:nvSpPr>
          <p:cNvPr id="16" name="Google Shape;421;p3">
            <a:extLst>
              <a:ext uri="{FF2B5EF4-FFF2-40B4-BE49-F238E27FC236}">
                <a16:creationId xmlns:a16="http://schemas.microsoft.com/office/drawing/2014/main" id="{7A467D8B-D06F-9F27-6BAC-6FB069F98401}"/>
              </a:ext>
            </a:extLst>
          </p:cNvPr>
          <p:cNvSpPr/>
          <p:nvPr/>
        </p:nvSpPr>
        <p:spPr>
          <a:xfrm>
            <a:off x="2927439" y="3175723"/>
            <a:ext cx="3567761" cy="305472"/>
          </a:xfrm>
          <a:prstGeom prst="rect">
            <a:avLst/>
          </a:prstGeom>
          <a:solidFill>
            <a:srgbClr val="5A957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AI変革の計画を立てたい</a:t>
            </a:r>
            <a:endParaRPr sz="1400" b="1">
              <a:solidFill>
                <a:schemeClr val="lt1"/>
              </a:solidFill>
              <a:latin typeface="+mj-ea"/>
              <a:ea typeface="+mj-ea"/>
              <a:cs typeface="Arial"/>
              <a:sym typeface="Arial"/>
            </a:endParaRPr>
          </a:p>
        </p:txBody>
      </p:sp>
      <p:sp>
        <p:nvSpPr>
          <p:cNvPr id="17" name="Google Shape;422;p3">
            <a:extLst>
              <a:ext uri="{FF2B5EF4-FFF2-40B4-BE49-F238E27FC236}">
                <a16:creationId xmlns:a16="http://schemas.microsoft.com/office/drawing/2014/main" id="{FC5A20D3-D939-BE70-D15F-56554E1BA7B3}"/>
              </a:ext>
            </a:extLst>
          </p:cNvPr>
          <p:cNvSpPr/>
          <p:nvPr/>
        </p:nvSpPr>
        <p:spPr>
          <a:xfrm rot="5400000">
            <a:off x="6539416" y="2546968"/>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18" name="Google Shape;423;p3">
            <a:extLst>
              <a:ext uri="{FF2B5EF4-FFF2-40B4-BE49-F238E27FC236}">
                <a16:creationId xmlns:a16="http://schemas.microsoft.com/office/drawing/2014/main" id="{9598076B-E268-B335-CF2D-5AA6CD304BD4}"/>
              </a:ext>
            </a:extLst>
          </p:cNvPr>
          <p:cNvSpPr/>
          <p:nvPr/>
        </p:nvSpPr>
        <p:spPr>
          <a:xfrm rot="5400000">
            <a:off x="6539416" y="2902956"/>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19" name="Google Shape;424;p3">
            <a:extLst>
              <a:ext uri="{FF2B5EF4-FFF2-40B4-BE49-F238E27FC236}">
                <a16:creationId xmlns:a16="http://schemas.microsoft.com/office/drawing/2014/main" id="{EE9F59C9-5495-F146-F15C-054B4D38A39F}"/>
              </a:ext>
            </a:extLst>
          </p:cNvPr>
          <p:cNvSpPr/>
          <p:nvPr/>
        </p:nvSpPr>
        <p:spPr>
          <a:xfrm rot="5400000">
            <a:off x="6539416" y="3258944"/>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20" name="Google Shape;425;p3">
            <a:extLst>
              <a:ext uri="{FF2B5EF4-FFF2-40B4-BE49-F238E27FC236}">
                <a16:creationId xmlns:a16="http://schemas.microsoft.com/office/drawing/2014/main" id="{6A094166-4011-A5E6-F77A-A4B43D86E5AB}"/>
              </a:ext>
            </a:extLst>
          </p:cNvPr>
          <p:cNvSpPr/>
          <p:nvPr/>
        </p:nvSpPr>
        <p:spPr>
          <a:xfrm>
            <a:off x="1380960" y="3608576"/>
            <a:ext cx="1445897" cy="1397395"/>
          </a:xfrm>
          <a:prstGeom prst="rect">
            <a:avLst/>
          </a:prstGeom>
          <a:solidFill>
            <a:srgbClr val="2D5A4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オペレーション</a:t>
            </a:r>
            <a:endParaRPr sz="1400" b="1">
              <a:solidFill>
                <a:schemeClr val="lt1"/>
              </a:solidFill>
              <a:latin typeface="+mj-ea"/>
              <a:ea typeface="+mj-ea"/>
              <a:cs typeface="Arial"/>
              <a:sym typeface="Arial"/>
            </a:endParaRPr>
          </a:p>
        </p:txBody>
      </p:sp>
      <p:sp>
        <p:nvSpPr>
          <p:cNvPr id="21" name="Google Shape;426;p3">
            <a:extLst>
              <a:ext uri="{FF2B5EF4-FFF2-40B4-BE49-F238E27FC236}">
                <a16:creationId xmlns:a16="http://schemas.microsoft.com/office/drawing/2014/main" id="{78680FD8-5DB5-DDC8-D4D8-ACC8C0765AFA}"/>
              </a:ext>
            </a:extLst>
          </p:cNvPr>
          <p:cNvSpPr/>
          <p:nvPr/>
        </p:nvSpPr>
        <p:spPr>
          <a:xfrm>
            <a:off x="2927439" y="3604086"/>
            <a:ext cx="3567761" cy="1401886"/>
          </a:xfrm>
          <a:prstGeom prst="rect">
            <a:avLst/>
          </a:prstGeom>
          <a:solidFill>
            <a:srgbClr val="5A957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業務効率化・コストダウンを実現したい</a:t>
            </a:r>
            <a:endParaRPr sz="1400" b="1">
              <a:solidFill>
                <a:schemeClr val="lt1"/>
              </a:solidFill>
              <a:latin typeface="+mj-ea"/>
              <a:ea typeface="+mj-ea"/>
              <a:cs typeface="Arial"/>
              <a:sym typeface="Arial"/>
            </a:endParaRPr>
          </a:p>
        </p:txBody>
      </p:sp>
      <p:sp>
        <p:nvSpPr>
          <p:cNvPr id="22" name="Google Shape;427;p3">
            <a:extLst>
              <a:ext uri="{FF2B5EF4-FFF2-40B4-BE49-F238E27FC236}">
                <a16:creationId xmlns:a16="http://schemas.microsoft.com/office/drawing/2014/main" id="{ED5F8818-8FDC-F685-4871-DF81D10B092B}"/>
              </a:ext>
            </a:extLst>
          </p:cNvPr>
          <p:cNvSpPr/>
          <p:nvPr/>
        </p:nvSpPr>
        <p:spPr>
          <a:xfrm>
            <a:off x="6809527" y="3599509"/>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業務分析・削減ポテンシャル評価</a:t>
            </a:r>
            <a:endParaRPr sz="1400" b="1">
              <a:solidFill>
                <a:schemeClr val="lt1"/>
              </a:solidFill>
              <a:latin typeface="+mj-ea"/>
              <a:ea typeface="+mj-ea"/>
              <a:cs typeface="Arial"/>
              <a:sym typeface="Arial"/>
            </a:endParaRPr>
          </a:p>
        </p:txBody>
      </p:sp>
      <p:sp>
        <p:nvSpPr>
          <p:cNvPr id="23" name="Google Shape;428;p3">
            <a:extLst>
              <a:ext uri="{FF2B5EF4-FFF2-40B4-BE49-F238E27FC236}">
                <a16:creationId xmlns:a16="http://schemas.microsoft.com/office/drawing/2014/main" id="{3A35CD40-C4CE-5860-B036-E7B3192C189D}"/>
              </a:ext>
            </a:extLst>
          </p:cNvPr>
          <p:cNvSpPr/>
          <p:nvPr/>
        </p:nvSpPr>
        <p:spPr>
          <a:xfrm>
            <a:off x="6809529" y="3966506"/>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AIエージェント開発</a:t>
            </a:r>
            <a:endParaRPr sz="1400" b="1">
              <a:solidFill>
                <a:schemeClr val="lt1"/>
              </a:solidFill>
              <a:latin typeface="+mj-ea"/>
              <a:ea typeface="+mj-ea"/>
              <a:cs typeface="Arial"/>
              <a:sym typeface="Arial"/>
            </a:endParaRPr>
          </a:p>
        </p:txBody>
      </p:sp>
      <p:sp>
        <p:nvSpPr>
          <p:cNvPr id="24" name="Google Shape;429;p3">
            <a:extLst>
              <a:ext uri="{FF2B5EF4-FFF2-40B4-BE49-F238E27FC236}">
                <a16:creationId xmlns:a16="http://schemas.microsoft.com/office/drawing/2014/main" id="{A8931738-E6E6-35B7-C2E1-9462F58DD282}"/>
              </a:ext>
            </a:extLst>
          </p:cNvPr>
          <p:cNvSpPr/>
          <p:nvPr/>
        </p:nvSpPr>
        <p:spPr>
          <a:xfrm>
            <a:off x="6809529" y="4333503"/>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AIプロダクト提供</a:t>
            </a:r>
            <a:endParaRPr sz="1400" b="1">
              <a:solidFill>
                <a:schemeClr val="lt1"/>
              </a:solidFill>
              <a:latin typeface="+mj-ea"/>
              <a:ea typeface="+mj-ea"/>
              <a:cs typeface="Arial"/>
              <a:sym typeface="Arial"/>
            </a:endParaRPr>
          </a:p>
        </p:txBody>
      </p:sp>
      <p:sp>
        <p:nvSpPr>
          <p:cNvPr id="25" name="Google Shape;430;p3">
            <a:extLst>
              <a:ext uri="{FF2B5EF4-FFF2-40B4-BE49-F238E27FC236}">
                <a16:creationId xmlns:a16="http://schemas.microsoft.com/office/drawing/2014/main" id="{487CA46E-0426-E93E-4B45-F77903716A15}"/>
              </a:ext>
            </a:extLst>
          </p:cNvPr>
          <p:cNvSpPr/>
          <p:nvPr/>
        </p:nvSpPr>
        <p:spPr>
          <a:xfrm>
            <a:off x="6807017" y="4700500"/>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システムリプレース</a:t>
            </a:r>
            <a:endParaRPr sz="1400" b="1">
              <a:solidFill>
                <a:schemeClr val="lt1"/>
              </a:solidFill>
              <a:latin typeface="+mj-ea"/>
              <a:ea typeface="+mj-ea"/>
              <a:cs typeface="Arial"/>
              <a:sym typeface="Arial"/>
            </a:endParaRPr>
          </a:p>
        </p:txBody>
      </p:sp>
      <p:sp>
        <p:nvSpPr>
          <p:cNvPr id="26" name="Google Shape;431;p3">
            <a:extLst>
              <a:ext uri="{FF2B5EF4-FFF2-40B4-BE49-F238E27FC236}">
                <a16:creationId xmlns:a16="http://schemas.microsoft.com/office/drawing/2014/main" id="{DE15E133-0C6A-6A5E-8B1E-B7E25F3369BC}"/>
              </a:ext>
            </a:extLst>
          </p:cNvPr>
          <p:cNvSpPr/>
          <p:nvPr/>
        </p:nvSpPr>
        <p:spPr>
          <a:xfrm rot="5400000">
            <a:off x="6539416" y="3686424"/>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27" name="Google Shape;432;p3">
            <a:extLst>
              <a:ext uri="{FF2B5EF4-FFF2-40B4-BE49-F238E27FC236}">
                <a16:creationId xmlns:a16="http://schemas.microsoft.com/office/drawing/2014/main" id="{4FB57464-6155-3520-D2A7-CA540316557D}"/>
              </a:ext>
            </a:extLst>
          </p:cNvPr>
          <p:cNvSpPr/>
          <p:nvPr/>
        </p:nvSpPr>
        <p:spPr>
          <a:xfrm rot="5400000">
            <a:off x="6539416" y="4054045"/>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28" name="Google Shape;433;p3">
            <a:extLst>
              <a:ext uri="{FF2B5EF4-FFF2-40B4-BE49-F238E27FC236}">
                <a16:creationId xmlns:a16="http://schemas.microsoft.com/office/drawing/2014/main" id="{5C007522-EE09-2CEC-559B-B520D849484F}"/>
              </a:ext>
            </a:extLst>
          </p:cNvPr>
          <p:cNvSpPr/>
          <p:nvPr/>
        </p:nvSpPr>
        <p:spPr>
          <a:xfrm rot="5400000">
            <a:off x="6539416" y="4421666"/>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29" name="Google Shape;434;p3">
            <a:extLst>
              <a:ext uri="{FF2B5EF4-FFF2-40B4-BE49-F238E27FC236}">
                <a16:creationId xmlns:a16="http://schemas.microsoft.com/office/drawing/2014/main" id="{65073E64-A79E-0CD2-DFD8-C7B9DF78B43F}"/>
              </a:ext>
            </a:extLst>
          </p:cNvPr>
          <p:cNvSpPr/>
          <p:nvPr/>
        </p:nvSpPr>
        <p:spPr>
          <a:xfrm rot="5400000">
            <a:off x="6539416" y="4789288"/>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30" name="Google Shape;435;p3">
            <a:extLst>
              <a:ext uri="{FF2B5EF4-FFF2-40B4-BE49-F238E27FC236}">
                <a16:creationId xmlns:a16="http://schemas.microsoft.com/office/drawing/2014/main" id="{8CC64DF2-8537-68B1-30A2-09E96472DA98}"/>
              </a:ext>
            </a:extLst>
          </p:cNvPr>
          <p:cNvSpPr/>
          <p:nvPr/>
        </p:nvSpPr>
        <p:spPr>
          <a:xfrm>
            <a:off x="1380960" y="5126840"/>
            <a:ext cx="1445897" cy="1008934"/>
          </a:xfrm>
          <a:prstGeom prst="rect">
            <a:avLst/>
          </a:prstGeom>
          <a:solidFill>
            <a:srgbClr val="2D5A4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組織</a:t>
            </a:r>
            <a:endParaRPr sz="1400" b="1">
              <a:solidFill>
                <a:schemeClr val="lt1"/>
              </a:solidFill>
              <a:latin typeface="+mj-ea"/>
              <a:ea typeface="+mj-ea"/>
              <a:cs typeface="Arial"/>
              <a:sym typeface="Arial"/>
            </a:endParaRPr>
          </a:p>
        </p:txBody>
      </p:sp>
      <p:sp>
        <p:nvSpPr>
          <p:cNvPr id="31" name="Google Shape;436;p3">
            <a:extLst>
              <a:ext uri="{FF2B5EF4-FFF2-40B4-BE49-F238E27FC236}">
                <a16:creationId xmlns:a16="http://schemas.microsoft.com/office/drawing/2014/main" id="{64BE298C-6C8C-9F48-E47E-9FB56D67629E}"/>
              </a:ext>
            </a:extLst>
          </p:cNvPr>
          <p:cNvSpPr/>
          <p:nvPr/>
        </p:nvSpPr>
        <p:spPr>
          <a:xfrm>
            <a:off x="2927438" y="5480672"/>
            <a:ext cx="3567761" cy="655103"/>
          </a:xfrm>
          <a:prstGeom prst="rect">
            <a:avLst/>
          </a:prstGeom>
          <a:solidFill>
            <a:srgbClr val="5A957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人材を強化したい</a:t>
            </a:r>
            <a:endParaRPr sz="1400" b="1">
              <a:solidFill>
                <a:schemeClr val="lt1"/>
              </a:solidFill>
              <a:latin typeface="+mj-ea"/>
              <a:ea typeface="+mj-ea"/>
              <a:cs typeface="Arial"/>
              <a:sym typeface="Arial"/>
            </a:endParaRPr>
          </a:p>
        </p:txBody>
      </p:sp>
      <p:sp>
        <p:nvSpPr>
          <p:cNvPr id="32" name="Google Shape;437;p3">
            <a:extLst>
              <a:ext uri="{FF2B5EF4-FFF2-40B4-BE49-F238E27FC236}">
                <a16:creationId xmlns:a16="http://schemas.microsoft.com/office/drawing/2014/main" id="{224A5C88-D4F2-9932-60D6-EBB7862A190C}"/>
              </a:ext>
            </a:extLst>
          </p:cNvPr>
          <p:cNvSpPr/>
          <p:nvPr/>
        </p:nvSpPr>
        <p:spPr>
          <a:xfrm>
            <a:off x="2927437" y="5124284"/>
            <a:ext cx="3567761" cy="305473"/>
          </a:xfrm>
          <a:prstGeom prst="rect">
            <a:avLst/>
          </a:prstGeom>
          <a:solidFill>
            <a:srgbClr val="5A957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AIを普及させたい</a:t>
            </a:r>
            <a:endParaRPr sz="1400" b="1">
              <a:solidFill>
                <a:schemeClr val="lt1"/>
              </a:solidFill>
              <a:latin typeface="+mj-ea"/>
              <a:ea typeface="+mj-ea"/>
              <a:cs typeface="Arial"/>
              <a:sym typeface="Arial"/>
            </a:endParaRPr>
          </a:p>
        </p:txBody>
      </p:sp>
      <p:sp>
        <p:nvSpPr>
          <p:cNvPr id="33" name="Google Shape;438;p3">
            <a:extLst>
              <a:ext uri="{FF2B5EF4-FFF2-40B4-BE49-F238E27FC236}">
                <a16:creationId xmlns:a16="http://schemas.microsoft.com/office/drawing/2014/main" id="{D6319BE8-E94C-DEF1-FDC3-F3D79ABF8924}"/>
              </a:ext>
            </a:extLst>
          </p:cNvPr>
          <p:cNvSpPr/>
          <p:nvPr/>
        </p:nvSpPr>
        <p:spPr>
          <a:xfrm>
            <a:off x="6809529" y="5124284"/>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AI推進室立ち上げ支援</a:t>
            </a:r>
            <a:endParaRPr sz="1400" b="1">
              <a:solidFill>
                <a:schemeClr val="lt1"/>
              </a:solidFill>
              <a:latin typeface="+mj-ea"/>
              <a:ea typeface="+mj-ea"/>
              <a:cs typeface="Arial"/>
              <a:sym typeface="Arial"/>
            </a:endParaRPr>
          </a:p>
        </p:txBody>
      </p:sp>
      <p:sp>
        <p:nvSpPr>
          <p:cNvPr id="34" name="Google Shape;439;p3">
            <a:extLst>
              <a:ext uri="{FF2B5EF4-FFF2-40B4-BE49-F238E27FC236}">
                <a16:creationId xmlns:a16="http://schemas.microsoft.com/office/drawing/2014/main" id="{D589ADF1-F363-EE69-FF6D-17EEA454440E}"/>
              </a:ext>
            </a:extLst>
          </p:cNvPr>
          <p:cNvSpPr/>
          <p:nvPr/>
        </p:nvSpPr>
        <p:spPr>
          <a:xfrm>
            <a:off x="6809529" y="5480673"/>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ハイクラス人材派遣・紹介</a:t>
            </a:r>
            <a:endParaRPr sz="1400" b="1">
              <a:solidFill>
                <a:schemeClr val="lt1"/>
              </a:solidFill>
              <a:latin typeface="+mj-ea"/>
              <a:ea typeface="+mj-ea"/>
              <a:cs typeface="Arial"/>
              <a:sym typeface="Arial"/>
            </a:endParaRPr>
          </a:p>
        </p:txBody>
      </p:sp>
      <p:sp>
        <p:nvSpPr>
          <p:cNvPr id="35" name="Google Shape;440;p3">
            <a:extLst>
              <a:ext uri="{FF2B5EF4-FFF2-40B4-BE49-F238E27FC236}">
                <a16:creationId xmlns:a16="http://schemas.microsoft.com/office/drawing/2014/main" id="{E358DC32-D392-0FFA-816F-3DC425974E21}"/>
              </a:ext>
            </a:extLst>
          </p:cNvPr>
          <p:cNvSpPr/>
          <p:nvPr/>
        </p:nvSpPr>
        <p:spPr>
          <a:xfrm>
            <a:off x="6809529" y="5830303"/>
            <a:ext cx="3999437" cy="305472"/>
          </a:xfrm>
          <a:prstGeom prst="rect">
            <a:avLst/>
          </a:prstGeom>
          <a:solidFill>
            <a:srgbClr val="D4A57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400" b="1">
                <a:solidFill>
                  <a:schemeClr val="lt1"/>
                </a:solidFill>
                <a:latin typeface="+mj-ea"/>
                <a:ea typeface="+mj-ea"/>
                <a:cs typeface="Arial"/>
                <a:sym typeface="Arial"/>
              </a:rPr>
              <a:t>AI人材育成支援</a:t>
            </a:r>
            <a:endParaRPr sz="1400" b="1">
              <a:solidFill>
                <a:schemeClr val="lt1"/>
              </a:solidFill>
              <a:latin typeface="+mj-ea"/>
              <a:ea typeface="+mj-ea"/>
              <a:cs typeface="Arial"/>
              <a:sym typeface="Arial"/>
            </a:endParaRPr>
          </a:p>
        </p:txBody>
      </p:sp>
      <p:sp>
        <p:nvSpPr>
          <p:cNvPr id="36" name="Google Shape;441;p3">
            <a:extLst>
              <a:ext uri="{FF2B5EF4-FFF2-40B4-BE49-F238E27FC236}">
                <a16:creationId xmlns:a16="http://schemas.microsoft.com/office/drawing/2014/main" id="{4C003F8C-A6C8-7340-50EC-005F2DCBF516}"/>
              </a:ext>
            </a:extLst>
          </p:cNvPr>
          <p:cNvSpPr/>
          <p:nvPr/>
        </p:nvSpPr>
        <p:spPr>
          <a:xfrm rot="5400000">
            <a:off x="6539416" y="5210102"/>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37" name="Google Shape;442;p3">
            <a:extLst>
              <a:ext uri="{FF2B5EF4-FFF2-40B4-BE49-F238E27FC236}">
                <a16:creationId xmlns:a16="http://schemas.microsoft.com/office/drawing/2014/main" id="{DE76D731-0C8E-DAB1-76EF-1299D98D2E75}"/>
              </a:ext>
            </a:extLst>
          </p:cNvPr>
          <p:cNvSpPr/>
          <p:nvPr/>
        </p:nvSpPr>
        <p:spPr>
          <a:xfrm rot="5400000">
            <a:off x="6539416" y="5566798"/>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sp>
        <p:nvSpPr>
          <p:cNvPr id="38" name="Google Shape;443;p3">
            <a:extLst>
              <a:ext uri="{FF2B5EF4-FFF2-40B4-BE49-F238E27FC236}">
                <a16:creationId xmlns:a16="http://schemas.microsoft.com/office/drawing/2014/main" id="{1B754598-8F94-2A42-FC1D-F73755D7C4CF}"/>
              </a:ext>
            </a:extLst>
          </p:cNvPr>
          <p:cNvSpPr/>
          <p:nvPr/>
        </p:nvSpPr>
        <p:spPr>
          <a:xfrm rot="5400000">
            <a:off x="6539416" y="5915806"/>
            <a:ext cx="256914" cy="138303"/>
          </a:xfrm>
          <a:prstGeom prst="triangle">
            <a:avLst>
              <a:gd name="adj" fmla="val 50000"/>
            </a:avLst>
          </a:prstGeom>
          <a:solidFill>
            <a:srgbClr val="A5A5A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chemeClr val="lt1"/>
              </a:solidFill>
              <a:latin typeface="+mj-ea"/>
              <a:ea typeface="+mj-ea"/>
              <a:cs typeface="Arial"/>
              <a:sym typeface="Arial"/>
            </a:endParaRPr>
          </a:p>
        </p:txBody>
      </p:sp>
      <p:cxnSp>
        <p:nvCxnSpPr>
          <p:cNvPr id="39" name="Google Shape;444;p3">
            <a:extLst>
              <a:ext uri="{FF2B5EF4-FFF2-40B4-BE49-F238E27FC236}">
                <a16:creationId xmlns:a16="http://schemas.microsoft.com/office/drawing/2014/main" id="{CDBD9D38-E2C4-9386-42FB-2BD6284DC606}"/>
              </a:ext>
            </a:extLst>
          </p:cNvPr>
          <p:cNvCxnSpPr/>
          <p:nvPr/>
        </p:nvCxnSpPr>
        <p:spPr>
          <a:xfrm>
            <a:off x="1380959" y="1897033"/>
            <a:ext cx="5114242" cy="0"/>
          </a:xfrm>
          <a:prstGeom prst="straightConnector1">
            <a:avLst/>
          </a:prstGeom>
          <a:noFill/>
          <a:ln w="19050" cap="flat" cmpd="sng">
            <a:solidFill>
              <a:schemeClr val="accent1"/>
            </a:solidFill>
            <a:prstDash val="solid"/>
            <a:miter lim="800000"/>
            <a:headEnd type="none" w="sm" len="sm"/>
            <a:tailEnd type="none" w="sm" len="sm"/>
          </a:ln>
        </p:spPr>
      </p:cxnSp>
      <p:cxnSp>
        <p:nvCxnSpPr>
          <p:cNvPr id="40" name="Google Shape;445;p3">
            <a:extLst>
              <a:ext uri="{FF2B5EF4-FFF2-40B4-BE49-F238E27FC236}">
                <a16:creationId xmlns:a16="http://schemas.microsoft.com/office/drawing/2014/main" id="{A2164743-B904-2475-179E-DBD1649B0F69}"/>
              </a:ext>
            </a:extLst>
          </p:cNvPr>
          <p:cNvCxnSpPr/>
          <p:nvPr/>
        </p:nvCxnSpPr>
        <p:spPr>
          <a:xfrm>
            <a:off x="6812494" y="1897033"/>
            <a:ext cx="3993960" cy="0"/>
          </a:xfrm>
          <a:prstGeom prst="straightConnector1">
            <a:avLst/>
          </a:prstGeom>
          <a:noFill/>
          <a:ln w="19050" cap="flat" cmpd="sng">
            <a:solidFill>
              <a:schemeClr val="accent1"/>
            </a:solidFill>
            <a:prstDash val="solid"/>
            <a:miter lim="800000"/>
            <a:headEnd type="none" w="sm" len="sm"/>
            <a:tailEnd type="none" w="sm" len="sm"/>
          </a:ln>
        </p:spPr>
      </p:cxnSp>
      <p:sp>
        <p:nvSpPr>
          <p:cNvPr id="41" name="Google Shape;446;p3">
            <a:extLst>
              <a:ext uri="{FF2B5EF4-FFF2-40B4-BE49-F238E27FC236}">
                <a16:creationId xmlns:a16="http://schemas.microsoft.com/office/drawing/2014/main" id="{A441A12F-5465-911D-A79E-7133383297C0}"/>
              </a:ext>
            </a:extLst>
          </p:cNvPr>
          <p:cNvSpPr/>
          <p:nvPr/>
        </p:nvSpPr>
        <p:spPr>
          <a:xfrm>
            <a:off x="1380959" y="1494913"/>
            <a:ext cx="5114242" cy="360669"/>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altLang="en-US" sz="2000" b="1" dirty="0">
                <a:solidFill>
                  <a:schemeClr val="dk1"/>
                </a:solidFill>
                <a:latin typeface="+mj-ea"/>
                <a:ea typeface="+mj-ea"/>
                <a:cs typeface="Arial"/>
                <a:sym typeface="Arial"/>
              </a:rPr>
              <a:t>クライアント</a:t>
            </a:r>
            <a:r>
              <a:rPr lang="ja-JP" sz="2000" b="1" dirty="0">
                <a:solidFill>
                  <a:schemeClr val="dk1"/>
                </a:solidFill>
                <a:latin typeface="+mj-ea"/>
                <a:ea typeface="+mj-ea"/>
                <a:cs typeface="Arial"/>
                <a:sym typeface="Arial"/>
              </a:rPr>
              <a:t>のご状況</a:t>
            </a:r>
            <a:endParaRPr dirty="0">
              <a:latin typeface="+mj-ea"/>
              <a:ea typeface="+mj-ea"/>
            </a:endParaRPr>
          </a:p>
        </p:txBody>
      </p:sp>
      <p:sp>
        <p:nvSpPr>
          <p:cNvPr id="42" name="Google Shape;447;p3">
            <a:extLst>
              <a:ext uri="{FF2B5EF4-FFF2-40B4-BE49-F238E27FC236}">
                <a16:creationId xmlns:a16="http://schemas.microsoft.com/office/drawing/2014/main" id="{C8CF64AF-53EF-FF41-A7C2-7716AFEB4D66}"/>
              </a:ext>
            </a:extLst>
          </p:cNvPr>
          <p:cNvSpPr/>
          <p:nvPr/>
        </p:nvSpPr>
        <p:spPr>
          <a:xfrm>
            <a:off x="6807017" y="1494797"/>
            <a:ext cx="3999437" cy="360669"/>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2000" b="1">
                <a:solidFill>
                  <a:schemeClr val="dk1"/>
                </a:solidFill>
                <a:latin typeface="+mj-ea"/>
                <a:ea typeface="+mj-ea"/>
                <a:cs typeface="Arial"/>
                <a:sym typeface="Arial"/>
              </a:rPr>
              <a:t>提供サービス</a:t>
            </a:r>
            <a:endParaRPr sz="2000" b="1">
              <a:solidFill>
                <a:schemeClr val="dk1"/>
              </a:solidFill>
              <a:latin typeface="+mj-ea"/>
              <a:ea typeface="+mj-ea"/>
              <a:cs typeface="Arial"/>
              <a:sym typeface="Arial"/>
            </a:endParaRPr>
          </a:p>
        </p:txBody>
      </p:sp>
      <p:cxnSp>
        <p:nvCxnSpPr>
          <p:cNvPr id="43" name="Google Shape;448;p3">
            <a:extLst>
              <a:ext uri="{FF2B5EF4-FFF2-40B4-BE49-F238E27FC236}">
                <a16:creationId xmlns:a16="http://schemas.microsoft.com/office/drawing/2014/main" id="{EA891D90-4FB2-C3B2-3298-1F46CBD659BD}"/>
              </a:ext>
            </a:extLst>
          </p:cNvPr>
          <p:cNvCxnSpPr/>
          <p:nvPr/>
        </p:nvCxnSpPr>
        <p:spPr>
          <a:xfrm>
            <a:off x="1380959" y="2400330"/>
            <a:ext cx="9425495" cy="0"/>
          </a:xfrm>
          <a:prstGeom prst="straightConnector1">
            <a:avLst/>
          </a:prstGeom>
          <a:noFill/>
          <a:ln w="19050" cap="flat" cmpd="sng">
            <a:solidFill>
              <a:srgbClr val="7F7F7F"/>
            </a:solidFill>
            <a:prstDash val="dash"/>
            <a:miter lim="800000"/>
            <a:headEnd type="none" w="sm" len="sm"/>
            <a:tailEnd type="none" w="sm" len="sm"/>
          </a:ln>
        </p:spPr>
      </p:cxnSp>
      <p:cxnSp>
        <p:nvCxnSpPr>
          <p:cNvPr id="44" name="Google Shape;449;p3">
            <a:extLst>
              <a:ext uri="{FF2B5EF4-FFF2-40B4-BE49-F238E27FC236}">
                <a16:creationId xmlns:a16="http://schemas.microsoft.com/office/drawing/2014/main" id="{29DEFE7D-1C87-7529-F55B-824A2D5DF7E6}"/>
              </a:ext>
            </a:extLst>
          </p:cNvPr>
          <p:cNvCxnSpPr/>
          <p:nvPr/>
        </p:nvCxnSpPr>
        <p:spPr>
          <a:xfrm>
            <a:off x="1380959" y="3540352"/>
            <a:ext cx="9425495" cy="0"/>
          </a:xfrm>
          <a:prstGeom prst="straightConnector1">
            <a:avLst/>
          </a:prstGeom>
          <a:noFill/>
          <a:ln w="19050" cap="flat" cmpd="sng">
            <a:solidFill>
              <a:srgbClr val="7F7F7F"/>
            </a:solidFill>
            <a:prstDash val="dash"/>
            <a:miter lim="800000"/>
            <a:headEnd type="none" w="sm" len="sm"/>
            <a:tailEnd type="none" w="sm" len="sm"/>
          </a:ln>
        </p:spPr>
      </p:cxnSp>
      <p:cxnSp>
        <p:nvCxnSpPr>
          <p:cNvPr id="45" name="Google Shape;450;p3">
            <a:extLst>
              <a:ext uri="{FF2B5EF4-FFF2-40B4-BE49-F238E27FC236}">
                <a16:creationId xmlns:a16="http://schemas.microsoft.com/office/drawing/2014/main" id="{E320BD27-F583-B859-BC72-B3C60D82FB69}"/>
              </a:ext>
            </a:extLst>
          </p:cNvPr>
          <p:cNvCxnSpPr/>
          <p:nvPr/>
        </p:nvCxnSpPr>
        <p:spPr>
          <a:xfrm>
            <a:off x="1380959" y="5065129"/>
            <a:ext cx="9425495" cy="0"/>
          </a:xfrm>
          <a:prstGeom prst="straightConnector1">
            <a:avLst/>
          </a:prstGeom>
          <a:noFill/>
          <a:ln w="19050" cap="flat" cmpd="sng">
            <a:solidFill>
              <a:srgbClr val="7F7F7F"/>
            </a:solidFill>
            <a:prstDash val="dash"/>
            <a:miter lim="800000"/>
            <a:headEnd type="none" w="sm" len="sm"/>
            <a:tailEnd type="none" w="sm" len="sm"/>
          </a:ln>
        </p:spPr>
      </p:cxnSp>
    </p:spTree>
    <p:extLst>
      <p:ext uri="{BB962C8B-B14F-4D97-AF65-F5344CB8AC3E}">
        <p14:creationId xmlns:p14="http://schemas.microsoft.com/office/powerpoint/2010/main" val="1654208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4A76DC-AC35-5C04-C81C-651F77CEEEC2}"/>
              </a:ext>
            </a:extLst>
          </p:cNvPr>
          <p:cNvSpPr>
            <a:spLocks noGrp="1"/>
          </p:cNvSpPr>
          <p:nvPr>
            <p:ph type="title"/>
          </p:nvPr>
        </p:nvSpPr>
        <p:spPr/>
        <p:txBody>
          <a:bodyPr/>
          <a:lstStyle/>
          <a:p>
            <a:r>
              <a:rPr kumimoji="1" lang="en-US" altLang="ja-JP" dirty="0"/>
              <a:t>AI</a:t>
            </a:r>
            <a:r>
              <a:rPr kumimoji="1" lang="ja-JP" altLang="en-US" dirty="0"/>
              <a:t>による企業変革に必要な技術力ｘ実行力ｘ事業経験を有するプロフェッショナルファーム</a:t>
            </a:r>
          </a:p>
        </p:txBody>
      </p:sp>
      <p:sp>
        <p:nvSpPr>
          <p:cNvPr id="6" name="コンテンツ プレースホルダー 5">
            <a:extLst>
              <a:ext uri="{FF2B5EF4-FFF2-40B4-BE49-F238E27FC236}">
                <a16:creationId xmlns:a16="http://schemas.microsoft.com/office/drawing/2014/main" id="{36DA9079-7184-0274-2A33-31171F95B04C}"/>
              </a:ext>
            </a:extLst>
          </p:cNvPr>
          <p:cNvSpPr>
            <a:spLocks noGrp="1"/>
          </p:cNvSpPr>
          <p:nvPr>
            <p:ph idx="12"/>
          </p:nvPr>
        </p:nvSpPr>
        <p:spPr/>
        <p:txBody>
          <a:bodyPr/>
          <a:lstStyle/>
          <a:p>
            <a:r>
              <a:rPr kumimoji="1" lang="en-US" altLang="ja-JP" dirty="0"/>
              <a:t>Boost Consulting</a:t>
            </a:r>
            <a:r>
              <a:rPr kumimoji="1" lang="ja-JP" altLang="en-US" dirty="0"/>
              <a:t>の強み</a:t>
            </a:r>
          </a:p>
        </p:txBody>
      </p:sp>
      <p:grpSp>
        <p:nvGrpSpPr>
          <p:cNvPr id="7" name="Google Shape;458;p4">
            <a:extLst>
              <a:ext uri="{FF2B5EF4-FFF2-40B4-BE49-F238E27FC236}">
                <a16:creationId xmlns:a16="http://schemas.microsoft.com/office/drawing/2014/main" id="{41D5A328-782E-95E0-A30B-C286CA436772}"/>
              </a:ext>
            </a:extLst>
          </p:cNvPr>
          <p:cNvGrpSpPr/>
          <p:nvPr/>
        </p:nvGrpSpPr>
        <p:grpSpPr>
          <a:xfrm>
            <a:off x="531945" y="1950498"/>
            <a:ext cx="3806958" cy="3412547"/>
            <a:chOff x="704989" y="2105614"/>
            <a:chExt cx="3460871" cy="3102315"/>
          </a:xfrm>
        </p:grpSpPr>
        <p:sp>
          <p:nvSpPr>
            <p:cNvPr id="8" name="Google Shape;459;p4">
              <a:extLst>
                <a:ext uri="{FF2B5EF4-FFF2-40B4-BE49-F238E27FC236}">
                  <a16:creationId xmlns:a16="http://schemas.microsoft.com/office/drawing/2014/main" id="{C6FACEA8-43E4-02E9-A80C-8721E6F7F3AB}"/>
                </a:ext>
              </a:extLst>
            </p:cNvPr>
            <p:cNvSpPr/>
            <p:nvPr/>
          </p:nvSpPr>
          <p:spPr>
            <a:xfrm>
              <a:off x="1528031" y="2105614"/>
              <a:ext cx="1903515" cy="1903514"/>
            </a:xfrm>
            <a:prstGeom prst="ellipse">
              <a:avLst/>
            </a:prstGeom>
            <a:solidFill>
              <a:srgbClr val="B8935F">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24242"/>
                </a:buClr>
                <a:buSzPts val="2400"/>
                <a:buFont typeface="Arial"/>
                <a:buNone/>
              </a:pPr>
              <a:r>
                <a:rPr lang="ja-JP" sz="2400" b="1" i="0" u="none" strike="noStrike" cap="none">
                  <a:solidFill>
                    <a:srgbClr val="424242"/>
                  </a:solidFill>
                  <a:latin typeface="+mj-ea"/>
                  <a:ea typeface="+mj-ea"/>
                  <a:cs typeface="Arial"/>
                  <a:sym typeface="Arial"/>
                </a:rPr>
                <a:t>技術力</a:t>
              </a:r>
              <a:endParaRPr>
                <a:latin typeface="+mj-ea"/>
                <a:ea typeface="+mj-ea"/>
              </a:endParaRPr>
            </a:p>
          </p:txBody>
        </p:sp>
        <p:sp>
          <p:nvSpPr>
            <p:cNvPr id="9" name="Google Shape;460;p4">
              <a:extLst>
                <a:ext uri="{FF2B5EF4-FFF2-40B4-BE49-F238E27FC236}">
                  <a16:creationId xmlns:a16="http://schemas.microsoft.com/office/drawing/2014/main" id="{777856D8-336C-816E-D419-1CEB35DB5A4E}"/>
                </a:ext>
              </a:extLst>
            </p:cNvPr>
            <p:cNvSpPr/>
            <p:nvPr/>
          </p:nvSpPr>
          <p:spPr>
            <a:xfrm>
              <a:off x="704989" y="3304415"/>
              <a:ext cx="1903515" cy="1903514"/>
            </a:xfrm>
            <a:prstGeom prst="ellipse">
              <a:avLst/>
            </a:prstGeom>
            <a:solidFill>
              <a:srgbClr val="7F7F7F">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24242"/>
                </a:buClr>
                <a:buSzPts val="2400"/>
                <a:buFont typeface="Arial"/>
                <a:buNone/>
              </a:pPr>
              <a:r>
                <a:rPr lang="ja-JP" sz="2400" b="1" i="0" u="none" strike="noStrike" cap="none">
                  <a:solidFill>
                    <a:srgbClr val="424242"/>
                  </a:solidFill>
                  <a:latin typeface="+mj-ea"/>
                  <a:ea typeface="+mj-ea"/>
                  <a:cs typeface="Arial"/>
                  <a:sym typeface="Arial"/>
                </a:rPr>
                <a:t>事業経験</a:t>
              </a:r>
              <a:endParaRPr>
                <a:latin typeface="+mj-ea"/>
                <a:ea typeface="+mj-ea"/>
              </a:endParaRPr>
            </a:p>
          </p:txBody>
        </p:sp>
        <p:sp>
          <p:nvSpPr>
            <p:cNvPr id="10" name="Google Shape;461;p4">
              <a:extLst>
                <a:ext uri="{FF2B5EF4-FFF2-40B4-BE49-F238E27FC236}">
                  <a16:creationId xmlns:a16="http://schemas.microsoft.com/office/drawing/2014/main" id="{5ABF40A7-2966-AA91-47E8-039DE01072B0}"/>
                </a:ext>
              </a:extLst>
            </p:cNvPr>
            <p:cNvSpPr/>
            <p:nvPr/>
          </p:nvSpPr>
          <p:spPr>
            <a:xfrm>
              <a:off x="2262345" y="3304415"/>
              <a:ext cx="1903515" cy="1903514"/>
            </a:xfrm>
            <a:prstGeom prst="ellipse">
              <a:avLst/>
            </a:prstGeom>
            <a:solidFill>
              <a:srgbClr val="B8935F">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424242"/>
                </a:buClr>
                <a:buSzPts val="2400"/>
                <a:buFont typeface="Arial"/>
                <a:buNone/>
              </a:pPr>
              <a:r>
                <a:rPr lang="ja-JP" sz="2400" b="1" i="0" u="none" strike="noStrike" cap="none">
                  <a:solidFill>
                    <a:srgbClr val="424242"/>
                  </a:solidFill>
                  <a:latin typeface="+mj-ea"/>
                  <a:ea typeface="+mj-ea"/>
                  <a:cs typeface="Arial"/>
                  <a:sym typeface="Arial"/>
                </a:rPr>
                <a:t>実行力</a:t>
              </a:r>
              <a:endParaRPr>
                <a:latin typeface="+mj-ea"/>
                <a:ea typeface="+mj-ea"/>
              </a:endParaRPr>
            </a:p>
          </p:txBody>
        </p:sp>
      </p:grpSp>
      <p:sp>
        <p:nvSpPr>
          <p:cNvPr id="11" name="Google Shape;462;p4">
            <a:extLst>
              <a:ext uri="{FF2B5EF4-FFF2-40B4-BE49-F238E27FC236}">
                <a16:creationId xmlns:a16="http://schemas.microsoft.com/office/drawing/2014/main" id="{F4916892-5425-E6E8-1793-ADE9EFA494F8}"/>
              </a:ext>
            </a:extLst>
          </p:cNvPr>
          <p:cNvSpPr/>
          <p:nvPr/>
        </p:nvSpPr>
        <p:spPr>
          <a:xfrm rot="5400000">
            <a:off x="4270604" y="1919941"/>
            <a:ext cx="1250627" cy="341570"/>
          </a:xfrm>
          <a:prstGeom prst="rect">
            <a:avLst/>
          </a:prstGeom>
          <a:solidFill>
            <a:srgbClr val="B8935F">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000"/>
              <a:buFont typeface="Arial"/>
              <a:buNone/>
            </a:pPr>
            <a:endParaRPr sz="2000" b="1" i="0" u="none" strike="noStrike" cap="none">
              <a:solidFill>
                <a:srgbClr val="000000"/>
              </a:solidFill>
              <a:latin typeface="+mj-ea"/>
              <a:ea typeface="+mj-ea"/>
              <a:cs typeface="Arial"/>
              <a:sym typeface="Arial"/>
            </a:endParaRPr>
          </a:p>
        </p:txBody>
      </p:sp>
      <p:sp>
        <p:nvSpPr>
          <p:cNvPr id="12" name="Google Shape;463;p4">
            <a:extLst>
              <a:ext uri="{FF2B5EF4-FFF2-40B4-BE49-F238E27FC236}">
                <a16:creationId xmlns:a16="http://schemas.microsoft.com/office/drawing/2014/main" id="{3D0FCFB1-16AB-AA43-2E3B-BC2275BFCDF0}"/>
              </a:ext>
            </a:extLst>
          </p:cNvPr>
          <p:cNvSpPr/>
          <p:nvPr/>
        </p:nvSpPr>
        <p:spPr>
          <a:xfrm rot="5400000">
            <a:off x="3887674" y="3671868"/>
            <a:ext cx="2016487" cy="341570"/>
          </a:xfrm>
          <a:prstGeom prst="rect">
            <a:avLst/>
          </a:prstGeom>
          <a:solidFill>
            <a:srgbClr val="B8935F">
              <a:alpha val="6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000"/>
              <a:buFont typeface="Arial"/>
              <a:buNone/>
            </a:pPr>
            <a:endParaRPr sz="2000" b="1" i="0" u="none" strike="noStrike" cap="none">
              <a:solidFill>
                <a:srgbClr val="000000"/>
              </a:solidFill>
              <a:latin typeface="+mj-ea"/>
              <a:ea typeface="+mj-ea"/>
              <a:cs typeface="Arial"/>
              <a:sym typeface="Arial"/>
            </a:endParaRPr>
          </a:p>
        </p:txBody>
      </p:sp>
      <p:sp>
        <p:nvSpPr>
          <p:cNvPr id="13" name="Google Shape;464;p4">
            <a:extLst>
              <a:ext uri="{FF2B5EF4-FFF2-40B4-BE49-F238E27FC236}">
                <a16:creationId xmlns:a16="http://schemas.microsoft.com/office/drawing/2014/main" id="{63303583-7BC8-B353-F89E-6CB339BA3251}"/>
              </a:ext>
            </a:extLst>
          </p:cNvPr>
          <p:cNvSpPr/>
          <p:nvPr/>
        </p:nvSpPr>
        <p:spPr>
          <a:xfrm rot="5400000">
            <a:off x="4270603" y="5423798"/>
            <a:ext cx="1250628" cy="341570"/>
          </a:xfrm>
          <a:prstGeom prst="rect">
            <a:avLst/>
          </a:prstGeom>
          <a:solidFill>
            <a:srgbClr val="7F7F7F">
              <a:alpha val="4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2000"/>
              <a:buFont typeface="Arial"/>
              <a:buNone/>
            </a:pPr>
            <a:endParaRPr sz="2000" b="1" i="0" u="none" strike="noStrike" cap="none">
              <a:solidFill>
                <a:srgbClr val="000000"/>
              </a:solidFill>
              <a:latin typeface="+mj-ea"/>
              <a:ea typeface="+mj-ea"/>
              <a:cs typeface="Arial"/>
              <a:sym typeface="Arial"/>
            </a:endParaRPr>
          </a:p>
        </p:txBody>
      </p:sp>
      <p:sp>
        <p:nvSpPr>
          <p:cNvPr id="14" name="Google Shape;465;p4">
            <a:extLst>
              <a:ext uri="{FF2B5EF4-FFF2-40B4-BE49-F238E27FC236}">
                <a16:creationId xmlns:a16="http://schemas.microsoft.com/office/drawing/2014/main" id="{D3849DF4-188B-BDCA-43AF-FE39280B4549}"/>
              </a:ext>
            </a:extLst>
          </p:cNvPr>
          <p:cNvSpPr/>
          <p:nvPr/>
        </p:nvSpPr>
        <p:spPr>
          <a:xfrm>
            <a:off x="5070160" y="1465412"/>
            <a:ext cx="6657757" cy="1250627"/>
          </a:xfrm>
          <a:prstGeom prst="rect">
            <a:avLst/>
          </a:prstGeom>
          <a:solidFill>
            <a:srgbClr val="F2F2F2"/>
          </a:solidFill>
          <a:ln>
            <a:noFill/>
          </a:ln>
        </p:spPr>
        <p:txBody>
          <a:bodyPr spcFirstLastPara="1" wrap="square" lIns="91425" tIns="45700" rIns="91425" bIns="45700" anchor="ctr" anchorCtr="0">
            <a:noAutofit/>
          </a:bodyPr>
          <a:lstStyle/>
          <a:p>
            <a:pPr marL="285750" marR="0" lvl="0" indent="-285750" algn="l" rtl="0">
              <a:lnSpc>
                <a:spcPct val="100000"/>
              </a:lnSpc>
              <a:spcBef>
                <a:spcPts val="0"/>
              </a:spcBef>
              <a:spcAft>
                <a:spcPts val="0"/>
              </a:spcAft>
              <a:buClr>
                <a:srgbClr val="000000"/>
              </a:buClr>
              <a:buSzPts val="1400"/>
              <a:buFont typeface="Noto Sans Symbols"/>
              <a:buChar char="✔"/>
            </a:pPr>
            <a:r>
              <a:rPr lang="ja-JP" sz="1400" b="1" i="0" u="none" strike="noStrike" cap="none" dirty="0">
                <a:solidFill>
                  <a:srgbClr val="000000"/>
                </a:solidFill>
                <a:latin typeface="+mj-ea"/>
                <a:ea typeface="+mj-ea"/>
                <a:cs typeface="Arial"/>
                <a:sym typeface="Arial"/>
              </a:rPr>
              <a:t>業界トップSIer・総合コンサルファーム出身者による高い要件定義力、システム設計力</a:t>
            </a:r>
            <a:endParaRPr dirty="0">
              <a:latin typeface="+mj-ea"/>
              <a:ea typeface="+mj-ea"/>
            </a:endParaRPr>
          </a:p>
          <a:p>
            <a:pPr marL="742950" marR="0" lvl="1" indent="-285750" algn="l" rtl="0">
              <a:lnSpc>
                <a:spcPct val="100000"/>
              </a:lnSpc>
              <a:spcBef>
                <a:spcPts val="0"/>
              </a:spcBef>
              <a:spcAft>
                <a:spcPts val="0"/>
              </a:spcAft>
              <a:buClr>
                <a:srgbClr val="000000"/>
              </a:buClr>
              <a:buSzPts val="1400"/>
              <a:buFont typeface="Arial"/>
              <a:buChar char="–"/>
            </a:pPr>
            <a:r>
              <a:rPr lang="ja-JP" sz="1400" b="0" i="0" u="none" strike="noStrike" cap="none" dirty="0">
                <a:solidFill>
                  <a:srgbClr val="000000"/>
                </a:solidFill>
                <a:latin typeface="+mj-ea"/>
                <a:ea typeface="+mj-ea"/>
                <a:cs typeface="Arial"/>
                <a:sym typeface="Arial"/>
              </a:rPr>
              <a:t>NTTデータ、野村総研、PwC 他</a:t>
            </a:r>
            <a:endParaRPr dirty="0">
              <a:latin typeface="+mj-ea"/>
              <a:ea typeface="+mj-ea"/>
            </a:endParaRPr>
          </a:p>
          <a:p>
            <a:pPr marL="285750" marR="0" lvl="0" indent="-285750" algn="l" rtl="0">
              <a:lnSpc>
                <a:spcPct val="100000"/>
              </a:lnSpc>
              <a:spcBef>
                <a:spcPts val="0"/>
              </a:spcBef>
              <a:spcAft>
                <a:spcPts val="0"/>
              </a:spcAft>
              <a:buClr>
                <a:srgbClr val="000000"/>
              </a:buClr>
              <a:buSzPts val="1400"/>
              <a:buFont typeface="Noto Sans Symbols"/>
              <a:buChar char="✔"/>
            </a:pPr>
            <a:r>
              <a:rPr lang="ja-JP" sz="1400" b="1" i="0" u="none" strike="noStrike" cap="none" dirty="0">
                <a:solidFill>
                  <a:srgbClr val="000000"/>
                </a:solidFill>
                <a:latin typeface="+mj-ea"/>
                <a:ea typeface="+mj-ea"/>
                <a:cs typeface="Arial"/>
                <a:sym typeface="Arial"/>
              </a:rPr>
              <a:t>東大松尾研発のAI開発エンジニア・データサイエンティストによる高いAI実装力</a:t>
            </a:r>
            <a:endParaRPr sz="1400" b="1" i="0" u="none" strike="noStrike" cap="none" dirty="0">
              <a:solidFill>
                <a:srgbClr val="000000"/>
              </a:solidFill>
              <a:latin typeface="+mj-ea"/>
              <a:ea typeface="+mj-ea"/>
              <a:cs typeface="Arial"/>
              <a:sym typeface="Arial"/>
            </a:endParaRPr>
          </a:p>
          <a:p>
            <a:pPr marL="742950" marR="0" lvl="1" indent="-285750" algn="l" rtl="0">
              <a:lnSpc>
                <a:spcPct val="100000"/>
              </a:lnSpc>
              <a:spcBef>
                <a:spcPts val="0"/>
              </a:spcBef>
              <a:spcAft>
                <a:spcPts val="0"/>
              </a:spcAft>
              <a:buClr>
                <a:srgbClr val="000000"/>
              </a:buClr>
              <a:buSzPts val="1400"/>
              <a:buFont typeface="Arial"/>
              <a:buChar char="–"/>
            </a:pPr>
            <a:r>
              <a:rPr lang="ja-JP" sz="1400" b="0" i="0" u="none" strike="noStrike" cap="none" dirty="0">
                <a:solidFill>
                  <a:srgbClr val="000000"/>
                </a:solidFill>
                <a:latin typeface="+mj-ea"/>
                <a:ea typeface="+mj-ea"/>
                <a:cs typeface="Arial"/>
                <a:sym typeface="Arial"/>
              </a:rPr>
              <a:t>SALT2</a:t>
            </a:r>
            <a:endParaRPr sz="1400" b="0" i="0" u="none" strike="noStrike" cap="none" dirty="0">
              <a:solidFill>
                <a:srgbClr val="000000"/>
              </a:solidFill>
              <a:latin typeface="+mj-ea"/>
              <a:ea typeface="+mj-ea"/>
              <a:cs typeface="Arial"/>
              <a:sym typeface="Arial"/>
            </a:endParaRPr>
          </a:p>
        </p:txBody>
      </p:sp>
      <p:sp>
        <p:nvSpPr>
          <p:cNvPr id="15" name="Google Shape;466;p4">
            <a:extLst>
              <a:ext uri="{FF2B5EF4-FFF2-40B4-BE49-F238E27FC236}">
                <a16:creationId xmlns:a16="http://schemas.microsoft.com/office/drawing/2014/main" id="{0970920A-CF46-8E21-0F58-CCBDCC0B00CB}"/>
              </a:ext>
            </a:extLst>
          </p:cNvPr>
          <p:cNvSpPr/>
          <p:nvPr/>
        </p:nvSpPr>
        <p:spPr>
          <a:xfrm>
            <a:off x="5070160" y="2834410"/>
            <a:ext cx="6657757" cy="2016487"/>
          </a:xfrm>
          <a:prstGeom prst="rect">
            <a:avLst/>
          </a:prstGeom>
          <a:solidFill>
            <a:srgbClr val="F2F2F2"/>
          </a:solidFill>
          <a:ln>
            <a:noFill/>
          </a:ln>
        </p:spPr>
        <p:txBody>
          <a:bodyPr spcFirstLastPara="1" wrap="square" lIns="91425" tIns="45700" rIns="91425" bIns="45700" anchor="ctr" anchorCtr="0">
            <a:noAutofit/>
          </a:bodyPr>
          <a:lstStyle/>
          <a:p>
            <a:pPr marL="285750" marR="0" lvl="0" indent="-285750" algn="l" rtl="0">
              <a:lnSpc>
                <a:spcPct val="100000"/>
              </a:lnSpc>
              <a:spcBef>
                <a:spcPts val="0"/>
              </a:spcBef>
              <a:spcAft>
                <a:spcPts val="0"/>
              </a:spcAft>
              <a:buClr>
                <a:srgbClr val="000000"/>
              </a:buClr>
              <a:buSzPts val="1400"/>
              <a:buFont typeface="Noto Sans Symbols"/>
              <a:buChar char="✔"/>
            </a:pPr>
            <a:r>
              <a:rPr lang="ja-JP" sz="1400" b="1" i="0" u="none" strike="noStrike" cap="none">
                <a:solidFill>
                  <a:srgbClr val="000000"/>
                </a:solidFill>
                <a:latin typeface="+mj-ea"/>
                <a:ea typeface="+mj-ea"/>
                <a:cs typeface="Arial"/>
                <a:sym typeface="Arial"/>
              </a:rPr>
              <a:t>広いカバレッジ・開発実績</a:t>
            </a:r>
            <a:endParaRPr>
              <a:latin typeface="+mj-ea"/>
              <a:ea typeface="+mj-ea"/>
            </a:endParaRPr>
          </a:p>
          <a:p>
            <a:pPr marL="742950" marR="0" lvl="1" indent="-285750" algn="l" rtl="0">
              <a:lnSpc>
                <a:spcPct val="100000"/>
              </a:lnSpc>
              <a:spcBef>
                <a:spcPts val="0"/>
              </a:spcBef>
              <a:spcAft>
                <a:spcPts val="0"/>
              </a:spcAft>
              <a:buClr>
                <a:srgbClr val="000000"/>
              </a:buClr>
              <a:buSzPts val="1400"/>
              <a:buFont typeface="Arial"/>
              <a:buChar char="–"/>
            </a:pPr>
            <a:r>
              <a:rPr lang="ja-JP" sz="1400" b="0" i="0" u="none" strike="noStrike" cap="none">
                <a:solidFill>
                  <a:srgbClr val="000000"/>
                </a:solidFill>
                <a:latin typeface="+mj-ea"/>
                <a:ea typeface="+mj-ea"/>
                <a:cs typeface="Arial"/>
                <a:sym typeface="Arial"/>
              </a:rPr>
              <a:t>業界：　金融、製造、消費財、小売、商社、サービス等</a:t>
            </a:r>
            <a:endParaRPr>
              <a:latin typeface="+mj-ea"/>
              <a:ea typeface="+mj-ea"/>
            </a:endParaRPr>
          </a:p>
          <a:p>
            <a:pPr marL="742950" marR="0" lvl="1" indent="-285750" algn="l" rtl="0">
              <a:lnSpc>
                <a:spcPct val="100000"/>
              </a:lnSpc>
              <a:spcBef>
                <a:spcPts val="0"/>
              </a:spcBef>
              <a:spcAft>
                <a:spcPts val="0"/>
              </a:spcAft>
              <a:buClr>
                <a:srgbClr val="000000"/>
              </a:buClr>
              <a:buSzPts val="1400"/>
              <a:buFont typeface="Arial"/>
              <a:buChar char="–"/>
            </a:pPr>
            <a:r>
              <a:rPr lang="ja-JP" sz="1400" b="0" i="0" u="none" strike="noStrike" cap="none">
                <a:solidFill>
                  <a:srgbClr val="000000"/>
                </a:solidFill>
                <a:latin typeface="+mj-ea"/>
                <a:ea typeface="+mj-ea"/>
                <a:cs typeface="Arial"/>
                <a:sym typeface="Arial"/>
              </a:rPr>
              <a:t>テーマ：　LLM構築、RAG構築、需要予測モデル、マルチモーダル、データ基盤、AIエージェント開発、セキュリティ/ガバナンス</a:t>
            </a:r>
            <a:endParaRPr>
              <a:latin typeface="+mj-ea"/>
              <a:ea typeface="+mj-ea"/>
            </a:endParaRPr>
          </a:p>
          <a:p>
            <a:pPr marL="285750" marR="0" lvl="0" indent="-285750" algn="l" rtl="0">
              <a:lnSpc>
                <a:spcPct val="100000"/>
              </a:lnSpc>
              <a:spcBef>
                <a:spcPts val="0"/>
              </a:spcBef>
              <a:spcAft>
                <a:spcPts val="0"/>
              </a:spcAft>
              <a:buClr>
                <a:srgbClr val="000000"/>
              </a:buClr>
              <a:buSzPts val="1400"/>
              <a:buFont typeface="Noto Sans Symbols"/>
              <a:buChar char="✔"/>
            </a:pPr>
            <a:r>
              <a:rPr lang="ja-JP" sz="1400" b="1" i="0" u="none" strike="noStrike" cap="none">
                <a:solidFill>
                  <a:srgbClr val="000000"/>
                </a:solidFill>
                <a:latin typeface="+mj-ea"/>
                <a:ea typeface="+mj-ea"/>
                <a:cs typeface="Arial"/>
                <a:sym typeface="Arial"/>
              </a:rPr>
              <a:t>自社（Boost Consulting、Boost Capital）の業務をAIで自動化</a:t>
            </a:r>
            <a:endParaRPr sz="1400" b="1" i="0" u="none" strike="noStrike" cap="none">
              <a:solidFill>
                <a:srgbClr val="000000"/>
              </a:solidFill>
              <a:latin typeface="+mj-ea"/>
              <a:ea typeface="+mj-ea"/>
              <a:cs typeface="Arial"/>
              <a:sym typeface="Arial"/>
            </a:endParaRPr>
          </a:p>
          <a:p>
            <a:pPr marL="742950" marR="0" lvl="1" indent="-285750" algn="l" rtl="0">
              <a:lnSpc>
                <a:spcPct val="100000"/>
              </a:lnSpc>
              <a:spcBef>
                <a:spcPts val="0"/>
              </a:spcBef>
              <a:spcAft>
                <a:spcPts val="0"/>
              </a:spcAft>
              <a:buClr>
                <a:srgbClr val="000000"/>
              </a:buClr>
              <a:buSzPts val="1400"/>
              <a:buFont typeface="Arial"/>
              <a:buChar char="–"/>
            </a:pPr>
            <a:r>
              <a:rPr lang="ja-JP" sz="1400" b="0" i="0" u="none" strike="noStrike" cap="none">
                <a:solidFill>
                  <a:srgbClr val="000000"/>
                </a:solidFill>
                <a:latin typeface="+mj-ea"/>
                <a:ea typeface="+mj-ea"/>
                <a:cs typeface="Arial"/>
                <a:sym typeface="Arial"/>
              </a:rPr>
              <a:t>資料作成AI、営業管理AI、業績管理AI…etc</a:t>
            </a:r>
            <a:endParaRPr sz="1400" b="0" i="0" u="none" strike="noStrike" cap="none">
              <a:solidFill>
                <a:srgbClr val="000000"/>
              </a:solidFill>
              <a:latin typeface="+mj-ea"/>
              <a:ea typeface="+mj-ea"/>
              <a:cs typeface="Arial"/>
              <a:sym typeface="Arial"/>
            </a:endParaRPr>
          </a:p>
          <a:p>
            <a:pPr marL="285750" marR="0" lvl="0" indent="-285750" algn="l" rtl="0">
              <a:lnSpc>
                <a:spcPct val="100000"/>
              </a:lnSpc>
              <a:spcBef>
                <a:spcPts val="0"/>
              </a:spcBef>
              <a:spcAft>
                <a:spcPts val="0"/>
              </a:spcAft>
              <a:buClr>
                <a:srgbClr val="000000"/>
              </a:buClr>
              <a:buSzPts val="1400"/>
              <a:buFont typeface="Noto Sans Symbols"/>
              <a:buChar char="✔"/>
            </a:pPr>
            <a:r>
              <a:rPr lang="ja-JP" sz="1400" b="1" i="0" u="none" strike="noStrike" cap="none">
                <a:solidFill>
                  <a:srgbClr val="000000"/>
                </a:solidFill>
                <a:latin typeface="+mj-ea"/>
                <a:ea typeface="+mj-ea"/>
                <a:cs typeface="Arial"/>
                <a:sym typeface="Arial"/>
              </a:rPr>
              <a:t>Boost Capital買収先の業務・システムをAIで自動化（顧問バンク）</a:t>
            </a:r>
            <a:endParaRPr>
              <a:latin typeface="+mj-ea"/>
              <a:ea typeface="+mj-ea"/>
            </a:endParaRPr>
          </a:p>
        </p:txBody>
      </p:sp>
      <p:sp>
        <p:nvSpPr>
          <p:cNvPr id="16" name="Google Shape;467;p4">
            <a:extLst>
              <a:ext uri="{FF2B5EF4-FFF2-40B4-BE49-F238E27FC236}">
                <a16:creationId xmlns:a16="http://schemas.microsoft.com/office/drawing/2014/main" id="{D74EEE36-8653-7371-CA1D-D2E672E61444}"/>
              </a:ext>
            </a:extLst>
          </p:cNvPr>
          <p:cNvSpPr/>
          <p:nvPr/>
        </p:nvSpPr>
        <p:spPr>
          <a:xfrm>
            <a:off x="5070160" y="4969269"/>
            <a:ext cx="6657757" cy="1250628"/>
          </a:xfrm>
          <a:prstGeom prst="rect">
            <a:avLst/>
          </a:prstGeom>
          <a:solidFill>
            <a:srgbClr val="F2F2F2"/>
          </a:solidFill>
          <a:ln>
            <a:noFill/>
          </a:ln>
        </p:spPr>
        <p:txBody>
          <a:bodyPr spcFirstLastPara="1" wrap="square" lIns="91425" tIns="45700" rIns="91425" bIns="45700" anchor="ctr" anchorCtr="0">
            <a:noAutofit/>
          </a:bodyPr>
          <a:lstStyle/>
          <a:p>
            <a:pPr marL="285750" marR="0" lvl="0" indent="-285750" algn="l" rtl="0">
              <a:lnSpc>
                <a:spcPct val="100000"/>
              </a:lnSpc>
              <a:spcBef>
                <a:spcPts val="0"/>
              </a:spcBef>
              <a:spcAft>
                <a:spcPts val="0"/>
              </a:spcAft>
              <a:buClr>
                <a:srgbClr val="000000"/>
              </a:buClr>
              <a:buSzPts val="1400"/>
              <a:buFont typeface="Noto Sans Symbols"/>
              <a:buChar char="✔"/>
            </a:pPr>
            <a:r>
              <a:rPr lang="ja-JP" sz="1400" b="1" i="0" u="none" strike="noStrike" cap="none">
                <a:solidFill>
                  <a:srgbClr val="000000"/>
                </a:solidFill>
                <a:latin typeface="+mj-ea"/>
                <a:ea typeface="+mj-ea"/>
                <a:cs typeface="Arial"/>
                <a:sym typeface="Arial"/>
              </a:rPr>
              <a:t>プライム上場企業CEO/CTO、スタートアップ起業・事業会社経営者による事業運営ノウハウ</a:t>
            </a:r>
            <a:endParaRPr>
              <a:latin typeface="+mj-ea"/>
              <a:ea typeface="+mj-ea"/>
            </a:endParaRPr>
          </a:p>
          <a:p>
            <a:pPr marL="742950" marR="0" lvl="1" indent="-285750" algn="l" rtl="0">
              <a:lnSpc>
                <a:spcPct val="100000"/>
              </a:lnSpc>
              <a:spcBef>
                <a:spcPts val="0"/>
              </a:spcBef>
              <a:spcAft>
                <a:spcPts val="0"/>
              </a:spcAft>
              <a:buClr>
                <a:srgbClr val="000000"/>
              </a:buClr>
              <a:buSzPts val="1400"/>
              <a:buFont typeface="Arial"/>
              <a:buChar char="–"/>
            </a:pPr>
            <a:r>
              <a:rPr lang="ja-JP" sz="1400" b="0" i="0" u="none" strike="noStrike" cap="none">
                <a:solidFill>
                  <a:srgbClr val="000000"/>
                </a:solidFill>
                <a:latin typeface="+mj-ea"/>
                <a:ea typeface="+mj-ea"/>
                <a:cs typeface="Arial"/>
                <a:sym typeface="Arial"/>
              </a:rPr>
              <a:t>事業運営にとって必要＆最適なソリューションを現場目線で提案可能</a:t>
            </a:r>
            <a:endParaRPr>
              <a:latin typeface="+mj-ea"/>
              <a:ea typeface="+mj-ea"/>
            </a:endParaRPr>
          </a:p>
        </p:txBody>
      </p:sp>
      <p:cxnSp>
        <p:nvCxnSpPr>
          <p:cNvPr id="17" name="Google Shape;468;p4">
            <a:extLst>
              <a:ext uri="{FF2B5EF4-FFF2-40B4-BE49-F238E27FC236}">
                <a16:creationId xmlns:a16="http://schemas.microsoft.com/office/drawing/2014/main" id="{0B622994-144C-59E7-5BAD-0D3F7EA85AA5}"/>
              </a:ext>
            </a:extLst>
          </p:cNvPr>
          <p:cNvCxnSpPr/>
          <p:nvPr/>
        </p:nvCxnSpPr>
        <p:spPr>
          <a:xfrm rot="10800000" flipH="1">
            <a:off x="3287944" y="1815758"/>
            <a:ext cx="808276" cy="656306"/>
          </a:xfrm>
          <a:prstGeom prst="straightConnector1">
            <a:avLst/>
          </a:prstGeom>
          <a:noFill/>
          <a:ln w="19050" cap="flat" cmpd="sng">
            <a:solidFill>
              <a:srgbClr val="7F7F7F"/>
            </a:solidFill>
            <a:prstDash val="solid"/>
            <a:miter lim="800000"/>
            <a:headEnd type="none" w="sm" len="sm"/>
            <a:tailEnd type="none" w="sm" len="sm"/>
          </a:ln>
        </p:spPr>
      </p:cxnSp>
      <p:cxnSp>
        <p:nvCxnSpPr>
          <p:cNvPr id="18" name="Google Shape;469;p4">
            <a:extLst>
              <a:ext uri="{FF2B5EF4-FFF2-40B4-BE49-F238E27FC236}">
                <a16:creationId xmlns:a16="http://schemas.microsoft.com/office/drawing/2014/main" id="{65681A11-7D26-4140-E88A-2638109397B3}"/>
              </a:ext>
            </a:extLst>
          </p:cNvPr>
          <p:cNvCxnSpPr/>
          <p:nvPr/>
        </p:nvCxnSpPr>
        <p:spPr>
          <a:xfrm>
            <a:off x="4097314" y="1822304"/>
            <a:ext cx="627818" cy="0"/>
          </a:xfrm>
          <a:prstGeom prst="straightConnector1">
            <a:avLst/>
          </a:prstGeom>
          <a:noFill/>
          <a:ln w="19050" cap="flat" cmpd="sng">
            <a:solidFill>
              <a:srgbClr val="7F7F7F"/>
            </a:solidFill>
            <a:prstDash val="solid"/>
            <a:miter lim="800000"/>
            <a:headEnd type="none" w="sm" len="sm"/>
            <a:tailEnd type="none" w="sm" len="sm"/>
          </a:ln>
        </p:spPr>
      </p:cxnSp>
      <p:cxnSp>
        <p:nvCxnSpPr>
          <p:cNvPr id="19" name="Google Shape;470;p4">
            <a:extLst>
              <a:ext uri="{FF2B5EF4-FFF2-40B4-BE49-F238E27FC236}">
                <a16:creationId xmlns:a16="http://schemas.microsoft.com/office/drawing/2014/main" id="{7EF59244-B217-3364-356A-E5FD9B39B20F}"/>
              </a:ext>
            </a:extLst>
          </p:cNvPr>
          <p:cNvCxnSpPr/>
          <p:nvPr/>
        </p:nvCxnSpPr>
        <p:spPr>
          <a:xfrm rot="10800000" flipH="1">
            <a:off x="4338903" y="3640692"/>
            <a:ext cx="386229" cy="1218"/>
          </a:xfrm>
          <a:prstGeom prst="straightConnector1">
            <a:avLst/>
          </a:prstGeom>
          <a:noFill/>
          <a:ln w="19050" cap="flat" cmpd="sng">
            <a:solidFill>
              <a:srgbClr val="7F7F7F"/>
            </a:solidFill>
            <a:prstDash val="solid"/>
            <a:miter lim="800000"/>
            <a:headEnd type="none" w="sm" len="sm"/>
            <a:tailEnd type="none" w="sm" len="sm"/>
          </a:ln>
        </p:spPr>
      </p:cxnSp>
      <p:cxnSp>
        <p:nvCxnSpPr>
          <p:cNvPr id="20" name="Google Shape;471;p4">
            <a:extLst>
              <a:ext uri="{FF2B5EF4-FFF2-40B4-BE49-F238E27FC236}">
                <a16:creationId xmlns:a16="http://schemas.microsoft.com/office/drawing/2014/main" id="{10C8EC1C-CFF1-488A-B567-81F6C0E008CC}"/>
              </a:ext>
            </a:extLst>
          </p:cNvPr>
          <p:cNvCxnSpPr/>
          <p:nvPr/>
        </p:nvCxnSpPr>
        <p:spPr>
          <a:xfrm rot="10800000" flipH="1">
            <a:off x="3852476" y="3640229"/>
            <a:ext cx="489676" cy="403926"/>
          </a:xfrm>
          <a:prstGeom prst="straightConnector1">
            <a:avLst/>
          </a:prstGeom>
          <a:noFill/>
          <a:ln w="19050" cap="flat" cmpd="sng">
            <a:solidFill>
              <a:srgbClr val="7F7F7F"/>
            </a:solidFill>
            <a:prstDash val="solid"/>
            <a:miter lim="800000"/>
            <a:headEnd type="none" w="sm" len="sm"/>
            <a:tailEnd type="none" w="sm" len="sm"/>
          </a:ln>
        </p:spPr>
      </p:cxnSp>
      <p:cxnSp>
        <p:nvCxnSpPr>
          <p:cNvPr id="21" name="Google Shape;472;p4">
            <a:extLst>
              <a:ext uri="{FF2B5EF4-FFF2-40B4-BE49-F238E27FC236}">
                <a16:creationId xmlns:a16="http://schemas.microsoft.com/office/drawing/2014/main" id="{D2E00A42-50E0-F94D-CA6B-A843F39FB11D}"/>
              </a:ext>
            </a:extLst>
          </p:cNvPr>
          <p:cNvCxnSpPr/>
          <p:nvPr/>
        </p:nvCxnSpPr>
        <p:spPr>
          <a:xfrm>
            <a:off x="3917950" y="5766866"/>
            <a:ext cx="807182" cy="0"/>
          </a:xfrm>
          <a:prstGeom prst="straightConnector1">
            <a:avLst/>
          </a:prstGeom>
          <a:noFill/>
          <a:ln w="19050" cap="flat" cmpd="sng">
            <a:solidFill>
              <a:srgbClr val="7F7F7F"/>
            </a:solidFill>
            <a:prstDash val="solid"/>
            <a:miter lim="800000"/>
            <a:headEnd type="none" w="sm" len="sm"/>
            <a:tailEnd type="none" w="sm" len="sm"/>
          </a:ln>
        </p:spPr>
      </p:cxnSp>
      <p:cxnSp>
        <p:nvCxnSpPr>
          <p:cNvPr id="22" name="Google Shape;473;p4">
            <a:extLst>
              <a:ext uri="{FF2B5EF4-FFF2-40B4-BE49-F238E27FC236}">
                <a16:creationId xmlns:a16="http://schemas.microsoft.com/office/drawing/2014/main" id="{6C238C58-5F89-16A5-8AE1-33ED477E4A5A}"/>
              </a:ext>
            </a:extLst>
          </p:cNvPr>
          <p:cNvCxnSpPr/>
          <p:nvPr/>
        </p:nvCxnSpPr>
        <p:spPr>
          <a:xfrm>
            <a:off x="1886857" y="4969269"/>
            <a:ext cx="2031093" cy="797597"/>
          </a:xfrm>
          <a:prstGeom prst="straightConnector1">
            <a:avLst/>
          </a:prstGeom>
          <a:noFill/>
          <a:ln w="19050" cap="flat" cmpd="sng">
            <a:solidFill>
              <a:srgbClr val="7F7F7F"/>
            </a:solidFill>
            <a:prstDash val="solid"/>
            <a:miter lim="800000"/>
            <a:headEnd type="none" w="sm" len="sm"/>
            <a:tailEnd type="none" w="sm" len="sm"/>
          </a:ln>
        </p:spPr>
      </p:cxnSp>
      <p:sp>
        <p:nvSpPr>
          <p:cNvPr id="3" name="フッター プレースホルダー 13">
            <a:extLst>
              <a:ext uri="{FF2B5EF4-FFF2-40B4-BE49-F238E27FC236}">
                <a16:creationId xmlns:a16="http://schemas.microsoft.com/office/drawing/2014/main" id="{B647DABA-C5DD-C0CF-6FA1-923B1906AEA1}"/>
              </a:ext>
            </a:extLst>
          </p:cNvPr>
          <p:cNvSpPr>
            <a:spLocks noGrp="1"/>
          </p:cNvSpPr>
          <p:nvPr>
            <p:ph type="ftr" sz="quarter" idx="11"/>
          </p:nvPr>
        </p:nvSpPr>
        <p:spPr>
          <a:xfrm>
            <a:off x="9877808" y="6514831"/>
            <a:ext cx="1919585" cy="216000"/>
          </a:xfrm>
        </p:spPr>
        <p:txBody>
          <a:bodyPr/>
          <a:lstStyle>
            <a:lvl1pPr algn="l">
              <a:defRPr sz="1000">
                <a:latin typeface="+mn-lt"/>
                <a:ea typeface="+mn-ea"/>
              </a:defRPr>
            </a:lvl1pPr>
          </a:lstStyle>
          <a:p>
            <a:pPr>
              <a:defRPr/>
            </a:pPr>
            <a:r>
              <a:rPr kumimoji="1" lang="en-US" altLang="ja-JP" dirty="0">
                <a:solidFill>
                  <a:srgbClr val="FFFFFF">
                    <a:lumMod val="75000"/>
                  </a:srgbClr>
                </a:solidFill>
              </a:rPr>
              <a:t>©️ 2026 Boost Consulting, Inc.</a:t>
            </a:r>
            <a:endParaRPr kumimoji="1" lang="ja-JP" altLang="en-US" dirty="0">
              <a:solidFill>
                <a:srgbClr val="FFFFFF">
                  <a:lumMod val="75000"/>
                </a:srgbClr>
              </a:solidFill>
              <a:latin typeface="+mn-lt"/>
            </a:endParaRPr>
          </a:p>
        </p:txBody>
      </p:sp>
    </p:spTree>
    <p:extLst>
      <p:ext uri="{BB962C8B-B14F-4D97-AF65-F5344CB8AC3E}">
        <p14:creationId xmlns:p14="http://schemas.microsoft.com/office/powerpoint/2010/main" val="2994626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5"/>
          <p:cNvSpPr txBox="1">
            <a:spLocks noGrp="1"/>
          </p:cNvSpPr>
          <p:nvPr>
            <p:ph type="ftr" idx="11"/>
          </p:nvPr>
        </p:nvSpPr>
        <p:spPr>
          <a:xfrm>
            <a:off x="9877808" y="6514831"/>
            <a:ext cx="1919585" cy="216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ja-JP">
                <a:solidFill>
                  <a:srgbClr val="BFBFBF"/>
                </a:solidFill>
              </a:rPr>
              <a:t>©️ 2026 Boost Consulting, Inc.</a:t>
            </a:r>
            <a:endParaRPr>
              <a:solidFill>
                <a:srgbClr val="BFBFBF"/>
              </a:solidFill>
            </a:endParaRPr>
          </a:p>
        </p:txBody>
      </p:sp>
      <p:sp>
        <p:nvSpPr>
          <p:cNvPr id="479" name="Google Shape;479;p5"/>
          <p:cNvSpPr/>
          <p:nvPr/>
        </p:nvSpPr>
        <p:spPr>
          <a:xfrm>
            <a:off x="0" y="-1"/>
            <a:ext cx="12192000" cy="3429000"/>
          </a:xfrm>
          <a:prstGeom prst="rect">
            <a:avLst/>
          </a:prstGeom>
          <a:solidFill>
            <a:srgbClr val="BFBFBF"/>
          </a:soli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80" name="Google Shape;480;p5"/>
          <p:cNvSpPr txBox="1"/>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757575"/>
              </a:buClr>
              <a:buSzPts val="1200"/>
              <a:buFont typeface="Arial"/>
              <a:buNone/>
            </a:pPr>
            <a:fld id="{00000000-1234-1234-1234-123412341234}" type="slidenum">
              <a:rPr lang="en-US" altLang="ja-JP" sz="1200">
                <a:solidFill>
                  <a:srgbClr val="757575"/>
                </a:solidFill>
                <a:latin typeface="Arial"/>
                <a:ea typeface="Arial"/>
                <a:cs typeface="Arial"/>
                <a:sym typeface="Arial"/>
              </a:rPr>
              <a:t>22</a:t>
            </a:fld>
            <a:endParaRPr sz="1200">
              <a:solidFill>
                <a:srgbClr val="757575"/>
              </a:solidFill>
              <a:latin typeface="Arial"/>
              <a:ea typeface="Arial"/>
              <a:cs typeface="Arial"/>
              <a:sym typeface="Arial"/>
            </a:endParaRPr>
          </a:p>
        </p:txBody>
      </p:sp>
      <p:sp>
        <p:nvSpPr>
          <p:cNvPr id="481" name="Google Shape;481;p5"/>
          <p:cNvSpPr txBox="1"/>
          <p:nvPr/>
        </p:nvSpPr>
        <p:spPr>
          <a:xfrm>
            <a:off x="329245" y="362988"/>
            <a:ext cx="954107"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dirty="0">
                <a:solidFill>
                  <a:srgbClr val="000000"/>
                </a:solidFill>
                <a:latin typeface="+mj-ea"/>
                <a:ea typeface="+mj-ea"/>
                <a:cs typeface="Arial"/>
                <a:sym typeface="Arial"/>
              </a:rPr>
              <a:t>経営陣</a:t>
            </a:r>
            <a:endParaRPr sz="2000" b="1" i="0" u="none" strike="noStrike" cap="none" dirty="0">
              <a:solidFill>
                <a:srgbClr val="000000"/>
              </a:solidFill>
              <a:latin typeface="+mj-ea"/>
              <a:ea typeface="+mj-ea"/>
              <a:cs typeface="Arial"/>
              <a:sym typeface="Arial"/>
            </a:endParaRPr>
          </a:p>
        </p:txBody>
      </p:sp>
      <p:pic>
        <p:nvPicPr>
          <p:cNvPr id="482" name="Google Shape;482;p5" descr="テキスト&#10;&#10;AI 生成コンテンツは誤りを含む可能性があります。"/>
          <p:cNvPicPr preferRelativeResize="0"/>
          <p:nvPr/>
        </p:nvPicPr>
        <p:blipFill rotWithShape="1">
          <a:blip r:embed="rId3">
            <a:alphaModFix/>
          </a:blip>
          <a:srcRect/>
          <a:stretch/>
        </p:blipFill>
        <p:spPr>
          <a:xfrm>
            <a:off x="3139808" y="903647"/>
            <a:ext cx="886566" cy="1258787"/>
          </a:xfrm>
          <a:prstGeom prst="rect">
            <a:avLst/>
          </a:prstGeom>
          <a:noFill/>
          <a:ln>
            <a:noFill/>
          </a:ln>
        </p:spPr>
      </p:pic>
      <p:pic>
        <p:nvPicPr>
          <p:cNvPr id="483" name="Google Shape;483;p5" descr="スーツを着た男性&#10;&#10;AI 生成コンテンツは誤りを含む可能性があります。"/>
          <p:cNvPicPr preferRelativeResize="0"/>
          <p:nvPr/>
        </p:nvPicPr>
        <p:blipFill rotWithShape="1">
          <a:blip r:embed="rId4">
            <a:alphaModFix/>
          </a:blip>
          <a:srcRect/>
          <a:stretch/>
        </p:blipFill>
        <p:spPr>
          <a:xfrm>
            <a:off x="674402" y="281578"/>
            <a:ext cx="2882683" cy="4235567"/>
          </a:xfrm>
          <a:prstGeom prst="rect">
            <a:avLst/>
          </a:prstGeom>
          <a:noFill/>
          <a:ln>
            <a:noFill/>
          </a:ln>
        </p:spPr>
      </p:pic>
      <p:sp>
        <p:nvSpPr>
          <p:cNvPr id="484" name="Google Shape;484;p5"/>
          <p:cNvSpPr txBox="1"/>
          <p:nvPr/>
        </p:nvSpPr>
        <p:spPr>
          <a:xfrm>
            <a:off x="563082" y="2317415"/>
            <a:ext cx="3072484"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rgbClr val="000000"/>
                </a:solidFill>
                <a:latin typeface="+mj-ea"/>
                <a:ea typeface="+mj-ea"/>
                <a:cs typeface="Arial"/>
                <a:sym typeface="Arial"/>
              </a:rPr>
              <a:t>堀 新一郎 / Shinichiro Hori</a:t>
            </a:r>
            <a:endParaRPr sz="1800" b="0" i="0" u="none" strike="noStrike" cap="none">
              <a:solidFill>
                <a:srgbClr val="000000"/>
              </a:solidFill>
              <a:latin typeface="+mj-ea"/>
              <a:ea typeface="+mj-ea"/>
              <a:cs typeface="Arial"/>
              <a:sym typeface="Arial"/>
            </a:endParaRPr>
          </a:p>
        </p:txBody>
      </p:sp>
      <p:sp>
        <p:nvSpPr>
          <p:cNvPr id="485" name="Google Shape;485;p5"/>
          <p:cNvSpPr txBox="1"/>
          <p:nvPr/>
        </p:nvSpPr>
        <p:spPr>
          <a:xfrm>
            <a:off x="563082" y="2732844"/>
            <a:ext cx="954107" cy="276999"/>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200" b="0" i="0" u="none" strike="noStrike" cap="none">
                <a:solidFill>
                  <a:srgbClr val="000000"/>
                </a:solidFill>
                <a:latin typeface="+mj-ea"/>
                <a:ea typeface="+mj-ea"/>
                <a:cs typeface="Arial"/>
                <a:sym typeface="Arial"/>
              </a:rPr>
              <a:t>代表取締役</a:t>
            </a:r>
            <a:endParaRPr sz="1200" b="0" i="0" u="none" strike="noStrike" cap="none">
              <a:solidFill>
                <a:srgbClr val="000000"/>
              </a:solidFill>
              <a:latin typeface="+mj-ea"/>
              <a:ea typeface="+mj-ea"/>
              <a:cs typeface="Arial"/>
              <a:sym typeface="Arial"/>
            </a:endParaRPr>
          </a:p>
        </p:txBody>
      </p:sp>
      <p:pic>
        <p:nvPicPr>
          <p:cNvPr id="486" name="Google Shape;486;p5" descr="黒いシャツを着ている男性&#10;&#10;AI 生成コンテンツは誤りを含む可能性があります。"/>
          <p:cNvPicPr preferRelativeResize="0"/>
          <p:nvPr/>
        </p:nvPicPr>
        <p:blipFill rotWithShape="1">
          <a:blip r:embed="rId5">
            <a:alphaModFix/>
          </a:blip>
          <a:srcRect/>
          <a:stretch/>
        </p:blipFill>
        <p:spPr>
          <a:xfrm>
            <a:off x="4926457" y="501488"/>
            <a:ext cx="2275619" cy="3034158"/>
          </a:xfrm>
          <a:prstGeom prst="rect">
            <a:avLst/>
          </a:prstGeom>
          <a:noFill/>
          <a:ln>
            <a:noFill/>
          </a:ln>
        </p:spPr>
      </p:pic>
      <p:pic>
        <p:nvPicPr>
          <p:cNvPr id="487" name="Google Shape;487;p5" descr="テキスト, 手紙&#10;&#10;AI 生成コンテンツは誤りを含む可能性があります。"/>
          <p:cNvPicPr preferRelativeResize="0"/>
          <p:nvPr/>
        </p:nvPicPr>
        <p:blipFill rotWithShape="1">
          <a:blip r:embed="rId6">
            <a:alphaModFix/>
          </a:blip>
          <a:srcRect l="8031" r="6386"/>
          <a:stretch/>
        </p:blipFill>
        <p:spPr>
          <a:xfrm>
            <a:off x="6898943" y="903647"/>
            <a:ext cx="850506" cy="1258142"/>
          </a:xfrm>
          <a:prstGeom prst="rect">
            <a:avLst/>
          </a:prstGeom>
          <a:noFill/>
          <a:ln w="9525" cap="flat" cmpd="sng">
            <a:solidFill>
              <a:srgbClr val="BFBFBF"/>
            </a:solidFill>
            <a:prstDash val="solid"/>
            <a:round/>
            <a:headEnd type="none" w="sm" len="sm"/>
            <a:tailEnd type="none" w="sm" len="sm"/>
          </a:ln>
        </p:spPr>
      </p:pic>
      <p:sp>
        <p:nvSpPr>
          <p:cNvPr id="488" name="Google Shape;488;p5"/>
          <p:cNvSpPr txBox="1"/>
          <p:nvPr/>
        </p:nvSpPr>
        <p:spPr>
          <a:xfrm>
            <a:off x="4379084" y="2313803"/>
            <a:ext cx="3072484" cy="369291"/>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rgbClr val="000000"/>
                </a:solidFill>
                <a:latin typeface="+mj-ea"/>
                <a:ea typeface="+mj-ea"/>
                <a:cs typeface="Arial"/>
                <a:sym typeface="Arial"/>
              </a:rPr>
              <a:t>小澤 隆生 / Takao Ozawa</a:t>
            </a:r>
            <a:endParaRPr sz="1800" b="0" i="0" u="none" strike="noStrike" cap="none">
              <a:solidFill>
                <a:srgbClr val="000000"/>
              </a:solidFill>
              <a:latin typeface="+mj-ea"/>
              <a:ea typeface="+mj-ea"/>
              <a:cs typeface="Arial"/>
              <a:sym typeface="Arial"/>
            </a:endParaRPr>
          </a:p>
        </p:txBody>
      </p:sp>
      <p:sp>
        <p:nvSpPr>
          <p:cNvPr id="489" name="Google Shape;489;p5"/>
          <p:cNvSpPr txBox="1"/>
          <p:nvPr/>
        </p:nvSpPr>
        <p:spPr>
          <a:xfrm>
            <a:off x="4379084" y="2719820"/>
            <a:ext cx="646331" cy="276999"/>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200" b="0" i="0" u="none" strike="noStrike" cap="none">
                <a:solidFill>
                  <a:srgbClr val="000000"/>
                </a:solidFill>
                <a:latin typeface="+mj-ea"/>
                <a:ea typeface="+mj-ea"/>
                <a:cs typeface="Arial"/>
                <a:sym typeface="Arial"/>
              </a:rPr>
              <a:t>取締役</a:t>
            </a:r>
            <a:endParaRPr sz="1200" b="0" i="0" u="none" strike="noStrike" cap="none">
              <a:solidFill>
                <a:srgbClr val="000000"/>
              </a:solidFill>
              <a:latin typeface="+mj-ea"/>
              <a:ea typeface="+mj-ea"/>
              <a:cs typeface="Arial"/>
              <a:sym typeface="Arial"/>
            </a:endParaRPr>
          </a:p>
        </p:txBody>
      </p:sp>
      <p:pic>
        <p:nvPicPr>
          <p:cNvPr id="490" name="Google Shape;490;p5" descr="スーツを着た男性&#10;&#10;AI 生成コンテンツは誤りを含む可能性があります。"/>
          <p:cNvPicPr preferRelativeResize="0"/>
          <p:nvPr/>
        </p:nvPicPr>
        <p:blipFill rotWithShape="1">
          <a:blip r:embed="rId7">
            <a:alphaModFix/>
          </a:blip>
          <a:srcRect/>
          <a:stretch/>
        </p:blipFill>
        <p:spPr>
          <a:xfrm>
            <a:off x="8581195" y="332062"/>
            <a:ext cx="2529628" cy="3794442"/>
          </a:xfrm>
          <a:prstGeom prst="rect">
            <a:avLst/>
          </a:prstGeom>
          <a:noFill/>
          <a:ln>
            <a:noFill/>
          </a:ln>
        </p:spPr>
      </p:pic>
      <p:sp>
        <p:nvSpPr>
          <p:cNvPr id="491" name="Google Shape;491;p5"/>
          <p:cNvSpPr txBox="1"/>
          <p:nvPr/>
        </p:nvSpPr>
        <p:spPr>
          <a:xfrm>
            <a:off x="8190250" y="2311413"/>
            <a:ext cx="3313710" cy="36933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ja-JP" sz="1800" b="0" i="0" u="none" strike="noStrike" cap="none">
                <a:solidFill>
                  <a:srgbClr val="000000"/>
                </a:solidFill>
                <a:latin typeface="+mj-ea"/>
                <a:ea typeface="+mj-ea"/>
                <a:cs typeface="Arial"/>
                <a:sym typeface="Arial"/>
              </a:rPr>
              <a:t>高橋 健太 / Kenta Takahashi</a:t>
            </a:r>
            <a:endParaRPr sz="1800" b="0" i="0" u="none" strike="noStrike" cap="none">
              <a:solidFill>
                <a:srgbClr val="000000"/>
              </a:solidFill>
              <a:latin typeface="+mj-ea"/>
              <a:ea typeface="+mj-ea"/>
              <a:cs typeface="Arial"/>
              <a:sym typeface="Arial"/>
            </a:endParaRPr>
          </a:p>
        </p:txBody>
      </p:sp>
      <p:sp>
        <p:nvSpPr>
          <p:cNvPr id="492" name="Google Shape;492;p5"/>
          <p:cNvSpPr txBox="1"/>
          <p:nvPr/>
        </p:nvSpPr>
        <p:spPr>
          <a:xfrm>
            <a:off x="8190250" y="2714513"/>
            <a:ext cx="646331" cy="276999"/>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JP" sz="1200" b="0" i="0" u="none" strike="noStrike" cap="none">
                <a:solidFill>
                  <a:srgbClr val="000000"/>
                </a:solidFill>
                <a:latin typeface="+mj-ea"/>
                <a:ea typeface="+mj-ea"/>
                <a:cs typeface="Arial"/>
                <a:sym typeface="Arial"/>
              </a:rPr>
              <a:t>取締役</a:t>
            </a:r>
            <a:endParaRPr sz="1400" b="0" i="0" u="none" strike="noStrike" cap="none">
              <a:solidFill>
                <a:srgbClr val="000000"/>
              </a:solidFill>
              <a:latin typeface="+mj-ea"/>
              <a:ea typeface="+mj-ea"/>
              <a:cs typeface="Arial"/>
              <a:sym typeface="Arial"/>
            </a:endParaRPr>
          </a:p>
        </p:txBody>
      </p:sp>
      <p:sp>
        <p:nvSpPr>
          <p:cNvPr id="493" name="Google Shape;493;p5"/>
          <p:cNvSpPr/>
          <p:nvPr/>
        </p:nvSpPr>
        <p:spPr>
          <a:xfrm>
            <a:off x="0" y="3429001"/>
            <a:ext cx="12192000" cy="3429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494" name="Google Shape;494;p5"/>
          <p:cNvSpPr/>
          <p:nvPr/>
        </p:nvSpPr>
        <p:spPr>
          <a:xfrm>
            <a:off x="563082" y="3065436"/>
            <a:ext cx="3433831" cy="3510986"/>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ea"/>
              <a:ea typeface="+mj-ea"/>
              <a:cs typeface="Arial"/>
              <a:sym typeface="Arial"/>
            </a:endParaRPr>
          </a:p>
        </p:txBody>
      </p:sp>
      <p:sp>
        <p:nvSpPr>
          <p:cNvPr id="495" name="Google Shape;495;p5"/>
          <p:cNvSpPr txBox="1"/>
          <p:nvPr/>
        </p:nvSpPr>
        <p:spPr>
          <a:xfrm>
            <a:off x="655657" y="3352948"/>
            <a:ext cx="3234129" cy="280072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0" i="0" u="none" strike="noStrike" cap="none" dirty="0">
                <a:solidFill>
                  <a:srgbClr val="000000"/>
                </a:solidFill>
                <a:latin typeface="+mj-ea"/>
                <a:ea typeface="+mj-ea"/>
                <a:cs typeface="Arial"/>
                <a:sym typeface="Arial"/>
              </a:rPr>
              <a:t>フューチャーアーキテクト、ドリームインキュベータでのシステム・戦略コンサルティング及びPE投資を経て、13年よりヤフー(現LINEヤフー（株）)に入社しM＆A業務に従事。16年にZ Venture Capital代表取締役社長に就任。海外現地法人立ち上げ、VC統合やファンド設計を主導。24年にBoost Capitalを共同創業し、戦略と経営の両面から起業家支援に取り組む。</a:t>
            </a:r>
            <a:endParaRPr sz="1600" b="0" i="0" u="none" strike="noStrike" cap="none" dirty="0">
              <a:solidFill>
                <a:srgbClr val="000000"/>
              </a:solidFill>
              <a:latin typeface="+mj-ea"/>
              <a:ea typeface="+mj-ea"/>
              <a:cs typeface="Arial"/>
              <a:sym typeface="Arial"/>
            </a:endParaRPr>
          </a:p>
        </p:txBody>
      </p:sp>
      <p:sp>
        <p:nvSpPr>
          <p:cNvPr id="496" name="Google Shape;496;p5"/>
          <p:cNvSpPr/>
          <p:nvPr/>
        </p:nvSpPr>
        <p:spPr>
          <a:xfrm>
            <a:off x="4379084" y="3065436"/>
            <a:ext cx="3433831" cy="3510986"/>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ea"/>
              <a:ea typeface="+mj-ea"/>
              <a:cs typeface="Arial"/>
              <a:sym typeface="Arial"/>
            </a:endParaRPr>
          </a:p>
        </p:txBody>
      </p:sp>
      <p:sp>
        <p:nvSpPr>
          <p:cNvPr id="497" name="Google Shape;497;p5"/>
          <p:cNvSpPr txBox="1"/>
          <p:nvPr/>
        </p:nvSpPr>
        <p:spPr>
          <a:xfrm>
            <a:off x="4478934" y="3404325"/>
            <a:ext cx="3234129" cy="25545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0" i="0" u="none" strike="noStrike" cap="none">
                <a:solidFill>
                  <a:srgbClr val="000000"/>
                </a:solidFill>
                <a:latin typeface="+mj-ea"/>
                <a:ea typeface="+mj-ea"/>
                <a:cs typeface="Arial"/>
                <a:sym typeface="Arial"/>
              </a:rPr>
              <a:t>ビズシーク創業後、楽天に売却。以降もクロコスを創業・売却するなど連続起業家として活躍。楽天では楽天野球団の立ち上げ、ヤフーではPayPayを含む複数の新規事業を推進し、ZOZO・一休・ASKULなどの大型M&amp;Aも主導。22年にはヤフー代表取締役社長CEOに就任。24年にVCファンドBoost Capitalを設立し、起業支援に注力。</a:t>
            </a:r>
            <a:endParaRPr sz="1600" b="0" i="0" u="none" strike="noStrike" cap="none">
              <a:solidFill>
                <a:srgbClr val="000000"/>
              </a:solidFill>
              <a:latin typeface="+mj-ea"/>
              <a:ea typeface="+mj-ea"/>
              <a:cs typeface="Arial"/>
              <a:sym typeface="Arial"/>
            </a:endParaRPr>
          </a:p>
        </p:txBody>
      </p:sp>
      <p:grpSp>
        <p:nvGrpSpPr>
          <p:cNvPr id="498" name="Google Shape;498;p5"/>
          <p:cNvGrpSpPr/>
          <p:nvPr/>
        </p:nvGrpSpPr>
        <p:grpSpPr>
          <a:xfrm>
            <a:off x="8128823" y="3065436"/>
            <a:ext cx="3500094" cy="3510986"/>
            <a:chOff x="8128823" y="3065436"/>
            <a:chExt cx="3500094" cy="3510986"/>
          </a:xfrm>
        </p:grpSpPr>
        <p:sp>
          <p:nvSpPr>
            <p:cNvPr id="499" name="Google Shape;499;p5"/>
            <p:cNvSpPr/>
            <p:nvPr/>
          </p:nvSpPr>
          <p:spPr>
            <a:xfrm>
              <a:off x="8195086" y="3065436"/>
              <a:ext cx="3433831" cy="3510986"/>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ea"/>
                <a:ea typeface="+mj-ea"/>
                <a:cs typeface="Arial"/>
                <a:sym typeface="Arial"/>
              </a:endParaRPr>
            </a:p>
          </p:txBody>
        </p:sp>
        <p:sp>
          <p:nvSpPr>
            <p:cNvPr id="500" name="Google Shape;500;p5"/>
            <p:cNvSpPr txBox="1"/>
            <p:nvPr/>
          </p:nvSpPr>
          <p:spPr>
            <a:xfrm>
              <a:off x="8292519" y="3400917"/>
              <a:ext cx="3234129" cy="230828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JP" sz="1600" b="0" i="0" u="none" strike="noStrike" cap="none">
                  <a:solidFill>
                    <a:srgbClr val="000000"/>
                  </a:solidFill>
                  <a:latin typeface="+mj-ea"/>
                  <a:ea typeface="+mj-ea"/>
                  <a:cs typeface="Arial"/>
                  <a:sym typeface="Arial"/>
                </a:rPr>
                <a:t>マッキンゼーで戦略コンサルティングに従事後、MBKパートナーズにてコメダ珈琲・TASAKI・USJ・ゴディバ等のM&amp;A・経営支援を担当。PE業務を通じて経営の現場に深く関与。MBK在籍中にOMAKASEを創業しGMOに売却。24年にBoost Capitalを共同創業。個人でもLBOを用いた起業・投資に取り組む。 </a:t>
              </a:r>
              <a:endParaRPr sz="1400" b="0" i="0" u="none" strike="noStrike" cap="none">
                <a:solidFill>
                  <a:srgbClr val="000000"/>
                </a:solidFill>
                <a:latin typeface="+mj-ea"/>
                <a:ea typeface="+mj-ea"/>
                <a:cs typeface="Arial"/>
                <a:sym typeface="Arial"/>
              </a:endParaRPr>
            </a:p>
          </p:txBody>
        </p:sp>
        <p:sp>
          <p:nvSpPr>
            <p:cNvPr id="501" name="Google Shape;501;p5"/>
            <p:cNvSpPr txBox="1"/>
            <p:nvPr/>
          </p:nvSpPr>
          <p:spPr>
            <a:xfrm>
              <a:off x="8128823" y="3135899"/>
              <a:ext cx="748923"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【略歴】</a:t>
              </a:r>
              <a:endParaRPr sz="1100" b="0" i="0" u="none" strike="noStrike" cap="none">
                <a:solidFill>
                  <a:srgbClr val="000000"/>
                </a:solidFill>
                <a:latin typeface="+mj-ea"/>
                <a:ea typeface="+mj-ea"/>
                <a:cs typeface="Arial"/>
                <a:sym typeface="Arial"/>
              </a:endParaRPr>
            </a:p>
          </p:txBody>
        </p:sp>
      </p:grpSp>
      <p:sp>
        <p:nvSpPr>
          <p:cNvPr id="502" name="Google Shape;502;p5"/>
          <p:cNvSpPr txBox="1"/>
          <p:nvPr/>
        </p:nvSpPr>
        <p:spPr>
          <a:xfrm>
            <a:off x="508782" y="3142715"/>
            <a:ext cx="748923"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【略歴】</a:t>
            </a:r>
            <a:endParaRPr sz="1100" b="0" i="0" u="none" strike="noStrike" cap="none">
              <a:solidFill>
                <a:srgbClr val="000000"/>
              </a:solidFill>
              <a:latin typeface="+mj-ea"/>
              <a:ea typeface="+mj-ea"/>
              <a:cs typeface="Arial"/>
              <a:sym typeface="Arial"/>
            </a:endParaRPr>
          </a:p>
        </p:txBody>
      </p:sp>
      <p:sp>
        <p:nvSpPr>
          <p:cNvPr id="503" name="Google Shape;503;p5"/>
          <p:cNvSpPr txBox="1"/>
          <p:nvPr/>
        </p:nvSpPr>
        <p:spPr>
          <a:xfrm>
            <a:off x="4315238" y="3139307"/>
            <a:ext cx="748923" cy="2616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【略歴】</a:t>
            </a:r>
            <a:endParaRPr sz="1100" b="0" i="0" u="none" strike="noStrike" cap="none">
              <a:solidFill>
                <a:srgbClr val="000000"/>
              </a:solidFill>
              <a:latin typeface="+mj-ea"/>
              <a:ea typeface="+mj-ea"/>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6"/>
          <p:cNvSpPr txBox="1">
            <a:spLocks noGrp="1"/>
          </p:cNvSpPr>
          <p:nvPr>
            <p:ph type="ftr" idx="11"/>
          </p:nvPr>
        </p:nvSpPr>
        <p:spPr>
          <a:xfrm>
            <a:off x="9877808" y="6514831"/>
            <a:ext cx="1919585" cy="216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ja-JP">
                <a:solidFill>
                  <a:srgbClr val="BFBFBF"/>
                </a:solidFill>
                <a:latin typeface="+mj-ea"/>
                <a:ea typeface="+mj-ea"/>
              </a:rPr>
              <a:t>©️ 2026 Boost Consulting, Inc.</a:t>
            </a:r>
            <a:endParaRPr>
              <a:solidFill>
                <a:srgbClr val="BFBFBF"/>
              </a:solidFill>
              <a:latin typeface="+mj-ea"/>
              <a:ea typeface="+mj-ea"/>
            </a:endParaRPr>
          </a:p>
        </p:txBody>
      </p:sp>
      <p:sp>
        <p:nvSpPr>
          <p:cNvPr id="509" name="Google Shape;509;p6"/>
          <p:cNvSpPr/>
          <p:nvPr/>
        </p:nvSpPr>
        <p:spPr>
          <a:xfrm>
            <a:off x="0" y="-1"/>
            <a:ext cx="12192000" cy="3429000"/>
          </a:xfrm>
          <a:prstGeom prst="rect">
            <a:avLst/>
          </a:prstGeom>
          <a:solidFill>
            <a:srgbClr val="BFBFBF"/>
          </a:solidFill>
          <a:ln w="1905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10" name="Google Shape;510;p6"/>
          <p:cNvSpPr/>
          <p:nvPr/>
        </p:nvSpPr>
        <p:spPr>
          <a:xfrm>
            <a:off x="0" y="3429001"/>
            <a:ext cx="12192000" cy="3429000"/>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ea"/>
              <a:ea typeface="+mj-ea"/>
              <a:cs typeface="Arial"/>
              <a:sym typeface="Arial"/>
            </a:endParaRPr>
          </a:p>
        </p:txBody>
      </p:sp>
      <p:pic>
        <p:nvPicPr>
          <p:cNvPr id="511" name="Google Shape;511;p6" descr="スーツを着た男性&#10;&#10;AI 生成コンテンツは誤りを含む可能性があります。"/>
          <p:cNvPicPr preferRelativeResize="0"/>
          <p:nvPr/>
        </p:nvPicPr>
        <p:blipFill rotWithShape="1">
          <a:blip r:embed="rId3">
            <a:alphaModFix/>
          </a:blip>
          <a:srcRect/>
          <a:stretch/>
        </p:blipFill>
        <p:spPr>
          <a:xfrm>
            <a:off x="-21451" y="617474"/>
            <a:ext cx="3032860" cy="3032860"/>
          </a:xfrm>
          <a:prstGeom prst="rect">
            <a:avLst/>
          </a:prstGeom>
          <a:noFill/>
          <a:ln>
            <a:noFill/>
          </a:ln>
        </p:spPr>
      </p:pic>
      <p:grpSp>
        <p:nvGrpSpPr>
          <p:cNvPr id="512" name="Google Shape;512;p6"/>
          <p:cNvGrpSpPr/>
          <p:nvPr/>
        </p:nvGrpSpPr>
        <p:grpSpPr>
          <a:xfrm>
            <a:off x="2724760" y="863373"/>
            <a:ext cx="3332772" cy="2755159"/>
            <a:chOff x="-2193616" y="4742813"/>
            <a:chExt cx="6156155" cy="1386244"/>
          </a:xfrm>
        </p:grpSpPr>
        <p:sp>
          <p:nvSpPr>
            <p:cNvPr id="513" name="Google Shape;513;p6"/>
            <p:cNvSpPr/>
            <p:nvPr/>
          </p:nvSpPr>
          <p:spPr>
            <a:xfrm>
              <a:off x="-2086424" y="4742813"/>
              <a:ext cx="6048963" cy="1386244"/>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ea"/>
                <a:ea typeface="+mj-ea"/>
                <a:cs typeface="Arial"/>
                <a:sym typeface="Arial"/>
              </a:endParaRPr>
            </a:p>
          </p:txBody>
        </p:sp>
        <p:sp>
          <p:nvSpPr>
            <p:cNvPr id="514" name="Google Shape;514;p6"/>
            <p:cNvSpPr txBox="1"/>
            <p:nvPr/>
          </p:nvSpPr>
          <p:spPr>
            <a:xfrm>
              <a:off x="-2086425" y="4877319"/>
              <a:ext cx="6048963" cy="116343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09年グリー入社。JapanStudio統括部長・開発本部副本部長 執行役員VPoEとして内製ゲーム事業を統括。15年LITALICO執行役員CTOとして開発組織とグローバルアプリを立ち上げ。19年ウェルスナビ執行役員CPO、20年エブリー参画、育児メディア事業「MAMADAYS」のカンパニー長兼執行役員・プロダクトマネージャーとして企画・運用を統括。23年より技術顧問・CTOとして新規サービス立ち上げを支援。</a:t>
              </a:r>
              <a:endParaRPr sz="1100" b="0" i="0" u="none" strike="noStrike" cap="none">
                <a:solidFill>
                  <a:srgbClr val="000000"/>
                </a:solidFill>
                <a:latin typeface="+mj-ea"/>
                <a:ea typeface="+mj-ea"/>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博士（情報工学）</a:t>
              </a:r>
              <a:endParaRPr sz="1100" b="0" i="0" u="none" strike="noStrike" cap="none">
                <a:solidFill>
                  <a:srgbClr val="000000"/>
                </a:solidFill>
                <a:latin typeface="+mj-ea"/>
                <a:ea typeface="+mj-ea"/>
                <a:cs typeface="Arial"/>
                <a:sym typeface="Arial"/>
              </a:endParaRPr>
            </a:p>
          </p:txBody>
        </p:sp>
        <p:sp>
          <p:nvSpPr>
            <p:cNvPr id="515" name="Google Shape;515;p6"/>
            <p:cNvSpPr txBox="1"/>
            <p:nvPr/>
          </p:nvSpPr>
          <p:spPr>
            <a:xfrm>
              <a:off x="-2193616" y="4761820"/>
              <a:ext cx="5840838" cy="571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【略歴】</a:t>
              </a:r>
              <a:endParaRPr sz="1400" b="0" i="0" u="none" strike="noStrike" cap="none">
                <a:solidFill>
                  <a:srgbClr val="000000"/>
                </a:solidFill>
                <a:latin typeface="+mj-ea"/>
                <a:ea typeface="+mj-ea"/>
                <a:cs typeface="Arial"/>
                <a:sym typeface="Arial"/>
              </a:endParaRPr>
            </a:p>
          </p:txBody>
        </p:sp>
      </p:grpSp>
      <p:pic>
        <p:nvPicPr>
          <p:cNvPr id="516" name="Google Shape;516;p6" descr="スーツを着た男性&#10;&#10;AI 生成コンテンツは誤りを含む可能性があります。"/>
          <p:cNvPicPr preferRelativeResize="0"/>
          <p:nvPr/>
        </p:nvPicPr>
        <p:blipFill rotWithShape="1">
          <a:blip r:embed="rId4">
            <a:alphaModFix/>
          </a:blip>
          <a:srcRect b="5188"/>
          <a:stretch/>
        </p:blipFill>
        <p:spPr>
          <a:xfrm>
            <a:off x="5914730" y="640027"/>
            <a:ext cx="2586237" cy="2945111"/>
          </a:xfrm>
          <a:prstGeom prst="rect">
            <a:avLst/>
          </a:prstGeom>
          <a:noFill/>
          <a:ln>
            <a:noFill/>
          </a:ln>
        </p:spPr>
      </p:pic>
      <p:pic>
        <p:nvPicPr>
          <p:cNvPr id="517" name="Google Shape;517;p6" descr="人, シャツ が含まれている画像&#10;&#10;AI 生成コンテンツは誤りを含む可能性があります。"/>
          <p:cNvPicPr preferRelativeResize="0"/>
          <p:nvPr/>
        </p:nvPicPr>
        <p:blipFill rotWithShape="1">
          <a:blip r:embed="rId5">
            <a:alphaModFix/>
          </a:blip>
          <a:srcRect/>
          <a:stretch/>
        </p:blipFill>
        <p:spPr>
          <a:xfrm>
            <a:off x="6197091" y="4052625"/>
            <a:ext cx="2191474" cy="2442428"/>
          </a:xfrm>
          <a:prstGeom prst="rect">
            <a:avLst/>
          </a:prstGeom>
          <a:noFill/>
          <a:ln>
            <a:noFill/>
          </a:ln>
        </p:spPr>
      </p:pic>
      <p:pic>
        <p:nvPicPr>
          <p:cNvPr id="518" name="Google Shape;518;p6" descr="青いシャツを着た男性&#10;&#10;AI 生成コンテンツは誤りを含む可能性があります。"/>
          <p:cNvPicPr preferRelativeResize="0"/>
          <p:nvPr/>
        </p:nvPicPr>
        <p:blipFill rotWithShape="1">
          <a:blip r:embed="rId6">
            <a:alphaModFix/>
          </a:blip>
          <a:srcRect/>
          <a:stretch/>
        </p:blipFill>
        <p:spPr>
          <a:xfrm>
            <a:off x="-653332" y="3995820"/>
            <a:ext cx="4121010" cy="2548519"/>
          </a:xfrm>
          <a:prstGeom prst="rect">
            <a:avLst/>
          </a:prstGeom>
          <a:noFill/>
          <a:ln>
            <a:noFill/>
          </a:ln>
        </p:spPr>
      </p:pic>
      <p:grpSp>
        <p:nvGrpSpPr>
          <p:cNvPr id="519" name="Google Shape;519;p6"/>
          <p:cNvGrpSpPr/>
          <p:nvPr/>
        </p:nvGrpSpPr>
        <p:grpSpPr>
          <a:xfrm>
            <a:off x="8529983" y="863372"/>
            <a:ext cx="3332772" cy="2755159"/>
            <a:chOff x="-2193616" y="4742813"/>
            <a:chExt cx="6156155" cy="1386244"/>
          </a:xfrm>
        </p:grpSpPr>
        <p:sp>
          <p:nvSpPr>
            <p:cNvPr id="520" name="Google Shape;520;p6"/>
            <p:cNvSpPr/>
            <p:nvPr/>
          </p:nvSpPr>
          <p:spPr>
            <a:xfrm>
              <a:off x="-2086424" y="4742813"/>
              <a:ext cx="6048963" cy="1386244"/>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ea"/>
                <a:ea typeface="+mj-ea"/>
                <a:cs typeface="Arial"/>
                <a:sym typeface="Arial"/>
              </a:endParaRPr>
            </a:p>
          </p:txBody>
        </p:sp>
        <p:sp>
          <p:nvSpPr>
            <p:cNvPr id="521" name="Google Shape;521;p6"/>
            <p:cNvSpPr txBox="1"/>
            <p:nvPr/>
          </p:nvSpPr>
          <p:spPr>
            <a:xfrm>
              <a:off x="-2092292" y="4877319"/>
              <a:ext cx="6054829" cy="1234936"/>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Clr>
                  <a:srgbClr val="000000"/>
                </a:buClr>
                <a:buSzPts val="1050"/>
                <a:buFont typeface="Arial"/>
                <a:buNone/>
              </a:pPr>
              <a:r>
                <a:rPr lang="ja-JP" sz="1050" b="0" i="0" u="none" strike="noStrike" cap="none">
                  <a:solidFill>
                    <a:srgbClr val="000000"/>
                  </a:solidFill>
                  <a:latin typeface="+mj-ea"/>
                  <a:ea typeface="+mj-ea"/>
                  <a:cs typeface="Arial"/>
                  <a:sym typeface="Arial"/>
                </a:rPr>
                <a:t>05年に筑波大学大学院卒業後、ヤフー株式会社（現 LINEヤフー(株)）に新卒入社。 エンジニアとして「Yahoo! JAPAN ID」や「Yahoo!ショッピング」「ヤフオク!」の決済システム構築などに携わる。決済金融部門のテクニカルディレクターや「Yahoo! JAPAN」を支えるプラットフォームの責任者を経て、15年にヤフー株式会社CTOに就任。19年10月にZホールディングス株式会社 常務執行役員 CTO、ヤフー株式会社取締役常務執行役員CTOに就任。23年10月よりLINEヤフー株式会社 上級執行役員 検索カンパニーCEOに就任。25年3月よりラクスル株式会社グループCIO兼グループCDOに就任。</a:t>
              </a:r>
              <a:endParaRPr sz="1050" b="0" i="0" u="none" strike="noStrike" cap="none">
                <a:solidFill>
                  <a:srgbClr val="000000"/>
                </a:solidFill>
                <a:latin typeface="+mj-ea"/>
                <a:ea typeface="+mj-ea"/>
                <a:cs typeface="Arial"/>
                <a:sym typeface="Arial"/>
              </a:endParaRPr>
            </a:p>
          </p:txBody>
        </p:sp>
        <p:sp>
          <p:nvSpPr>
            <p:cNvPr id="522" name="Google Shape;522;p6"/>
            <p:cNvSpPr txBox="1"/>
            <p:nvPr/>
          </p:nvSpPr>
          <p:spPr>
            <a:xfrm>
              <a:off x="-2193616" y="4761820"/>
              <a:ext cx="5840838" cy="571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【略歴】</a:t>
              </a:r>
              <a:endParaRPr sz="1400" b="0" i="0" u="none" strike="noStrike" cap="none">
                <a:solidFill>
                  <a:srgbClr val="000000"/>
                </a:solidFill>
                <a:latin typeface="+mj-ea"/>
                <a:ea typeface="+mj-ea"/>
                <a:cs typeface="Arial"/>
                <a:sym typeface="Arial"/>
              </a:endParaRPr>
            </a:p>
          </p:txBody>
        </p:sp>
      </p:grpSp>
      <p:grpSp>
        <p:nvGrpSpPr>
          <p:cNvPr id="523" name="Google Shape;523;p6"/>
          <p:cNvGrpSpPr/>
          <p:nvPr/>
        </p:nvGrpSpPr>
        <p:grpSpPr>
          <a:xfrm>
            <a:off x="2724760" y="3846591"/>
            <a:ext cx="3332772" cy="2755159"/>
            <a:chOff x="-2193616" y="4742813"/>
            <a:chExt cx="6156155" cy="1386244"/>
          </a:xfrm>
        </p:grpSpPr>
        <p:sp>
          <p:nvSpPr>
            <p:cNvPr id="524" name="Google Shape;524;p6"/>
            <p:cNvSpPr/>
            <p:nvPr/>
          </p:nvSpPr>
          <p:spPr>
            <a:xfrm>
              <a:off x="-2086424" y="4742813"/>
              <a:ext cx="6048963" cy="1386244"/>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ea"/>
                <a:ea typeface="+mj-ea"/>
                <a:cs typeface="Arial"/>
                <a:sym typeface="Arial"/>
              </a:endParaRPr>
            </a:p>
          </p:txBody>
        </p:sp>
        <p:sp>
          <p:nvSpPr>
            <p:cNvPr id="525" name="Google Shape;525;p6"/>
            <p:cNvSpPr txBox="1"/>
            <p:nvPr/>
          </p:nvSpPr>
          <p:spPr>
            <a:xfrm>
              <a:off x="-2086425" y="4877319"/>
              <a:ext cx="6048963" cy="1163430"/>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青山学院大学大学院卒業、物理学の博士課程前期修了。卒業後入社したニフティ株式会社でブログサービス「ココログ」を立ち上げる。04年、株式会社はてなに入社してCTOに就任。「はてなブックマーク」などの開発を主導する。2010年からはグリー株式会社でソーシャルメディア統括部長を務める。フリーランスとなり、技術顧問を務めていた株式会社一休に16年4月入社。執行役員CTOシステム本部長に就任し、現職。</a:t>
              </a:r>
              <a:endParaRPr sz="1400" b="0" i="0" u="none" strike="noStrike" cap="none">
                <a:solidFill>
                  <a:srgbClr val="000000"/>
                </a:solidFill>
                <a:latin typeface="+mj-ea"/>
                <a:ea typeface="+mj-ea"/>
                <a:cs typeface="Arial"/>
                <a:sym typeface="Arial"/>
              </a:endParaRPr>
            </a:p>
          </p:txBody>
        </p:sp>
        <p:sp>
          <p:nvSpPr>
            <p:cNvPr id="526" name="Google Shape;526;p6"/>
            <p:cNvSpPr txBox="1"/>
            <p:nvPr/>
          </p:nvSpPr>
          <p:spPr>
            <a:xfrm>
              <a:off x="-2193616" y="4761820"/>
              <a:ext cx="5840838" cy="571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【略歴】</a:t>
              </a:r>
              <a:endParaRPr sz="1400" b="0" i="0" u="none" strike="noStrike" cap="none">
                <a:solidFill>
                  <a:srgbClr val="000000"/>
                </a:solidFill>
                <a:latin typeface="+mj-ea"/>
                <a:ea typeface="+mj-ea"/>
                <a:cs typeface="Arial"/>
                <a:sym typeface="Arial"/>
              </a:endParaRPr>
            </a:p>
          </p:txBody>
        </p:sp>
      </p:grpSp>
      <p:grpSp>
        <p:nvGrpSpPr>
          <p:cNvPr id="527" name="Google Shape;527;p6"/>
          <p:cNvGrpSpPr/>
          <p:nvPr/>
        </p:nvGrpSpPr>
        <p:grpSpPr>
          <a:xfrm>
            <a:off x="8529983" y="3831037"/>
            <a:ext cx="3362784" cy="2755159"/>
            <a:chOff x="-2193616" y="4742813"/>
            <a:chExt cx="6211592" cy="1386244"/>
          </a:xfrm>
        </p:grpSpPr>
        <p:sp>
          <p:nvSpPr>
            <p:cNvPr id="528" name="Google Shape;528;p6"/>
            <p:cNvSpPr/>
            <p:nvPr/>
          </p:nvSpPr>
          <p:spPr>
            <a:xfrm>
              <a:off x="-2086424" y="4742813"/>
              <a:ext cx="6048963" cy="1386244"/>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mj-ea"/>
                <a:ea typeface="+mj-ea"/>
                <a:cs typeface="Arial"/>
                <a:sym typeface="Arial"/>
              </a:endParaRPr>
            </a:p>
          </p:txBody>
        </p:sp>
        <p:sp>
          <p:nvSpPr>
            <p:cNvPr id="529" name="Google Shape;529;p6"/>
            <p:cNvSpPr txBox="1"/>
            <p:nvPr/>
          </p:nvSpPr>
          <p:spPr>
            <a:xfrm>
              <a:off x="-2092292" y="4877319"/>
              <a:ext cx="6110268" cy="1163430"/>
            </a:xfrm>
            <a:prstGeom prst="rect">
              <a:avLst/>
            </a:prstGeom>
            <a:noFill/>
            <a:ln>
              <a:noFill/>
            </a:ln>
          </p:spPr>
          <p:txBody>
            <a:bodyPr spcFirstLastPara="1" wrap="square" lIns="91425" tIns="45700" rIns="91425" bIns="45700" anchor="t" anchorCtr="0">
              <a:noAutofit/>
            </a:bodyPr>
            <a:lstStyle/>
            <a:p>
              <a:pPr marL="0" marR="0" lvl="0" indent="0" algn="l" rtl="0">
                <a:lnSpc>
                  <a:spcPct val="120000"/>
                </a:lnSpc>
                <a:spcBef>
                  <a:spcPts val="0"/>
                </a:spcBef>
                <a:spcAft>
                  <a:spcPts val="0"/>
                </a:spcAft>
                <a:buClr>
                  <a:srgbClr val="000000"/>
                </a:buClr>
                <a:buSzPts val="1050"/>
                <a:buFont typeface="Arial"/>
                <a:buNone/>
              </a:pPr>
              <a:r>
                <a:rPr lang="ja-JP" sz="1050" b="0" i="0" u="none" strike="noStrike" cap="none">
                  <a:solidFill>
                    <a:srgbClr val="000000"/>
                  </a:solidFill>
                  <a:latin typeface="+mj-ea"/>
                  <a:ea typeface="+mj-ea"/>
                  <a:cs typeface="Arial"/>
                  <a:sym typeface="Arial"/>
                </a:rPr>
                <a:t>中央大学大学院卒業後、エンジニアとしてグリー株式会社に入社。その後11年株式会社クロコスを共同創業、12年にヤフー株式会社へ売却。15年株式会社メルカリに参画、執行役員CTO及びVP of Engineeringとしてエンジニア組織20人規模から数百人規模、そしてプロダクトの急成長に貢献し、18年IPO。19年4月からは複数の会社でエンジェル投資や技術顧問を務め、20年2月よりスターフェスティバル株式会社にて取締役CTOとして技術開発組織を統括。現在は、20年に共同創業した Almoha でプロダクト開発中。25年1月株式会社Acompanyおよび、同4月株式会社TAIANの社外取締役に就任。</a:t>
              </a:r>
              <a:endParaRPr sz="1400" b="0" i="0" u="none" strike="noStrike" cap="none">
                <a:solidFill>
                  <a:srgbClr val="000000"/>
                </a:solidFill>
                <a:latin typeface="+mj-ea"/>
                <a:ea typeface="+mj-ea"/>
                <a:cs typeface="Arial"/>
                <a:sym typeface="Arial"/>
              </a:endParaRPr>
            </a:p>
          </p:txBody>
        </p:sp>
        <p:sp>
          <p:nvSpPr>
            <p:cNvPr id="530" name="Google Shape;530;p6"/>
            <p:cNvSpPr txBox="1"/>
            <p:nvPr/>
          </p:nvSpPr>
          <p:spPr>
            <a:xfrm>
              <a:off x="-2193616" y="4761820"/>
              <a:ext cx="5840838" cy="571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ja-JP" sz="1100" b="0" i="0" u="none" strike="noStrike" cap="none">
                  <a:solidFill>
                    <a:srgbClr val="000000"/>
                  </a:solidFill>
                  <a:latin typeface="+mj-ea"/>
                  <a:ea typeface="+mj-ea"/>
                  <a:cs typeface="Arial"/>
                  <a:sym typeface="Arial"/>
                </a:rPr>
                <a:t>【略歴】</a:t>
              </a:r>
              <a:endParaRPr sz="1400" b="0" i="0" u="none" strike="noStrike" cap="none">
                <a:solidFill>
                  <a:srgbClr val="000000"/>
                </a:solidFill>
                <a:latin typeface="+mj-ea"/>
                <a:ea typeface="+mj-ea"/>
                <a:cs typeface="Arial"/>
                <a:sym typeface="Arial"/>
              </a:endParaRPr>
            </a:p>
          </p:txBody>
        </p:sp>
      </p:grpSp>
      <p:sp>
        <p:nvSpPr>
          <p:cNvPr id="531" name="Google Shape;531;p6"/>
          <p:cNvSpPr txBox="1"/>
          <p:nvPr/>
        </p:nvSpPr>
        <p:spPr>
          <a:xfrm>
            <a:off x="411433" y="3310754"/>
            <a:ext cx="2167092"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mj-ea"/>
                <a:ea typeface="+mj-ea"/>
                <a:cs typeface="Arial"/>
                <a:sym typeface="Arial"/>
              </a:rPr>
              <a:t>岸田 崇志</a:t>
            </a:r>
            <a:endParaRPr sz="1400" b="0" i="0" u="none" strike="noStrike" cap="none">
              <a:solidFill>
                <a:srgbClr val="000000"/>
              </a:solidFill>
              <a:latin typeface="+mj-ea"/>
              <a:ea typeface="+mj-ea"/>
              <a:cs typeface="Arial"/>
              <a:sym typeface="Arial"/>
            </a:endParaRPr>
          </a:p>
        </p:txBody>
      </p:sp>
      <p:sp>
        <p:nvSpPr>
          <p:cNvPr id="532" name="Google Shape;532;p6"/>
          <p:cNvSpPr txBox="1"/>
          <p:nvPr/>
        </p:nvSpPr>
        <p:spPr>
          <a:xfrm>
            <a:off x="6216656" y="3310753"/>
            <a:ext cx="2167092"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mj-ea"/>
                <a:ea typeface="+mj-ea"/>
                <a:cs typeface="Arial"/>
                <a:sym typeface="Arial"/>
              </a:rPr>
              <a:t>藤門 千明</a:t>
            </a:r>
            <a:endParaRPr sz="1400" b="0" i="0" u="none" strike="noStrike" cap="none">
              <a:solidFill>
                <a:srgbClr val="000000"/>
              </a:solidFill>
              <a:latin typeface="+mj-ea"/>
              <a:ea typeface="+mj-ea"/>
              <a:cs typeface="Arial"/>
              <a:sym typeface="Arial"/>
            </a:endParaRPr>
          </a:p>
        </p:txBody>
      </p:sp>
      <p:sp>
        <p:nvSpPr>
          <p:cNvPr id="533" name="Google Shape;533;p6"/>
          <p:cNvSpPr txBox="1"/>
          <p:nvPr/>
        </p:nvSpPr>
        <p:spPr>
          <a:xfrm>
            <a:off x="411433" y="6293972"/>
            <a:ext cx="2167092"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mj-ea"/>
                <a:ea typeface="+mj-ea"/>
                <a:cs typeface="Arial"/>
                <a:sym typeface="Arial"/>
              </a:rPr>
              <a:t>伊藤 直也</a:t>
            </a:r>
            <a:endParaRPr sz="1400" b="0" i="0" u="none" strike="noStrike" cap="none">
              <a:solidFill>
                <a:srgbClr val="000000"/>
              </a:solidFill>
              <a:latin typeface="+mj-ea"/>
              <a:ea typeface="+mj-ea"/>
              <a:cs typeface="Arial"/>
              <a:sym typeface="Arial"/>
            </a:endParaRPr>
          </a:p>
        </p:txBody>
      </p:sp>
      <p:sp>
        <p:nvSpPr>
          <p:cNvPr id="534" name="Google Shape;534;p6"/>
          <p:cNvSpPr txBox="1"/>
          <p:nvPr/>
        </p:nvSpPr>
        <p:spPr>
          <a:xfrm>
            <a:off x="6216656" y="6278418"/>
            <a:ext cx="2167092"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ja-JP" sz="1400" b="0" i="0" u="none" strike="noStrike" cap="none">
                <a:solidFill>
                  <a:srgbClr val="000000"/>
                </a:solidFill>
                <a:latin typeface="+mj-ea"/>
                <a:ea typeface="+mj-ea"/>
                <a:cs typeface="Arial"/>
                <a:sym typeface="Arial"/>
              </a:rPr>
              <a:t>柄沢 聡太郎</a:t>
            </a:r>
            <a:endParaRPr sz="1400" b="0" i="0" u="none" strike="noStrike" cap="none">
              <a:solidFill>
                <a:srgbClr val="000000"/>
              </a:solidFill>
              <a:latin typeface="+mj-ea"/>
              <a:ea typeface="+mj-ea"/>
              <a:cs typeface="Arial"/>
              <a:sym typeface="Arial"/>
            </a:endParaRPr>
          </a:p>
        </p:txBody>
      </p:sp>
      <p:sp>
        <p:nvSpPr>
          <p:cNvPr id="535" name="Google Shape;535;p6"/>
          <p:cNvSpPr txBox="1"/>
          <p:nvPr/>
        </p:nvSpPr>
        <p:spPr>
          <a:xfrm>
            <a:off x="329245" y="362988"/>
            <a:ext cx="479490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ja-JP" sz="2000" b="1" i="0" u="none" strike="noStrike" cap="none" dirty="0">
                <a:solidFill>
                  <a:srgbClr val="000000"/>
                </a:solidFill>
                <a:latin typeface="+mj-ea"/>
                <a:ea typeface="+mj-ea"/>
                <a:cs typeface="Arial"/>
                <a:sym typeface="Arial"/>
              </a:rPr>
              <a:t>テクニカルフェロー（AIエキスパート）</a:t>
            </a:r>
            <a:endParaRPr sz="2000" b="1" i="0" u="none" strike="noStrike" cap="none" dirty="0">
              <a:solidFill>
                <a:srgbClr val="000000"/>
              </a:solidFill>
              <a:latin typeface="+mj-ea"/>
              <a:ea typeface="+mj-ea"/>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Google Shape;547;p8">
            <a:extLst>
              <a:ext uri="{FF2B5EF4-FFF2-40B4-BE49-F238E27FC236}">
                <a16:creationId xmlns:a16="http://schemas.microsoft.com/office/drawing/2014/main" id="{D0F5144A-5D69-573D-031D-C2C213F17133}"/>
              </a:ext>
            </a:extLst>
          </p:cNvPr>
          <p:cNvGraphicFramePr/>
          <p:nvPr>
            <p:extLst>
              <p:ext uri="{D42A27DB-BD31-4B8C-83A1-F6EECF244321}">
                <p14:modId xmlns:p14="http://schemas.microsoft.com/office/powerpoint/2010/main" val="416966725"/>
              </p:ext>
            </p:extLst>
          </p:nvPr>
        </p:nvGraphicFramePr>
        <p:xfrm>
          <a:off x="5153892" y="1668857"/>
          <a:ext cx="6450625" cy="4000675"/>
        </p:xfrm>
        <a:graphic>
          <a:graphicData uri="http://schemas.openxmlformats.org/drawingml/2006/table">
            <a:tbl>
              <a:tblPr>
                <a:noFill/>
              </a:tblPr>
              <a:tblGrid>
                <a:gridCol w="1743750">
                  <a:extLst>
                    <a:ext uri="{9D8B030D-6E8A-4147-A177-3AD203B41FA5}">
                      <a16:colId xmlns:a16="http://schemas.microsoft.com/office/drawing/2014/main" val="20000"/>
                    </a:ext>
                  </a:extLst>
                </a:gridCol>
                <a:gridCol w="4706875">
                  <a:extLst>
                    <a:ext uri="{9D8B030D-6E8A-4147-A177-3AD203B41FA5}">
                      <a16:colId xmlns:a16="http://schemas.microsoft.com/office/drawing/2014/main" val="20001"/>
                    </a:ext>
                  </a:extLst>
                </a:gridCol>
              </a:tblGrid>
              <a:tr h="504650">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社名</a:t>
                      </a:r>
                      <a:endParaRPr sz="1400" u="none" strike="noStrike" cap="none">
                        <a:latin typeface="+mn-ea"/>
                        <a:ea typeface="+mn-ea"/>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2000"/>
                        <a:buFont typeface="Arial"/>
                        <a:buNone/>
                      </a:pPr>
                      <a:r>
                        <a:rPr lang="ja-JP" sz="2000" b="0" u="none" strike="noStrike" cap="none">
                          <a:solidFill>
                            <a:schemeClr val="dk1"/>
                          </a:solidFill>
                          <a:latin typeface="+mn-ea"/>
                          <a:ea typeface="+mn-ea"/>
                        </a:rPr>
                        <a:t>ブーストコンサルティング株式会社</a:t>
                      </a:r>
                      <a:endParaRPr sz="1400" u="none" strike="noStrike" cap="none">
                        <a:latin typeface="+mn-ea"/>
                        <a:ea typeface="+mn-ea"/>
                      </a:endParaRPr>
                    </a:p>
                  </a:txBody>
                  <a:tcPr marL="91450" marR="91450" marT="45725" marB="45725"/>
                </a:tc>
                <a:extLst>
                  <a:ext uri="{0D108BD9-81ED-4DB2-BD59-A6C34878D82A}">
                    <a16:rowId xmlns:a16="http://schemas.microsoft.com/office/drawing/2014/main" val="10000"/>
                  </a:ext>
                </a:extLst>
              </a:tr>
              <a:tr h="504650">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設立年月日</a:t>
                      </a:r>
                      <a:endParaRPr sz="1400" u="none" strike="noStrike" cap="none">
                        <a:latin typeface="+mn-ea"/>
                        <a:ea typeface="+mn-ea"/>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2000"/>
                        <a:buFont typeface="Arial"/>
                        <a:buNone/>
                      </a:pPr>
                      <a:r>
                        <a:rPr lang="ja-JP" sz="2000" b="0" u="none" strike="noStrike" cap="none">
                          <a:solidFill>
                            <a:schemeClr val="dk1"/>
                          </a:solidFill>
                          <a:latin typeface="+mn-ea"/>
                          <a:ea typeface="+mn-ea"/>
                        </a:rPr>
                        <a:t>2025年4月4日</a:t>
                      </a:r>
                      <a:endParaRPr sz="1400" u="none" strike="noStrike" cap="none" dirty="0">
                        <a:latin typeface="+mn-ea"/>
                        <a:ea typeface="+mn-ea"/>
                      </a:endParaRPr>
                    </a:p>
                  </a:txBody>
                  <a:tcPr marL="91450" marR="91450" marT="45725" marB="45725"/>
                </a:tc>
                <a:extLst>
                  <a:ext uri="{0D108BD9-81ED-4DB2-BD59-A6C34878D82A}">
                    <a16:rowId xmlns:a16="http://schemas.microsoft.com/office/drawing/2014/main" val="10001"/>
                  </a:ext>
                </a:extLst>
              </a:tr>
              <a:tr h="504650">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資本金</a:t>
                      </a:r>
                      <a:endParaRPr sz="1400" u="none" strike="noStrike" cap="none">
                        <a:latin typeface="+mn-ea"/>
                        <a:ea typeface="+mn-ea"/>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1.9億円</a:t>
                      </a:r>
                      <a:endParaRPr sz="1400" u="none" strike="noStrike" cap="none">
                        <a:latin typeface="+mn-ea"/>
                        <a:ea typeface="+mn-ea"/>
                      </a:endParaRPr>
                    </a:p>
                  </a:txBody>
                  <a:tcPr marL="91450" marR="91450" marT="45725" marB="45725"/>
                </a:tc>
                <a:extLst>
                  <a:ext uri="{0D108BD9-81ED-4DB2-BD59-A6C34878D82A}">
                    <a16:rowId xmlns:a16="http://schemas.microsoft.com/office/drawing/2014/main" val="10002"/>
                  </a:ext>
                </a:extLst>
              </a:tr>
              <a:tr h="504650">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住所</a:t>
                      </a:r>
                      <a:endParaRPr sz="1400" u="none" strike="noStrike" cap="none">
                        <a:latin typeface="+mn-ea"/>
                        <a:ea typeface="+mn-ea"/>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東京都港区虎ノ門５−９−１</a:t>
                      </a:r>
                      <a:endParaRPr sz="1400" u="none" strike="noStrike" cap="none">
                        <a:latin typeface="+mn-ea"/>
                        <a:ea typeface="+mn-ea"/>
                      </a:endParaRPr>
                    </a:p>
                  </a:txBody>
                  <a:tcPr marL="91450" marR="91450" marT="45725" marB="45725"/>
                </a:tc>
                <a:extLst>
                  <a:ext uri="{0D108BD9-81ED-4DB2-BD59-A6C34878D82A}">
                    <a16:rowId xmlns:a16="http://schemas.microsoft.com/office/drawing/2014/main" val="10003"/>
                  </a:ext>
                </a:extLst>
              </a:tr>
              <a:tr h="504650">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株主</a:t>
                      </a:r>
                      <a:endParaRPr sz="1400" u="none" strike="noStrike" cap="none">
                        <a:latin typeface="+mn-ea"/>
                        <a:ea typeface="+mn-ea"/>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ブーストキャピタル1号ファンド</a:t>
                      </a:r>
                      <a:br>
                        <a:rPr lang="ja-JP" sz="2000" b="0" u="none" strike="noStrike" cap="none">
                          <a:solidFill>
                            <a:schemeClr val="dk1"/>
                          </a:solidFill>
                          <a:latin typeface="+mn-ea"/>
                          <a:ea typeface="+mn-ea"/>
                        </a:rPr>
                      </a:br>
                      <a:r>
                        <a:rPr lang="ja-JP" sz="2000" b="0" u="none" strike="noStrike" cap="none">
                          <a:solidFill>
                            <a:schemeClr val="dk1"/>
                          </a:solidFill>
                          <a:latin typeface="+mn-ea"/>
                          <a:ea typeface="+mn-ea"/>
                        </a:rPr>
                        <a:t>創業メンバー</a:t>
                      </a:r>
                      <a:endParaRPr sz="1400" u="none" strike="noStrike" cap="none">
                        <a:latin typeface="+mn-ea"/>
                        <a:ea typeface="+mn-ea"/>
                      </a:endParaRPr>
                    </a:p>
                  </a:txBody>
                  <a:tcPr marL="91450" marR="91450" marT="45725" marB="45725"/>
                </a:tc>
                <a:extLst>
                  <a:ext uri="{0D108BD9-81ED-4DB2-BD59-A6C34878D82A}">
                    <a16:rowId xmlns:a16="http://schemas.microsoft.com/office/drawing/2014/main" val="10004"/>
                  </a:ext>
                </a:extLst>
              </a:tr>
              <a:tr h="1281025">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経営陣</a:t>
                      </a:r>
                      <a:endParaRPr sz="1400" u="none" strike="noStrike" cap="none">
                        <a:latin typeface="+mn-ea"/>
                        <a:ea typeface="+mn-ea"/>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代表取締役　堀 新一郎</a:t>
                      </a:r>
                      <a:endParaRPr sz="2000" b="0" u="none" strike="noStrike" cap="none" dirty="0">
                        <a:solidFill>
                          <a:schemeClr val="dk1"/>
                        </a:solidFill>
                        <a:latin typeface="+mn-ea"/>
                        <a:ea typeface="+mn-ea"/>
                      </a:endParaRPr>
                    </a:p>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取締役　　　小澤 隆生</a:t>
                      </a:r>
                      <a:endParaRPr sz="2000" b="0" u="none" strike="noStrike" cap="none" dirty="0">
                        <a:solidFill>
                          <a:schemeClr val="dk1"/>
                        </a:solidFill>
                        <a:latin typeface="+mn-ea"/>
                        <a:ea typeface="+mn-ea"/>
                      </a:endParaRPr>
                    </a:p>
                    <a:p>
                      <a:pPr marL="0" marR="0" lvl="0" indent="0" algn="l" rtl="0">
                        <a:lnSpc>
                          <a:spcPct val="100000"/>
                        </a:lnSpc>
                        <a:spcBef>
                          <a:spcPts val="0"/>
                        </a:spcBef>
                        <a:spcAft>
                          <a:spcPts val="0"/>
                        </a:spcAft>
                        <a:buClr>
                          <a:srgbClr val="000000"/>
                        </a:buClr>
                        <a:buSzPts val="2000"/>
                        <a:buFont typeface="Arial"/>
                        <a:buNone/>
                      </a:pPr>
                      <a:r>
                        <a:rPr lang="ja-JP" sz="2000" b="0" u="none" strike="noStrike" cap="none">
                          <a:solidFill>
                            <a:schemeClr val="dk1"/>
                          </a:solidFill>
                          <a:latin typeface="+mn-ea"/>
                          <a:ea typeface="+mn-ea"/>
                        </a:rPr>
                        <a:t>取締役　　　髙橋 健太</a:t>
                      </a:r>
                      <a:endParaRPr sz="1400" u="none" strike="noStrike" cap="none" dirty="0">
                        <a:latin typeface="+mn-ea"/>
                        <a:ea typeface="+mn-ea"/>
                      </a:endParaRPr>
                    </a:p>
                  </a:txBody>
                  <a:tcPr marL="91450" marR="91450" marT="45725" marB="45725"/>
                </a:tc>
                <a:extLst>
                  <a:ext uri="{0D108BD9-81ED-4DB2-BD59-A6C34878D82A}">
                    <a16:rowId xmlns:a16="http://schemas.microsoft.com/office/drawing/2014/main" val="10005"/>
                  </a:ext>
                </a:extLst>
              </a:tr>
            </a:tbl>
          </a:graphicData>
        </a:graphic>
      </p:graphicFrame>
      <p:pic>
        <p:nvPicPr>
          <p:cNvPr id="8" name="Google Shape;548;p8" descr="テキスト&#10;&#10;AI 生成コンテンツは誤りを含む可能性があります。">
            <a:extLst>
              <a:ext uri="{FF2B5EF4-FFF2-40B4-BE49-F238E27FC236}">
                <a16:creationId xmlns:a16="http://schemas.microsoft.com/office/drawing/2014/main" id="{89F14B57-9119-10BB-64E0-68183D7454B9}"/>
              </a:ext>
            </a:extLst>
          </p:cNvPr>
          <p:cNvPicPr preferRelativeResize="0"/>
          <p:nvPr/>
        </p:nvPicPr>
        <p:blipFill rotWithShape="1">
          <a:blip r:embed="rId2">
            <a:alphaModFix/>
          </a:blip>
          <a:srcRect/>
          <a:stretch/>
        </p:blipFill>
        <p:spPr>
          <a:xfrm>
            <a:off x="790930" y="1668857"/>
            <a:ext cx="3804247" cy="3804247"/>
          </a:xfrm>
          <a:prstGeom prst="rect">
            <a:avLst/>
          </a:prstGeom>
          <a:noFill/>
          <a:ln>
            <a:noFill/>
          </a:ln>
        </p:spPr>
      </p:pic>
      <p:sp>
        <p:nvSpPr>
          <p:cNvPr id="2" name="フッター プレースホルダー 13">
            <a:extLst>
              <a:ext uri="{FF2B5EF4-FFF2-40B4-BE49-F238E27FC236}">
                <a16:creationId xmlns:a16="http://schemas.microsoft.com/office/drawing/2014/main" id="{647E6E40-CA70-9B52-1446-F2097C148D52}"/>
              </a:ext>
            </a:extLst>
          </p:cNvPr>
          <p:cNvSpPr>
            <a:spLocks noGrp="1"/>
          </p:cNvSpPr>
          <p:nvPr>
            <p:ph type="ftr" sz="quarter" idx="11"/>
          </p:nvPr>
        </p:nvSpPr>
        <p:spPr>
          <a:xfrm>
            <a:off x="9877808" y="6514831"/>
            <a:ext cx="1919585" cy="216000"/>
          </a:xfrm>
        </p:spPr>
        <p:txBody>
          <a:bodyPr/>
          <a:lstStyle>
            <a:lvl1pPr algn="l">
              <a:defRPr sz="1000">
                <a:latin typeface="+mn-lt"/>
                <a:ea typeface="+mn-ea"/>
              </a:defRPr>
            </a:lvl1pPr>
          </a:lstStyle>
          <a:p>
            <a:pPr>
              <a:defRPr/>
            </a:pPr>
            <a:r>
              <a:rPr kumimoji="1" lang="en-US" altLang="ja-JP" dirty="0">
                <a:solidFill>
                  <a:srgbClr val="FFFFFF">
                    <a:lumMod val="75000"/>
                  </a:srgbClr>
                </a:solidFill>
              </a:rPr>
              <a:t>©️ 2026 Boost Consulting, Inc.</a:t>
            </a:r>
            <a:endParaRPr kumimoji="1" lang="ja-JP" altLang="en-US" dirty="0">
              <a:solidFill>
                <a:srgbClr val="FFFFFF">
                  <a:lumMod val="75000"/>
                </a:srgbClr>
              </a:solidFill>
              <a:latin typeface="+mn-lt"/>
            </a:endParaRPr>
          </a:p>
        </p:txBody>
      </p:sp>
      <p:sp>
        <p:nvSpPr>
          <p:cNvPr id="4" name="コンテンツ プレースホルダー 3">
            <a:extLst>
              <a:ext uri="{FF2B5EF4-FFF2-40B4-BE49-F238E27FC236}">
                <a16:creationId xmlns:a16="http://schemas.microsoft.com/office/drawing/2014/main" id="{B456CE69-E5AD-C1E9-8EB4-5C2250C0F5D9}"/>
              </a:ext>
            </a:extLst>
          </p:cNvPr>
          <p:cNvSpPr>
            <a:spLocks noGrp="1"/>
          </p:cNvSpPr>
          <p:nvPr>
            <p:ph idx="12"/>
          </p:nvPr>
        </p:nvSpPr>
        <p:spPr/>
        <p:txBody>
          <a:bodyPr/>
          <a:lstStyle/>
          <a:p>
            <a:r>
              <a:rPr lang="ja-JP" altLang="en-US"/>
              <a:t>会社概要</a:t>
            </a:r>
          </a:p>
        </p:txBody>
      </p:sp>
    </p:spTree>
    <p:extLst>
      <p:ext uri="{BB962C8B-B14F-4D97-AF65-F5344CB8AC3E}">
        <p14:creationId xmlns:p14="http://schemas.microsoft.com/office/powerpoint/2010/main" val="2030554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13">
            <a:extLst>
              <a:ext uri="{FF2B5EF4-FFF2-40B4-BE49-F238E27FC236}">
                <a16:creationId xmlns:a16="http://schemas.microsoft.com/office/drawing/2014/main" id="{561920A0-6B8E-6A06-1D0F-4F3FC57AE158}"/>
              </a:ext>
            </a:extLst>
          </p:cNvPr>
          <p:cNvSpPr>
            <a:spLocks noGrp="1"/>
          </p:cNvSpPr>
          <p:nvPr>
            <p:ph type="ftr" sz="quarter" idx="11"/>
          </p:nvPr>
        </p:nvSpPr>
        <p:spPr>
          <a:xfrm>
            <a:off x="9877808" y="6514831"/>
            <a:ext cx="1919585" cy="216000"/>
          </a:xfrm>
        </p:spPr>
        <p:txBody>
          <a:bodyPr/>
          <a:lstStyle>
            <a:lvl1pPr algn="l">
              <a:defRPr sz="1000">
                <a:latin typeface="+mn-lt"/>
                <a:ea typeface="+mn-ea"/>
              </a:defRPr>
            </a:lvl1pPr>
          </a:lstStyle>
          <a:p>
            <a:pPr>
              <a:defRPr/>
            </a:pPr>
            <a:r>
              <a:rPr kumimoji="1" lang="en-US" altLang="ja-JP" dirty="0">
                <a:solidFill>
                  <a:srgbClr val="FFFFFF">
                    <a:lumMod val="75000"/>
                  </a:srgbClr>
                </a:solidFill>
              </a:rPr>
              <a:t>©️ 2026 Boost Consulting, Inc.</a:t>
            </a:r>
            <a:endParaRPr kumimoji="1" lang="ja-JP" altLang="en-US" dirty="0">
              <a:solidFill>
                <a:srgbClr val="FFFFFF">
                  <a:lumMod val="75000"/>
                </a:srgbClr>
              </a:solidFill>
              <a:latin typeface="+mn-lt"/>
            </a:endParaRPr>
          </a:p>
        </p:txBody>
      </p:sp>
    </p:spTree>
    <p:extLst>
      <p:ext uri="{BB962C8B-B14F-4D97-AF65-F5344CB8AC3E}">
        <p14:creationId xmlns:p14="http://schemas.microsoft.com/office/powerpoint/2010/main" val="33480444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81658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339&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d&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Slide Science Default">
      <a:dk1>
        <a:srgbClr val="000000"/>
      </a:dk1>
      <a:lt1>
        <a:srgbClr val="FFFFFF"/>
      </a:lt1>
      <a:dk2>
        <a:srgbClr val="FFFFFF"/>
      </a:dk2>
      <a:lt2>
        <a:srgbClr val="FFFFFF"/>
      </a:lt2>
      <a:accent1>
        <a:srgbClr val="061F44"/>
      </a:accent1>
      <a:accent2>
        <a:srgbClr val="B7472A"/>
      </a:accent2>
      <a:accent3>
        <a:srgbClr val="F5E3DF"/>
      </a:accent3>
      <a:accent4>
        <a:srgbClr val="424242"/>
      </a:accent4>
      <a:accent5>
        <a:srgbClr val="D9D9D9"/>
      </a:accent5>
      <a:accent6>
        <a:srgbClr val="F0F0F0"/>
      </a:accent6>
      <a:hlink>
        <a:srgbClr val="555555"/>
      </a:hlink>
      <a:folHlink>
        <a:srgbClr val="333333"/>
      </a:folHlink>
    </a:clrScheme>
    <a:fontScheme name="ユーザー定義_v1">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F302F"/>
        </a:solidFill>
        <a:ln>
          <a:noFill/>
        </a:ln>
      </a:spPr>
      <a:bodyPr rtlCol="0" anchor="ctr"/>
      <a:lstStyle>
        <a:defPPr algn="ctr">
          <a:defRPr kumimoji="1" sz="1400" b="1" dirty="0" smtClean="0">
            <a:latin typeface="Arial" panose="020B0604020202020204" pitchFamily="34" charset="0"/>
            <a:cs typeface="Arial" panose="020B0604020202020204" pitchFamily="34" charset="0"/>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49541</TotalTime>
  <Words>3737</Words>
  <Application>Microsoft Macintosh PowerPoint</Application>
  <PresentationFormat>ワイド画面</PresentationFormat>
  <Paragraphs>503</Paragraphs>
  <Slides>26</Slides>
  <Notes>16</Notes>
  <HiddenSlides>0</HiddenSlides>
  <MMClips>0</MMClips>
  <ScaleCrop>false</ScaleCrop>
  <HeadingPairs>
    <vt:vector size="8" baseType="variant">
      <vt:variant>
        <vt:lpstr>使用されているフォント</vt:lpstr>
      </vt:variant>
      <vt:variant>
        <vt:i4>5</vt:i4>
      </vt:variant>
      <vt:variant>
        <vt:lpstr>テーマ</vt:lpstr>
      </vt:variant>
      <vt:variant>
        <vt:i4>1</vt:i4>
      </vt:variant>
      <vt:variant>
        <vt:lpstr>埋め込まれた OLE サーバー</vt:lpstr>
      </vt:variant>
      <vt:variant>
        <vt:i4>1</vt:i4>
      </vt:variant>
      <vt:variant>
        <vt:lpstr>スライド タイトル</vt:lpstr>
      </vt:variant>
      <vt:variant>
        <vt:i4>26</vt:i4>
      </vt:variant>
    </vt:vector>
  </HeadingPairs>
  <TitlesOfParts>
    <vt:vector size="33" baseType="lpstr">
      <vt:lpstr>Meiryo UI</vt:lpstr>
      <vt:lpstr>Noto Sans Symbols</vt:lpstr>
      <vt:lpstr>Aptos</vt:lpstr>
      <vt:lpstr>Arial</vt:lpstr>
      <vt:lpstr>Wingdings</vt:lpstr>
      <vt:lpstr>Office Theme</vt:lpstr>
      <vt:lpstr>think-cellスライド</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APPENDIX</vt:lpstr>
      <vt:lpstr>AI活用による業務改善・バリューアップ実績事例 </vt:lpstr>
      <vt:lpstr>01_非構造化データの構造化 PDF/Excel/画像/ログ等の企業内資産を検索・分析可能な基盤へ転換</vt:lpstr>
      <vt:lpstr>02_問い合わせ対応 社内ナレッジを活用した自動応答システムで顧客体験と業務効率を向上</vt:lpstr>
      <vt:lpstr>03_営業・提案支援（クロスセル予測） 過去メール・提案書の構造化により「誰に・何を」提案すべきかを予測</vt:lpstr>
      <vt:lpstr>04_店舗運営最適化（シフト自動生成） 現場の自然言語入力を数理モデルへ変換し、複雑なシフト作成を完全自動化</vt:lpstr>
      <vt:lpstr>05_需給予測（特徴補完×精度向上） 新規商品などデータ希薄領域においてLLMによる特徴量補完を行い予測精度を向上</vt:lpstr>
      <vt:lpstr>06_設備保全（画像×LLMによる予兆検知） 熟練者の“眼”をAI化し、写真1枚で故障リスクを即座に判定</vt:lpstr>
      <vt:lpstr>07_コンサルティング自動化 アンケート分析・示唆出し・レポート作成までを一気通貫で自動化</vt:lpstr>
      <vt:lpstr>08_M&amp;A初期検討（IM分析とシナジー案） IM(Information Memorandum)の自動解析によるスクリーニング高速化</vt:lpstr>
      <vt:lpstr>（ご参考）技術概要</vt:lpstr>
      <vt:lpstr>会社紹介</vt:lpstr>
      <vt:lpstr>AIを用いてビジネスインパクトを創出するコンサルティングを提供 コンサルティング会社が“不要“になる状態を目指して、クライアントの内製化・自走を支援する</vt:lpstr>
      <vt:lpstr>戦略／オペレーション／組織の3つの分野でご支援を提供する</vt:lpstr>
      <vt:lpstr>AIによる企業変革に必要な技術力ｘ実行力ｘ事業経験を有するプロフェッショナルファーム</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 Galletta</dc:creator>
  <cp:lastModifiedBy>鬼澤 輔</cp:lastModifiedBy>
  <cp:revision>996</cp:revision>
  <cp:lastPrinted>2024-04-18T08:26:05Z</cp:lastPrinted>
  <dcterms:created xsi:type="dcterms:W3CDTF">2024-03-24T02:23:38Z</dcterms:created>
  <dcterms:modified xsi:type="dcterms:W3CDTF">2026-03-11T02:09:53Z</dcterms:modified>
</cp:coreProperties>
</file>